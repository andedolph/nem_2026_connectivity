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7" r:id="rId4"/>
    <p:sldMasterId id="2147483831" r:id="rId5"/>
    <p:sldMasterId id="2147483857" r:id="rId6"/>
  </p:sldMasterIdLst>
  <p:notesMasterIdLst>
    <p:notesMasterId r:id="rId18"/>
  </p:notesMasterIdLst>
  <p:handoutMasterIdLst>
    <p:handoutMasterId r:id="rId19"/>
  </p:handoutMasterIdLst>
  <p:sldIdLst>
    <p:sldId id="522" r:id="rId7"/>
    <p:sldId id="5692" r:id="rId8"/>
    <p:sldId id="5708" r:id="rId9"/>
    <p:sldId id="5693" r:id="rId10"/>
    <p:sldId id="5697" r:id="rId11"/>
    <p:sldId id="5698" r:id="rId12"/>
    <p:sldId id="5705" r:id="rId13"/>
    <p:sldId id="5694" r:id="rId14"/>
    <p:sldId id="5879" r:id="rId15"/>
    <p:sldId id="5897" r:id="rId16"/>
    <p:sldId id="5894" r:id="rId17"/>
  </p:sldIdLst>
  <p:sldSz cx="12192000" cy="6858000"/>
  <p:notesSz cx="6797675" cy="9926638"/>
  <p:custDataLst>
    <p:tags r:id="rId2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D1CD6AE-7EEB-4A53-85E2-0A8FA4D8B673}">
          <p14:sldIdLst>
            <p14:sldId id="522"/>
            <p14:sldId id="5692"/>
            <p14:sldId id="5708"/>
            <p14:sldId id="5693"/>
            <p14:sldId id="5697"/>
            <p14:sldId id="5698"/>
            <p14:sldId id="5705"/>
            <p14:sldId id="5694"/>
            <p14:sldId id="5879"/>
            <p14:sldId id="5897"/>
            <p14:sldId id="589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BCCA"/>
    <a:srgbClr val="80A44B"/>
    <a:srgbClr val="CBD1D4"/>
    <a:srgbClr val="4E6899"/>
    <a:srgbClr val="86405C"/>
    <a:srgbClr val="6B9D4A"/>
    <a:srgbClr val="EECB36"/>
    <a:srgbClr val="D0553A"/>
    <a:srgbClr val="6095F1"/>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61FD74-8E91-4FA7-A615-C7B8B3BCB965}" v="14" dt="2024-03-05T15:07:34.297"/>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688" autoAdjust="0"/>
  </p:normalViewPr>
  <p:slideViewPr>
    <p:cSldViewPr snapToGrid="0">
      <p:cViewPr varScale="1">
        <p:scale>
          <a:sx n="98" d="100"/>
          <a:sy n="98" d="100"/>
        </p:scale>
        <p:origin x="96" y="58"/>
      </p:cViewPr>
      <p:guideLst/>
    </p:cSldViewPr>
  </p:slideViewPr>
  <p:notesTextViewPr>
    <p:cViewPr>
      <p:scale>
        <a:sx n="3" d="2"/>
        <a:sy n="3" d="2"/>
      </p:scale>
      <p:origin x="0" y="0"/>
    </p:cViewPr>
  </p:notesTextViewPr>
  <p:notesViewPr>
    <p:cSldViewPr snapToGrid="0">
      <p:cViewPr varScale="1">
        <p:scale>
          <a:sx n="66" d="100"/>
          <a:sy n="66" d="100"/>
        </p:scale>
        <p:origin x="0" y="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lip Ehlers" userId="4fd2640c-ca70-4caa-9093-515fea07faaf" providerId="ADAL" clId="{3D61FD74-8E91-4FA7-A615-C7B8B3BCB965}"/>
    <pc:docChg chg="custSel addSld modSld">
      <pc:chgData name="Philip Ehlers" userId="4fd2640c-ca70-4caa-9093-515fea07faaf" providerId="ADAL" clId="{3D61FD74-8E91-4FA7-A615-C7B8B3BCB965}" dt="2024-03-05T15:07:34.296" v="45" actId="1076"/>
      <pc:docMkLst>
        <pc:docMk/>
      </pc:docMkLst>
      <pc:sldChg chg="addSp delSp modSp">
        <pc:chgData name="Philip Ehlers" userId="4fd2640c-ca70-4caa-9093-515fea07faaf" providerId="ADAL" clId="{3D61FD74-8E91-4FA7-A615-C7B8B3BCB965}" dt="2024-02-21T17:18:26.225" v="27" actId="478"/>
        <pc:sldMkLst>
          <pc:docMk/>
          <pc:sldMk cId="4015238678" sldId="5611"/>
        </pc:sldMkLst>
        <pc:picChg chg="add del mod">
          <ac:chgData name="Philip Ehlers" userId="4fd2640c-ca70-4caa-9093-515fea07faaf" providerId="ADAL" clId="{3D61FD74-8E91-4FA7-A615-C7B8B3BCB965}" dt="2024-02-21T17:18:26.225" v="27" actId="478"/>
          <ac:picMkLst>
            <pc:docMk/>
            <pc:sldMk cId="4015238678" sldId="5611"/>
            <ac:picMk id="1026" creationId="{BF516B3F-5D7F-DB32-E4F5-843EF8244523}"/>
          </ac:picMkLst>
        </pc:picChg>
      </pc:sldChg>
      <pc:sldChg chg="addSp delSp modSp mod">
        <pc:chgData name="Philip Ehlers" userId="4fd2640c-ca70-4caa-9093-515fea07faaf" providerId="ADAL" clId="{3D61FD74-8E91-4FA7-A615-C7B8B3BCB965}" dt="2024-03-05T15:07:34.296" v="45" actId="1076"/>
        <pc:sldMkLst>
          <pc:docMk/>
          <pc:sldMk cId="2844886500" sldId="5612"/>
        </pc:sldMkLst>
        <pc:picChg chg="add del">
          <ac:chgData name="Philip Ehlers" userId="4fd2640c-ca70-4caa-9093-515fea07faaf" providerId="ADAL" clId="{3D61FD74-8E91-4FA7-A615-C7B8B3BCB965}" dt="2024-02-21T17:30:51.442" v="38" actId="478"/>
          <ac:picMkLst>
            <pc:docMk/>
            <pc:sldMk cId="2844886500" sldId="5612"/>
            <ac:picMk id="10" creationId="{8EF94313-4EB8-0435-6C7D-8F7A599FF7E8}"/>
          </ac:picMkLst>
        </pc:picChg>
        <pc:picChg chg="add del mod">
          <ac:chgData name="Philip Ehlers" userId="4fd2640c-ca70-4caa-9093-515fea07faaf" providerId="ADAL" clId="{3D61FD74-8E91-4FA7-A615-C7B8B3BCB965}" dt="2024-02-21T17:30:50.177" v="37" actId="478"/>
          <ac:picMkLst>
            <pc:docMk/>
            <pc:sldMk cId="2844886500" sldId="5612"/>
            <ac:picMk id="32" creationId="{F4493CD8-62D4-85F8-4F05-B05688C94F33}"/>
          </ac:picMkLst>
        </pc:picChg>
        <pc:picChg chg="add mod">
          <ac:chgData name="Philip Ehlers" userId="4fd2640c-ca70-4caa-9093-515fea07faaf" providerId="ADAL" clId="{3D61FD74-8E91-4FA7-A615-C7B8B3BCB965}" dt="2024-03-05T15:07:34.296" v="45" actId="1076"/>
          <ac:picMkLst>
            <pc:docMk/>
            <pc:sldMk cId="2844886500" sldId="5612"/>
            <ac:picMk id="2050" creationId="{C4D1CB13-036C-E83A-3955-59FE5334743E}"/>
          </ac:picMkLst>
        </pc:picChg>
      </pc:sldChg>
      <pc:sldChg chg="addSp delSp modSp mod">
        <pc:chgData name="Philip Ehlers" userId="4fd2640c-ca70-4caa-9093-515fea07faaf" providerId="ADAL" clId="{3D61FD74-8E91-4FA7-A615-C7B8B3BCB965}" dt="2024-03-05T15:05:31.875" v="43" actId="478"/>
        <pc:sldMkLst>
          <pc:docMk/>
          <pc:sldMk cId="847096907" sldId="5613"/>
        </pc:sldMkLst>
        <pc:spChg chg="add del mod">
          <ac:chgData name="Philip Ehlers" userId="4fd2640c-ca70-4caa-9093-515fea07faaf" providerId="ADAL" clId="{3D61FD74-8E91-4FA7-A615-C7B8B3BCB965}" dt="2024-03-05T15:05:31.875" v="43" actId="478"/>
          <ac:spMkLst>
            <pc:docMk/>
            <pc:sldMk cId="847096907" sldId="5613"/>
            <ac:spMk id="7" creationId="{B35EC927-07A6-4DD0-412A-4C023A64990C}"/>
          </ac:spMkLst>
        </pc:spChg>
      </pc:sldChg>
      <pc:sldChg chg="modSp add mod">
        <pc:chgData name="Philip Ehlers" userId="4fd2640c-ca70-4caa-9093-515fea07faaf" providerId="ADAL" clId="{3D61FD74-8E91-4FA7-A615-C7B8B3BCB965}" dt="2024-02-21T17:34:12.932" v="41" actId="1076"/>
        <pc:sldMkLst>
          <pc:docMk/>
          <pc:sldMk cId="640505491" sldId="5614"/>
        </pc:sldMkLst>
        <pc:picChg chg="mod">
          <ac:chgData name="Philip Ehlers" userId="4fd2640c-ca70-4caa-9093-515fea07faaf" providerId="ADAL" clId="{3D61FD74-8E91-4FA7-A615-C7B8B3BCB965}" dt="2024-02-21T17:34:12.932" v="41" actId="1076"/>
          <ac:picMkLst>
            <pc:docMk/>
            <pc:sldMk cId="640505491" sldId="5614"/>
            <ac:picMk id="10" creationId="{71D7AFF3-58FA-3341-8483-273CA5D2C0FF}"/>
          </ac:picMkLst>
        </pc:picChg>
        <pc:picChg chg="mod">
          <ac:chgData name="Philip Ehlers" userId="4fd2640c-ca70-4caa-9093-515fea07faaf" providerId="ADAL" clId="{3D61FD74-8E91-4FA7-A615-C7B8B3BCB965}" dt="2024-02-21T17:34:05.116" v="39" actId="14100"/>
          <ac:picMkLst>
            <pc:docMk/>
            <pc:sldMk cId="640505491" sldId="5614"/>
            <ac:picMk id="32" creationId="{64427F02-16C3-C778-B9AE-EDF083C57416}"/>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479014F1-9E12-4B6E-9C7D-5791D88CEEC3}" type="datetime1">
              <a:rPr lang="de-DE" smtClean="0"/>
              <a:t>02.06.2026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2580E220-EDF6-4D26-8ABA-677BA55902A8}" type="datetime1">
              <a:rPr lang="de-DE" smtClean="0"/>
              <a:pPr/>
              <a:t>02.06.2026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2</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3677628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4</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4248465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5</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15939638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6</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1545264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pPr algn="l"/>
            <a:r>
              <a:rPr lang="en-US" b="1" i="0" dirty="0">
                <a:solidFill>
                  <a:srgbClr val="000000"/>
                </a:solidFill>
                <a:effectLst/>
                <a:highlight>
                  <a:srgbClr val="FFFFFF"/>
                </a:highlight>
                <a:latin typeface="Arial" panose="020B0604020202020204" pitchFamily="34" charset="0"/>
              </a:rPr>
              <a:t>QoS level 0</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receiver does not acknowledge receipt. The message is not sent a second time.</a:t>
            </a:r>
          </a:p>
          <a:p>
            <a:pPr algn="l"/>
            <a:endParaRPr lang="en-US" b="1" i="0" dirty="0">
              <a:solidFill>
                <a:srgbClr val="000000"/>
              </a:solidFill>
              <a:effectLst/>
              <a:highlight>
                <a:srgbClr val="FFFFFF"/>
              </a:highlight>
              <a:latin typeface="Arial" panose="020B0604020202020204" pitchFamily="34" charset="0"/>
            </a:endParaRPr>
          </a:p>
          <a:p>
            <a:pPr algn="l"/>
            <a:r>
              <a:rPr lang="en-US" b="1" i="0" dirty="0">
                <a:solidFill>
                  <a:srgbClr val="000000"/>
                </a:solidFill>
                <a:effectLst/>
                <a:highlight>
                  <a:srgbClr val="FFFFFF"/>
                </a:highlight>
                <a:latin typeface="Arial" panose="020B0604020202020204" pitchFamily="34" charset="0"/>
              </a:rPr>
              <a:t>QoS level 1</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system guarantees that the message arrives at the receiver at least once, although the message may arrive more than once. The sender stores the message internally until it has received an acknowledgment from the receiver in the form of a PUBACK message. If the PUBACK message fails to arrive within a certain time, the message is resent.</a:t>
            </a:r>
          </a:p>
          <a:p>
            <a:pPr algn="l"/>
            <a:endParaRPr lang="en-US" b="1" i="0" dirty="0">
              <a:solidFill>
                <a:srgbClr val="000000"/>
              </a:solidFill>
              <a:effectLst/>
              <a:highlight>
                <a:srgbClr val="FFFFFF"/>
              </a:highlight>
              <a:latin typeface="Arial" panose="020B0604020202020204" pitchFamily="34" charset="0"/>
            </a:endParaRPr>
          </a:p>
          <a:p>
            <a:pPr algn="l"/>
            <a:r>
              <a:rPr lang="en-US" b="1" i="0" dirty="0">
                <a:solidFill>
                  <a:srgbClr val="000000"/>
                </a:solidFill>
                <a:effectLst/>
                <a:highlight>
                  <a:srgbClr val="FFFFFF"/>
                </a:highlight>
                <a:latin typeface="Arial" panose="020B0604020202020204" pitchFamily="34" charset="0"/>
              </a:rPr>
              <a:t>QoS level 2</a:t>
            </a:r>
            <a:endParaRPr lang="en-US" b="0" i="0" dirty="0">
              <a:solidFill>
                <a:srgbClr val="000000"/>
              </a:solidFill>
              <a:effectLst/>
              <a:highlight>
                <a:srgbClr val="FFFFFF"/>
              </a:highlight>
              <a:latin typeface="Arial" panose="020B0604020202020204" pitchFamily="34" charset="0"/>
            </a:endParaRPr>
          </a:p>
          <a:p>
            <a:pPr algn="l"/>
            <a:r>
              <a:rPr lang="en-US" b="0" i="0" dirty="0">
                <a:solidFill>
                  <a:srgbClr val="000000"/>
                </a:solidFill>
                <a:effectLst/>
                <a:highlight>
                  <a:srgbClr val="FFFFFF"/>
                </a:highlight>
                <a:latin typeface="Arial" panose="020B0604020202020204" pitchFamily="34" charset="0"/>
              </a:rPr>
              <a:t>At this QoS level the system guarantees that the message arrives at the receiver no more than once. On the MQTT side this is realized through a handshake mechanism. QoS level 2 is the most secure level (from a message transfer perspective), but also the slowest. When a receiver receives a message with QoS level 2, it acknowledges the message with a PUBREC. The sender of the message remembers it internally until it has received a PUBCOMP. This additional handshake (compared with QoS 1) is important for avoiding duplicate transfer of the message. Once the sender of the message receives a PUBREC, it can discard the initial publish information, since it knows that the message was received once by the receiver. In other words, it remembers the PUBREC internally and sends a PUBREL. Once the receiver has received a PUBREL, it can discard the previously remembered states and respond with a PUBCOMP, and vice versa. Whenever a packet is lost, the respective communication device is responsible for resending the last message after a certain time.</a:t>
            </a:r>
          </a:p>
          <a:p>
            <a:pPr algn="l"/>
            <a:endParaRPr lang="en-US" b="0" i="0" dirty="0">
              <a:solidFill>
                <a:srgbClr val="000000"/>
              </a:solidFill>
              <a:effectLst/>
              <a:highlight>
                <a:srgbClr val="FFFFFF"/>
              </a:highlight>
              <a:latin typeface="Arial" panose="020B0604020202020204" pitchFamily="34" charset="0"/>
            </a:endParaRPr>
          </a:p>
        </p:txBody>
      </p:sp>
      <p:sp>
        <p:nvSpPr>
          <p:cNvPr id="4" name="Slide Number Placeholder 3"/>
          <p:cNvSpPr>
            <a:spLocks noGrp="1"/>
          </p:cNvSpPr>
          <p:nvPr>
            <p:ph type="sldNum" sz="quarter" idx="5"/>
          </p:nvPr>
        </p:nvSpPr>
        <p:spPr/>
        <p:txBody>
          <a:bodyPr/>
          <a:lstStyle/>
          <a:p>
            <a:fld id="{B280112D-8454-448C-8A04-1F3237E367D5}" type="slidenum">
              <a:rPr lang="de-DE" smtClean="0"/>
              <a:pPr/>
              <a:t>7</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45649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0"/>
            <a:ext cx="6796088" cy="38227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80112D-8454-448C-8A04-1F3237E367D5}" type="slidenum">
              <a:rPr lang="de-DE" smtClean="0"/>
              <a:pPr/>
              <a:t>8</a:t>
            </a:fld>
            <a:endParaRPr lang="de-DE" dirty="0"/>
          </a:p>
        </p:txBody>
      </p:sp>
      <p:sp>
        <p:nvSpPr>
          <p:cNvPr id="5" name="Date Placeholder 4"/>
          <p:cNvSpPr>
            <a:spLocks noGrp="1"/>
          </p:cNvSpPr>
          <p:nvPr>
            <p:ph type="dt" idx="1"/>
          </p:nvPr>
        </p:nvSpPr>
        <p:spPr/>
        <p:txBody>
          <a:bodyPr/>
          <a:lstStyle/>
          <a:p>
            <a:fld id="{2580E220-EDF6-4D26-8ABA-677BA55902A8}" type="datetime1">
              <a:rPr lang="de-DE" smtClean="0"/>
              <a:pPr/>
              <a:t>02.06.2026</a:t>
            </a:fld>
            <a:endParaRPr lang="de-DE"/>
          </a:p>
        </p:txBody>
      </p:sp>
      <p:sp>
        <p:nvSpPr>
          <p:cNvPr id="6" name="Footer Placeholder 5"/>
          <p:cNvSpPr>
            <a:spLocks noGrp="1"/>
          </p:cNvSpPr>
          <p:nvPr>
            <p:ph type="ftr" sz="quarter" idx="4"/>
          </p:nvPr>
        </p:nvSpPr>
        <p:spPr/>
        <p:txBody>
          <a:bodyPr/>
          <a:lstStyle/>
          <a:p>
            <a:r>
              <a:rPr lang="de-DE"/>
              <a:t>Text der Fußzeile</a:t>
            </a:r>
          </a:p>
        </p:txBody>
      </p:sp>
    </p:spTree>
    <p:extLst>
      <p:ext uri="{BB962C8B-B14F-4D97-AF65-F5344CB8AC3E}">
        <p14:creationId xmlns:p14="http://schemas.microsoft.com/office/powerpoint/2010/main" val="28467528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bg bwMode="gray">
      <p:bgRef idx="1001">
        <a:schemeClr val="bg1"/>
      </p:bgRef>
    </p:bg>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pic>
        <p:nvPicPr>
          <p:cNvPr id="3" name="Grafik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9" name="Grafik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90800"/>
            <a:ext cx="12202668" cy="5769864"/>
          </a:xfrm>
          <a:prstGeom prst="rect">
            <a:avLst/>
          </a:prstGeom>
        </p:spPr>
      </p:pic>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5" name="Textplatzhalter 6"/>
          <p:cNvSpPr>
            <a:spLocks noGrp="1"/>
          </p:cNvSpPr>
          <p:nvPr>
            <p:ph type="body" sz="quarter" idx="10" hasCustomPrompt="1"/>
          </p:nvPr>
        </p:nvSpPr>
        <p:spPr bwMode="gray">
          <a:xfrm>
            <a:off x="-3" y="1090800"/>
            <a:ext cx="6096000" cy="5767200"/>
          </a:xfrm>
          <a:solidFill>
            <a:srgbClr val="FFFFFF">
              <a:alpha val="69804"/>
            </a:srgbClr>
          </a:solidFill>
        </p:spPr>
        <p:txBody>
          <a:bodyPr tIns="180000"/>
          <a:lstStyle>
            <a:lvl1pPr marL="0" indent="0">
              <a:buNone/>
              <a:defRPr baseline="0"/>
            </a:lvl1pPr>
          </a:lstStyle>
          <a:p>
            <a:pPr lvl="0"/>
            <a:r>
              <a:rPr lang="de-DE"/>
              <a:t>Speaker Name</a:t>
            </a:r>
            <a:br>
              <a:rPr lang="de-DE"/>
            </a:br>
            <a:r>
              <a:rPr lang="de-DE"/>
              <a:t>Department</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5" name="Rechteck 4"/>
          <p:cNvSpPr/>
          <p:nvPr userDrawn="1"/>
        </p:nvSpPr>
        <p:spPr bwMode="ltGray">
          <a:xfrm>
            <a:off x="0" y="0"/>
            <a:ext cx="6096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4" name="Titel 4"/>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7" name="Subtitle 2"/>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0" indent="0" algn="l">
              <a:lnSpc>
                <a:spcPct val="100000"/>
              </a:lnSpc>
              <a:spcBef>
                <a:spcPts val="0"/>
              </a:spcBef>
              <a:buNone/>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pic>
        <p:nvPicPr>
          <p:cNvPr id="2" name="Grafik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4800" y="0"/>
            <a:ext cx="6094476" cy="6858000"/>
          </a:xfrm>
          <a:prstGeom prst="rect">
            <a:avLst/>
          </a:prstGeom>
        </p:spPr>
      </p:pic>
      <p:pic>
        <p:nvPicPr>
          <p:cNvPr id="8" name="Grafik 7"/>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p>
            <a:r>
              <a:rPr lang="en-US" noProof="0"/>
              <a:t>Click to add contents</a:t>
            </a:r>
            <a:endParaRPr lang="de-DE"/>
          </a:p>
        </p:txBody>
      </p:sp>
      <p:sp>
        <p:nvSpPr>
          <p:cNvPr id="3" name="Fußzeilenplatzhalter 2"/>
          <p:cNvSpPr>
            <a:spLocks noGrp="1"/>
          </p:cNvSpPr>
          <p:nvPr>
            <p:ph type="ftr" sz="quarter" idx="10"/>
          </p:nvPr>
        </p:nvSpPr>
        <p:spPr bwMode="gray"/>
        <p:txBody>
          <a:bodyPr/>
          <a:lstStyle/>
          <a:p>
            <a:endParaRPr lang="de-DE"/>
          </a:p>
        </p:txBody>
      </p:sp>
      <p:sp>
        <p:nvSpPr>
          <p:cNvPr id="4" name="Foliennummernplatzhalter 3"/>
          <p:cNvSpPr>
            <a:spLocks noGrp="1"/>
          </p:cNvSpPr>
          <p:nvPr>
            <p:ph type="sldNum" sz="quarter" idx="11"/>
          </p:nvPr>
        </p:nvSpPr>
        <p:spPr bwMode="gray"/>
        <p:txBody>
          <a:bodyPr/>
          <a:lstStyle/>
          <a:p>
            <a:fld id="{A930EF64-91C9-4EBD-82F9-3643AB15A28C}" type="slidenum">
              <a:rPr lang="de-DE" smtClean="0"/>
              <a:pPr/>
              <a:t>‹#›</a:t>
            </a:fld>
            <a:endParaRPr lang="de-DE"/>
          </a:p>
        </p:txBody>
      </p:sp>
      <p:sp>
        <p:nvSpPr>
          <p:cNvPr id="5" name="Textplatzhalter 5"/>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Tree>
    <p:extLst>
      <p:ext uri="{BB962C8B-B14F-4D97-AF65-F5344CB8AC3E}">
        <p14:creationId xmlns:p14="http://schemas.microsoft.com/office/powerpoint/2010/main" val="16510481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8" name="Textplatzhalter 5"/>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1"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3"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527220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13" name="Bildplatzhalter 12"/>
          <p:cNvSpPr>
            <a:spLocks noGrp="1"/>
          </p:cNvSpPr>
          <p:nvPr>
            <p:ph type="pic" sz="quarter" idx="16" hasCustomPrompt="1"/>
          </p:nvPr>
        </p:nvSpPr>
        <p:spPr bwMode="gray">
          <a:xfrm>
            <a:off x="8125883" y="3978684"/>
            <a:ext cx="4066117"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Bildplatzhalter 3"/>
          <p:cNvSpPr>
            <a:spLocks noGrp="1"/>
          </p:cNvSpPr>
          <p:nvPr>
            <p:ph type="pic" sz="quarter" idx="14" hasCustomPrompt="1"/>
          </p:nvPr>
        </p:nvSpPr>
        <p:spPr bwMode="gray">
          <a:xfrm>
            <a:off x="8125883" y="1090799"/>
            <a:ext cx="4066116"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8113181"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9"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3" y="1090800"/>
            <a:ext cx="6095997"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
        <p:nvSpPr>
          <p:cNvPr id="4" name="Bildplatzhalter 3"/>
          <p:cNvSpPr>
            <a:spLocks noGrp="1"/>
          </p:cNvSpPr>
          <p:nvPr>
            <p:ph type="pic" sz="quarter" idx="14" hasCustomPrompt="1"/>
          </p:nvPr>
        </p:nvSpPr>
        <p:spPr bwMode="gray">
          <a:xfrm>
            <a:off x="6096000" y="1090800"/>
            <a:ext cx="60960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Tree>
    <p:extLst>
      <p:ext uri="{BB962C8B-B14F-4D97-AF65-F5344CB8AC3E}">
        <p14:creationId xmlns:p14="http://schemas.microsoft.com/office/powerpoint/2010/main" val="2845138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4" name="Bildplatzhalter 3"/>
          <p:cNvSpPr>
            <a:spLocks noGrp="1"/>
          </p:cNvSpPr>
          <p:nvPr>
            <p:ph type="pic" sz="quarter" idx="14" hasCustomPrompt="1"/>
          </p:nvPr>
        </p:nvSpPr>
        <p:spPr bwMode="gray">
          <a:xfrm>
            <a:off x="6096000" y="1090800"/>
            <a:ext cx="60960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15864130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13" name="Bildplatzhalter 12"/>
          <p:cNvSpPr>
            <a:spLocks noGrp="1"/>
          </p:cNvSpPr>
          <p:nvPr>
            <p:ph type="pic" sz="quarter" idx="16" hasCustomPrompt="1"/>
          </p:nvPr>
        </p:nvSpPr>
        <p:spPr bwMode="gray">
          <a:xfrm>
            <a:off x="6096000" y="3978000"/>
            <a:ext cx="60960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Bildplatzhalter 3"/>
          <p:cNvSpPr>
            <a:spLocks noGrp="1"/>
          </p:cNvSpPr>
          <p:nvPr>
            <p:ph type="pic" sz="quarter" idx="14" hasCustomPrompt="1"/>
          </p:nvPr>
        </p:nvSpPr>
        <p:spPr bwMode="gray">
          <a:xfrm>
            <a:off x="6096000" y="1090799"/>
            <a:ext cx="60960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elplatzhalter 1"/>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805185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4" name="Bildplatzhalter 3"/>
          <p:cNvSpPr>
            <a:spLocks noGrp="1"/>
          </p:cNvSpPr>
          <p:nvPr>
            <p:ph type="pic" sz="quarter" idx="14" hasCustomPrompt="1"/>
          </p:nvPr>
        </p:nvSpPr>
        <p:spPr bwMode="gray">
          <a:xfrm>
            <a:off x="6096000" y="1090800"/>
            <a:ext cx="6096000" cy="2880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3" y="1090799"/>
            <a:ext cx="609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8"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9"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
        <p:nvSpPr>
          <p:cNvPr id="3" name="Bildplatzhalter 2"/>
          <p:cNvSpPr>
            <a:spLocks noGrp="1"/>
          </p:cNvSpPr>
          <p:nvPr>
            <p:ph type="pic" sz="quarter" idx="16" hasCustomPrompt="1"/>
          </p:nvPr>
        </p:nvSpPr>
        <p:spPr bwMode="gray">
          <a:xfrm>
            <a:off x="6096000" y="3978000"/>
            <a:ext cx="3048000" cy="2880000"/>
          </a:xfr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0" name="Bildplatzhalter 9"/>
          <p:cNvSpPr>
            <a:spLocks noGrp="1"/>
          </p:cNvSpPr>
          <p:nvPr>
            <p:ph type="pic" sz="quarter" idx="17" hasCustomPrompt="1"/>
          </p:nvPr>
        </p:nvSpPr>
        <p:spPr bwMode="gray">
          <a:xfrm>
            <a:off x="9144000" y="3978000"/>
            <a:ext cx="3048000" cy="28800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p:txBody>
      </p:sp>
    </p:spTree>
    <p:extLst>
      <p:ext uri="{BB962C8B-B14F-4D97-AF65-F5344CB8AC3E}">
        <p14:creationId xmlns:p14="http://schemas.microsoft.com/office/powerpoint/2010/main" val="147806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1" y="1090800"/>
            <a:ext cx="8114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3" name="Bildplatzhalter 12"/>
          <p:cNvSpPr>
            <a:spLocks noGrp="1"/>
          </p:cNvSpPr>
          <p:nvPr>
            <p:ph type="pic" sz="quarter" idx="16" hasCustomPrompt="1"/>
          </p:nvPr>
        </p:nvSpPr>
        <p:spPr bwMode="gray">
          <a:xfrm>
            <a:off x="8134800" y="49356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Bildplatzhalter 12"/>
          <p:cNvSpPr>
            <a:spLocks noGrp="1"/>
          </p:cNvSpPr>
          <p:nvPr>
            <p:ph type="pic" sz="quarter" idx="17" hasCustomPrompt="1"/>
          </p:nvPr>
        </p:nvSpPr>
        <p:spPr bwMode="gray">
          <a:xfrm>
            <a:off x="8134800" y="30132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11" name="Bildplatzhalter 12"/>
          <p:cNvSpPr>
            <a:spLocks noGrp="1"/>
          </p:cNvSpPr>
          <p:nvPr>
            <p:ph type="pic" sz="quarter" idx="18" hasCustomPrompt="1"/>
          </p:nvPr>
        </p:nvSpPr>
        <p:spPr bwMode="gray">
          <a:xfrm>
            <a:off x="8134800" y="1090800"/>
            <a:ext cx="4057200" cy="19224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10"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2"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14"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spTree>
    <p:extLst>
      <p:ext uri="{BB962C8B-B14F-4D97-AF65-F5344CB8AC3E}">
        <p14:creationId xmlns:p14="http://schemas.microsoft.com/office/powerpoint/2010/main" val="27351559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platzhalter 5"/>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stStyle>
          <a:p>
            <a:pPr lvl="0"/>
            <a:r>
              <a:rPr lang="en-US" noProof="0"/>
              <a:t>Click to edit text</a:t>
            </a:r>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5" name="Bildplatzhalter 12"/>
          <p:cNvSpPr>
            <a:spLocks noGrp="1"/>
          </p:cNvSpPr>
          <p:nvPr>
            <p:ph type="pic" sz="quarter" idx="16" hasCustomPrompt="1"/>
          </p:nvPr>
        </p:nvSpPr>
        <p:spPr bwMode="gray">
          <a:xfrm>
            <a:off x="10155767" y="5418424"/>
            <a:ext cx="2036232"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8" name="Bildplatzhalter 12"/>
          <p:cNvSpPr>
            <a:spLocks noGrp="1"/>
          </p:cNvSpPr>
          <p:nvPr>
            <p:ph type="pic" sz="quarter" idx="17" hasCustomPrompt="1"/>
          </p:nvPr>
        </p:nvSpPr>
        <p:spPr bwMode="gray">
          <a:xfrm>
            <a:off x="8138585" y="5418424"/>
            <a:ext cx="2025649"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Bildplatzhalter 12"/>
          <p:cNvSpPr>
            <a:spLocks noGrp="1"/>
          </p:cNvSpPr>
          <p:nvPr>
            <p:ph type="pic" sz="quarter" idx="18" hasCustomPrompt="1"/>
          </p:nvPr>
        </p:nvSpPr>
        <p:spPr bwMode="gray">
          <a:xfrm>
            <a:off x="6112933" y="5418424"/>
            <a:ext cx="2029883" cy="14400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Tree>
    <p:extLst>
      <p:ext uri="{BB962C8B-B14F-4D97-AF65-F5344CB8AC3E}">
        <p14:creationId xmlns:p14="http://schemas.microsoft.com/office/powerpoint/2010/main" val="383884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10" name="Bildplatzhalter 6"/>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platzhalter 10"/>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de-DE"/>
              <a:t>Click </a:t>
            </a:r>
            <a:r>
              <a:rPr lang="de-DE" err="1"/>
              <a:t>here</a:t>
            </a:r>
            <a:r>
              <a:rPr lang="de-DE"/>
              <a:t> </a:t>
            </a:r>
            <a:r>
              <a:rPr lang="de-DE" err="1"/>
              <a:t>to</a:t>
            </a:r>
            <a:r>
              <a:rPr lang="de-DE"/>
              <a:t> </a:t>
            </a:r>
            <a:r>
              <a:rPr lang="de-DE" err="1"/>
              <a:t>edit</a:t>
            </a:r>
            <a:r>
              <a:rPr lang="de-DE"/>
              <a:t> </a:t>
            </a:r>
            <a:r>
              <a:rPr lang="de-DE" err="1"/>
              <a:t>source</a:t>
            </a:r>
            <a:endParaRPr lang="de-DE"/>
          </a:p>
        </p:txBody>
      </p:sp>
      <p:sp>
        <p:nvSpPr>
          <p:cNvPr id="7"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6" name="Textplatzhalter 5"/>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13" name="Bildplatzhalter 12"/>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5"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5" name="Bildplatzhalter 3"/>
          <p:cNvSpPr>
            <a:spLocks noGrp="1"/>
          </p:cNvSpPr>
          <p:nvPr>
            <p:ph type="pic" sz="quarter" idx="10" hasCustomPrompt="1"/>
          </p:nvPr>
        </p:nvSpPr>
        <p:spPr bwMode="gray">
          <a:xfrm>
            <a:off x="0" y="1090800"/>
            <a:ext cx="60960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7" name="Bildplatzhalter 5"/>
          <p:cNvSpPr>
            <a:spLocks noGrp="1"/>
          </p:cNvSpPr>
          <p:nvPr>
            <p:ph type="pic" sz="quarter" idx="11" hasCustomPrompt="1"/>
          </p:nvPr>
        </p:nvSpPr>
        <p:spPr bwMode="gray">
          <a:xfrm>
            <a:off x="6094800" y="1090800"/>
            <a:ext cx="60960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4541835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7" name="Bildplatzhalter 3"/>
          <p:cNvSpPr>
            <a:spLocks noGrp="1"/>
          </p:cNvSpPr>
          <p:nvPr>
            <p:ph type="pic" sz="quarter" idx="10" hasCustomPrompt="1"/>
          </p:nvPr>
        </p:nvSpPr>
        <p:spPr bwMode="gray">
          <a:xfrm>
            <a:off x="0" y="10908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9" name="Bildplatzhalter 5"/>
          <p:cNvSpPr>
            <a:spLocks noGrp="1"/>
          </p:cNvSpPr>
          <p:nvPr>
            <p:ph type="pic" sz="quarter" idx="11" hasCustomPrompt="1"/>
          </p:nvPr>
        </p:nvSpPr>
        <p:spPr bwMode="gray">
          <a:xfrm>
            <a:off x="6094800" y="10908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0" name="Bildplatzhalter 4"/>
          <p:cNvSpPr>
            <a:spLocks noGrp="1"/>
          </p:cNvSpPr>
          <p:nvPr>
            <p:ph type="pic" sz="quarter" idx="12" hasCustomPrompt="1"/>
          </p:nvPr>
        </p:nvSpPr>
        <p:spPr bwMode="gray">
          <a:xfrm>
            <a:off x="0" y="39780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1" name="Bildplatzhalter 7"/>
          <p:cNvSpPr>
            <a:spLocks noGrp="1"/>
          </p:cNvSpPr>
          <p:nvPr>
            <p:ph type="pic" sz="quarter" idx="13" hasCustomPrompt="1"/>
          </p:nvPr>
        </p:nvSpPr>
        <p:spPr bwMode="gray">
          <a:xfrm>
            <a:off x="6094800" y="3978000"/>
            <a:ext cx="60960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9181446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vert="horz" wrap="square" lIns="450000" tIns="144000" rIns="90000" bIns="144000" rtlCol="0" anchor="b" anchorCtr="0">
            <a:spAutoFit/>
          </a:bodyPr>
          <a:lstStyle>
            <a:lvl1pPr>
              <a:defRPr lang="de-DE" dirty="0"/>
            </a:lvl1pPr>
          </a:lstStyle>
          <a:p>
            <a:pPr lvl="0"/>
            <a:r>
              <a:rPr lang="en-US" noProof="0"/>
              <a:t>Click to add title</a:t>
            </a:r>
            <a:endParaRPr lang="de-DE"/>
          </a:p>
        </p:txBody>
      </p:sp>
      <p:sp>
        <p:nvSpPr>
          <p:cNvPr id="10" name="Bildplatzhalter 7"/>
          <p:cNvSpPr>
            <a:spLocks noGrp="1"/>
          </p:cNvSpPr>
          <p:nvPr>
            <p:ph type="pic" sz="quarter" idx="15" hasCustomPrompt="1"/>
          </p:nvPr>
        </p:nvSpPr>
        <p:spPr bwMode="gray">
          <a:xfrm>
            <a:off x="812640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1" name="Bildplatzhalter 4"/>
          <p:cNvSpPr>
            <a:spLocks noGrp="1"/>
          </p:cNvSpPr>
          <p:nvPr>
            <p:ph type="pic" sz="quarter" idx="12" hasCustomPrompt="1"/>
          </p:nvPr>
        </p:nvSpPr>
        <p:spPr bwMode="gray">
          <a:xfrm>
            <a:off x="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2" name="Bildplatzhalter 3"/>
          <p:cNvSpPr>
            <a:spLocks noGrp="1"/>
          </p:cNvSpPr>
          <p:nvPr>
            <p:ph type="pic" sz="quarter" idx="10" hasCustomPrompt="1"/>
          </p:nvPr>
        </p:nvSpPr>
        <p:spPr bwMode="gray">
          <a:xfrm>
            <a:off x="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3" name="Bildplatzhalter 5"/>
          <p:cNvSpPr>
            <a:spLocks noGrp="1"/>
          </p:cNvSpPr>
          <p:nvPr>
            <p:ph type="pic" sz="quarter" idx="11" hasCustomPrompt="1"/>
          </p:nvPr>
        </p:nvSpPr>
        <p:spPr bwMode="gray">
          <a:xfrm>
            <a:off x="81264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4" name="Bildplatzhalter 7"/>
          <p:cNvSpPr>
            <a:spLocks noGrp="1"/>
          </p:cNvSpPr>
          <p:nvPr>
            <p:ph type="pic" sz="quarter" idx="13" hasCustomPrompt="1"/>
          </p:nvPr>
        </p:nvSpPr>
        <p:spPr bwMode="gray">
          <a:xfrm>
            <a:off x="4063200" y="39780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5" name="Bildplatzhalter 5"/>
          <p:cNvSpPr>
            <a:spLocks noGrp="1"/>
          </p:cNvSpPr>
          <p:nvPr>
            <p:ph type="pic" sz="quarter" idx="14"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33713630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12" name="Bildplatzhalter 2"/>
          <p:cNvSpPr>
            <a:spLocks noGrp="1"/>
          </p:cNvSpPr>
          <p:nvPr>
            <p:ph type="pic" sz="quarter" idx="10" hasCustomPrompt="1"/>
          </p:nvPr>
        </p:nvSpPr>
        <p:spPr bwMode="gray">
          <a:xfrm>
            <a:off x="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3" name="Bildplatzhalter 23"/>
          <p:cNvSpPr>
            <a:spLocks noGrp="1"/>
          </p:cNvSpPr>
          <p:nvPr>
            <p:ph type="pic" sz="quarter" idx="11" hasCustomPrompt="1"/>
          </p:nvPr>
        </p:nvSpPr>
        <p:spPr bwMode="gray">
          <a:xfrm>
            <a:off x="0" y="30132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4" name="Bildplatzhalter 25"/>
          <p:cNvSpPr>
            <a:spLocks noGrp="1"/>
          </p:cNvSpPr>
          <p:nvPr>
            <p:ph type="pic" sz="quarter" idx="12" hasCustomPrompt="1"/>
          </p:nvPr>
        </p:nvSpPr>
        <p:spPr bwMode="gray">
          <a:xfrm>
            <a:off x="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5" name="Bildplatzhalter 27"/>
          <p:cNvSpPr>
            <a:spLocks noGrp="1"/>
          </p:cNvSpPr>
          <p:nvPr>
            <p:ph type="pic" sz="quarter" idx="13" hasCustomPrompt="1"/>
          </p:nvPr>
        </p:nvSpPr>
        <p:spPr bwMode="gray">
          <a:xfrm>
            <a:off x="40656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6" name="Bildplatzhalter 29"/>
          <p:cNvSpPr>
            <a:spLocks noGrp="1"/>
          </p:cNvSpPr>
          <p:nvPr>
            <p:ph type="pic" sz="quarter" idx="14" hasCustomPrompt="1"/>
          </p:nvPr>
        </p:nvSpPr>
        <p:spPr bwMode="gray">
          <a:xfrm>
            <a:off x="4065600" y="30132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7" name="Bildplatzhalter 31"/>
          <p:cNvSpPr>
            <a:spLocks noGrp="1"/>
          </p:cNvSpPr>
          <p:nvPr>
            <p:ph type="pic" sz="quarter" idx="15" hasCustomPrompt="1"/>
          </p:nvPr>
        </p:nvSpPr>
        <p:spPr bwMode="gray">
          <a:xfrm>
            <a:off x="406560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8" name="Bildplatzhalter 33"/>
          <p:cNvSpPr>
            <a:spLocks noGrp="1"/>
          </p:cNvSpPr>
          <p:nvPr>
            <p:ph type="pic" sz="quarter" idx="16" hasCustomPrompt="1"/>
          </p:nvPr>
        </p:nvSpPr>
        <p:spPr bwMode="gray">
          <a:xfrm>
            <a:off x="8126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19" name="Bildplatzhalter 35"/>
          <p:cNvSpPr>
            <a:spLocks noGrp="1"/>
          </p:cNvSpPr>
          <p:nvPr>
            <p:ph type="pic" sz="quarter" idx="17" hasCustomPrompt="1"/>
          </p:nvPr>
        </p:nvSpPr>
        <p:spPr bwMode="gray">
          <a:xfrm>
            <a:off x="8126400" y="30132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
        <p:nvSpPr>
          <p:cNvPr id="20" name="Bildplatzhalter 37"/>
          <p:cNvSpPr>
            <a:spLocks noGrp="1"/>
          </p:cNvSpPr>
          <p:nvPr>
            <p:ph type="pic" sz="quarter" idx="18" hasCustomPrompt="1"/>
          </p:nvPr>
        </p:nvSpPr>
        <p:spPr bwMode="gray">
          <a:xfrm>
            <a:off x="8126400" y="49356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de-DE"/>
          </a:p>
        </p:txBody>
      </p:sp>
    </p:spTree>
    <p:extLst>
      <p:ext uri="{BB962C8B-B14F-4D97-AF65-F5344CB8AC3E}">
        <p14:creationId xmlns:p14="http://schemas.microsoft.com/office/powerpoint/2010/main" val="29354380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Rechteck 1"/>
          <p:cNvSpPr/>
          <p:nvPr userDrawn="1"/>
        </p:nvSpPr>
        <p:spPr>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de-DE" sz="2200">
              <a:solidFill>
                <a:schemeClr val="bg1"/>
              </a:solidFill>
              <a:latin typeface="Arial" pitchFamily="34" charset="0"/>
              <a:cs typeface="Arial" pitchFamily="34" charset="0"/>
            </a:endParaRPr>
          </a:p>
        </p:txBody>
      </p:sp>
      <p:sp>
        <p:nvSpPr>
          <p:cNvPr id="3" name="Medienplatzhalter 2"/>
          <p:cNvSpPr>
            <a:spLocks noGrp="1"/>
          </p:cNvSpPr>
          <p:nvPr>
            <p:ph type="media" sz="quarter" idx="17" hasCustomPrompt="1"/>
          </p:nvPr>
        </p:nvSpPr>
        <p:spPr bwMode="gray">
          <a:xfrm>
            <a:off x="-1" y="0"/>
            <a:ext cx="12201600" cy="6856226"/>
          </a:xfrm>
          <a:prstGeom prst="rect">
            <a:avLst/>
          </a:prstGeom>
        </p:spPr>
        <p:txBody>
          <a:bodyPr/>
          <a:lstStyle>
            <a:lvl1pPr marL="0" indent="0">
              <a:buNone/>
              <a:defRPr>
                <a:solidFill>
                  <a:schemeClr val="bg1"/>
                </a:solidFill>
              </a:defRPr>
            </a:lvl1pPr>
          </a:lstStyle>
          <a:p>
            <a:r>
              <a:rPr lang="en-US" noProof="0"/>
              <a:t>Click on symbol to add v</a:t>
            </a:r>
            <a:r>
              <a:rPr lang="de-DE" err="1"/>
              <a:t>ideo</a:t>
            </a:r>
            <a:r>
              <a:rPr lang="de-DE"/>
              <a:t> in 16:9 </a:t>
            </a:r>
            <a:r>
              <a:rPr lang="de-DE" err="1"/>
              <a:t>format</a:t>
            </a:r>
            <a:endParaRPr lang="de-DE"/>
          </a:p>
        </p:txBody>
      </p:sp>
    </p:spTree>
    <p:extLst>
      <p:ext uri="{BB962C8B-B14F-4D97-AF65-F5344CB8AC3E}">
        <p14:creationId xmlns:p14="http://schemas.microsoft.com/office/powerpoint/2010/main" val="2105187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9" name="Diagrammplatzhalter 8"/>
          <p:cNvSpPr>
            <a:spLocks noGrp="1"/>
          </p:cNvSpPr>
          <p:nvPr>
            <p:ph type="chart" sz="quarter" idx="13" hasCustomPrompt="1"/>
          </p:nvPr>
        </p:nvSpPr>
        <p:spPr bwMode="gray">
          <a:xfrm>
            <a:off x="335361" y="1484313"/>
            <a:ext cx="11521279" cy="4969529"/>
          </a:xfrm>
          <a:prstGeom prst="rect">
            <a:avLst/>
          </a:prstGeom>
          <a:ln>
            <a:noFill/>
            <a:miter lim="800000"/>
          </a:ln>
        </p:spPr>
        <p:txBody>
          <a:bodyPr/>
          <a:lstStyle>
            <a:lvl1pPr marL="0" indent="0">
              <a:buNone/>
              <a:defRPr/>
            </a:lvl1pPr>
          </a:lstStyle>
          <a:p>
            <a:r>
              <a:rPr lang="en-US" noProof="0"/>
              <a:t>Click on symbol to add diagram/chart</a:t>
            </a:r>
          </a:p>
        </p:txBody>
      </p:sp>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
        <p:nvSpPr>
          <p:cNvPr id="2" name="Fußzeilenplatzhalter 1"/>
          <p:cNvSpPr>
            <a:spLocks noGrp="1"/>
          </p:cNvSpPr>
          <p:nvPr>
            <p:ph type="ftr" sz="quarter" idx="14"/>
          </p:nvPr>
        </p:nvSpPr>
        <p:spPr/>
        <p:txBody>
          <a:bodyPr/>
          <a:lstStyle/>
          <a:p>
            <a:endParaRPr lang="de-DE"/>
          </a:p>
        </p:txBody>
      </p:sp>
      <p:sp>
        <p:nvSpPr>
          <p:cNvPr id="3" name="Foliennummernplatzhalter 2"/>
          <p:cNvSpPr>
            <a:spLocks noGrp="1"/>
          </p:cNvSpPr>
          <p:nvPr>
            <p:ph type="sldNum" sz="quarter" idx="15"/>
          </p:nvPr>
        </p:nvSpPr>
        <p:spPr/>
        <p:txBody>
          <a:bodyPr/>
          <a:lstStyle/>
          <a:p>
            <a:fld id="{A930EF64-91C9-4EBD-82F9-3643AB15A28C}" type="slidenum">
              <a:rPr lang="de-DE" smtClean="0"/>
              <a:pPr/>
              <a:t>‹#›</a:t>
            </a:fld>
            <a:endParaRPr lang="de-DE"/>
          </a:p>
        </p:txBody>
      </p:sp>
    </p:spTree>
    <p:extLst>
      <p:ext uri="{BB962C8B-B14F-4D97-AF65-F5344CB8AC3E}">
        <p14:creationId xmlns:p14="http://schemas.microsoft.com/office/powerpoint/2010/main" val="31885754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6" name="Rectangle 4"/>
          <p:cNvSpPr>
            <a:spLocks noChangeArrowheads="1"/>
          </p:cNvSpPr>
          <p:nvPr userDrawn="1"/>
        </p:nvSpPr>
        <p:spPr bwMode="auto">
          <a:xfrm>
            <a:off x="6096001" y="1090800"/>
            <a:ext cx="5941484" cy="161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de-DE" sz="1600"/>
              <a:t>Phone:	+49 5246 963-0  </a:t>
            </a:r>
          </a:p>
          <a:p>
            <a:pPr>
              <a:buFont typeface="Wingdings" panose="05000000000000000000" pitchFamily="2" charset="2"/>
              <a:buNone/>
            </a:pPr>
            <a:r>
              <a:rPr lang="en-US" altLang="de-DE" sz="1600"/>
              <a:t>Fax:	+49 5246 963-198</a:t>
            </a:r>
          </a:p>
          <a:p>
            <a:pPr>
              <a:buFont typeface="Wingdings" panose="05000000000000000000" pitchFamily="2" charset="2"/>
              <a:buNone/>
            </a:pPr>
            <a:r>
              <a:rPr lang="en-US" altLang="de-DE" sz="1600"/>
              <a:t>E-Mail:	info@beckhoff.com </a:t>
            </a:r>
          </a:p>
          <a:p>
            <a:pPr>
              <a:buFont typeface="Wingdings" panose="05000000000000000000" pitchFamily="2" charset="2"/>
              <a:buNone/>
            </a:pPr>
            <a:r>
              <a:rPr lang="en-US" altLang="de-DE" sz="1600"/>
              <a:t>Web:	www.beckhoff.com </a:t>
            </a:r>
            <a:r>
              <a:rPr lang="en-US" altLang="de-DE" sz="1600" b="1"/>
              <a:t> </a:t>
            </a:r>
          </a:p>
        </p:txBody>
      </p:sp>
      <p:sp>
        <p:nvSpPr>
          <p:cNvPr id="7" name="Text Box 5"/>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de-DE"/>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a:t>© Beckhoff Automation GmbH &amp; Co. KG</a:t>
            </a:r>
            <a:endParaRPr lang="de-DE"/>
          </a:p>
          <a:p>
            <a:pPr lvl="0"/>
            <a:endParaRPr lang="en-US" altLang="de-DE"/>
          </a:p>
          <a:p>
            <a:pPr lvl="0"/>
            <a:r>
              <a:rPr lang="en-US" altLang="de-DE"/>
              <a:t>All images are protected by copyright. The use and transfer to third parties is not permitted.</a:t>
            </a:r>
          </a:p>
          <a:p>
            <a:pPr lvl="0"/>
            <a:endParaRPr lang="en-US" altLang="de-DE"/>
          </a:p>
          <a:p>
            <a:pPr lvl="0"/>
            <a:r>
              <a:rPr lang="en-US" altLang="de-DE"/>
              <a:t>Beckhoff</a:t>
            </a:r>
            <a:r>
              <a:rPr lang="en-US" altLang="de-DE" baseline="30000"/>
              <a:t>®</a:t>
            </a:r>
            <a:r>
              <a:rPr lang="en-US" altLang="de-DE"/>
              <a:t>, TwinCAT</a:t>
            </a:r>
            <a:r>
              <a:rPr lang="en-US" altLang="de-DE" baseline="30000"/>
              <a:t>®</a:t>
            </a:r>
            <a:r>
              <a:rPr lang="en-US" altLang="de-DE"/>
              <a:t>, EtherCAT</a:t>
            </a:r>
            <a:r>
              <a:rPr lang="en-US" altLang="de-DE" baseline="30000"/>
              <a:t>®</a:t>
            </a:r>
            <a:r>
              <a:rPr lang="en-US" altLang="de-DE"/>
              <a:t>, EtherCAT P</a:t>
            </a:r>
            <a:r>
              <a:rPr lang="en-US" altLang="de-DE" baseline="30000"/>
              <a:t>®</a:t>
            </a:r>
            <a:r>
              <a:rPr lang="en-US" altLang="de-DE"/>
              <a:t>, Safety over EtherCAT</a:t>
            </a:r>
            <a:r>
              <a:rPr lang="en-US" altLang="de-DE" baseline="30000"/>
              <a:t>®</a:t>
            </a:r>
            <a:r>
              <a:rPr lang="en-US" altLang="de-DE"/>
              <a:t>, </a:t>
            </a:r>
            <a:r>
              <a:rPr lang="en-US" altLang="de-DE" err="1"/>
              <a:t>TwinSAFE</a:t>
            </a:r>
            <a:r>
              <a:rPr lang="en-US" altLang="de-DE" baseline="30000"/>
              <a:t>®</a:t>
            </a:r>
            <a:r>
              <a:rPr lang="en-US" altLang="de-DE"/>
              <a:t>, XFC</a:t>
            </a:r>
            <a:r>
              <a:rPr lang="en-US" altLang="de-DE" baseline="30000"/>
              <a:t>®</a:t>
            </a:r>
            <a:r>
              <a:rPr lang="en-US" altLang="de-DE"/>
              <a:t> and XTS</a:t>
            </a:r>
            <a:r>
              <a:rPr lang="en-US" altLang="de-DE" baseline="30000"/>
              <a:t>®</a:t>
            </a:r>
            <a:r>
              <a:rPr lang="en-US" altLang="de-DE"/>
              <a:t> are registered trademarks of and licensed by Beckhoff Automation GmbH. Other designations used in this presentation may be trademarks whose use by third parties for their own purposes could violate the rights of the owners.</a:t>
            </a:r>
          </a:p>
          <a:p>
            <a:pPr lvl="0"/>
            <a:endParaRPr lang="en-US" altLang="de-DE"/>
          </a:p>
          <a:p>
            <a:pPr lvl="0"/>
            <a:r>
              <a:rPr lang="en-US" altLang="de-DE"/>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9" name="Textfeld 8"/>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de-DE" sz="1600"/>
              <a:t>Beckhoff Automation GmbH &amp; Co. KG </a:t>
            </a:r>
            <a:br>
              <a:rPr lang="en-US" altLang="de-DE" sz="1600"/>
            </a:br>
            <a:r>
              <a:rPr lang="en-US" altLang="de-DE" sz="1600" b="0"/>
              <a:t>Headquarters </a:t>
            </a:r>
            <a:br>
              <a:rPr lang="en-US" altLang="de-DE" sz="1600" b="0"/>
            </a:br>
            <a:r>
              <a:rPr lang="en-US" altLang="de-DE" sz="1600" b="0"/>
              <a:t>Huelshorstweg 20 </a:t>
            </a:r>
            <a:br>
              <a:rPr lang="en-US" altLang="de-DE" sz="1600" b="0"/>
            </a:br>
            <a:r>
              <a:rPr lang="en-US" altLang="de-DE" sz="1600" b="0"/>
              <a:t>33415 Verl </a:t>
            </a:r>
            <a:br>
              <a:rPr lang="en-US" altLang="de-DE" sz="1600" b="0"/>
            </a:br>
            <a:r>
              <a:rPr lang="en-US" altLang="de-DE" sz="1600" b="0"/>
              <a:t>Germany </a:t>
            </a:r>
          </a:p>
        </p:txBody>
      </p:sp>
      <p:sp>
        <p:nvSpPr>
          <p:cNvPr id="11" name="Textfeld 10"/>
          <p:cNvSpPr txBox="1"/>
          <p:nvPr userDrawn="1"/>
        </p:nvSpPr>
        <p:spPr>
          <a:xfrm>
            <a:off x="-1" y="450787"/>
            <a:ext cx="10137600" cy="629367"/>
          </a:xfrm>
          <a:prstGeom prst="rect">
            <a:avLst/>
          </a:prstGeom>
        </p:spPr>
        <p:txBody>
          <a:bodyPr vert="horz" wrap="square" lIns="450000" tIns="144000" rIns="90000" bIns="144000" rtlCol="0" anchor="b" anchorCtr="0">
            <a:spAutoFit/>
          </a:bodyPr>
          <a:lstStyle>
            <a:defPPr>
              <a:defRPr lang="de-DE"/>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a:t>Contact</a:t>
            </a:r>
          </a:p>
        </p:txBody>
      </p:sp>
      <p:sp>
        <p:nvSpPr>
          <p:cNvPr id="12" name="Textplatzhalter 4"/>
          <p:cNvSpPr>
            <a:spLocks noGrp="1"/>
          </p:cNvSpPr>
          <p:nvPr>
            <p:ph type="body" sz="quarter" idx="11" hasCustomPrompt="1"/>
          </p:nvPr>
        </p:nvSpPr>
        <p:spPr>
          <a:xfrm>
            <a:off x="3255495" y="4206349"/>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a:t>MM/YYYY</a:t>
            </a:r>
          </a:p>
        </p:txBody>
      </p:sp>
    </p:spTree>
    <p:extLst>
      <p:ext uri="{BB962C8B-B14F-4D97-AF65-F5344CB8AC3E}">
        <p14:creationId xmlns:p14="http://schemas.microsoft.com/office/powerpoint/2010/main" val="38510568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7" name="Text Box 5"/>
          <p:cNvSpPr txBox="1">
            <a:spLocks noChangeArrowheads="1"/>
          </p:cNvSpPr>
          <p:nvPr userDrawn="1"/>
        </p:nvSpPr>
        <p:spPr bwMode="auto">
          <a:xfrm>
            <a:off x="0" y="4186655"/>
            <a:ext cx="1013760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en-US" sz="1200"/>
              <a:t>© Beckhoff Automation GmbH &amp; Co. KG</a:t>
            </a:r>
          </a:p>
          <a:p>
            <a:endParaRPr lang="de-DE" altLang="de-DE" sz="1200"/>
          </a:p>
          <a:p>
            <a:pPr>
              <a:buFont typeface="Wingdings" panose="05000000000000000000" pitchFamily="2" charset="2"/>
              <a:buNone/>
            </a:pPr>
            <a:r>
              <a:rPr lang="de-DE" altLang="de-DE" sz="1200"/>
              <a:t>Alle Bilder sind urheberrechtlich geschützt. Die Weitergabe und Nutzung durch Dritte ist nicht gestattet.</a:t>
            </a:r>
          </a:p>
          <a:p>
            <a:pPr>
              <a:buFont typeface="Wingdings" panose="05000000000000000000" pitchFamily="2" charset="2"/>
              <a:buNone/>
            </a:pPr>
            <a:endParaRPr lang="de-DE" altLang="de-DE" sz="1200"/>
          </a:p>
          <a:p>
            <a:pPr>
              <a:buFont typeface="Wingdings" panose="05000000000000000000" pitchFamily="2" charset="2"/>
              <a:buNone/>
            </a:pPr>
            <a:r>
              <a:rPr lang="de-DE" sz="1200"/>
              <a:t>Beckhoff</a:t>
            </a:r>
            <a:r>
              <a:rPr lang="de-DE" sz="1200" baseline="30000"/>
              <a:t>®</a:t>
            </a:r>
            <a:r>
              <a:rPr lang="de-DE" sz="1200"/>
              <a:t>, TwinCAT</a:t>
            </a:r>
            <a:r>
              <a:rPr lang="de-DE" sz="1200" baseline="30000"/>
              <a:t>®</a:t>
            </a:r>
            <a:r>
              <a:rPr lang="de-DE" sz="1200"/>
              <a:t>, EtherCAT</a:t>
            </a:r>
            <a:r>
              <a:rPr lang="de-DE" sz="1200" baseline="30000"/>
              <a:t>®</a:t>
            </a:r>
            <a:r>
              <a:rPr lang="de-DE" sz="1200"/>
              <a:t>, EtherCAT P</a:t>
            </a:r>
            <a:r>
              <a:rPr lang="de-DE" sz="1200" baseline="30000"/>
              <a:t>®</a:t>
            </a:r>
            <a:r>
              <a:rPr lang="de-DE" sz="1200"/>
              <a:t>, Safety over EtherCAT</a:t>
            </a:r>
            <a:r>
              <a:rPr lang="de-DE" sz="1200" baseline="30000"/>
              <a:t>®</a:t>
            </a:r>
            <a:r>
              <a:rPr lang="de-DE" sz="1200"/>
              <a:t>, TwinSAFE</a:t>
            </a:r>
            <a:r>
              <a:rPr lang="de-DE" sz="1200" baseline="30000"/>
              <a:t>®</a:t>
            </a:r>
            <a:r>
              <a:rPr lang="de-DE" sz="1200"/>
              <a:t>, XFC</a:t>
            </a:r>
            <a:r>
              <a:rPr lang="de-DE" sz="1200" baseline="30000"/>
              <a:t>®</a:t>
            </a:r>
            <a:r>
              <a:rPr lang="de-DE" sz="1200"/>
              <a:t> und XTS</a:t>
            </a:r>
            <a:r>
              <a:rPr lang="de-DE" sz="1200" baseline="30000"/>
              <a:t>®</a:t>
            </a:r>
            <a:r>
              <a:rPr lang="de-DE" sz="1200"/>
              <a:t> sind eingetragene und lizenzierte Marken der Beckhoff Automation GmbH. </a:t>
            </a:r>
            <a:r>
              <a:rPr lang="de-DE" altLang="de-DE" sz="1200"/>
              <a:t>Die Verwendung anderer in dieser Präsentation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a:p>
          <a:p>
            <a:pPr>
              <a:buFont typeface="Wingdings" panose="05000000000000000000" pitchFamily="2" charset="2"/>
              <a:buNone/>
            </a:pPr>
            <a:r>
              <a:rPr lang="de-DE" altLang="de-DE" sz="1200"/>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6" name="Rectangle 4"/>
          <p:cNvSpPr>
            <a:spLocks noChangeArrowheads="1"/>
          </p:cNvSpPr>
          <p:nvPr userDrawn="1"/>
        </p:nvSpPr>
        <p:spPr bwMode="auto">
          <a:xfrm>
            <a:off x="6096001" y="1090800"/>
            <a:ext cx="5941484" cy="161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a:t>Telefon:	+49 5246 963-0  </a:t>
            </a:r>
          </a:p>
          <a:p>
            <a:pPr>
              <a:buFont typeface="Wingdings" panose="05000000000000000000" pitchFamily="2" charset="2"/>
              <a:buNone/>
            </a:pPr>
            <a:r>
              <a:rPr lang="de-DE" altLang="de-DE" sz="1600"/>
              <a:t>Fax:	+49 5246 963-198</a:t>
            </a:r>
          </a:p>
          <a:p>
            <a:pPr>
              <a:buFont typeface="Wingdings" panose="05000000000000000000" pitchFamily="2" charset="2"/>
              <a:buNone/>
            </a:pPr>
            <a:r>
              <a:rPr lang="de-DE" altLang="de-DE" sz="1600"/>
              <a:t>E-Mail:	info@beckhoff.de</a:t>
            </a:r>
          </a:p>
          <a:p>
            <a:pPr>
              <a:buFont typeface="Wingdings" panose="05000000000000000000" pitchFamily="2" charset="2"/>
              <a:buNone/>
            </a:pPr>
            <a:r>
              <a:rPr lang="de-DE" altLang="de-DE" sz="1600"/>
              <a:t>Web:	www.beckhoff.de</a:t>
            </a:r>
            <a:r>
              <a:rPr lang="de-DE" altLang="de-DE" sz="1600" b="1"/>
              <a:t> </a:t>
            </a:r>
          </a:p>
        </p:txBody>
      </p:sp>
      <p:sp>
        <p:nvSpPr>
          <p:cNvPr id="9" name="Textfeld 8"/>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en-US" altLang="de-DE" sz="1600"/>
              <a:t>Beckhoff Automation GmbH &amp; Co. KG </a:t>
            </a:r>
            <a:br>
              <a:rPr lang="en-US" altLang="de-DE" sz="1600"/>
            </a:br>
            <a:r>
              <a:rPr lang="de-DE" altLang="de-DE" sz="1600" b="0">
                <a:solidFill>
                  <a:srgbClr val="000000"/>
                </a:solidFill>
                <a:latin typeface="Arial"/>
                <a:cs typeface="+mn-cs"/>
              </a:rPr>
              <a:t>Unternehmenszentrale</a:t>
            </a:r>
          </a:p>
          <a:p>
            <a:pPr marL="0" lvl="0" indent="0">
              <a:spcBef>
                <a:spcPts val="0"/>
              </a:spcBef>
              <a:buNone/>
            </a:pPr>
            <a:r>
              <a:rPr lang="de-DE" altLang="de-DE" sz="1600" b="0">
                <a:solidFill>
                  <a:srgbClr val="000000"/>
                </a:solidFill>
                <a:latin typeface="Arial"/>
                <a:cs typeface="+mn-cs"/>
              </a:rPr>
              <a:t>Hülshorstweg 20</a:t>
            </a:r>
          </a:p>
          <a:p>
            <a:pPr marL="0" lvl="0" indent="0">
              <a:spcBef>
                <a:spcPts val="0"/>
              </a:spcBef>
              <a:buNone/>
            </a:pPr>
            <a:r>
              <a:rPr lang="de-DE" altLang="de-DE" sz="1600" b="0">
                <a:solidFill>
                  <a:srgbClr val="000000"/>
                </a:solidFill>
                <a:latin typeface="Arial"/>
                <a:cs typeface="+mn-cs"/>
              </a:rPr>
              <a:t>33415 Verl</a:t>
            </a:r>
          </a:p>
          <a:p>
            <a:pPr marL="0" lvl="0" indent="0">
              <a:spcBef>
                <a:spcPts val="0"/>
              </a:spcBef>
              <a:buNone/>
            </a:pPr>
            <a:r>
              <a:rPr lang="de-DE" altLang="de-DE" sz="1600" b="0">
                <a:solidFill>
                  <a:srgbClr val="000000"/>
                </a:solidFill>
                <a:latin typeface="Arial"/>
                <a:cs typeface="+mn-cs"/>
              </a:rPr>
              <a:t>Deutschland</a:t>
            </a:r>
          </a:p>
          <a:p>
            <a:pPr lvl="0"/>
            <a:endParaRPr lang="en-US" altLang="de-DE" sz="1600" b="0"/>
          </a:p>
        </p:txBody>
      </p:sp>
      <p:sp>
        <p:nvSpPr>
          <p:cNvPr id="11" name="Textfeld 10"/>
          <p:cNvSpPr txBox="1"/>
          <p:nvPr userDrawn="1"/>
        </p:nvSpPr>
        <p:spPr>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a:t>Kontakt </a:t>
            </a:r>
          </a:p>
        </p:txBody>
      </p:sp>
      <p:sp>
        <p:nvSpPr>
          <p:cNvPr id="8" name="Textplatzhalter 4"/>
          <p:cNvSpPr>
            <a:spLocks noGrp="1"/>
          </p:cNvSpPr>
          <p:nvPr>
            <p:ph type="body" sz="quarter" idx="11" hasCustomPrompt="1"/>
          </p:nvPr>
        </p:nvSpPr>
        <p:spPr>
          <a:xfrm>
            <a:off x="3255495" y="4206349"/>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a:t>MM/YYYY</a:t>
            </a:r>
          </a:p>
        </p:txBody>
      </p:sp>
    </p:spTree>
    <p:extLst>
      <p:ext uri="{BB962C8B-B14F-4D97-AF65-F5344CB8AC3E}">
        <p14:creationId xmlns:p14="http://schemas.microsoft.com/office/powerpoint/2010/main" val="33859228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de-DE" noProof="0"/>
              <a:t>Mastertitelformat bearbeiten</a:t>
            </a:r>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de-DE" noProof="0"/>
              <a:t>Mastertitelformat bearbeiten</a:t>
            </a:r>
            <a:endParaRPr lang="en-US" noProof="0"/>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a:t>Speaker Name </a:t>
            </a:r>
            <a:br>
              <a:rPr lang="en-US" noProof="0"/>
            </a:br>
            <a:r>
              <a:rPr lang="en-US" noProof="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a:t>Click on symbol to add v</a:t>
            </a:r>
            <a:r>
              <a:rPr lang="en-US" err="1"/>
              <a:t>ideo</a:t>
            </a:r>
            <a:r>
              <a:rPr lang="en-US"/>
              <a:t> in 16:9 </a:t>
            </a:r>
            <a:r>
              <a:rPr lang="en-US" err="1"/>
              <a:t>format</a:t>
            </a:r>
            <a:endParaRPr lang="en-US"/>
          </a:p>
        </p:txBody>
      </p:sp>
    </p:spTree>
    <p:extLst>
      <p:ext uri="{BB962C8B-B14F-4D97-AF65-F5344CB8AC3E}">
        <p14:creationId xmlns:p14="http://schemas.microsoft.com/office/powerpoint/2010/main" val="2105187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a:t>© Beckhoff Automation GmbH &amp; Co. KG</a:t>
            </a:r>
          </a:p>
          <a:p>
            <a:pPr lvl="0"/>
            <a:endParaRPr lang="en-US" altLang="en-US" noProof="0"/>
          </a:p>
          <a:p>
            <a:pPr lvl="0"/>
            <a:r>
              <a:rPr lang="en-US" altLang="en-US" noProof="0"/>
              <a:t>All images are protected by copyright. The use and transfer to third parties is not permitted.</a:t>
            </a:r>
          </a:p>
          <a:p>
            <a:pPr lvl="0"/>
            <a:endParaRPr lang="en-US" altLang="en-US" noProof="0"/>
          </a:p>
          <a:p>
            <a:pPr lvl="0"/>
            <a:r>
              <a:rPr lang="en-US" altLang="en-US" noProof="0"/>
              <a:t>Beckhoff</a:t>
            </a:r>
            <a:r>
              <a:rPr lang="en-US" altLang="en-US" baseline="30000" noProof="0"/>
              <a:t>®</a:t>
            </a:r>
            <a:r>
              <a:rPr lang="en-US" altLang="en-US" noProof="0"/>
              <a:t>, </a:t>
            </a:r>
            <a:r>
              <a:rPr lang="en-US" altLang="en-US" noProof="0" err="1"/>
              <a:t>TwinCAT</a:t>
            </a:r>
            <a:r>
              <a:rPr lang="en-US" altLang="en-US" baseline="30000" noProof="0"/>
              <a:t>®</a:t>
            </a:r>
            <a:r>
              <a:rPr lang="en-US" altLang="en-US" noProof="0"/>
              <a:t>, </a:t>
            </a:r>
            <a:r>
              <a:rPr lang="en-US" altLang="en-US" noProof="0" err="1"/>
              <a:t>TwinCAT</a:t>
            </a:r>
            <a:r>
              <a:rPr lang="en-US" altLang="en-US" noProof="0"/>
              <a:t>/BSD</a:t>
            </a:r>
            <a:r>
              <a:rPr lang="en-US" altLang="en-US" baseline="30000" noProof="0"/>
              <a:t>®</a:t>
            </a:r>
            <a:r>
              <a:rPr lang="en-US" altLang="en-US" noProof="0"/>
              <a:t>, TC/BSD</a:t>
            </a:r>
            <a:r>
              <a:rPr lang="en-US" altLang="en-US" baseline="30000" noProof="0"/>
              <a:t>®</a:t>
            </a:r>
            <a:r>
              <a:rPr lang="en-US" altLang="en-US" noProof="0"/>
              <a:t>, </a:t>
            </a:r>
            <a:r>
              <a:rPr lang="en-US" altLang="en-US" noProof="0" err="1"/>
              <a:t>EtherCAT</a:t>
            </a:r>
            <a:r>
              <a:rPr lang="en-US" altLang="en-US" baseline="30000" noProof="0"/>
              <a:t>®</a:t>
            </a:r>
            <a:r>
              <a:rPr lang="en-US" altLang="en-US" noProof="0"/>
              <a:t>, </a:t>
            </a:r>
            <a:r>
              <a:rPr lang="en-US" altLang="en-US" noProof="0" err="1"/>
              <a:t>EtherCAT</a:t>
            </a:r>
            <a:r>
              <a:rPr lang="en-US" altLang="en-US" noProof="0"/>
              <a:t> G</a:t>
            </a:r>
            <a:r>
              <a:rPr lang="en-US" altLang="en-US" baseline="30000" noProof="0"/>
              <a:t>®</a:t>
            </a:r>
            <a:r>
              <a:rPr lang="en-US" altLang="en-US" noProof="0"/>
              <a:t>, </a:t>
            </a:r>
            <a:r>
              <a:rPr lang="en-US" altLang="en-US" noProof="0" err="1"/>
              <a:t>EtherCAT</a:t>
            </a:r>
            <a:r>
              <a:rPr lang="en-US" altLang="en-US" noProof="0"/>
              <a:t> G10</a:t>
            </a:r>
            <a:r>
              <a:rPr lang="en-US" altLang="en-US" baseline="30000" noProof="0"/>
              <a:t>®</a:t>
            </a:r>
            <a:r>
              <a:rPr lang="en-US" altLang="en-US" noProof="0"/>
              <a:t>, </a:t>
            </a:r>
            <a:r>
              <a:rPr lang="en-US" altLang="en-US" noProof="0" err="1"/>
              <a:t>EtherCAT</a:t>
            </a:r>
            <a:r>
              <a:rPr lang="en-US" altLang="en-US" noProof="0"/>
              <a:t> P</a:t>
            </a:r>
            <a:r>
              <a:rPr lang="en-US" altLang="en-US" baseline="30000" noProof="0"/>
              <a:t>®</a:t>
            </a:r>
            <a:r>
              <a:rPr lang="en-US" altLang="en-US" noProof="0"/>
              <a:t>, Safety over </a:t>
            </a:r>
            <a:r>
              <a:rPr lang="en-US" altLang="en-US" noProof="0" err="1"/>
              <a:t>EtherCAT</a:t>
            </a:r>
            <a:r>
              <a:rPr lang="en-US" altLang="en-US" baseline="30000" noProof="0"/>
              <a:t>®</a:t>
            </a:r>
            <a:r>
              <a:rPr lang="en-US" altLang="en-US" noProof="0"/>
              <a:t>, </a:t>
            </a:r>
            <a:r>
              <a:rPr lang="en-US" altLang="en-US" noProof="0" err="1"/>
              <a:t>TwinSAFE</a:t>
            </a:r>
            <a:r>
              <a:rPr lang="en-US" altLang="en-US" baseline="30000" noProof="0"/>
              <a:t>®</a:t>
            </a:r>
            <a:r>
              <a:rPr lang="en-US" altLang="en-US" noProof="0"/>
              <a:t>, XFC</a:t>
            </a:r>
            <a:r>
              <a:rPr lang="en-US" altLang="en-US" baseline="30000" noProof="0"/>
              <a:t>®</a:t>
            </a:r>
            <a:r>
              <a:rPr lang="en-US" altLang="en-US" noProof="0"/>
              <a:t>, XTS</a:t>
            </a:r>
            <a:r>
              <a:rPr lang="en-US" altLang="en-US" baseline="30000" noProof="0"/>
              <a:t>®</a:t>
            </a:r>
            <a:r>
              <a:rPr lang="en-US" altLang="en-US" noProof="0"/>
              <a:t> and </a:t>
            </a:r>
            <a:r>
              <a:rPr lang="en-US" altLang="en-US" noProof="0" err="1"/>
              <a:t>XPlanar</a:t>
            </a:r>
            <a:r>
              <a:rPr lang="en-US" altLang="en-US" baseline="30000" noProof="0"/>
              <a:t>®</a:t>
            </a:r>
            <a:r>
              <a:rPr lang="en-US" altLang="en-US" noProof="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a:p>
          <a:p>
            <a:pPr lvl="0"/>
            <a:r>
              <a:rPr lang="en-US" altLang="en-US" noProof="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a:t>Phone:	+49 5246 963-0  </a:t>
            </a:r>
          </a:p>
          <a:p>
            <a:pPr>
              <a:buFont typeface="Wingdings" panose="05000000000000000000" pitchFamily="2" charset="2"/>
              <a:buNone/>
            </a:pPr>
            <a:r>
              <a:rPr lang="en-US" altLang="en-US" sz="1600" noProof="0"/>
              <a:t>E-mail:	info@beckhoff.com </a:t>
            </a:r>
          </a:p>
          <a:p>
            <a:pPr>
              <a:buFont typeface="Wingdings" panose="05000000000000000000" pitchFamily="2" charset="2"/>
              <a:buNone/>
            </a:pPr>
            <a:r>
              <a:rPr lang="en-US" altLang="en-US" sz="1600" noProof="0"/>
              <a:t>Web:	www.beckhoff.com </a:t>
            </a:r>
            <a:r>
              <a:rPr lang="en-US" altLang="en-US" sz="1600" b="1" noProof="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a:t>Beckhoff Automation GmbH &amp; Co. KG </a:t>
            </a:r>
            <a:br>
              <a:rPr lang="en-US" altLang="en-US" sz="1600" noProof="0"/>
            </a:br>
            <a:r>
              <a:rPr lang="en-US" altLang="en-US" sz="1600" b="0" noProof="0"/>
              <a:t>Headquarters </a:t>
            </a:r>
            <a:br>
              <a:rPr lang="en-US" altLang="en-US" sz="1600" b="0" noProof="0"/>
            </a:br>
            <a:r>
              <a:rPr lang="en-US" altLang="en-US" sz="1600" b="0" noProof="0"/>
              <a:t>Huelshorstweg 20 </a:t>
            </a:r>
            <a:br>
              <a:rPr lang="en-US" altLang="en-US" sz="1600" b="0" noProof="0"/>
            </a:br>
            <a:r>
              <a:rPr lang="en-US" altLang="en-US" sz="1600" b="0" noProof="0"/>
              <a:t>33415 Verl </a:t>
            </a:r>
            <a:br>
              <a:rPr lang="en-US" altLang="en-US" sz="1600" b="0" noProof="0"/>
            </a:br>
            <a:r>
              <a:rPr lang="en-US" altLang="en-US" sz="1600" b="0" noProof="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376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a:latin typeface="+mj-lt"/>
              </a:rPr>
              <a:t>© Beckhoff Automation GmbH &amp; Co. KG</a:t>
            </a:r>
          </a:p>
          <a:p>
            <a:endParaRPr lang="de-DE" altLang="de-DE" sz="1200" noProof="0">
              <a:latin typeface="+mj-lt"/>
            </a:endParaRPr>
          </a:p>
          <a:p>
            <a:pPr>
              <a:buFont typeface="Wingdings" panose="05000000000000000000" pitchFamily="2" charset="2"/>
              <a:buNone/>
            </a:pPr>
            <a:r>
              <a:rPr lang="de-DE" altLang="de-DE" sz="1200" noProof="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a:latin typeface="+mj-lt"/>
            </a:endParaRPr>
          </a:p>
          <a:p>
            <a:pPr>
              <a:buFont typeface="Wingdings" panose="05000000000000000000" pitchFamily="2" charset="2"/>
              <a:buNone/>
            </a:pPr>
            <a:r>
              <a:rPr lang="de-DE" sz="1200" b="0" i="0">
                <a:solidFill>
                  <a:srgbClr val="111111"/>
                </a:solidFill>
                <a:effectLst/>
                <a:latin typeface="+mj-lt"/>
              </a:rPr>
              <a:t>Beckhoff</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TwinCAT</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TwinCAT</a:t>
            </a:r>
            <a:r>
              <a:rPr lang="de-DE" sz="1200" b="0" i="0">
                <a:solidFill>
                  <a:srgbClr val="111111"/>
                </a:solidFill>
                <a:effectLst/>
                <a:latin typeface="+mj-lt"/>
              </a:rPr>
              <a:t>/BSD</a:t>
            </a:r>
            <a:r>
              <a:rPr lang="de-DE" sz="1200" b="0" i="0" baseline="30000">
                <a:solidFill>
                  <a:srgbClr val="111111"/>
                </a:solidFill>
                <a:effectLst/>
                <a:latin typeface="+mj-lt"/>
              </a:rPr>
              <a:t>®</a:t>
            </a:r>
            <a:r>
              <a:rPr lang="de-DE" sz="1200" b="0" i="0">
                <a:solidFill>
                  <a:srgbClr val="111111"/>
                </a:solidFill>
                <a:effectLst/>
                <a:latin typeface="+mj-lt"/>
              </a:rPr>
              <a:t>, TC/BSD</a:t>
            </a:r>
            <a:r>
              <a:rPr lang="de-DE" sz="1200" b="0" i="0" baseline="30000">
                <a:solidFill>
                  <a:srgbClr val="111111"/>
                </a:solidFill>
                <a:effectLst/>
                <a:latin typeface="+mj-lt"/>
              </a:rPr>
              <a:t>®</a:t>
            </a:r>
            <a:r>
              <a:rPr lang="de-DE" sz="1200" b="0" i="0">
                <a:solidFill>
                  <a:srgbClr val="111111"/>
                </a:solidFill>
                <a:effectLst/>
                <a:latin typeface="+mj-lt"/>
              </a:rPr>
              <a:t>, EtherCAT</a:t>
            </a:r>
            <a:r>
              <a:rPr lang="de-DE" sz="1200" b="0" i="0" baseline="30000">
                <a:solidFill>
                  <a:srgbClr val="111111"/>
                </a:solidFill>
                <a:effectLst/>
                <a:latin typeface="+mj-lt"/>
              </a:rPr>
              <a:t>®</a:t>
            </a:r>
            <a:r>
              <a:rPr lang="de-DE" sz="1200" b="0" i="0">
                <a:solidFill>
                  <a:srgbClr val="111111"/>
                </a:solidFill>
                <a:effectLst/>
                <a:latin typeface="+mj-lt"/>
              </a:rPr>
              <a:t>, EtherCAT G</a:t>
            </a:r>
            <a:r>
              <a:rPr lang="de-DE" sz="1200" b="0" i="0" baseline="30000">
                <a:solidFill>
                  <a:srgbClr val="111111"/>
                </a:solidFill>
                <a:effectLst/>
                <a:latin typeface="+mj-lt"/>
              </a:rPr>
              <a:t>®</a:t>
            </a:r>
            <a:r>
              <a:rPr lang="de-DE" sz="1200" b="0" i="0">
                <a:solidFill>
                  <a:srgbClr val="111111"/>
                </a:solidFill>
                <a:effectLst/>
                <a:latin typeface="+mj-lt"/>
              </a:rPr>
              <a:t>, EtherCAT G10</a:t>
            </a:r>
            <a:r>
              <a:rPr lang="de-DE" sz="1200" b="0" i="0" baseline="30000">
                <a:solidFill>
                  <a:srgbClr val="111111"/>
                </a:solidFill>
                <a:effectLst/>
                <a:latin typeface="+mj-lt"/>
              </a:rPr>
              <a:t>®</a:t>
            </a:r>
            <a:r>
              <a:rPr lang="de-DE" sz="1200" b="0" i="0">
                <a:solidFill>
                  <a:srgbClr val="111111"/>
                </a:solidFill>
                <a:effectLst/>
                <a:latin typeface="+mj-lt"/>
              </a:rPr>
              <a:t>, EtherCAT P</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Safety</a:t>
            </a:r>
            <a:r>
              <a:rPr lang="de-DE" sz="1200" b="0" i="0">
                <a:solidFill>
                  <a:srgbClr val="111111"/>
                </a:solidFill>
                <a:effectLst/>
                <a:latin typeface="+mj-lt"/>
              </a:rPr>
              <a:t> </a:t>
            </a:r>
            <a:r>
              <a:rPr lang="de-DE" sz="1200" b="0" i="0" err="1">
                <a:solidFill>
                  <a:srgbClr val="111111"/>
                </a:solidFill>
                <a:effectLst/>
                <a:latin typeface="+mj-lt"/>
              </a:rPr>
              <a:t>over</a:t>
            </a:r>
            <a:r>
              <a:rPr lang="de-DE" sz="1200" b="0" i="0">
                <a:solidFill>
                  <a:srgbClr val="111111"/>
                </a:solidFill>
                <a:effectLst/>
                <a:latin typeface="+mj-lt"/>
              </a:rPr>
              <a:t> EtherCAT</a:t>
            </a:r>
            <a:r>
              <a:rPr lang="de-DE" sz="1200" b="0" i="0" baseline="30000">
                <a:solidFill>
                  <a:srgbClr val="111111"/>
                </a:solidFill>
                <a:effectLst/>
                <a:latin typeface="+mj-lt"/>
              </a:rPr>
              <a:t>®</a:t>
            </a:r>
            <a:r>
              <a:rPr lang="de-DE" sz="1200" b="0" i="0">
                <a:solidFill>
                  <a:srgbClr val="111111"/>
                </a:solidFill>
                <a:effectLst/>
                <a:latin typeface="+mj-lt"/>
              </a:rPr>
              <a:t>, </a:t>
            </a:r>
            <a:r>
              <a:rPr lang="de-DE" sz="1200" b="0" i="0" err="1">
                <a:solidFill>
                  <a:srgbClr val="111111"/>
                </a:solidFill>
                <a:effectLst/>
                <a:latin typeface="+mj-lt"/>
              </a:rPr>
              <a:t>TwinSAFE</a:t>
            </a:r>
            <a:r>
              <a:rPr lang="de-DE" sz="1200" b="0" i="0" baseline="30000">
                <a:solidFill>
                  <a:srgbClr val="111111"/>
                </a:solidFill>
                <a:effectLst/>
                <a:latin typeface="+mj-lt"/>
              </a:rPr>
              <a:t>®</a:t>
            </a:r>
            <a:r>
              <a:rPr lang="de-DE" sz="1200" b="0" i="0">
                <a:solidFill>
                  <a:srgbClr val="111111"/>
                </a:solidFill>
                <a:effectLst/>
                <a:latin typeface="+mj-lt"/>
              </a:rPr>
              <a:t>, XFC</a:t>
            </a:r>
            <a:r>
              <a:rPr lang="de-DE" sz="1200" b="0" i="0" baseline="30000">
                <a:solidFill>
                  <a:srgbClr val="111111"/>
                </a:solidFill>
                <a:effectLst/>
                <a:latin typeface="+mj-lt"/>
              </a:rPr>
              <a:t>®</a:t>
            </a:r>
            <a:r>
              <a:rPr lang="de-DE" sz="1200" b="0" i="0">
                <a:solidFill>
                  <a:srgbClr val="111111"/>
                </a:solidFill>
                <a:effectLst/>
                <a:latin typeface="+mj-lt"/>
              </a:rPr>
              <a:t>, XTS</a:t>
            </a:r>
            <a:r>
              <a:rPr lang="de-DE" sz="1200" b="0" i="0" baseline="30000">
                <a:solidFill>
                  <a:srgbClr val="111111"/>
                </a:solidFill>
                <a:effectLst/>
                <a:latin typeface="+mj-lt"/>
              </a:rPr>
              <a:t>®</a:t>
            </a:r>
            <a:r>
              <a:rPr lang="de-DE" sz="1200" b="0" i="0">
                <a:solidFill>
                  <a:srgbClr val="111111"/>
                </a:solidFill>
                <a:effectLst/>
                <a:latin typeface="+mj-lt"/>
              </a:rPr>
              <a:t> und </a:t>
            </a:r>
            <a:r>
              <a:rPr lang="de-DE" sz="1200" b="0" i="0" err="1">
                <a:solidFill>
                  <a:srgbClr val="111111"/>
                </a:solidFill>
                <a:effectLst/>
                <a:latin typeface="+mj-lt"/>
              </a:rPr>
              <a:t>XPlanar</a:t>
            </a:r>
            <a:r>
              <a:rPr lang="de-DE" sz="1200" b="0" i="0" baseline="30000">
                <a:solidFill>
                  <a:srgbClr val="111111"/>
                </a:solidFill>
                <a:effectLst/>
                <a:latin typeface="+mj-lt"/>
              </a:rPr>
              <a:t>®</a:t>
            </a:r>
            <a:r>
              <a:rPr lang="de-DE" sz="1200" b="0" i="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a:latin typeface="+mj-lt"/>
            </a:endParaRPr>
          </a:p>
          <a:p>
            <a:pPr>
              <a:buFont typeface="Wingdings" panose="05000000000000000000" pitchFamily="2" charset="2"/>
              <a:buNone/>
            </a:pPr>
            <a:r>
              <a:rPr lang="de-DE" altLang="de-DE" sz="1200" noProof="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a:t>Telefon:	+49 5246 963-0  </a:t>
            </a:r>
          </a:p>
          <a:p>
            <a:pPr>
              <a:buFont typeface="Wingdings" panose="05000000000000000000" pitchFamily="2" charset="2"/>
              <a:buNone/>
            </a:pPr>
            <a:r>
              <a:rPr lang="de-DE" altLang="de-DE" sz="1600" noProof="0"/>
              <a:t>E-Mail:	info@beckhoff.de</a:t>
            </a:r>
          </a:p>
          <a:p>
            <a:pPr>
              <a:buFont typeface="Wingdings" panose="05000000000000000000" pitchFamily="2" charset="2"/>
              <a:buNone/>
            </a:pPr>
            <a:r>
              <a:rPr lang="de-DE" altLang="de-DE" sz="1600" noProof="0"/>
              <a:t>Web:	www.beckhoff.de</a:t>
            </a:r>
            <a:r>
              <a:rPr lang="de-DE" altLang="de-DE" sz="1600" b="1" noProof="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a:t>Beckhoff Automation GmbH &amp; Co. KG </a:t>
            </a:r>
            <a:br>
              <a:rPr lang="de-DE" altLang="de-DE" sz="1600" noProof="0"/>
            </a:br>
            <a:r>
              <a:rPr lang="de-DE" altLang="de-DE" sz="1600" b="0" noProof="0">
                <a:solidFill>
                  <a:srgbClr val="000000"/>
                </a:solidFill>
                <a:latin typeface="Arial"/>
                <a:cs typeface="+mn-cs"/>
              </a:rPr>
              <a:t>Unternehmenszentrale</a:t>
            </a:r>
          </a:p>
          <a:p>
            <a:pPr marL="0" lvl="0" indent="0">
              <a:spcBef>
                <a:spcPts val="0"/>
              </a:spcBef>
              <a:buNone/>
            </a:pPr>
            <a:r>
              <a:rPr lang="de-DE" altLang="de-DE" sz="1600" b="0" noProof="0">
                <a:solidFill>
                  <a:srgbClr val="000000"/>
                </a:solidFill>
                <a:latin typeface="Arial"/>
                <a:cs typeface="+mn-cs"/>
              </a:rPr>
              <a:t>Hülshorstweg 20</a:t>
            </a:r>
          </a:p>
          <a:p>
            <a:pPr marL="0" lvl="0" indent="0">
              <a:spcBef>
                <a:spcPts val="0"/>
              </a:spcBef>
              <a:buNone/>
            </a:pPr>
            <a:r>
              <a:rPr lang="de-DE" altLang="de-DE" sz="1600" b="0" noProof="0">
                <a:solidFill>
                  <a:srgbClr val="000000"/>
                </a:solidFill>
                <a:latin typeface="Arial"/>
                <a:cs typeface="+mn-cs"/>
              </a:rPr>
              <a:t>33415 Verl</a:t>
            </a:r>
          </a:p>
          <a:p>
            <a:pPr marL="0" lvl="0" indent="0">
              <a:spcBef>
                <a:spcPts val="0"/>
              </a:spcBef>
              <a:buNone/>
            </a:pPr>
            <a:r>
              <a:rPr lang="de-DE" altLang="de-DE" sz="1600" b="0" noProof="0">
                <a:solidFill>
                  <a:srgbClr val="000000"/>
                </a:solidFill>
                <a:latin typeface="Arial"/>
                <a:cs typeface="+mn-cs"/>
              </a:rPr>
              <a:t>Deutschland</a:t>
            </a:r>
          </a:p>
          <a:p>
            <a:pPr lvl="0"/>
            <a:endParaRPr lang="de-DE" altLang="de-DE" sz="1600" b="0" noProof="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a:t>© Beckhoff Automation </a:t>
            </a:r>
          </a:p>
          <a:p>
            <a:pPr lvl="0"/>
            <a:endParaRPr lang="en-US" altLang="en-US" noProof="0"/>
          </a:p>
          <a:p>
            <a:pPr lvl="0"/>
            <a:r>
              <a:rPr lang="en-US" altLang="en-US" noProof="0"/>
              <a:t>All images are protected by copyright. The use and transfer to third parties is not permitted.</a:t>
            </a:r>
          </a:p>
          <a:p>
            <a:pPr lvl="0"/>
            <a:endParaRPr lang="en-US" altLang="en-US" noProof="0"/>
          </a:p>
          <a:p>
            <a:pPr lvl="0"/>
            <a:r>
              <a:rPr lang="en-US" altLang="en-US" noProof="0"/>
              <a:t>Beckhoff</a:t>
            </a:r>
            <a:r>
              <a:rPr lang="en-US" altLang="en-US" baseline="30000" noProof="0"/>
              <a:t>®</a:t>
            </a:r>
            <a:r>
              <a:rPr lang="en-US" altLang="en-US" noProof="0"/>
              <a:t>, </a:t>
            </a:r>
            <a:r>
              <a:rPr lang="en-US" altLang="en-US" noProof="0" err="1"/>
              <a:t>TwinCAT</a:t>
            </a:r>
            <a:r>
              <a:rPr lang="en-US" altLang="en-US" baseline="30000" noProof="0"/>
              <a:t>®</a:t>
            </a:r>
            <a:r>
              <a:rPr lang="en-US" altLang="en-US" noProof="0"/>
              <a:t>, </a:t>
            </a:r>
            <a:r>
              <a:rPr lang="en-US" altLang="en-US" noProof="0" err="1"/>
              <a:t>TwinCAT</a:t>
            </a:r>
            <a:r>
              <a:rPr lang="en-US" altLang="en-US" noProof="0"/>
              <a:t>/BSD</a:t>
            </a:r>
            <a:r>
              <a:rPr lang="en-US" altLang="en-US" baseline="30000" noProof="0"/>
              <a:t>®</a:t>
            </a:r>
            <a:r>
              <a:rPr lang="en-US" altLang="en-US" noProof="0"/>
              <a:t>, TC/BSD</a:t>
            </a:r>
            <a:r>
              <a:rPr lang="en-US" altLang="en-US" baseline="30000" noProof="0"/>
              <a:t>®</a:t>
            </a:r>
            <a:r>
              <a:rPr lang="en-US" altLang="en-US" noProof="0"/>
              <a:t>, </a:t>
            </a:r>
            <a:r>
              <a:rPr lang="en-US" altLang="en-US" noProof="0" err="1"/>
              <a:t>EtherCAT</a:t>
            </a:r>
            <a:r>
              <a:rPr lang="en-US" altLang="en-US" baseline="30000" noProof="0"/>
              <a:t>®</a:t>
            </a:r>
            <a:r>
              <a:rPr lang="en-US" altLang="en-US" noProof="0"/>
              <a:t>, </a:t>
            </a:r>
            <a:r>
              <a:rPr lang="en-US" altLang="en-US" noProof="0" err="1"/>
              <a:t>EtherCAT</a:t>
            </a:r>
            <a:r>
              <a:rPr lang="en-US" altLang="en-US" noProof="0"/>
              <a:t> G</a:t>
            </a:r>
            <a:r>
              <a:rPr lang="en-US" altLang="en-US" baseline="30000" noProof="0"/>
              <a:t>®</a:t>
            </a:r>
            <a:r>
              <a:rPr lang="en-US" altLang="en-US" noProof="0"/>
              <a:t>, </a:t>
            </a:r>
            <a:r>
              <a:rPr lang="en-US" altLang="en-US" noProof="0" err="1"/>
              <a:t>EtherCAT</a:t>
            </a:r>
            <a:r>
              <a:rPr lang="en-US" altLang="en-US" noProof="0"/>
              <a:t> G10</a:t>
            </a:r>
            <a:r>
              <a:rPr lang="en-US" altLang="en-US" baseline="30000" noProof="0"/>
              <a:t>®</a:t>
            </a:r>
            <a:r>
              <a:rPr lang="en-US" altLang="en-US" noProof="0"/>
              <a:t>, </a:t>
            </a:r>
            <a:r>
              <a:rPr lang="en-US" altLang="en-US" noProof="0" err="1"/>
              <a:t>EtherCAT</a:t>
            </a:r>
            <a:r>
              <a:rPr lang="en-US" altLang="en-US" noProof="0"/>
              <a:t> P</a:t>
            </a:r>
            <a:r>
              <a:rPr lang="en-US" altLang="en-US" baseline="30000" noProof="0"/>
              <a:t>®</a:t>
            </a:r>
            <a:r>
              <a:rPr lang="en-US" altLang="en-US" noProof="0"/>
              <a:t>, Safety over </a:t>
            </a:r>
            <a:r>
              <a:rPr lang="en-US" altLang="en-US" noProof="0" err="1"/>
              <a:t>EtherCAT</a:t>
            </a:r>
            <a:r>
              <a:rPr lang="en-US" altLang="en-US" baseline="30000" noProof="0"/>
              <a:t>®</a:t>
            </a:r>
            <a:r>
              <a:rPr lang="en-US" altLang="en-US" noProof="0"/>
              <a:t>, </a:t>
            </a:r>
            <a:r>
              <a:rPr lang="en-US" altLang="en-US" noProof="0" err="1"/>
              <a:t>TwinSAFE</a:t>
            </a:r>
            <a:r>
              <a:rPr lang="en-US" altLang="en-US" baseline="30000" noProof="0"/>
              <a:t>®</a:t>
            </a:r>
            <a:r>
              <a:rPr lang="en-US" altLang="en-US" noProof="0"/>
              <a:t>, XFC</a:t>
            </a:r>
            <a:r>
              <a:rPr lang="en-US" altLang="en-US" baseline="30000" noProof="0"/>
              <a:t>®</a:t>
            </a:r>
            <a:r>
              <a:rPr lang="en-US" altLang="en-US" noProof="0"/>
              <a:t>, XTS</a:t>
            </a:r>
            <a:r>
              <a:rPr lang="en-US" altLang="en-US" baseline="30000" noProof="0"/>
              <a:t>®</a:t>
            </a:r>
            <a:r>
              <a:rPr lang="en-US" altLang="en-US" noProof="0"/>
              <a:t> and </a:t>
            </a:r>
            <a:r>
              <a:rPr lang="en-US" altLang="en-US" noProof="0" err="1"/>
              <a:t>XPlanar</a:t>
            </a:r>
            <a:r>
              <a:rPr lang="en-US" altLang="en-US" baseline="30000" noProof="0"/>
              <a:t>®</a:t>
            </a:r>
            <a:r>
              <a:rPr lang="en-US" altLang="en-US" noProof="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a:p>
          <a:p>
            <a:pPr lvl="0"/>
            <a:r>
              <a:rPr lang="en-US" altLang="en-US" noProof="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2330237401"/>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3104424774"/>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965391210"/>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38874064"/>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281591456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43296235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80841219"/>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77020013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07930195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65329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05863012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98184881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478274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39427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70548120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044918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8387151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274706154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27208539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280495541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3342280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351266508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759283069"/>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5265101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254900889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235733195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272663166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107316458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1792532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18" Type="http://schemas.openxmlformats.org/officeDocument/2006/relationships/slideLayout" Target="../slideLayouts/slideLayout43.xml"/><Relationship Id="rId26" Type="http://schemas.openxmlformats.org/officeDocument/2006/relationships/slideLayout" Target="../slideLayouts/slideLayout51.xml"/><Relationship Id="rId3" Type="http://schemas.openxmlformats.org/officeDocument/2006/relationships/slideLayout" Target="../slideLayouts/slideLayout28.xml"/><Relationship Id="rId21" Type="http://schemas.openxmlformats.org/officeDocument/2006/relationships/slideLayout" Target="../slideLayouts/slideLayout46.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17" Type="http://schemas.openxmlformats.org/officeDocument/2006/relationships/slideLayout" Target="../slideLayouts/slideLayout42.xml"/><Relationship Id="rId25" Type="http://schemas.openxmlformats.org/officeDocument/2006/relationships/slideLayout" Target="../slideLayouts/slideLayout50.xml"/><Relationship Id="rId2" Type="http://schemas.openxmlformats.org/officeDocument/2006/relationships/slideLayout" Target="../slideLayouts/slideLayout27.xml"/><Relationship Id="rId16" Type="http://schemas.openxmlformats.org/officeDocument/2006/relationships/slideLayout" Target="../slideLayouts/slideLayout41.xml"/><Relationship Id="rId20" Type="http://schemas.openxmlformats.org/officeDocument/2006/relationships/slideLayout" Target="../slideLayouts/slideLayout45.xml"/><Relationship Id="rId29" Type="http://schemas.openxmlformats.org/officeDocument/2006/relationships/theme" Target="../theme/theme2.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24" Type="http://schemas.openxmlformats.org/officeDocument/2006/relationships/slideLayout" Target="../slideLayouts/slideLayout49.xml"/><Relationship Id="rId5" Type="http://schemas.openxmlformats.org/officeDocument/2006/relationships/slideLayout" Target="../slideLayouts/slideLayout30.xml"/><Relationship Id="rId15" Type="http://schemas.openxmlformats.org/officeDocument/2006/relationships/slideLayout" Target="../slideLayouts/slideLayout40.xml"/><Relationship Id="rId23" Type="http://schemas.openxmlformats.org/officeDocument/2006/relationships/slideLayout" Target="../slideLayouts/slideLayout48.xml"/><Relationship Id="rId28" Type="http://schemas.openxmlformats.org/officeDocument/2006/relationships/slideLayout" Target="../slideLayouts/slideLayout53.xml"/><Relationship Id="rId10" Type="http://schemas.openxmlformats.org/officeDocument/2006/relationships/slideLayout" Target="../slideLayouts/slideLayout35.xml"/><Relationship Id="rId19" Type="http://schemas.openxmlformats.org/officeDocument/2006/relationships/slideLayout" Target="../slideLayouts/slideLayout44.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 Id="rId22" Type="http://schemas.openxmlformats.org/officeDocument/2006/relationships/slideLayout" Target="../slideLayouts/slideLayout47.xml"/><Relationship Id="rId27" Type="http://schemas.openxmlformats.org/officeDocument/2006/relationships/slideLayout" Target="../slideLayouts/slideLayout52.xml"/><Relationship Id="rId30"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1.xml"/><Relationship Id="rId13" Type="http://schemas.openxmlformats.org/officeDocument/2006/relationships/slideLayout" Target="../slideLayouts/slideLayout66.xml"/><Relationship Id="rId18" Type="http://schemas.openxmlformats.org/officeDocument/2006/relationships/slideLayout" Target="../slideLayouts/slideLayout71.xml"/><Relationship Id="rId26" Type="http://schemas.openxmlformats.org/officeDocument/2006/relationships/slideLayout" Target="../slideLayouts/slideLayout79.xml"/><Relationship Id="rId3" Type="http://schemas.openxmlformats.org/officeDocument/2006/relationships/slideLayout" Target="../slideLayouts/slideLayout56.xml"/><Relationship Id="rId21" Type="http://schemas.openxmlformats.org/officeDocument/2006/relationships/slideLayout" Target="../slideLayouts/slideLayout74.xml"/><Relationship Id="rId7" Type="http://schemas.openxmlformats.org/officeDocument/2006/relationships/slideLayout" Target="../slideLayouts/slideLayout60.xml"/><Relationship Id="rId12" Type="http://schemas.openxmlformats.org/officeDocument/2006/relationships/slideLayout" Target="../slideLayouts/slideLayout65.xml"/><Relationship Id="rId17" Type="http://schemas.openxmlformats.org/officeDocument/2006/relationships/slideLayout" Target="../slideLayouts/slideLayout70.xml"/><Relationship Id="rId25" Type="http://schemas.openxmlformats.org/officeDocument/2006/relationships/slideLayout" Target="../slideLayouts/slideLayout78.xml"/><Relationship Id="rId2" Type="http://schemas.openxmlformats.org/officeDocument/2006/relationships/slideLayout" Target="../slideLayouts/slideLayout55.xml"/><Relationship Id="rId16" Type="http://schemas.openxmlformats.org/officeDocument/2006/relationships/slideLayout" Target="../slideLayouts/slideLayout69.xml"/><Relationship Id="rId20" Type="http://schemas.openxmlformats.org/officeDocument/2006/relationships/slideLayout" Target="../slideLayouts/slideLayout73.xml"/><Relationship Id="rId29" Type="http://schemas.openxmlformats.org/officeDocument/2006/relationships/slideLayout" Target="../slideLayouts/slideLayout82.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slideLayout" Target="../slideLayouts/slideLayout64.xml"/><Relationship Id="rId24" Type="http://schemas.openxmlformats.org/officeDocument/2006/relationships/slideLayout" Target="../slideLayouts/slideLayout77.xml"/><Relationship Id="rId5" Type="http://schemas.openxmlformats.org/officeDocument/2006/relationships/slideLayout" Target="../slideLayouts/slideLayout58.xml"/><Relationship Id="rId15" Type="http://schemas.openxmlformats.org/officeDocument/2006/relationships/slideLayout" Target="../slideLayouts/slideLayout68.xml"/><Relationship Id="rId23" Type="http://schemas.openxmlformats.org/officeDocument/2006/relationships/slideLayout" Target="../slideLayouts/slideLayout76.xml"/><Relationship Id="rId28" Type="http://schemas.openxmlformats.org/officeDocument/2006/relationships/slideLayout" Target="../slideLayouts/slideLayout81.xml"/><Relationship Id="rId10" Type="http://schemas.openxmlformats.org/officeDocument/2006/relationships/slideLayout" Target="../slideLayouts/slideLayout63.xml"/><Relationship Id="rId19" Type="http://schemas.openxmlformats.org/officeDocument/2006/relationships/slideLayout" Target="../slideLayouts/slideLayout72.xml"/><Relationship Id="rId31" Type="http://schemas.openxmlformats.org/officeDocument/2006/relationships/image" Target="../media/image1.png"/><Relationship Id="rId4" Type="http://schemas.openxmlformats.org/officeDocument/2006/relationships/slideLayout" Target="../slideLayouts/slideLayout57.xml"/><Relationship Id="rId9" Type="http://schemas.openxmlformats.org/officeDocument/2006/relationships/slideLayout" Target="../slideLayouts/slideLayout62.xml"/><Relationship Id="rId14" Type="http://schemas.openxmlformats.org/officeDocument/2006/relationships/slideLayout" Target="../slideLayouts/slideLayout67.xml"/><Relationship Id="rId22" Type="http://schemas.openxmlformats.org/officeDocument/2006/relationships/slideLayout" Target="../slideLayouts/slideLayout75.xml"/><Relationship Id="rId27" Type="http://schemas.openxmlformats.org/officeDocument/2006/relationships/slideLayout" Target="../slideLayouts/slideLayout80.xml"/><Relationship Id="rId30"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4" name="Gruppieren 3"/>
          <p:cNvGrpSpPr/>
          <p:nvPr userDrawn="1"/>
        </p:nvGrpSpPr>
        <p:grpSpPr bwMode="ltGray">
          <a:xfrm>
            <a:off x="0" y="0"/>
            <a:ext cx="12192000" cy="6862298"/>
            <a:chOff x="0" y="0"/>
            <a:chExt cx="9144000" cy="6862298"/>
          </a:xfrm>
        </p:grpSpPr>
        <p:sp>
          <p:nvSpPr>
            <p:cNvPr id="16" name="Rechteck 15"/>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Rechteck 2"/>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de-DE" sz="2200">
                <a:solidFill>
                  <a:schemeClr val="bg1"/>
                </a:solidFill>
                <a:latin typeface="Arial" pitchFamily="34" charset="0"/>
                <a:cs typeface="Arial" pitchFamily="34" charset="0"/>
              </a:endParaRPr>
            </a:p>
          </p:txBody>
        </p:sp>
      </p:grpSp>
      <p:sp>
        <p:nvSpPr>
          <p:cNvPr id="2" name="Titelplatzhalter 1"/>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sp>
        <p:nvSpPr>
          <p:cNvPr id="18" name="Textplatzhalter 2"/>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Sixth level</a:t>
            </a:r>
          </a:p>
          <a:p>
            <a:pPr lvl="6"/>
            <a:r>
              <a:rPr lang="en-US" noProof="0"/>
              <a:t>Seventh level</a:t>
            </a:r>
          </a:p>
          <a:p>
            <a:pPr lvl="7"/>
            <a:r>
              <a:rPr lang="en-US" noProof="0"/>
              <a:t>Eighth level</a:t>
            </a:r>
          </a:p>
          <a:p>
            <a:pPr lvl="8"/>
            <a:r>
              <a:rPr lang="en-US" noProof="0"/>
              <a:t>Ninth level</a:t>
            </a:r>
          </a:p>
        </p:txBody>
      </p:sp>
      <p:sp>
        <p:nvSpPr>
          <p:cNvPr id="19" name="Fußzeilenplatzhalter 4"/>
          <p:cNvSpPr>
            <a:spLocks noGrp="1"/>
          </p:cNvSpPr>
          <p:nvPr>
            <p:ph type="ftr" sz="quarter" idx="3"/>
          </p:nvPr>
        </p:nvSpPr>
        <p:spPr bwMode="gray">
          <a:xfrm>
            <a:off x="767408" y="6416676"/>
            <a:ext cx="4640201" cy="441325"/>
          </a:xfrm>
          <a:prstGeom prst="rect">
            <a:avLst/>
          </a:prstGeom>
        </p:spPr>
        <p:txBody>
          <a:bodyPr vert="horz" lIns="90000" tIns="36000" rIns="91440" bIns="36000" rtlCol="0" anchor="ctr"/>
          <a:lstStyle>
            <a:lvl1pPr algn="l">
              <a:defRPr sz="1100">
                <a:solidFill>
                  <a:schemeClr val="accent1"/>
                </a:solidFill>
                <a:latin typeface="Arial" pitchFamily="34" charset="0"/>
                <a:cs typeface="Arial" pitchFamily="34" charset="0"/>
              </a:defRPr>
            </a:lvl1pPr>
          </a:lstStyle>
          <a:p>
            <a:endParaRPr lang="de-DE"/>
          </a:p>
        </p:txBody>
      </p:sp>
      <p:sp>
        <p:nvSpPr>
          <p:cNvPr id="20" name="Foliennummernplatzhalter 5"/>
          <p:cNvSpPr>
            <a:spLocks noGrp="1"/>
          </p:cNvSpPr>
          <p:nvPr>
            <p:ph type="sldNum" sz="quarter" idx="4"/>
          </p:nvPr>
        </p:nvSpPr>
        <p:spPr bwMode="gray">
          <a:xfrm>
            <a:off x="2200" y="6416676"/>
            <a:ext cx="765208" cy="441325"/>
          </a:xfrm>
          <a:prstGeom prst="rect">
            <a:avLst/>
          </a:prstGeom>
        </p:spPr>
        <p:txBody>
          <a:bodyPr vert="horz" lIns="234000" tIns="45720" rIns="3600" bIns="45720" rtlCol="0" anchor="ctr"/>
          <a:lstStyle>
            <a:lvl1pPr algn="l">
              <a:defRPr sz="1100">
                <a:solidFill>
                  <a:schemeClr val="accent1"/>
                </a:solidFill>
                <a:latin typeface="Arial" pitchFamily="34" charset="0"/>
                <a:cs typeface="Arial" pitchFamily="34" charset="0"/>
              </a:defRPr>
            </a:lvl1pPr>
          </a:lstStyle>
          <a:p>
            <a:fld id="{A930EF64-91C9-4EBD-82F9-3643AB15A28C}" type="slidenum">
              <a:rPr lang="de-DE" smtClean="0"/>
              <a:pPr/>
              <a:t>‹#›</a:t>
            </a:fld>
            <a:endParaRPr lang="de-DE"/>
          </a:p>
        </p:txBody>
      </p:sp>
      <p:pic>
        <p:nvPicPr>
          <p:cNvPr id="10" name="Grafik 9"/>
          <p:cNvPicPr>
            <a:picLocks noChangeAspect="1"/>
          </p:cNvPicPr>
          <p:nvPr userDrawn="1"/>
        </p:nvPicPr>
        <p:blipFill>
          <a:blip r:embed="rId27">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798" r:id="rId4"/>
    <p:sldLayoutId id="2147483713" r:id="rId5"/>
    <p:sldLayoutId id="2147483714" r:id="rId6"/>
    <p:sldLayoutId id="2147483717" r:id="rId7"/>
    <p:sldLayoutId id="2147483800" r:id="rId8"/>
    <p:sldLayoutId id="2147483715" r:id="rId9"/>
    <p:sldLayoutId id="2147483716" r:id="rId10"/>
    <p:sldLayoutId id="2147483720" r:id="rId11"/>
    <p:sldLayoutId id="2147483813" r:id="rId12"/>
    <p:sldLayoutId id="2147483814" r:id="rId13"/>
    <p:sldLayoutId id="2147483825" r:id="rId14"/>
    <p:sldLayoutId id="2147483816" r:id="rId15"/>
    <p:sldLayoutId id="2147483815" r:id="rId16"/>
    <p:sldLayoutId id="2147483820" r:id="rId17"/>
    <p:sldLayoutId id="2147483821" r:id="rId18"/>
    <p:sldLayoutId id="2147483822" r:id="rId19"/>
    <p:sldLayoutId id="2147483819" r:id="rId20"/>
    <p:sldLayoutId id="2147483817" r:id="rId21"/>
    <p:sldLayoutId id="2147483818" r:id="rId22"/>
    <p:sldLayoutId id="2147483824" r:id="rId23"/>
    <p:sldLayoutId id="2147483826" r:id="rId24"/>
    <p:sldLayoutId id="2147483827" r:id="rId25"/>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Sixth level</a:t>
            </a:r>
          </a:p>
          <a:p>
            <a:pPr lvl="6"/>
            <a:r>
              <a:rPr lang="en-US" noProof="0"/>
              <a:t>Seventh level</a:t>
            </a:r>
          </a:p>
          <a:p>
            <a:pPr lvl="7"/>
            <a:r>
              <a:rPr lang="en-US" noProof="0"/>
              <a:t>Eighth level</a:t>
            </a:r>
          </a:p>
          <a:p>
            <a:pPr lvl="8"/>
            <a:r>
              <a:rPr lang="en-US" noProof="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0">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834" r:id="rId3"/>
    <p:sldLayoutId id="2147483828" r:id="rId4"/>
    <p:sldLayoutId id="2147483835" r:id="rId5"/>
    <p:sldLayoutId id="2147483836" r:id="rId6"/>
    <p:sldLayoutId id="2147483837" r:id="rId7"/>
    <p:sldLayoutId id="2147483838" r:id="rId8"/>
    <p:sldLayoutId id="2147483839" r:id="rId9"/>
    <p:sldLayoutId id="2147483840" r:id="rId10"/>
    <p:sldLayoutId id="2147483841" r:id="rId11"/>
    <p:sldLayoutId id="2147483842" r:id="rId12"/>
    <p:sldLayoutId id="2147483843" r:id="rId13"/>
    <p:sldLayoutId id="2147483844" r:id="rId14"/>
    <p:sldLayoutId id="2147483845" r:id="rId15"/>
    <p:sldLayoutId id="2147483846" r:id="rId16"/>
    <p:sldLayoutId id="2147483847" r:id="rId17"/>
    <p:sldLayoutId id="2147483848" r:id="rId18"/>
    <p:sldLayoutId id="2147483849" r:id="rId19"/>
    <p:sldLayoutId id="2147483850" r:id="rId20"/>
    <p:sldLayoutId id="2147483851" r:id="rId21"/>
    <p:sldLayoutId id="2147483852" r:id="rId22"/>
    <p:sldLayoutId id="2147483853" r:id="rId23"/>
    <p:sldLayoutId id="2147483829" r:id="rId24"/>
    <p:sldLayoutId id="2147483854" r:id="rId25"/>
    <p:sldLayoutId id="2147483855" r:id="rId26"/>
    <p:sldLayoutId id="2147483856" r:id="rId27"/>
    <p:sldLayoutId id="2147483830" r:id="rId28"/>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2848272633"/>
      </p:ext>
    </p:extLst>
  </p:cSld>
  <p:clrMap bg1="lt1" tx1="dk1" bg2="lt2" tx2="dk2" accent1="accent1" accent2="accent2" accent3="accent3" accent4="accent4" accent5="accent5" accent6="accent6" hlink="hlink" folHlink="folHlink"/>
  <p:sldLayoutIdLst>
    <p:sldLayoutId id="2147483858" r:id="rId1"/>
    <p:sldLayoutId id="2147483859" r:id="rId2"/>
    <p:sldLayoutId id="2147483860" r:id="rId3"/>
    <p:sldLayoutId id="2147483861" r:id="rId4"/>
    <p:sldLayoutId id="2147483862" r:id="rId5"/>
    <p:sldLayoutId id="2147483863" r:id="rId6"/>
    <p:sldLayoutId id="2147483864" r:id="rId7"/>
    <p:sldLayoutId id="2147483865" r:id="rId8"/>
    <p:sldLayoutId id="2147483866" r:id="rId9"/>
    <p:sldLayoutId id="2147483867" r:id="rId10"/>
    <p:sldLayoutId id="2147483868" r:id="rId11"/>
    <p:sldLayoutId id="2147483869" r:id="rId12"/>
    <p:sldLayoutId id="2147483870" r:id="rId13"/>
    <p:sldLayoutId id="2147483871" r:id="rId14"/>
    <p:sldLayoutId id="2147483872" r:id="rId15"/>
    <p:sldLayoutId id="2147483873" r:id="rId16"/>
    <p:sldLayoutId id="2147483874" r:id="rId17"/>
    <p:sldLayoutId id="2147483875" r:id="rId18"/>
    <p:sldLayoutId id="2147483876" r:id="rId19"/>
    <p:sldLayoutId id="2147483877" r:id="rId20"/>
    <p:sldLayoutId id="2147483878" r:id="rId21"/>
    <p:sldLayoutId id="2147483879" r:id="rId22"/>
    <p:sldLayoutId id="2147483880" r:id="rId23"/>
    <p:sldLayoutId id="2147483881" r:id="rId24"/>
    <p:sldLayoutId id="2147483882" r:id="rId25"/>
    <p:sldLayoutId id="2147483883" r:id="rId26"/>
    <p:sldLayoutId id="2147483884" r:id="rId27"/>
    <p:sldLayoutId id="2147483885" r:id="rId28"/>
    <p:sldLayoutId id="2147483886"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pos="5124">
          <p15:clr>
            <a:srgbClr val="F26B43"/>
          </p15:clr>
        </p15:guide>
        <p15:guide id="3" pos="6396">
          <p15:clr>
            <a:srgbClr val="F26B43"/>
          </p15:clr>
        </p15:guide>
        <p15:guide id="4" pos="2556">
          <p15:clr>
            <a:srgbClr val="F26B43"/>
          </p15:clr>
        </p15:guide>
        <p15:guide id="5" pos="1284">
          <p15:clr>
            <a:srgbClr val="F26B43"/>
          </p15:clr>
        </p15:guide>
        <p15:guide id="6" orient="horz" pos="686">
          <p15:clr>
            <a:srgbClr val="F26B43"/>
          </p15:clr>
        </p15:guide>
        <p15:guide id="7" orient="horz" pos="1593">
          <p15:clr>
            <a:srgbClr val="F26B43"/>
          </p15:clr>
        </p15:guide>
        <p15:guide id="8" orient="horz" pos="2500">
          <p15:clr>
            <a:srgbClr val="F26B43"/>
          </p15:clr>
        </p15:guide>
        <p15:guide id="9" orient="horz" pos="3407">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3" Type="http://schemas.openxmlformats.org/officeDocument/2006/relationships/image" Target="../media/image18.png"/><Relationship Id="rId18" Type="http://schemas.openxmlformats.org/officeDocument/2006/relationships/image" Target="../media/image23.png"/><Relationship Id="rId26" Type="http://schemas.openxmlformats.org/officeDocument/2006/relationships/image" Target="../media/image31.png"/><Relationship Id="rId39" Type="http://schemas.openxmlformats.org/officeDocument/2006/relationships/image" Target="../media/image41.png"/><Relationship Id="rId21" Type="http://schemas.openxmlformats.org/officeDocument/2006/relationships/image" Target="../media/image26.jpeg"/><Relationship Id="rId34" Type="http://schemas.openxmlformats.org/officeDocument/2006/relationships/image" Target="../media/image37.png"/><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5" Type="http://schemas.openxmlformats.org/officeDocument/2006/relationships/image" Target="../media/image30.jpeg"/><Relationship Id="rId33" Type="http://schemas.microsoft.com/office/2007/relationships/hdphoto" Target="../media/hdphoto2.wdp"/><Relationship Id="rId38" Type="http://schemas.openxmlformats.org/officeDocument/2006/relationships/image" Target="../media/image40.jpeg"/><Relationship Id="rId2" Type="http://schemas.openxmlformats.org/officeDocument/2006/relationships/slideLayout" Target="../slideLayouts/slideLayout50.xml"/><Relationship Id="rId16" Type="http://schemas.openxmlformats.org/officeDocument/2006/relationships/image" Target="../media/image21.png"/><Relationship Id="rId20" Type="http://schemas.openxmlformats.org/officeDocument/2006/relationships/image" Target="../media/image25.jpeg"/><Relationship Id="rId29" Type="http://schemas.microsoft.com/office/2007/relationships/hdphoto" Target="../media/hdphoto1.wdp"/><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24" Type="http://schemas.openxmlformats.org/officeDocument/2006/relationships/image" Target="../media/image29.png"/><Relationship Id="rId32" Type="http://schemas.openxmlformats.org/officeDocument/2006/relationships/image" Target="../media/image36.png"/><Relationship Id="rId37" Type="http://schemas.microsoft.com/office/2007/relationships/hdphoto" Target="../media/hdphoto3.wdp"/><Relationship Id="rId5" Type="http://schemas.openxmlformats.org/officeDocument/2006/relationships/image" Target="../media/image10.png"/><Relationship Id="rId15" Type="http://schemas.openxmlformats.org/officeDocument/2006/relationships/image" Target="../media/image20.png"/><Relationship Id="rId23" Type="http://schemas.openxmlformats.org/officeDocument/2006/relationships/image" Target="../media/image28.png"/><Relationship Id="rId28" Type="http://schemas.openxmlformats.org/officeDocument/2006/relationships/image" Target="../media/image33.png"/><Relationship Id="rId36" Type="http://schemas.openxmlformats.org/officeDocument/2006/relationships/image" Target="../media/image39.png"/><Relationship Id="rId10" Type="http://schemas.openxmlformats.org/officeDocument/2006/relationships/image" Target="../media/image15.png"/><Relationship Id="rId19" Type="http://schemas.openxmlformats.org/officeDocument/2006/relationships/image" Target="../media/image24.png"/><Relationship Id="rId31" Type="http://schemas.openxmlformats.org/officeDocument/2006/relationships/image" Target="../media/image3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 Id="rId22" Type="http://schemas.openxmlformats.org/officeDocument/2006/relationships/image" Target="../media/image27.png"/><Relationship Id="rId27" Type="http://schemas.openxmlformats.org/officeDocument/2006/relationships/image" Target="../media/image32.jpeg"/><Relationship Id="rId30" Type="http://schemas.openxmlformats.org/officeDocument/2006/relationships/image" Target="../media/image34.png"/><Relationship Id="rId35" Type="http://schemas.openxmlformats.org/officeDocument/2006/relationships/image" Target="../media/image38.png"/><Relationship Id="rId8" Type="http://schemas.openxmlformats.org/officeDocument/2006/relationships/image" Target="../media/image1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18" Type="http://schemas.openxmlformats.org/officeDocument/2006/relationships/image" Target="../media/image58.jpg"/><Relationship Id="rId3" Type="http://schemas.openxmlformats.org/officeDocument/2006/relationships/image" Target="../media/image43.png"/><Relationship Id="rId21" Type="http://schemas.openxmlformats.org/officeDocument/2006/relationships/image" Target="../media/image61.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 Type="http://schemas.openxmlformats.org/officeDocument/2006/relationships/image" Target="../media/image42.png"/><Relationship Id="rId16" Type="http://schemas.openxmlformats.org/officeDocument/2006/relationships/image" Target="../media/image56.png"/><Relationship Id="rId20" Type="http://schemas.openxmlformats.org/officeDocument/2006/relationships/image" Target="../media/image60.png"/><Relationship Id="rId1" Type="http://schemas.openxmlformats.org/officeDocument/2006/relationships/slideLayout" Target="../slideLayouts/slideLayout62.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5" Type="http://schemas.openxmlformats.org/officeDocument/2006/relationships/image" Target="../media/image55.png"/><Relationship Id="rId23" Type="http://schemas.openxmlformats.org/officeDocument/2006/relationships/image" Target="../media/image63.png"/><Relationship Id="rId10" Type="http://schemas.openxmlformats.org/officeDocument/2006/relationships/image" Target="../media/image50.png"/><Relationship Id="rId19" Type="http://schemas.openxmlformats.org/officeDocument/2006/relationships/image" Target="../media/image59.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jpg"/><Relationship Id="rId22" Type="http://schemas.openxmlformats.org/officeDocument/2006/relationships/image" Target="../media/image6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svg"/><Relationship Id="rId7" Type="http://schemas.openxmlformats.org/officeDocument/2006/relationships/image" Target="../media/image68.svg"/><Relationship Id="rId2" Type="http://schemas.openxmlformats.org/officeDocument/2006/relationships/notesSlide" Target="../notesSlides/notesSlide3.xml"/><Relationship Id="rId1" Type="http://schemas.openxmlformats.org/officeDocument/2006/relationships/slideLayout" Target="../slideLayouts/slideLayout34.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_rels/slide6.xml.rels><?xml version="1.0" encoding="UTF-8" standalone="yes"?>
<Relationships xmlns="http://schemas.openxmlformats.org/package/2006/relationships"><Relationship Id="rId8" Type="http://schemas.openxmlformats.org/officeDocument/2006/relationships/image" Target="../media/image64.svg"/><Relationship Id="rId3" Type="http://schemas.openxmlformats.org/officeDocument/2006/relationships/image" Target="../media/image65.svg"/><Relationship Id="rId7" Type="http://schemas.openxmlformats.org/officeDocument/2006/relationships/image" Target="../media/image68.svg"/><Relationship Id="rId2" Type="http://schemas.openxmlformats.org/officeDocument/2006/relationships/notesSlide" Target="../notesSlides/notesSlide4.xml"/><Relationship Id="rId1" Type="http://schemas.openxmlformats.org/officeDocument/2006/relationships/slideLayout" Target="../slideLayouts/slideLayout34.xml"/><Relationship Id="rId6" Type="http://schemas.openxmlformats.org/officeDocument/2006/relationships/image" Target="../media/image67.svg"/><Relationship Id="rId5" Type="http://schemas.openxmlformats.org/officeDocument/2006/relationships/image" Target="../media/image70.svg"/><Relationship Id="rId4" Type="http://schemas.openxmlformats.org/officeDocument/2006/relationships/image" Target="../media/image66.svg"/><Relationship Id="rId9" Type="http://schemas.openxmlformats.org/officeDocument/2006/relationships/image" Target="../media/image69.svg"/></Relationships>
</file>

<file path=ppt/slides/_rels/slide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xml"/><Relationship Id="rId1" Type="http://schemas.openxmlformats.org/officeDocument/2006/relationships/slideLayout" Target="../slideLayouts/slideLayout34.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8.xml.rels><?xml version="1.0" encoding="UTF-8" standalone="yes"?>
<Relationships xmlns="http://schemas.openxmlformats.org/package/2006/relationships"><Relationship Id="rId8" Type="http://schemas.openxmlformats.org/officeDocument/2006/relationships/image" Target="../media/image78.svg"/><Relationship Id="rId13" Type="http://schemas.openxmlformats.org/officeDocument/2006/relationships/image" Target="../media/image68.svg"/><Relationship Id="rId3" Type="http://schemas.openxmlformats.org/officeDocument/2006/relationships/image" Target="../media/image75.svg"/><Relationship Id="rId7" Type="http://schemas.openxmlformats.org/officeDocument/2006/relationships/image" Target="../media/image65.svg"/><Relationship Id="rId12" Type="http://schemas.openxmlformats.org/officeDocument/2006/relationships/image" Target="../media/image82.svg"/><Relationship Id="rId2" Type="http://schemas.openxmlformats.org/officeDocument/2006/relationships/notesSlide" Target="../notesSlides/notesSlide6.xml"/><Relationship Id="rId1" Type="http://schemas.openxmlformats.org/officeDocument/2006/relationships/slideLayout" Target="../slideLayouts/slideLayout34.xml"/><Relationship Id="rId6" Type="http://schemas.openxmlformats.org/officeDocument/2006/relationships/image" Target="../media/image70.svg"/><Relationship Id="rId11" Type="http://schemas.openxmlformats.org/officeDocument/2006/relationships/image" Target="../media/image81.svg"/><Relationship Id="rId5" Type="http://schemas.openxmlformats.org/officeDocument/2006/relationships/image" Target="../media/image77.svg"/><Relationship Id="rId10" Type="http://schemas.openxmlformats.org/officeDocument/2006/relationships/image" Target="../media/image80.svg"/><Relationship Id="rId4" Type="http://schemas.openxmlformats.org/officeDocument/2006/relationships/image" Target="../media/image76.svg"/><Relationship Id="rId9" Type="http://schemas.openxmlformats.org/officeDocument/2006/relationships/image" Target="../media/image79.svg"/><Relationship Id="rId14" Type="http://schemas.openxmlformats.org/officeDocument/2006/relationships/image" Target="../media/image83.svg"/></Relationships>
</file>

<file path=ppt/slides/_rels/slide9.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image" Target="../media/image94.png"/><Relationship Id="rId3" Type="http://schemas.openxmlformats.org/officeDocument/2006/relationships/image" Target="../media/image59.png"/><Relationship Id="rId7" Type="http://schemas.openxmlformats.org/officeDocument/2006/relationships/image" Target="../media/image88.png"/><Relationship Id="rId12" Type="http://schemas.openxmlformats.org/officeDocument/2006/relationships/image" Target="../media/image93.png"/><Relationship Id="rId2" Type="http://schemas.openxmlformats.org/officeDocument/2006/relationships/image" Target="../media/image84.png"/><Relationship Id="rId1" Type="http://schemas.openxmlformats.org/officeDocument/2006/relationships/slideLayout" Target="../slideLayouts/slideLayout31.xml"/><Relationship Id="rId6" Type="http://schemas.openxmlformats.org/officeDocument/2006/relationships/image" Target="../media/image87.png"/><Relationship Id="rId11" Type="http://schemas.openxmlformats.org/officeDocument/2006/relationships/image" Target="../media/image92.png"/><Relationship Id="rId5" Type="http://schemas.openxmlformats.org/officeDocument/2006/relationships/image" Target="../media/image86.png"/><Relationship Id="rId15" Type="http://schemas.openxmlformats.org/officeDocument/2006/relationships/image" Target="../media/image96.png"/><Relationship Id="rId10" Type="http://schemas.openxmlformats.org/officeDocument/2006/relationships/image" Target="../media/image91.png"/><Relationship Id="rId4" Type="http://schemas.openxmlformats.org/officeDocument/2006/relationships/image" Target="../media/image85.png"/><Relationship Id="rId9" Type="http://schemas.openxmlformats.org/officeDocument/2006/relationships/image" Target="../media/image90.png"/><Relationship Id="rId14" Type="http://schemas.openxmlformats.org/officeDocument/2006/relationships/image" Target="../media/image95.png"/></Relationships>
</file>

<file path=ppt/slides/_rels/slide10.xml.rels><?xml version="1.0" encoding="UTF-8" standalone="yes"?>
<Relationships xmlns="http://schemas.openxmlformats.org/package/2006/relationships"><Relationship Id="rId8" Type="http://schemas.openxmlformats.org/officeDocument/2006/relationships/image" Target="../media/image89.png"/><Relationship Id="rId13" Type="http://schemas.openxmlformats.org/officeDocument/2006/relationships/image" Target="../media/image94.png"/><Relationship Id="rId3" Type="http://schemas.openxmlformats.org/officeDocument/2006/relationships/image" Target="../media/image59.png"/><Relationship Id="rId7" Type="http://schemas.openxmlformats.org/officeDocument/2006/relationships/image" Target="../media/image88.png"/><Relationship Id="rId12" Type="http://schemas.openxmlformats.org/officeDocument/2006/relationships/image" Target="../media/image93.png"/><Relationship Id="rId2" Type="http://schemas.openxmlformats.org/officeDocument/2006/relationships/image" Target="../media/image84.png"/><Relationship Id="rId1" Type="http://schemas.openxmlformats.org/officeDocument/2006/relationships/slideLayout" Target="../slideLayouts/slideLayout31.xml"/><Relationship Id="rId6" Type="http://schemas.openxmlformats.org/officeDocument/2006/relationships/image" Target="../media/image87.png"/><Relationship Id="rId11" Type="http://schemas.openxmlformats.org/officeDocument/2006/relationships/image" Target="../media/image92.png"/><Relationship Id="rId5" Type="http://schemas.openxmlformats.org/officeDocument/2006/relationships/image" Target="../media/image86.png"/><Relationship Id="rId15" Type="http://schemas.openxmlformats.org/officeDocument/2006/relationships/image" Target="../media/image96.png"/><Relationship Id="rId10" Type="http://schemas.openxmlformats.org/officeDocument/2006/relationships/image" Target="../media/image91.png"/><Relationship Id="rId4" Type="http://schemas.openxmlformats.org/officeDocument/2006/relationships/image" Target="../media/image85.png"/><Relationship Id="rId9" Type="http://schemas.openxmlformats.org/officeDocument/2006/relationships/image" Target="../media/image90.png"/><Relationship Id="rId14" Type="http://schemas.openxmlformats.org/officeDocument/2006/relationships/image" Target="../media/image95.png"/></Relationships>
</file>

<file path=ppt/slides/_rels/slide1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0E82A6D-513D-594E-896B-3C20D81C2E96}"/>
              </a:ext>
            </a:extLst>
          </p:cNvPr>
          <p:cNvSpPr/>
          <p:nvPr/>
        </p:nvSpPr>
        <p:spPr>
          <a:xfrm>
            <a:off x="6096000" y="0"/>
            <a:ext cx="6096000" cy="6858000"/>
          </a:xfrm>
          <a:prstGeom prst="rect">
            <a:avLst/>
          </a:prstGeom>
          <a:solidFill>
            <a:srgbClr val="B0BCCA"/>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4" name="Title 3">
            <a:extLst>
              <a:ext uri="{FF2B5EF4-FFF2-40B4-BE49-F238E27FC236}">
                <a16:creationId xmlns:a16="http://schemas.microsoft.com/office/drawing/2014/main" id="{BF4E1CCD-ECD7-4A46-AB61-C5F02F70D912}"/>
              </a:ext>
            </a:extLst>
          </p:cNvPr>
          <p:cNvSpPr>
            <a:spLocks noGrp="1"/>
          </p:cNvSpPr>
          <p:nvPr>
            <p:ph type="title"/>
          </p:nvPr>
        </p:nvSpPr>
        <p:spPr/>
        <p:txBody>
          <a:bodyPr/>
          <a:lstStyle/>
          <a:p>
            <a:r>
              <a:rPr lang="de-DE" dirty="0">
                <a:latin typeface="Arial"/>
                <a:cs typeface="Arial"/>
              </a:rPr>
              <a:t>Automation Communication Protocols</a:t>
            </a:r>
            <a:endParaRPr lang="en-US" noProof="0" dirty="0"/>
          </a:p>
        </p:txBody>
      </p:sp>
      <p:sp>
        <p:nvSpPr>
          <p:cNvPr id="5" name="Subtitle 4">
            <a:extLst>
              <a:ext uri="{FF2B5EF4-FFF2-40B4-BE49-F238E27FC236}">
                <a16:creationId xmlns:a16="http://schemas.microsoft.com/office/drawing/2014/main" id="{397FBD1E-3435-66A1-38C7-3DC61E4747A8}"/>
              </a:ext>
            </a:extLst>
          </p:cNvPr>
          <p:cNvSpPr>
            <a:spLocks noGrp="1"/>
          </p:cNvSpPr>
          <p:nvPr>
            <p:ph type="subTitle" idx="1"/>
          </p:nvPr>
        </p:nvSpPr>
        <p:spPr>
          <a:xfrm>
            <a:off x="-677" y="4546800"/>
            <a:ext cx="6096677" cy="858866"/>
          </a:xfrm>
        </p:spPr>
        <p:txBody>
          <a:bodyPr/>
          <a:lstStyle/>
          <a:p>
            <a:r>
              <a:rPr lang="en-US" dirty="0"/>
              <a:t>Alyssa Dedolph</a:t>
            </a:r>
          </a:p>
          <a:p>
            <a:r>
              <a:rPr lang="en-US" dirty="0"/>
              <a:t>Advanced Applications Group</a:t>
            </a:r>
          </a:p>
        </p:txBody>
      </p:sp>
      <p:pic>
        <p:nvPicPr>
          <p:cNvPr id="8" name="Picture 10">
            <a:extLst>
              <a:ext uri="{FF2B5EF4-FFF2-40B4-BE49-F238E27FC236}">
                <a16:creationId xmlns:a16="http://schemas.microsoft.com/office/drawing/2014/main" id="{E5A21F1F-46FD-4F13-0BFC-EA9F71965DF0}"/>
              </a:ext>
            </a:extLst>
          </p:cNvPr>
          <p:cNvPicPr>
            <a:picLocks noChangeAspect="1"/>
          </p:cNvPicPr>
          <p:nvPr/>
        </p:nvPicPr>
        <p:blipFill>
          <a:blip r:embed="rId2"/>
          <a:stretch>
            <a:fillRect/>
          </a:stretch>
        </p:blipFill>
        <p:spPr>
          <a:xfrm>
            <a:off x="4857260" y="937457"/>
            <a:ext cx="8439691" cy="5207563"/>
          </a:xfrm>
          <a:prstGeom prst="rect">
            <a:avLst/>
          </a:prstGeom>
        </p:spPr>
      </p:pic>
    </p:spTree>
    <p:extLst>
      <p:ext uri="{BB962C8B-B14F-4D97-AF65-F5344CB8AC3E}">
        <p14:creationId xmlns:p14="http://schemas.microsoft.com/office/powerpoint/2010/main" val="4289524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D5D313CB-2C45-4576-805E-BD7457F25FC2}"/>
              </a:ext>
            </a:extLst>
          </p:cNvPr>
          <p:cNvGrpSpPr/>
          <p:nvPr/>
        </p:nvGrpSpPr>
        <p:grpSpPr>
          <a:xfrm>
            <a:off x="450001" y="2276872"/>
            <a:ext cx="11281620" cy="3386854"/>
            <a:chOff x="450001" y="2317768"/>
            <a:chExt cx="11281620" cy="3386854"/>
          </a:xfrm>
        </p:grpSpPr>
        <p:grpSp>
          <p:nvGrpSpPr>
            <p:cNvPr id="19" name="Gruppieren 18"/>
            <p:cNvGrpSpPr/>
            <p:nvPr/>
          </p:nvGrpSpPr>
          <p:grpSpPr>
            <a:xfrm>
              <a:off x="450001" y="2317768"/>
              <a:ext cx="11281620" cy="3386854"/>
              <a:chOff x="5440650" y="2700000"/>
              <a:chExt cx="1267146" cy="2558100"/>
            </a:xfrm>
          </p:grpSpPr>
          <p:sp>
            <p:nvSpPr>
              <p:cNvPr id="20" name="AutoShape 26"/>
              <p:cNvSpPr>
                <a:spLocks noChangeArrowheads="1"/>
              </p:cNvSpPr>
              <p:nvPr/>
            </p:nvSpPr>
            <p:spPr bwMode="auto">
              <a:xfrm>
                <a:off x="5447796" y="2700000"/>
                <a:ext cx="1260000" cy="2520000"/>
              </a:xfrm>
              <a:prstGeom prst="roundRect">
                <a:avLst>
                  <a:gd name="adj" fmla="val 3045"/>
                </a:avLst>
              </a:prstGeom>
              <a:gradFill>
                <a:gsLst>
                  <a:gs pos="50000">
                    <a:srgbClr val="C2D481">
                      <a:lumMod val="70000"/>
                      <a:lumOff val="30000"/>
                    </a:srgbClr>
                  </a:gs>
                  <a:gs pos="0">
                    <a:srgbClr val="C2D481">
                      <a:lumMod val="50000"/>
                    </a:srgbClr>
                  </a:gs>
                  <a:gs pos="100000">
                    <a:srgbClr val="C2D481">
                      <a:lumMod val="50000"/>
                    </a:srgbClr>
                  </a:gs>
                </a:gsLst>
                <a:lin ang="0" scaled="1"/>
              </a:gradFill>
              <a:ln>
                <a:noFill/>
              </a:ln>
              <a:effectLst/>
            </p:spPr>
            <p:txBody>
              <a:bodyPr wrap="square"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r>
                  <a:rPr lang="en-US" altLang="de-DE" sz="1400" dirty="0"/>
                  <a:t>194/212/229</a:t>
                </a:r>
              </a:p>
            </p:txBody>
          </p:sp>
          <p:sp>
            <p:nvSpPr>
              <p:cNvPr id="21" name="AutoShape 26"/>
              <p:cNvSpPr>
                <a:spLocks noChangeArrowheads="1"/>
              </p:cNvSpPr>
              <p:nvPr/>
            </p:nvSpPr>
            <p:spPr bwMode="auto">
              <a:xfrm>
                <a:off x="5440650" y="2738100"/>
                <a:ext cx="1260765" cy="2520000"/>
              </a:xfrm>
              <a:prstGeom prst="roundRect">
                <a:avLst>
                  <a:gd name="adj" fmla="val 3045"/>
                </a:avLst>
              </a:prstGeom>
              <a:solidFill>
                <a:srgbClr val="C2D481"/>
              </a:solidFill>
              <a:ln>
                <a:noFill/>
              </a:ln>
              <a:effectLst/>
            </p:spPr>
            <p:txBody>
              <a:bodyPr wrap="square"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eaLnBrk="1" hangingPunct="1">
                  <a:spcBef>
                    <a:spcPct val="0"/>
                  </a:spcBef>
                  <a:buFontTx/>
                  <a:buNone/>
                </a:pPr>
                <a:endParaRPr lang="en-US" altLang="de-DE" sz="1400" dirty="0"/>
              </a:p>
            </p:txBody>
          </p:sp>
        </p:grpSp>
        <p:sp>
          <p:nvSpPr>
            <p:cNvPr id="121" name="Textfeld 217">
              <a:extLst>
                <a:ext uri="{FF2B5EF4-FFF2-40B4-BE49-F238E27FC236}">
                  <a16:creationId xmlns:a16="http://schemas.microsoft.com/office/drawing/2014/main" id="{B4BB0B93-FAFA-4A33-9140-BD6A7FF16E72}"/>
                </a:ext>
              </a:extLst>
            </p:cNvPr>
            <p:cNvSpPr txBox="1"/>
            <p:nvPr/>
          </p:nvSpPr>
          <p:spPr>
            <a:xfrm>
              <a:off x="544177" y="2441911"/>
              <a:ext cx="1418124" cy="249008"/>
            </a:xfrm>
            <a:prstGeom prst="rect">
              <a:avLst/>
            </a:prstGeom>
            <a:noFill/>
          </p:spPr>
          <p:txBody>
            <a:bodyPr wrap="square" lIns="36000" tIns="18000" rtlCol="0">
              <a:spAutoFit/>
            </a:bodyPr>
            <a:lstStyle/>
            <a:p>
              <a:r>
                <a:rPr lang="en-US" sz="1200" b="1" dirty="0"/>
                <a:t>PC Hardware</a:t>
              </a:r>
            </a:p>
          </p:txBody>
        </p:sp>
      </p:grpSp>
      <p:sp>
        <p:nvSpPr>
          <p:cNvPr id="15" name="AutoShape 42"/>
          <p:cNvSpPr>
            <a:spLocks noChangeArrowheads="1"/>
          </p:cNvSpPr>
          <p:nvPr/>
        </p:nvSpPr>
        <p:spPr bwMode="auto">
          <a:xfrm>
            <a:off x="576838" y="3497497"/>
            <a:ext cx="10942067" cy="1712373"/>
          </a:xfrm>
          <a:prstGeom prst="roundRect">
            <a:avLst>
              <a:gd name="adj" fmla="val 3086"/>
            </a:avLst>
          </a:prstGeom>
          <a:solidFill>
            <a:srgbClr val="9AB72D"/>
          </a:solidFill>
          <a:ln>
            <a:noFill/>
          </a:ln>
        </p:spPr>
        <p:txBody>
          <a:bodyPr wrap="none" lIns="36000" tIns="18000" anchor="t" anchorCtr="0">
            <a:noAutofit/>
          </a:bodyPr>
          <a:lstStyle>
            <a:lvl1pPr>
              <a:spcBef>
                <a:spcPct val="50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1pPr>
            <a:lvl2pPr marL="742950" indent="-28575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2pPr>
            <a:lvl3pPr marL="1143000" indent="-228600">
              <a:spcBef>
                <a:spcPct val="25000"/>
              </a:spcBef>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buFont typeface="Wingdings" panose="05000000000000000000" pitchFamily="2" charset="2"/>
              <a:buChar char="§"/>
              <a:defRPr>
                <a:solidFill>
                  <a:schemeClr val="tx1"/>
                </a:solidFill>
                <a:latin typeface="Arial" panose="020B0604020202020204" pitchFamily="34" charset="0"/>
                <a:cs typeface="Arial" panose="020B0604020202020204" pitchFamily="34" charset="0"/>
              </a:defRPr>
            </a:lvl9pPr>
          </a:lstStyle>
          <a:p>
            <a:pPr>
              <a:spcBef>
                <a:spcPct val="0"/>
              </a:spcBef>
              <a:buFontTx/>
              <a:buNone/>
            </a:pPr>
            <a:endParaRPr lang="en-US" altLang="de-DE" sz="1400" b="1" dirty="0">
              <a:ea typeface="ヒラギノ角ゴ Pro W3" pitchFamily="1" charset="-128"/>
            </a:endParaRPr>
          </a:p>
        </p:txBody>
      </p:sp>
      <p:sp>
        <p:nvSpPr>
          <p:cNvPr id="3" name="Rechteck 2"/>
          <p:cNvSpPr>
            <a:spLocks/>
          </p:cNvSpPr>
          <p:nvPr/>
        </p:nvSpPr>
        <p:spPr>
          <a:xfrm>
            <a:off x="544177" y="5342615"/>
            <a:ext cx="10942067" cy="1390078"/>
          </a:xfrm>
          <a:prstGeom prst="rect">
            <a:avLst/>
          </a:prstGeom>
          <a:solidFill>
            <a:schemeClr val="bg1"/>
          </a:solid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36000" tIns="0" rIns="234000" rtlCol="0" anchor="ctr"/>
          <a:lstStyle/>
          <a:p>
            <a:pPr algn="ctr"/>
            <a:endParaRPr lang="en-US" sz="1600" dirty="0">
              <a:solidFill>
                <a:schemeClr val="bg1"/>
              </a:solidFill>
              <a:latin typeface="Arial" pitchFamily="34" charset="0"/>
              <a:cs typeface="Arial" pitchFamily="34" charset="0"/>
            </a:endParaRPr>
          </a:p>
        </p:txBody>
      </p:sp>
      <p:sp>
        <p:nvSpPr>
          <p:cNvPr id="22" name="Textfeld 21"/>
          <p:cNvSpPr txBox="1"/>
          <p:nvPr/>
        </p:nvSpPr>
        <p:spPr>
          <a:xfrm>
            <a:off x="679018" y="3503545"/>
            <a:ext cx="5641437" cy="249008"/>
          </a:xfrm>
          <a:prstGeom prst="rect">
            <a:avLst/>
          </a:prstGeom>
          <a:noFill/>
        </p:spPr>
        <p:txBody>
          <a:bodyPr wrap="square" lIns="36000" tIns="18000" rtlCol="0">
            <a:spAutoFit/>
          </a:bodyPr>
          <a:lstStyle/>
          <a:p>
            <a:r>
              <a:rPr lang="en-US" sz="1200" dirty="0"/>
              <a:t>TwinCAT 3</a:t>
            </a:r>
          </a:p>
        </p:txBody>
      </p:sp>
      <p:grpSp>
        <p:nvGrpSpPr>
          <p:cNvPr id="26" name="Connectivity"/>
          <p:cNvGrpSpPr/>
          <p:nvPr/>
        </p:nvGrpSpPr>
        <p:grpSpPr>
          <a:xfrm>
            <a:off x="704378" y="3858968"/>
            <a:ext cx="930734" cy="1188000"/>
            <a:chOff x="4713900" y="1277106"/>
            <a:chExt cx="4549857" cy="1065293"/>
          </a:xfrm>
        </p:grpSpPr>
        <p:sp>
          <p:nvSpPr>
            <p:cNvPr id="27" name="AutoShape 38"/>
            <p:cNvSpPr>
              <a:spLocks noChangeArrowheads="1"/>
            </p:cNvSpPr>
            <p:nvPr/>
          </p:nvSpPr>
          <p:spPr bwMode="auto">
            <a:xfrm>
              <a:off x="4943760" y="1277106"/>
              <a:ext cx="4319997" cy="1045050"/>
            </a:xfrm>
            <a:prstGeom prst="roundRect">
              <a:avLst>
                <a:gd name="adj" fmla="val 16667"/>
              </a:avLst>
            </a:prstGeom>
            <a:gradFill>
              <a:gsLst>
                <a:gs pos="50000">
                  <a:srgbClr val="992A6C">
                    <a:lumMod val="70000"/>
                    <a:lumOff val="30000"/>
                  </a:srgbClr>
                </a:gs>
                <a:gs pos="0">
                  <a:srgbClr val="992A6C">
                    <a:lumMod val="50000"/>
                  </a:srgbClr>
                </a:gs>
                <a:gs pos="100000">
                  <a:srgbClr val="992A6C">
                    <a:lumMod val="50000"/>
                  </a:srgbClr>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28" name="AutoShape 38"/>
            <p:cNvSpPr>
              <a:spLocks noChangeArrowheads="1"/>
            </p:cNvSpPr>
            <p:nvPr/>
          </p:nvSpPr>
          <p:spPr bwMode="auto">
            <a:xfrm>
              <a:off x="4713900" y="1297349"/>
              <a:ext cx="4319997" cy="1045050"/>
            </a:xfrm>
            <a:prstGeom prst="roundRect">
              <a:avLst>
                <a:gd name="adj" fmla="val 16667"/>
              </a:avLst>
            </a:prstGeom>
            <a:solidFill>
              <a:srgbClr val="992A6C"/>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Connectivity</a:t>
              </a:r>
            </a:p>
          </p:txBody>
        </p:sp>
      </p:grpSp>
      <p:grpSp>
        <p:nvGrpSpPr>
          <p:cNvPr id="33" name="Gruppieren 32"/>
          <p:cNvGrpSpPr/>
          <p:nvPr/>
        </p:nvGrpSpPr>
        <p:grpSpPr>
          <a:xfrm>
            <a:off x="1680958" y="3858968"/>
            <a:ext cx="930734" cy="1188000"/>
            <a:chOff x="4713900" y="1277106"/>
            <a:chExt cx="4549857" cy="1065293"/>
          </a:xfrm>
        </p:grpSpPr>
        <p:sp>
          <p:nvSpPr>
            <p:cNvPr id="34" name="AutoShape 38"/>
            <p:cNvSpPr>
              <a:spLocks noChangeArrowheads="1"/>
            </p:cNvSpPr>
            <p:nvPr/>
          </p:nvSpPr>
          <p:spPr bwMode="auto">
            <a:xfrm>
              <a:off x="4943760" y="1277106"/>
              <a:ext cx="4319997" cy="1045050"/>
            </a:xfrm>
            <a:prstGeom prst="roundRect">
              <a:avLst>
                <a:gd name="adj" fmla="val 16667"/>
              </a:avLst>
            </a:prstGeom>
            <a:gradFill>
              <a:gsLst>
                <a:gs pos="50000">
                  <a:srgbClr val="C2D481"/>
                </a:gs>
                <a:gs pos="0">
                  <a:srgbClr val="728431"/>
                </a:gs>
                <a:gs pos="100000">
                  <a:srgbClr val="728431"/>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35" name="AutoShape 38"/>
            <p:cNvSpPr>
              <a:spLocks noChangeArrowheads="1"/>
            </p:cNvSpPr>
            <p:nvPr/>
          </p:nvSpPr>
          <p:spPr bwMode="auto">
            <a:xfrm>
              <a:off x="4713900" y="1297349"/>
              <a:ext cx="4319997" cy="1045050"/>
            </a:xfrm>
            <a:prstGeom prst="roundRect">
              <a:avLst>
                <a:gd name="adj" fmla="val 16667"/>
              </a:avLst>
            </a:prstGeom>
            <a:solidFill>
              <a:srgbClr val="C2D481"/>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PLC</a:t>
              </a:r>
            </a:p>
          </p:txBody>
        </p:sp>
      </p:grpSp>
      <p:grpSp>
        <p:nvGrpSpPr>
          <p:cNvPr id="61" name="Gruppieren 60"/>
          <p:cNvGrpSpPr/>
          <p:nvPr/>
        </p:nvGrpSpPr>
        <p:grpSpPr>
          <a:xfrm>
            <a:off x="2657537" y="3858968"/>
            <a:ext cx="930734" cy="1188000"/>
            <a:chOff x="4713900" y="1277106"/>
            <a:chExt cx="4549857" cy="1065293"/>
          </a:xfrm>
        </p:grpSpPr>
        <p:sp>
          <p:nvSpPr>
            <p:cNvPr id="62" name="AutoShape 38"/>
            <p:cNvSpPr>
              <a:spLocks noChangeArrowheads="1"/>
            </p:cNvSpPr>
            <p:nvPr/>
          </p:nvSpPr>
          <p:spPr bwMode="auto">
            <a:xfrm>
              <a:off x="4943760" y="1277106"/>
              <a:ext cx="4319997" cy="1045050"/>
            </a:xfrm>
            <a:prstGeom prst="roundRect">
              <a:avLst>
                <a:gd name="adj" fmla="val 16667"/>
              </a:avLst>
            </a:prstGeom>
            <a:gradFill>
              <a:gsLst>
                <a:gs pos="50000">
                  <a:srgbClr val="F6CF38"/>
                </a:gs>
                <a:gs pos="0">
                  <a:srgbClr val="BF9809"/>
                </a:gs>
                <a:gs pos="100000">
                  <a:srgbClr val="BF9809"/>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63" name="AutoShape 38"/>
            <p:cNvSpPr>
              <a:spLocks noChangeArrowheads="1"/>
            </p:cNvSpPr>
            <p:nvPr/>
          </p:nvSpPr>
          <p:spPr bwMode="auto">
            <a:xfrm>
              <a:off x="4713900" y="1297349"/>
              <a:ext cx="4319997" cy="1045050"/>
            </a:xfrm>
            <a:prstGeom prst="roundRect">
              <a:avLst>
                <a:gd name="adj" fmla="val 16667"/>
              </a:avLst>
            </a:prstGeom>
            <a:solidFill>
              <a:srgbClr val="F6CF38"/>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PLC</a:t>
              </a:r>
            </a:p>
            <a:p>
              <a:pPr>
                <a:spcBef>
                  <a:spcPct val="0"/>
                </a:spcBef>
              </a:pPr>
              <a:r>
                <a:rPr lang="en-US" altLang="de-DE" sz="1050" dirty="0">
                  <a:latin typeface="Arial" panose="020B0604020202020204" pitchFamily="34" charset="0"/>
                  <a:cs typeface="Arial" panose="020B0604020202020204" pitchFamily="34" charset="0"/>
                </a:rPr>
                <a:t>Safety</a:t>
              </a:r>
            </a:p>
          </p:txBody>
        </p:sp>
      </p:grpSp>
      <p:grpSp>
        <p:nvGrpSpPr>
          <p:cNvPr id="64" name="Gruppieren 63"/>
          <p:cNvGrpSpPr/>
          <p:nvPr/>
        </p:nvGrpSpPr>
        <p:grpSpPr>
          <a:xfrm>
            <a:off x="3634117" y="3858968"/>
            <a:ext cx="930734" cy="1188000"/>
            <a:chOff x="4713900" y="1277106"/>
            <a:chExt cx="4549857" cy="1065293"/>
          </a:xfrm>
        </p:grpSpPr>
        <p:sp>
          <p:nvSpPr>
            <p:cNvPr id="65"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66"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Motion</a:t>
              </a:r>
            </a:p>
          </p:txBody>
        </p:sp>
      </p:grpSp>
      <p:grpSp>
        <p:nvGrpSpPr>
          <p:cNvPr id="73" name="Gruppieren 72"/>
          <p:cNvGrpSpPr/>
          <p:nvPr/>
        </p:nvGrpSpPr>
        <p:grpSpPr>
          <a:xfrm>
            <a:off x="6563856" y="3858968"/>
            <a:ext cx="930734" cy="1188000"/>
            <a:chOff x="4713900" y="1277106"/>
            <a:chExt cx="4549857" cy="1065293"/>
          </a:xfrm>
        </p:grpSpPr>
        <p:sp>
          <p:nvSpPr>
            <p:cNvPr id="74" name="AutoShape 38"/>
            <p:cNvSpPr>
              <a:spLocks noChangeArrowheads="1"/>
            </p:cNvSpPr>
            <p:nvPr/>
          </p:nvSpPr>
          <p:spPr bwMode="auto">
            <a:xfrm>
              <a:off x="4943760" y="1277106"/>
              <a:ext cx="4319997" cy="1045050"/>
            </a:xfrm>
            <a:prstGeom prst="roundRect">
              <a:avLst>
                <a:gd name="adj" fmla="val 16667"/>
              </a:avLst>
            </a:prstGeom>
            <a:gradFill>
              <a:gsLst>
                <a:gs pos="50000">
                  <a:srgbClr val="C2D481"/>
                </a:gs>
                <a:gs pos="0">
                  <a:srgbClr val="728431"/>
                </a:gs>
                <a:gs pos="100000">
                  <a:srgbClr val="728431"/>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75" name="AutoShape 38"/>
            <p:cNvSpPr>
              <a:spLocks noChangeArrowheads="1"/>
            </p:cNvSpPr>
            <p:nvPr/>
          </p:nvSpPr>
          <p:spPr bwMode="auto">
            <a:xfrm>
              <a:off x="4713900" y="1297349"/>
              <a:ext cx="4319997" cy="1045050"/>
            </a:xfrm>
            <a:prstGeom prst="roundRect">
              <a:avLst>
                <a:gd name="adj" fmla="val 16667"/>
              </a:avLst>
            </a:prstGeom>
            <a:solidFill>
              <a:srgbClr val="C2D481"/>
            </a:solidFill>
            <a:ln>
              <a:noFill/>
            </a:ln>
            <a:effectLst/>
          </p:spPr>
          <p:txBody>
            <a:bodyPr wrap="square" lIns="36000" tIns="18000" rIns="0" bIns="0" anchor="t" anchorCtr="0">
              <a:noAutofit/>
            </a:bodyPr>
            <a:lstStyle/>
            <a:p>
              <a:pPr>
                <a:spcBef>
                  <a:spcPct val="0"/>
                </a:spcBef>
              </a:pPr>
              <a:r>
                <a:rPr lang="en-US" altLang="de-DE" sz="1050" dirty="0">
                  <a:latin typeface="Arial" panose="020B0604020202020204" pitchFamily="34" charset="0"/>
                  <a:cs typeface="Arial" panose="020B0604020202020204" pitchFamily="34" charset="0"/>
                </a:rPr>
                <a:t>CCAT</a:t>
              </a:r>
            </a:p>
            <a:p>
              <a:pPr>
                <a:spcBef>
                  <a:spcPct val="0"/>
                </a:spcBef>
              </a:pPr>
              <a:r>
                <a:rPr lang="en-US" altLang="de-DE" sz="1050" dirty="0">
                  <a:latin typeface="Arial" panose="020B0604020202020204" pitchFamily="34" charset="0"/>
                  <a:cs typeface="Arial" panose="020B0604020202020204" pitchFamily="34" charset="0"/>
                </a:rPr>
                <a:t>Modules</a:t>
              </a:r>
            </a:p>
          </p:txBody>
        </p:sp>
      </p:grpSp>
      <p:grpSp>
        <p:nvGrpSpPr>
          <p:cNvPr id="76" name="Gruppieren 75"/>
          <p:cNvGrpSpPr/>
          <p:nvPr/>
        </p:nvGrpSpPr>
        <p:grpSpPr>
          <a:xfrm>
            <a:off x="7540435" y="3858968"/>
            <a:ext cx="930734" cy="1188000"/>
            <a:chOff x="4713900" y="1277106"/>
            <a:chExt cx="4549857" cy="1065293"/>
          </a:xfrm>
        </p:grpSpPr>
        <p:sp>
          <p:nvSpPr>
            <p:cNvPr id="77" name="AutoShape 38"/>
            <p:cNvSpPr>
              <a:spLocks noChangeArrowheads="1"/>
            </p:cNvSpPr>
            <p:nvPr/>
          </p:nvSpPr>
          <p:spPr bwMode="auto">
            <a:xfrm>
              <a:off x="4943760" y="1277106"/>
              <a:ext cx="4319997" cy="1045050"/>
            </a:xfrm>
            <a:prstGeom prst="roundRect">
              <a:avLst>
                <a:gd name="adj" fmla="val 16667"/>
              </a:avLst>
            </a:prstGeom>
            <a:gradFill>
              <a:gsLst>
                <a:gs pos="50000">
                  <a:srgbClr val="2B7A83"/>
                </a:gs>
                <a:gs pos="0">
                  <a:srgbClr val="19464B"/>
                </a:gs>
                <a:gs pos="100000">
                  <a:srgbClr val="19464B"/>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78" name="AutoShape 38"/>
            <p:cNvSpPr>
              <a:spLocks noChangeArrowheads="1"/>
            </p:cNvSpPr>
            <p:nvPr/>
          </p:nvSpPr>
          <p:spPr bwMode="auto">
            <a:xfrm>
              <a:off x="4713900" y="1297349"/>
              <a:ext cx="4319997" cy="1045050"/>
            </a:xfrm>
            <a:prstGeom prst="roundRect">
              <a:avLst>
                <a:gd name="adj" fmla="val 16667"/>
              </a:avLst>
            </a:prstGeom>
            <a:solidFill>
              <a:srgbClr val="2B7A83"/>
            </a:solidFill>
            <a:ln>
              <a:noFill/>
            </a:ln>
            <a:effectLst/>
          </p:spPr>
          <p:txBody>
            <a:bodyPr wrap="square" lIns="36000" tIns="18000" rIns="0" bIns="0" anchor="t" anchorCtr="0">
              <a:noAutofit/>
            </a:bodyPr>
            <a:lstStyle/>
            <a:p>
              <a:pPr>
                <a:spcBef>
                  <a:spcPct val="0"/>
                </a:spcBef>
              </a:pPr>
              <a:r>
                <a:rPr lang="en-US" sz="1050" dirty="0">
                  <a:solidFill>
                    <a:schemeClr val="bg1"/>
                  </a:solidFill>
                </a:rPr>
                <a:t>Simulink</a:t>
              </a:r>
              <a:r>
                <a:rPr lang="en-US" sz="1050" baseline="30000" dirty="0">
                  <a:solidFill>
                    <a:schemeClr val="bg1"/>
                  </a:solidFill>
                </a:rPr>
                <a:t>®</a:t>
              </a:r>
              <a:endParaRPr lang="en-US" sz="1050" dirty="0">
                <a:solidFill>
                  <a:schemeClr val="bg1"/>
                </a:solidFill>
                <a:latin typeface="Arial" panose="020B0604020202020204" pitchFamily="34" charset="0"/>
                <a:cs typeface="Arial" panose="020B0604020202020204" pitchFamily="34" charset="0"/>
              </a:endParaRPr>
            </a:p>
            <a:p>
              <a:pPr>
                <a:spcBef>
                  <a:spcPct val="0"/>
                </a:spcBef>
              </a:pPr>
              <a:r>
                <a:rPr lang="en-US" sz="1050" dirty="0">
                  <a:solidFill>
                    <a:schemeClr val="bg1"/>
                  </a:solidFill>
                  <a:latin typeface="Arial" panose="020B0604020202020204" pitchFamily="34" charset="0"/>
                  <a:cs typeface="Arial" panose="020B0604020202020204" pitchFamily="34" charset="0"/>
                </a:rPr>
                <a:t>Module</a:t>
              </a:r>
              <a:endParaRPr lang="en-US" sz="1050" dirty="0">
                <a:solidFill>
                  <a:schemeClr val="bg1"/>
                </a:solidFill>
              </a:endParaRPr>
            </a:p>
          </p:txBody>
        </p:sp>
      </p:grpSp>
      <p:grpSp>
        <p:nvGrpSpPr>
          <p:cNvPr id="79" name="Gruppieren 78"/>
          <p:cNvGrpSpPr/>
          <p:nvPr/>
        </p:nvGrpSpPr>
        <p:grpSpPr>
          <a:xfrm>
            <a:off x="8537703" y="3858968"/>
            <a:ext cx="910044" cy="1183712"/>
            <a:chOff x="4943760" y="1277106"/>
            <a:chExt cx="4319997" cy="1061448"/>
          </a:xfrm>
        </p:grpSpPr>
        <p:sp>
          <p:nvSpPr>
            <p:cNvPr id="80" name="AutoShape 38"/>
            <p:cNvSpPr>
              <a:spLocks noChangeArrowheads="1"/>
            </p:cNvSpPr>
            <p:nvPr/>
          </p:nvSpPr>
          <p:spPr bwMode="auto">
            <a:xfrm>
              <a:off x="4943760" y="1277106"/>
              <a:ext cx="4319997" cy="1045050"/>
            </a:xfrm>
            <a:prstGeom prst="roundRect">
              <a:avLst>
                <a:gd name="adj" fmla="val 16667"/>
              </a:avLst>
            </a:prstGeom>
            <a:gradFill>
              <a:gsLst>
                <a:gs pos="50000">
                  <a:schemeClr val="accent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1" name="AutoShape 38"/>
            <p:cNvSpPr>
              <a:spLocks noChangeArrowheads="1"/>
            </p:cNvSpPr>
            <p:nvPr/>
          </p:nvSpPr>
          <p:spPr bwMode="auto">
            <a:xfrm>
              <a:off x="4943761" y="1293504"/>
              <a:ext cx="4118295" cy="1045050"/>
            </a:xfrm>
            <a:prstGeom prst="roundRect">
              <a:avLst>
                <a:gd name="adj" fmla="val 16667"/>
              </a:avLst>
            </a:prstGeom>
            <a:solidFill>
              <a:schemeClr val="accent2"/>
            </a:solidFill>
            <a:ln>
              <a:noFill/>
            </a:ln>
            <a:effectLst/>
          </p:spPr>
          <p:txBody>
            <a:bodyPr wrap="none" lIns="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Measurement </a:t>
              </a:r>
            </a:p>
            <a:p>
              <a:pPr>
                <a:spcBef>
                  <a:spcPct val="0"/>
                </a:spcBef>
              </a:pPr>
              <a:r>
                <a:rPr lang="en-US" altLang="de-DE" sz="1050" dirty="0">
                  <a:solidFill>
                    <a:schemeClr val="bg1"/>
                  </a:solidFill>
                  <a:latin typeface="Arial" panose="020B0604020202020204" pitchFamily="34" charset="0"/>
                  <a:cs typeface="Arial" panose="020B0604020202020204" pitchFamily="34" charset="0"/>
                </a:rPr>
                <a:t>and Analytics</a:t>
              </a:r>
            </a:p>
          </p:txBody>
        </p:sp>
      </p:grpSp>
      <p:grpSp>
        <p:nvGrpSpPr>
          <p:cNvPr id="82" name="Gruppieren 81"/>
          <p:cNvGrpSpPr/>
          <p:nvPr/>
        </p:nvGrpSpPr>
        <p:grpSpPr>
          <a:xfrm>
            <a:off x="9493594" y="3858968"/>
            <a:ext cx="930734" cy="1188000"/>
            <a:chOff x="4713900" y="1277106"/>
            <a:chExt cx="4549857" cy="1065293"/>
          </a:xfrm>
        </p:grpSpPr>
        <p:sp>
          <p:nvSpPr>
            <p:cNvPr id="83" name="AutoShape 38"/>
            <p:cNvSpPr>
              <a:spLocks noChangeArrowheads="1"/>
            </p:cNvSpPr>
            <p:nvPr/>
          </p:nvSpPr>
          <p:spPr bwMode="auto">
            <a:xfrm>
              <a:off x="4943760" y="1277106"/>
              <a:ext cx="4319997" cy="1045050"/>
            </a:xfrm>
            <a:prstGeom prst="roundRect">
              <a:avLst>
                <a:gd name="adj" fmla="val 16667"/>
              </a:avLst>
            </a:prstGeom>
            <a:gradFill>
              <a:gsLst>
                <a:gs pos="50000">
                  <a:srgbClr val="C9252C"/>
                </a:gs>
                <a:gs pos="0">
                  <a:srgbClr val="8E1A20"/>
                </a:gs>
                <a:gs pos="100000">
                  <a:srgbClr val="8E1A20"/>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4" name="AutoShape 38"/>
            <p:cNvSpPr>
              <a:spLocks noChangeArrowheads="1"/>
            </p:cNvSpPr>
            <p:nvPr/>
          </p:nvSpPr>
          <p:spPr bwMode="auto">
            <a:xfrm>
              <a:off x="4713900" y="1297349"/>
              <a:ext cx="4319997" cy="1045050"/>
            </a:xfrm>
            <a:prstGeom prst="roundRect">
              <a:avLst>
                <a:gd name="adj" fmla="val 16667"/>
              </a:avLst>
            </a:prstGeom>
            <a:solidFill>
              <a:srgbClr val="C9252C"/>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Vision Runtime</a:t>
              </a:r>
            </a:p>
          </p:txBody>
        </p:sp>
      </p:grpSp>
      <p:grpSp>
        <p:nvGrpSpPr>
          <p:cNvPr id="85" name="Gruppieren 84"/>
          <p:cNvGrpSpPr/>
          <p:nvPr/>
        </p:nvGrpSpPr>
        <p:grpSpPr>
          <a:xfrm>
            <a:off x="10470169" y="3858968"/>
            <a:ext cx="930734" cy="1188000"/>
            <a:chOff x="4713900" y="1277106"/>
            <a:chExt cx="4549857" cy="1065293"/>
          </a:xfrm>
        </p:grpSpPr>
        <p:sp>
          <p:nvSpPr>
            <p:cNvPr id="86" name="AutoShape 38"/>
            <p:cNvSpPr>
              <a:spLocks noChangeArrowheads="1"/>
            </p:cNvSpPr>
            <p:nvPr/>
          </p:nvSpPr>
          <p:spPr bwMode="auto">
            <a:xfrm>
              <a:off x="4943760" y="1277106"/>
              <a:ext cx="4319997" cy="1045050"/>
            </a:xfrm>
            <a:prstGeom prst="roundRect">
              <a:avLst>
                <a:gd name="adj" fmla="val 16667"/>
              </a:avLst>
            </a:prstGeom>
            <a:gradFill>
              <a:gsLst>
                <a:gs pos="50000">
                  <a:srgbClr val="0083CA"/>
                </a:gs>
                <a:gs pos="0">
                  <a:srgbClr val="004E7A"/>
                </a:gs>
                <a:gs pos="100000">
                  <a:srgbClr val="004E7A"/>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87" name="AutoShape 38"/>
            <p:cNvSpPr>
              <a:spLocks noChangeArrowheads="1"/>
            </p:cNvSpPr>
            <p:nvPr/>
          </p:nvSpPr>
          <p:spPr bwMode="auto">
            <a:xfrm>
              <a:off x="4713900" y="1297349"/>
              <a:ext cx="4319997" cy="1045050"/>
            </a:xfrm>
            <a:prstGeom prst="roundRect">
              <a:avLst>
                <a:gd name="adj" fmla="val 16667"/>
              </a:avLst>
            </a:prstGeom>
            <a:solidFill>
              <a:srgbClr val="0083CA"/>
            </a:solidFill>
            <a:ln>
              <a:noFill/>
            </a:ln>
            <a:effectLst/>
          </p:spPr>
          <p:txBody>
            <a:bodyPr wrap="square" lIns="36000" tIns="18000" rIns="0" bIns="0" anchor="t" anchorCtr="0">
              <a:noAutofit/>
            </a:bodyPr>
            <a:lstStyle/>
            <a:p>
              <a:pPr>
                <a:spcBef>
                  <a:spcPct val="0"/>
                </a:spcBef>
              </a:pPr>
              <a:r>
                <a:rPr lang="en-US" altLang="de-DE" sz="1050" dirty="0">
                  <a:solidFill>
                    <a:schemeClr val="bg1"/>
                  </a:solidFill>
                  <a:latin typeface="Arial" panose="020B0604020202020204" pitchFamily="34" charset="0"/>
                  <a:cs typeface="Arial" panose="020B0604020202020204" pitchFamily="34" charset="0"/>
                </a:rPr>
                <a:t>HMI</a:t>
              </a:r>
            </a:p>
          </p:txBody>
        </p:sp>
      </p:grpSp>
      <p:grpSp>
        <p:nvGrpSpPr>
          <p:cNvPr id="90" name="Gruppieren 89"/>
          <p:cNvGrpSpPr/>
          <p:nvPr/>
        </p:nvGrpSpPr>
        <p:grpSpPr>
          <a:xfrm>
            <a:off x="4610696" y="3858968"/>
            <a:ext cx="930734" cy="1188000"/>
            <a:chOff x="4713900" y="1277106"/>
            <a:chExt cx="4549857" cy="1065293"/>
          </a:xfrm>
        </p:grpSpPr>
        <p:sp>
          <p:nvSpPr>
            <p:cNvPr id="91"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92"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CNC</a:t>
              </a:r>
            </a:p>
          </p:txBody>
        </p:sp>
      </p:grpSp>
      <p:grpSp>
        <p:nvGrpSpPr>
          <p:cNvPr id="93" name="Gruppieren 92"/>
          <p:cNvGrpSpPr/>
          <p:nvPr/>
        </p:nvGrpSpPr>
        <p:grpSpPr>
          <a:xfrm>
            <a:off x="5587276" y="3858968"/>
            <a:ext cx="930734" cy="1188000"/>
            <a:chOff x="4713900" y="1277106"/>
            <a:chExt cx="4549857" cy="1065293"/>
          </a:xfrm>
        </p:grpSpPr>
        <p:sp>
          <p:nvSpPr>
            <p:cNvPr id="94" name="AutoShape 38"/>
            <p:cNvSpPr>
              <a:spLocks noChangeArrowheads="1"/>
            </p:cNvSpPr>
            <p:nvPr/>
          </p:nvSpPr>
          <p:spPr bwMode="auto">
            <a:xfrm>
              <a:off x="4943760" y="1277106"/>
              <a:ext cx="4319997" cy="1045050"/>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95"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Robotics Motion</a:t>
              </a:r>
            </a:p>
          </p:txBody>
        </p:sp>
      </p:grpSp>
      <p:grpSp>
        <p:nvGrpSpPr>
          <p:cNvPr id="172" name="Gruppieren 171"/>
          <p:cNvGrpSpPr/>
          <p:nvPr/>
        </p:nvGrpSpPr>
        <p:grpSpPr>
          <a:xfrm>
            <a:off x="631693" y="2751686"/>
            <a:ext cx="1379702" cy="586011"/>
            <a:chOff x="4713900" y="1258590"/>
            <a:chExt cx="4451450" cy="1083809"/>
          </a:xfrm>
        </p:grpSpPr>
        <p:sp>
          <p:nvSpPr>
            <p:cNvPr id="173"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74"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IoT Communication</a:t>
              </a:r>
            </a:p>
            <a:p>
              <a:pPr>
                <a:spcBef>
                  <a:spcPct val="0"/>
                </a:spcBef>
              </a:pPr>
              <a:r>
                <a:rPr lang="en-US" altLang="de-DE" sz="1050" dirty="0">
                  <a:latin typeface="+mj-lt"/>
                  <a:cs typeface="Arial" panose="020B0604020202020204" pitchFamily="34" charset="0"/>
                </a:rPr>
                <a:t>HTTPs</a:t>
              </a:r>
            </a:p>
            <a:p>
              <a:pPr>
                <a:spcBef>
                  <a:spcPct val="0"/>
                </a:spcBef>
              </a:pPr>
              <a:r>
                <a:rPr lang="en-US" altLang="de-DE" sz="1050" dirty="0">
                  <a:latin typeface="+mj-lt"/>
                  <a:cs typeface="Arial" panose="020B0604020202020204" pitchFamily="34" charset="0"/>
                </a:rPr>
                <a:t>MQTT</a:t>
              </a:r>
            </a:p>
            <a:p>
              <a:pPr>
                <a:spcBef>
                  <a:spcPct val="0"/>
                </a:spcBef>
              </a:pPr>
              <a:endParaRPr lang="en-US" altLang="de-DE" sz="1050" dirty="0">
                <a:latin typeface="+mj-lt"/>
                <a:cs typeface="Arial" panose="020B0604020202020204" pitchFamily="34" charset="0"/>
              </a:endParaRPr>
            </a:p>
          </p:txBody>
        </p:sp>
      </p:grpSp>
      <p:grpSp>
        <p:nvGrpSpPr>
          <p:cNvPr id="175" name="Gruppieren 174"/>
          <p:cNvGrpSpPr/>
          <p:nvPr/>
        </p:nvGrpSpPr>
        <p:grpSpPr>
          <a:xfrm>
            <a:off x="2226099" y="2751686"/>
            <a:ext cx="1379702" cy="586011"/>
            <a:chOff x="4713900" y="1258590"/>
            <a:chExt cx="4451450" cy="1083809"/>
          </a:xfrm>
        </p:grpSpPr>
        <p:sp>
          <p:nvSpPr>
            <p:cNvPr id="176"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77"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Database Connection</a:t>
              </a:r>
            </a:p>
          </p:txBody>
        </p:sp>
      </p:grpSp>
      <p:grpSp>
        <p:nvGrpSpPr>
          <p:cNvPr id="178" name="Gruppieren 177"/>
          <p:cNvGrpSpPr/>
          <p:nvPr/>
        </p:nvGrpSpPr>
        <p:grpSpPr>
          <a:xfrm>
            <a:off x="3820506" y="2751686"/>
            <a:ext cx="1379702" cy="586011"/>
            <a:chOff x="4713900" y="1258590"/>
            <a:chExt cx="4451450" cy="1083809"/>
          </a:xfrm>
        </p:grpSpPr>
        <p:sp>
          <p:nvSpPr>
            <p:cNvPr id="179"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0"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TCP/IP</a:t>
              </a:r>
            </a:p>
          </p:txBody>
        </p:sp>
      </p:grpSp>
      <p:grpSp>
        <p:nvGrpSpPr>
          <p:cNvPr id="181" name="Gruppieren 180"/>
          <p:cNvGrpSpPr/>
          <p:nvPr/>
        </p:nvGrpSpPr>
        <p:grpSpPr>
          <a:xfrm>
            <a:off x="5414912" y="2751686"/>
            <a:ext cx="1379702" cy="586011"/>
            <a:chOff x="4713900" y="1258590"/>
            <a:chExt cx="4451450" cy="1083809"/>
          </a:xfrm>
        </p:grpSpPr>
        <p:sp>
          <p:nvSpPr>
            <p:cNvPr id="182"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Arial" panose="020B0604020202020204" pitchFamily="34" charset="0"/>
                  <a:cs typeface="Arial" panose="020B0604020202020204" pitchFamily="34" charset="0"/>
                </a:rPr>
                <a:t>153/42/108</a:t>
              </a:r>
            </a:p>
          </p:txBody>
        </p:sp>
        <p:sp>
          <p:nvSpPr>
            <p:cNvPr id="183"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endParaRPr lang="en-US" altLang="de-DE" sz="1050" dirty="0">
                <a:solidFill>
                  <a:schemeClr val="bg1"/>
                </a:solidFill>
                <a:latin typeface="Arial" panose="020B0604020202020204" pitchFamily="34" charset="0"/>
                <a:cs typeface="Arial" panose="020B0604020202020204" pitchFamily="34" charset="0"/>
              </a:endParaRPr>
            </a:p>
          </p:txBody>
        </p:sp>
      </p:grpSp>
      <p:grpSp>
        <p:nvGrpSpPr>
          <p:cNvPr id="184" name="Gruppieren 183"/>
          <p:cNvGrpSpPr/>
          <p:nvPr/>
        </p:nvGrpSpPr>
        <p:grpSpPr>
          <a:xfrm>
            <a:off x="7009318" y="2751686"/>
            <a:ext cx="1379702" cy="586011"/>
            <a:chOff x="4713900" y="1258590"/>
            <a:chExt cx="4451450" cy="1083809"/>
          </a:xfrm>
        </p:grpSpPr>
        <p:sp>
          <p:nvSpPr>
            <p:cNvPr id="185"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6"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ADS</a:t>
              </a:r>
            </a:p>
          </p:txBody>
        </p:sp>
      </p:grpSp>
      <p:grpSp>
        <p:nvGrpSpPr>
          <p:cNvPr id="187" name="Gruppieren 186"/>
          <p:cNvGrpSpPr/>
          <p:nvPr/>
        </p:nvGrpSpPr>
        <p:grpSpPr>
          <a:xfrm>
            <a:off x="8603724" y="2751686"/>
            <a:ext cx="1379702" cy="586011"/>
            <a:chOff x="4713900" y="1258590"/>
            <a:chExt cx="4451450" cy="1083809"/>
          </a:xfrm>
        </p:grpSpPr>
        <p:sp>
          <p:nvSpPr>
            <p:cNvPr id="188"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89"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err="1">
                  <a:latin typeface="+mj-lt"/>
                  <a:cs typeface="Arial" panose="020B0604020202020204" pitchFamily="34" charset="0"/>
                </a:rPr>
                <a:t>EtherCAT</a:t>
              </a:r>
              <a:r>
                <a:rPr lang="en-US" altLang="de-DE" sz="1050" dirty="0">
                  <a:latin typeface="+mj-lt"/>
                  <a:cs typeface="Arial" panose="020B0604020202020204" pitchFamily="34" charset="0"/>
                </a:rPr>
                <a:t> Automation Protocol</a:t>
              </a:r>
            </a:p>
          </p:txBody>
        </p:sp>
      </p:grpSp>
      <p:grpSp>
        <p:nvGrpSpPr>
          <p:cNvPr id="190" name="Gruppieren 189"/>
          <p:cNvGrpSpPr/>
          <p:nvPr/>
        </p:nvGrpSpPr>
        <p:grpSpPr>
          <a:xfrm>
            <a:off x="10198131" y="2751686"/>
            <a:ext cx="1379702" cy="586011"/>
            <a:chOff x="4713900" y="1258590"/>
            <a:chExt cx="4451450" cy="1083809"/>
          </a:xfrm>
        </p:grpSpPr>
        <p:sp>
          <p:nvSpPr>
            <p:cNvPr id="191"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192"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PROFINET, </a:t>
              </a:r>
              <a:r>
                <a:rPr lang="en-US" altLang="de-DE" sz="1050" dirty="0" err="1">
                  <a:latin typeface="+mj-lt"/>
                  <a:cs typeface="Arial" panose="020B0604020202020204" pitchFamily="34" charset="0"/>
                </a:rPr>
                <a:t>EtherNet</a:t>
              </a:r>
              <a:r>
                <a:rPr lang="en-US" altLang="de-DE" sz="1050" dirty="0">
                  <a:latin typeface="+mj-lt"/>
                  <a:cs typeface="Arial" panose="020B0604020202020204" pitchFamily="34" charset="0"/>
                </a:rPr>
                <a:t>/IP, </a:t>
              </a:r>
            </a:p>
            <a:p>
              <a:pPr>
                <a:spcBef>
                  <a:spcPct val="0"/>
                </a:spcBef>
              </a:pPr>
              <a:r>
                <a:rPr lang="en-US" altLang="de-DE" sz="1050" dirty="0">
                  <a:latin typeface="+mj-lt"/>
                  <a:cs typeface="Arial" panose="020B0604020202020204" pitchFamily="34" charset="0"/>
                </a:rPr>
                <a:t>Modbus</a:t>
              </a:r>
            </a:p>
          </p:txBody>
        </p:sp>
      </p:grpSp>
      <p:grpSp>
        <p:nvGrpSpPr>
          <p:cNvPr id="199" name="M2M"/>
          <p:cNvGrpSpPr/>
          <p:nvPr/>
        </p:nvGrpSpPr>
        <p:grpSpPr>
          <a:xfrm>
            <a:off x="3761580" y="1469014"/>
            <a:ext cx="1379702" cy="586011"/>
            <a:chOff x="4713900" y="1258590"/>
            <a:chExt cx="4451450" cy="1083809"/>
          </a:xfrm>
        </p:grpSpPr>
        <p:sp>
          <p:nvSpPr>
            <p:cNvPr id="200"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1"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M2M</a:t>
              </a:r>
            </a:p>
          </p:txBody>
        </p:sp>
      </p:grpSp>
      <p:grpSp>
        <p:nvGrpSpPr>
          <p:cNvPr id="202" name="MES"/>
          <p:cNvGrpSpPr/>
          <p:nvPr/>
        </p:nvGrpSpPr>
        <p:grpSpPr>
          <a:xfrm>
            <a:off x="5355986" y="1469014"/>
            <a:ext cx="1379702" cy="586011"/>
            <a:chOff x="4713900" y="1258590"/>
            <a:chExt cx="4451450" cy="1083809"/>
          </a:xfrm>
        </p:grpSpPr>
        <p:sp>
          <p:nvSpPr>
            <p:cNvPr id="203"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4"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MES / WES</a:t>
              </a:r>
            </a:p>
          </p:txBody>
        </p:sp>
      </p:grpSp>
      <p:grpSp>
        <p:nvGrpSpPr>
          <p:cNvPr id="205" name="HMI"/>
          <p:cNvGrpSpPr/>
          <p:nvPr/>
        </p:nvGrpSpPr>
        <p:grpSpPr>
          <a:xfrm>
            <a:off x="6950392" y="1469014"/>
            <a:ext cx="1379702" cy="586011"/>
            <a:chOff x="4713900" y="1258590"/>
            <a:chExt cx="4451450" cy="1083809"/>
          </a:xfrm>
        </p:grpSpPr>
        <p:sp>
          <p:nvSpPr>
            <p:cNvPr id="206"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07"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HMI</a:t>
              </a:r>
            </a:p>
          </p:txBody>
        </p:sp>
      </p:grpSp>
      <p:grpSp>
        <p:nvGrpSpPr>
          <p:cNvPr id="208" name="Matlab"/>
          <p:cNvGrpSpPr/>
          <p:nvPr/>
        </p:nvGrpSpPr>
        <p:grpSpPr>
          <a:xfrm>
            <a:off x="8544798" y="1469014"/>
            <a:ext cx="1379702" cy="586011"/>
            <a:chOff x="4713900" y="1258590"/>
            <a:chExt cx="4451450" cy="1083809"/>
          </a:xfrm>
        </p:grpSpPr>
        <p:sp>
          <p:nvSpPr>
            <p:cNvPr id="209"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10"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r>
                <a:rPr lang="en-US" sz="1050" dirty="0">
                  <a:latin typeface="+mj-lt"/>
                </a:rPr>
                <a:t>MATLAB</a:t>
              </a:r>
              <a:r>
                <a:rPr lang="en-US" sz="1050" baseline="30000" dirty="0">
                  <a:latin typeface="+mj-lt"/>
                </a:rPr>
                <a:t>®</a:t>
              </a:r>
              <a:endParaRPr lang="en-US" sz="1050" dirty="0">
                <a:latin typeface="+mj-lt"/>
              </a:endParaRPr>
            </a:p>
          </p:txBody>
        </p:sp>
      </p:grpSp>
      <p:grpSp>
        <p:nvGrpSpPr>
          <p:cNvPr id="211" name="Labview"/>
          <p:cNvGrpSpPr/>
          <p:nvPr/>
        </p:nvGrpSpPr>
        <p:grpSpPr>
          <a:xfrm>
            <a:off x="10139205" y="1469014"/>
            <a:ext cx="1379702" cy="586011"/>
            <a:chOff x="4713900" y="1258590"/>
            <a:chExt cx="4451450" cy="1083809"/>
          </a:xfrm>
        </p:grpSpPr>
        <p:sp>
          <p:nvSpPr>
            <p:cNvPr id="212" name="AutoShape 38"/>
            <p:cNvSpPr>
              <a:spLocks noChangeArrowheads="1"/>
            </p:cNvSpPr>
            <p:nvPr/>
          </p:nvSpPr>
          <p:spPr bwMode="auto">
            <a:xfrm>
              <a:off x="4845353" y="1258590"/>
              <a:ext cx="4319997" cy="1045052"/>
            </a:xfrm>
            <a:prstGeom prst="roundRect">
              <a:avLst>
                <a:gd name="adj" fmla="val 16667"/>
              </a:avLst>
            </a:prstGeom>
            <a:gradFill>
              <a:gsLst>
                <a:gs pos="50000">
                  <a:schemeClr val="bg2"/>
                </a:gs>
                <a:gs pos="0">
                  <a:schemeClr val="accent3"/>
                </a:gs>
                <a:gs pos="100000">
                  <a:schemeClr val="accent3"/>
                </a:gs>
              </a:gsLst>
              <a:lin ang="0" scaled="1"/>
            </a:gradFill>
            <a:ln>
              <a:noFill/>
            </a:ln>
            <a:effectLst/>
          </p:spPr>
          <p:txBody>
            <a:bodyPr wrap="square" anchor="t" anchorCtr="0">
              <a:noAutofit/>
            </a:bodyPr>
            <a:lstStyle/>
            <a:p>
              <a:pPr>
                <a:spcBef>
                  <a:spcPct val="0"/>
                </a:spcBef>
              </a:pPr>
              <a:r>
                <a:rPr lang="en-US" altLang="de-DE" sz="1050" b="1" dirty="0">
                  <a:latin typeface="+mj-lt"/>
                  <a:cs typeface="Arial" panose="020B0604020202020204" pitchFamily="34" charset="0"/>
                </a:rPr>
                <a:t>153/42/108</a:t>
              </a:r>
            </a:p>
          </p:txBody>
        </p:sp>
        <p:sp>
          <p:nvSpPr>
            <p:cNvPr id="213" name="AutoShape 38"/>
            <p:cNvSpPr>
              <a:spLocks noChangeArrowheads="1"/>
            </p:cNvSpPr>
            <p:nvPr/>
          </p:nvSpPr>
          <p:spPr bwMode="auto">
            <a:xfrm>
              <a:off x="4713900" y="1297349"/>
              <a:ext cx="4319999" cy="1045050"/>
            </a:xfrm>
            <a:prstGeom prst="roundRect">
              <a:avLst>
                <a:gd name="adj" fmla="val 16667"/>
              </a:avLst>
            </a:prstGeom>
            <a:solidFill>
              <a:schemeClr val="bg2"/>
            </a:solidFill>
            <a:ln>
              <a:noFill/>
            </a:ln>
            <a:effectLst/>
          </p:spPr>
          <p:txBody>
            <a:bodyPr wrap="square" lIns="36000" tIns="18000" rIns="0" bIns="0" anchor="t" anchorCtr="0">
              <a:noAutofit/>
            </a:bodyPr>
            <a:lstStyle/>
            <a:p>
              <a:pPr>
                <a:spcBef>
                  <a:spcPct val="0"/>
                </a:spcBef>
              </a:pPr>
              <a:r>
                <a:rPr lang="en-US" altLang="de-DE" sz="1050" dirty="0">
                  <a:latin typeface="+mj-lt"/>
                  <a:cs typeface="Arial" panose="020B0604020202020204" pitchFamily="34" charset="0"/>
                </a:rPr>
                <a:t>LabView</a:t>
              </a:r>
              <a:r>
                <a:rPr lang="en-US" sz="1050" baseline="30000" dirty="0">
                  <a:latin typeface="+mj-lt"/>
                </a:rPr>
                <a:t>®</a:t>
              </a:r>
              <a:endParaRPr lang="en-US" sz="1050" dirty="0">
                <a:latin typeface="+mj-lt"/>
              </a:endParaRPr>
            </a:p>
          </p:txBody>
        </p:sp>
      </p:grpSp>
      <p:sp>
        <p:nvSpPr>
          <p:cNvPr id="2" name="Titel 1"/>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Big Picture</a:t>
            </a:r>
          </a:p>
        </p:txBody>
      </p:sp>
      <p:pic>
        <p:nvPicPr>
          <p:cNvPr id="29" name="Connecitify Icon"/>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2786" y="4394712"/>
            <a:ext cx="542149" cy="542149"/>
          </a:xfrm>
          <a:prstGeom prst="rect">
            <a:avLst/>
          </a:prstGeom>
        </p:spPr>
      </p:pic>
      <p:pic>
        <p:nvPicPr>
          <p:cNvPr id="36" name="Grafik 3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49875" y="4394712"/>
            <a:ext cx="542149" cy="542149"/>
          </a:xfrm>
          <a:prstGeom prst="rect">
            <a:avLst/>
          </a:prstGeom>
        </p:spPr>
      </p:pic>
      <p:pic>
        <p:nvPicPr>
          <p:cNvPr id="88" name="Grafik 8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26964" y="4394712"/>
            <a:ext cx="542149" cy="542149"/>
          </a:xfrm>
          <a:prstGeom prst="rect">
            <a:avLst/>
          </a:prstGeom>
        </p:spPr>
      </p:pic>
      <p:pic>
        <p:nvPicPr>
          <p:cNvPr id="89" name="Grafik 8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04053" y="4394712"/>
            <a:ext cx="542149" cy="542149"/>
          </a:xfrm>
          <a:prstGeom prst="rect">
            <a:avLst/>
          </a:prstGeom>
        </p:spPr>
      </p:pic>
      <p:pic>
        <p:nvPicPr>
          <p:cNvPr id="96" name="Grafik 95"/>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81142" y="4394712"/>
            <a:ext cx="542149" cy="542149"/>
          </a:xfrm>
          <a:prstGeom prst="rect">
            <a:avLst/>
          </a:prstGeom>
        </p:spPr>
      </p:pic>
      <p:pic>
        <p:nvPicPr>
          <p:cNvPr id="97" name="Grafik 9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758231" y="4394712"/>
            <a:ext cx="542149" cy="542149"/>
          </a:xfrm>
          <a:prstGeom prst="rect">
            <a:avLst/>
          </a:prstGeom>
        </p:spPr>
      </p:pic>
      <p:pic>
        <p:nvPicPr>
          <p:cNvPr id="98" name="Grafik 9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735320" y="4394712"/>
            <a:ext cx="542149" cy="542149"/>
          </a:xfrm>
          <a:prstGeom prst="rect">
            <a:avLst/>
          </a:prstGeom>
        </p:spPr>
      </p:pic>
      <p:pic>
        <p:nvPicPr>
          <p:cNvPr id="99" name="Grafik 9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712409" y="4394712"/>
            <a:ext cx="542149" cy="542149"/>
          </a:xfrm>
          <a:prstGeom prst="rect">
            <a:avLst/>
          </a:prstGeom>
        </p:spPr>
      </p:pic>
      <p:pic>
        <p:nvPicPr>
          <p:cNvPr id="100" name="Grafik 99"/>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689498" y="4394712"/>
            <a:ext cx="542149" cy="542149"/>
          </a:xfrm>
          <a:prstGeom prst="rect">
            <a:avLst/>
          </a:prstGeom>
        </p:spPr>
      </p:pic>
      <p:pic>
        <p:nvPicPr>
          <p:cNvPr id="101" name="Grafik 100"/>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666587" y="4394712"/>
            <a:ext cx="542149" cy="542149"/>
          </a:xfrm>
          <a:prstGeom prst="rect">
            <a:avLst/>
          </a:prstGeom>
        </p:spPr>
      </p:pic>
      <p:pic>
        <p:nvPicPr>
          <p:cNvPr id="102" name="Grafik 101"/>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643676" y="4394712"/>
            <a:ext cx="542149" cy="542149"/>
          </a:xfrm>
          <a:prstGeom prst="rect">
            <a:avLst/>
          </a:prstGeom>
        </p:spPr>
      </p:pic>
      <p:pic>
        <p:nvPicPr>
          <p:cNvPr id="214" name="Grafik 213"/>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937200" y="1489970"/>
            <a:ext cx="464371" cy="570878"/>
          </a:xfrm>
          <a:prstGeom prst="rect">
            <a:avLst/>
          </a:prstGeom>
        </p:spPr>
      </p:pic>
      <p:pic>
        <p:nvPicPr>
          <p:cNvPr id="215" name="Grafik 214"/>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240152" y="1489970"/>
            <a:ext cx="464371" cy="570878"/>
          </a:xfrm>
          <a:prstGeom prst="rect">
            <a:avLst/>
          </a:prstGeom>
        </p:spPr>
      </p:pic>
      <p:sp>
        <p:nvSpPr>
          <p:cNvPr id="216" name="Freihandform 215"/>
          <p:cNvSpPr>
            <a:spLocks noChangeAspect="1"/>
          </p:cNvSpPr>
          <p:nvPr>
            <p:custDataLst>
              <p:tags r:id="rId1"/>
            </p:custDataLst>
          </p:nvPr>
        </p:nvSpPr>
        <p:spPr>
          <a:xfrm>
            <a:off x="191344" y="1163789"/>
            <a:ext cx="1616461" cy="844871"/>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gradFill>
            <a:gsLst>
              <a:gs pos="0">
                <a:schemeClr val="bg2">
                  <a:alpha val="95000"/>
                </a:schemeClr>
              </a:gs>
              <a:gs pos="60000">
                <a:schemeClr val="bg2">
                  <a:lumMod val="20000"/>
                  <a:lumOff val="80000"/>
                  <a:alpha val="75000"/>
                </a:schemeClr>
              </a:gs>
              <a:gs pos="31000">
                <a:schemeClr val="tx2">
                  <a:alpha val="85000"/>
                </a:schemeClr>
              </a:gs>
              <a:gs pos="85000">
                <a:schemeClr val="tx2">
                  <a:lumMod val="90000"/>
                  <a:alpha val="65000"/>
                </a:schemeClr>
              </a:gs>
              <a:gs pos="100000">
                <a:schemeClr val="bg2">
                  <a:alpha val="55000"/>
                </a:schemeClr>
              </a:gs>
            </a:gsLst>
            <a:lin ang="6000000" scaled="0"/>
          </a:gradFill>
          <a:ln w="254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04000" tIns="540000" rIns="91440" bIns="45720" numCol="1" spcCol="0" rtlCol="0" fromWordArt="0" anchor="t" anchorCtr="0" forceAA="0" compatLnSpc="1">
            <a:prstTxWarp prst="textNoShape">
              <a:avLst/>
            </a:prstTxWarp>
            <a:no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622300">
              <a:spcAft>
                <a:spcPct val="35000"/>
              </a:spcAft>
              <a:defRPr/>
            </a:pPr>
            <a:endParaRPr lang="en-US" sz="1400" dirty="0">
              <a:solidFill>
                <a:schemeClr val="tx1"/>
              </a:solidFill>
            </a:endParaRPr>
          </a:p>
        </p:txBody>
      </p:sp>
      <p:sp>
        <p:nvSpPr>
          <p:cNvPr id="217" name="Textfeld 216"/>
          <p:cNvSpPr txBox="1"/>
          <p:nvPr/>
        </p:nvSpPr>
        <p:spPr>
          <a:xfrm>
            <a:off x="411727" y="1462913"/>
            <a:ext cx="1269231" cy="387508"/>
          </a:xfrm>
          <a:prstGeom prst="rect">
            <a:avLst/>
          </a:prstGeom>
          <a:noFill/>
        </p:spPr>
        <p:txBody>
          <a:bodyPr wrap="square" lIns="36000" tIns="18000" rtlCol="0">
            <a:spAutoFit/>
          </a:bodyPr>
          <a:lstStyle/>
          <a:p>
            <a:r>
              <a:rPr lang="en-US" sz="1050" dirty="0"/>
              <a:t>Cloud Connectivity +  Analytics</a:t>
            </a:r>
          </a:p>
        </p:txBody>
      </p:sp>
      <p:sp>
        <p:nvSpPr>
          <p:cNvPr id="218" name="Textfeld 217"/>
          <p:cNvSpPr txBox="1"/>
          <p:nvPr/>
        </p:nvSpPr>
        <p:spPr>
          <a:xfrm>
            <a:off x="2325911" y="1231806"/>
            <a:ext cx="376087" cy="225925"/>
          </a:xfrm>
          <a:prstGeom prst="rect">
            <a:avLst/>
          </a:prstGeom>
          <a:noFill/>
        </p:spPr>
        <p:txBody>
          <a:bodyPr wrap="square" lIns="36000" tIns="18000" rtlCol="0">
            <a:spAutoFit/>
          </a:bodyPr>
          <a:lstStyle/>
          <a:p>
            <a:r>
              <a:rPr lang="en-US" sz="1050" dirty="0"/>
              <a:t>DB</a:t>
            </a:r>
          </a:p>
        </p:txBody>
      </p:sp>
      <p:sp>
        <p:nvSpPr>
          <p:cNvPr id="219" name="Textfeld 218"/>
          <p:cNvSpPr txBox="1"/>
          <p:nvPr/>
        </p:nvSpPr>
        <p:spPr>
          <a:xfrm>
            <a:off x="2992147" y="1231806"/>
            <a:ext cx="435583" cy="225925"/>
          </a:xfrm>
          <a:prstGeom prst="rect">
            <a:avLst/>
          </a:prstGeom>
          <a:noFill/>
        </p:spPr>
        <p:txBody>
          <a:bodyPr wrap="square" lIns="36000" tIns="18000" rtlCol="0">
            <a:spAutoFit/>
          </a:bodyPr>
          <a:lstStyle/>
          <a:p>
            <a:r>
              <a:rPr lang="en-US" sz="1050" dirty="0"/>
              <a:t>ERP</a:t>
            </a:r>
          </a:p>
        </p:txBody>
      </p:sp>
      <p:pic>
        <p:nvPicPr>
          <p:cNvPr id="105" name="Picture 7" descr="C:\Dokumente und Einstellungen\KnutG\Desktop\Neuer Ordner\Sercos.png">
            <a:extLst>
              <a:ext uri="{FF2B5EF4-FFF2-40B4-BE49-F238E27FC236}">
                <a16:creationId xmlns:a16="http://schemas.microsoft.com/office/drawing/2014/main" id="{B925A107-97A0-41A3-91C0-7F74A8D8A13C}"/>
              </a:ext>
            </a:extLst>
          </p:cNvPr>
          <p:cNvPicPr>
            <a:picLocks noChangeAspect="1" noChangeArrowheads="1"/>
          </p:cNvPicPr>
          <p:nvPr/>
        </p:nvPicPr>
        <p:blipFill>
          <a:blip r:embed="rId16"/>
          <a:srcRect/>
          <a:stretch>
            <a:fillRect/>
          </a:stretch>
        </p:blipFill>
        <p:spPr bwMode="auto">
          <a:xfrm>
            <a:off x="684742" y="5476336"/>
            <a:ext cx="864905" cy="253051"/>
          </a:xfrm>
          <a:prstGeom prst="rect">
            <a:avLst/>
          </a:prstGeom>
          <a:noFill/>
        </p:spPr>
      </p:pic>
      <p:pic>
        <p:nvPicPr>
          <p:cNvPr id="108" name="Picture 10" descr="C:\Dokumente und Einstellungen\KnutG\Desktop\Neuer Ordner\ethercat.png">
            <a:extLst>
              <a:ext uri="{FF2B5EF4-FFF2-40B4-BE49-F238E27FC236}">
                <a16:creationId xmlns:a16="http://schemas.microsoft.com/office/drawing/2014/main" id="{9132A99B-4B4C-47AD-AD29-DB83E589DC38}"/>
              </a:ext>
            </a:extLst>
          </p:cNvPr>
          <p:cNvPicPr>
            <a:picLocks noChangeAspect="1" noChangeArrowheads="1"/>
          </p:cNvPicPr>
          <p:nvPr/>
        </p:nvPicPr>
        <p:blipFill>
          <a:blip r:embed="rId17"/>
          <a:srcRect/>
          <a:stretch>
            <a:fillRect/>
          </a:stretch>
        </p:blipFill>
        <p:spPr bwMode="auto">
          <a:xfrm>
            <a:off x="5205573" y="5635858"/>
            <a:ext cx="1834097" cy="415537"/>
          </a:xfrm>
          <a:prstGeom prst="rect">
            <a:avLst/>
          </a:prstGeom>
          <a:ln>
            <a:noFill/>
          </a:ln>
          <a:effectLst>
            <a:outerShdw blurRad="292100" dist="139700" dir="2700000" algn="tl" rotWithShape="0">
              <a:srgbClr val="333333">
                <a:alpha val="65000"/>
              </a:srgbClr>
            </a:outerShdw>
          </a:effectLst>
        </p:spPr>
      </p:pic>
      <p:pic>
        <p:nvPicPr>
          <p:cNvPr id="109" name="Picture 11" descr="C:\Dokumente und Einstellungen\KnutG\Desktop\Neuer Ordner\canopen_logo.png">
            <a:extLst>
              <a:ext uri="{FF2B5EF4-FFF2-40B4-BE49-F238E27FC236}">
                <a16:creationId xmlns:a16="http://schemas.microsoft.com/office/drawing/2014/main" id="{FC74A1FA-FB6F-4FB3-8316-F0DFC30FBCA6}"/>
              </a:ext>
            </a:extLst>
          </p:cNvPr>
          <p:cNvPicPr>
            <a:picLocks noChangeAspect="1" noChangeArrowheads="1"/>
          </p:cNvPicPr>
          <p:nvPr/>
        </p:nvPicPr>
        <p:blipFill>
          <a:blip r:embed="rId18"/>
          <a:srcRect/>
          <a:stretch>
            <a:fillRect/>
          </a:stretch>
        </p:blipFill>
        <p:spPr bwMode="auto">
          <a:xfrm>
            <a:off x="2252477" y="5537562"/>
            <a:ext cx="904162" cy="214890"/>
          </a:xfrm>
          <a:prstGeom prst="rect">
            <a:avLst/>
          </a:prstGeom>
          <a:noFill/>
        </p:spPr>
      </p:pic>
      <p:grpSp>
        <p:nvGrpSpPr>
          <p:cNvPr id="112" name="Gruppieren 70">
            <a:extLst>
              <a:ext uri="{FF2B5EF4-FFF2-40B4-BE49-F238E27FC236}">
                <a16:creationId xmlns:a16="http://schemas.microsoft.com/office/drawing/2014/main" id="{7956897C-BD5B-4340-A2E0-E075BA159A31}"/>
              </a:ext>
            </a:extLst>
          </p:cNvPr>
          <p:cNvGrpSpPr>
            <a:grpSpLocks/>
          </p:cNvGrpSpPr>
          <p:nvPr/>
        </p:nvGrpSpPr>
        <p:grpSpPr bwMode="auto">
          <a:xfrm>
            <a:off x="9889509" y="6333593"/>
            <a:ext cx="689838" cy="353943"/>
            <a:chOff x="4995000" y="1873249"/>
            <a:chExt cx="868854" cy="353043"/>
          </a:xfrm>
        </p:grpSpPr>
        <p:sp>
          <p:nvSpPr>
            <p:cNvPr id="113" name="Textfeld 108">
              <a:extLst>
                <a:ext uri="{FF2B5EF4-FFF2-40B4-BE49-F238E27FC236}">
                  <a16:creationId xmlns:a16="http://schemas.microsoft.com/office/drawing/2014/main" id="{568B1D4C-9FDB-43B3-8B6D-42705B308FF5}"/>
                </a:ext>
              </a:extLst>
            </p:cNvPr>
            <p:cNvSpPr txBox="1"/>
            <p:nvPr/>
          </p:nvSpPr>
          <p:spPr>
            <a:xfrm>
              <a:off x="5061528" y="1873249"/>
              <a:ext cx="802326" cy="353043"/>
            </a:xfrm>
            <a:prstGeom prst="rect">
              <a:avLst/>
            </a:prstGeom>
            <a:noFill/>
          </p:spPr>
          <p:txBody>
            <a:bodyPr>
              <a:spAutoFit/>
            </a:bodyPr>
            <a:lstStyle/>
            <a:p>
              <a:pPr>
                <a:defRPr/>
              </a:pPr>
              <a:r>
                <a:rPr lang="en-US" sz="800" i="1" dirty="0">
                  <a:effectLst>
                    <a:outerShdw blurRad="38100" dist="38100" dir="2700000" algn="tl">
                      <a:srgbClr val="000000">
                        <a:alpha val="43137"/>
                      </a:srgbClr>
                    </a:outerShdw>
                  </a:effectLst>
                  <a:latin typeface="Arial" charset="0"/>
                  <a:cs typeface="Arial" charset="0"/>
                </a:rPr>
                <a:t>RS232</a:t>
              </a:r>
              <a:endParaRPr lang="en-US" sz="1100" i="1" dirty="0">
                <a:effectLst>
                  <a:outerShdw blurRad="38100" dist="38100" dir="2700000" algn="tl">
                    <a:srgbClr val="000000">
                      <a:alpha val="43137"/>
                    </a:srgbClr>
                  </a:outerShdw>
                </a:effectLst>
                <a:latin typeface="Arial" charset="0"/>
                <a:cs typeface="Arial" charset="0"/>
              </a:endParaRPr>
            </a:p>
            <a:p>
              <a:pPr>
                <a:defRPr/>
              </a:pPr>
              <a:r>
                <a:rPr lang="en-US" sz="900" i="1" dirty="0">
                  <a:effectLst>
                    <a:outerShdw blurRad="38100" dist="38100" dir="2700000" algn="tl">
                      <a:srgbClr val="000000">
                        <a:alpha val="43137"/>
                      </a:srgbClr>
                    </a:outerShdw>
                  </a:effectLst>
                  <a:latin typeface="Arial" charset="0"/>
                  <a:cs typeface="Arial" charset="0"/>
                </a:rPr>
                <a:t>RS485</a:t>
              </a:r>
            </a:p>
          </p:txBody>
        </p:sp>
        <p:cxnSp>
          <p:nvCxnSpPr>
            <p:cNvPr id="114" name="Gerade Verbindung mit Pfeil 109">
              <a:extLst>
                <a:ext uri="{FF2B5EF4-FFF2-40B4-BE49-F238E27FC236}">
                  <a16:creationId xmlns:a16="http://schemas.microsoft.com/office/drawing/2014/main" id="{D322A0FB-EBA1-489B-A83F-B0905AC0233B}"/>
                </a:ext>
              </a:extLst>
            </p:cNvPr>
            <p:cNvCxnSpPr/>
            <p:nvPr/>
          </p:nvCxnSpPr>
          <p:spPr bwMode="auto">
            <a:xfrm rot="10800000" flipH="1">
              <a:off x="4995000" y="2048180"/>
              <a:ext cx="802326" cy="1590"/>
            </a:xfrm>
            <a:prstGeom prst="straightConnector1">
              <a:avLst/>
            </a:prstGeom>
            <a:solidFill>
              <a:schemeClr val="accent1"/>
            </a:solidFill>
            <a:ln w="15875" cap="flat" cmpd="sng" algn="ctr">
              <a:solidFill>
                <a:schemeClr val="tx1"/>
              </a:solidFill>
              <a:prstDash val="solid"/>
              <a:round/>
              <a:headEnd type="stealth" w="lg" len="lg"/>
              <a:tailEnd type="stealth" w="lg" len="lg"/>
            </a:ln>
            <a:effectLst>
              <a:outerShdw blurRad="50800" dist="38100" dir="2700000" algn="tl" rotWithShape="0">
                <a:prstClr val="black">
                  <a:alpha val="40000"/>
                </a:prstClr>
              </a:outerShdw>
            </a:effectLst>
          </p:spPr>
        </p:cxnSp>
      </p:grpSp>
      <p:pic>
        <p:nvPicPr>
          <p:cNvPr id="116" name="Picture 2" descr="PROFINET - Wikipedia">
            <a:extLst>
              <a:ext uri="{FF2B5EF4-FFF2-40B4-BE49-F238E27FC236}">
                <a16:creationId xmlns:a16="http://schemas.microsoft.com/office/drawing/2014/main" id="{8CCDA1D4-A01A-40DE-B14B-686CCB816086}"/>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222461" y="5836376"/>
            <a:ext cx="684420" cy="362080"/>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36" descr="Image result for ethernet/ip logo">
            <a:extLst>
              <a:ext uri="{FF2B5EF4-FFF2-40B4-BE49-F238E27FC236}">
                <a16:creationId xmlns:a16="http://schemas.microsoft.com/office/drawing/2014/main" id="{0837999E-DEC0-4895-8556-8BC2A7116B00}"/>
              </a:ext>
            </a:extLst>
          </p:cNvPr>
          <p:cNvPicPr>
            <a:picLocks noChangeAspect="1" noChangeArrowheads="1"/>
          </p:cNvPicPr>
          <p:nvPr/>
        </p:nvPicPr>
        <p:blipFill>
          <a:blip r:embed="rId20" cstate="hqprint">
            <a:extLst>
              <a:ext uri="{28A0092B-C50C-407E-A947-70E740481C1C}">
                <a14:useLocalDpi xmlns:a14="http://schemas.microsoft.com/office/drawing/2010/main"/>
              </a:ext>
            </a:extLst>
          </a:blip>
          <a:srcRect/>
          <a:stretch>
            <a:fillRect/>
          </a:stretch>
        </p:blipFill>
        <p:spPr bwMode="auto">
          <a:xfrm>
            <a:off x="684742" y="5836376"/>
            <a:ext cx="1206442" cy="151902"/>
          </a:xfrm>
          <a:prstGeom prst="rect">
            <a:avLst/>
          </a:prstGeom>
          <a:noFill/>
          <a:extLst>
            <a:ext uri="{909E8E84-426E-40DD-AFC4-6F175D3DCCD1}">
              <a14:hiddenFill xmlns:a14="http://schemas.microsoft.com/office/drawing/2010/main">
                <a:solidFill>
                  <a:srgbClr val="FFFFFF"/>
                </a:solidFill>
              </a14:hiddenFill>
            </a:ext>
          </a:extLst>
        </p:spPr>
      </p:pic>
      <p:pic>
        <p:nvPicPr>
          <p:cNvPr id="122" name="Picture 6" descr="Image result for cc-link logo">
            <a:extLst>
              <a:ext uri="{FF2B5EF4-FFF2-40B4-BE49-F238E27FC236}">
                <a16:creationId xmlns:a16="http://schemas.microsoft.com/office/drawing/2014/main" id="{E1411DA3-49FE-4246-A8D1-393F54DB1736}"/>
              </a:ext>
            </a:extLst>
          </p:cNvPr>
          <p:cNvPicPr>
            <a:picLocks noChangeAspect="1" noChangeArrowheads="1"/>
          </p:cNvPicPr>
          <p:nvPr/>
        </p:nvPicPr>
        <p:blipFill>
          <a:blip r:embed="rId21" cstate="hqprint">
            <a:extLst>
              <a:ext uri="{28A0092B-C50C-407E-A947-70E740481C1C}">
                <a14:useLocalDpi xmlns:a14="http://schemas.microsoft.com/office/drawing/2010/main"/>
              </a:ext>
            </a:extLst>
          </a:blip>
          <a:srcRect/>
          <a:stretch>
            <a:fillRect/>
          </a:stretch>
        </p:blipFill>
        <p:spPr bwMode="auto">
          <a:xfrm>
            <a:off x="7995526" y="5445779"/>
            <a:ext cx="636987" cy="355964"/>
          </a:xfrm>
          <a:prstGeom prst="rect">
            <a:avLst/>
          </a:prstGeom>
          <a:noFill/>
          <a:extLst>
            <a:ext uri="{909E8E84-426E-40DD-AFC4-6F175D3DCCD1}">
              <a14:hiddenFill xmlns:a14="http://schemas.microsoft.com/office/drawing/2010/main">
                <a:solidFill>
                  <a:srgbClr val="FFFFFF"/>
                </a:solidFill>
              </a14:hiddenFill>
            </a:ext>
          </a:extLst>
        </p:spPr>
      </p:pic>
      <p:pic>
        <p:nvPicPr>
          <p:cNvPr id="123" name="Picture 8" descr="Image result for dali protocol logo">
            <a:extLst>
              <a:ext uri="{FF2B5EF4-FFF2-40B4-BE49-F238E27FC236}">
                <a16:creationId xmlns:a16="http://schemas.microsoft.com/office/drawing/2014/main" id="{4C8134C3-22CA-4F9D-A138-A26ADCEDD04F}"/>
              </a:ext>
            </a:extLst>
          </p:cNvPr>
          <p:cNvPicPr>
            <a:picLocks noChangeAspect="1" noChangeArrowheads="1"/>
          </p:cNvPicPr>
          <p:nvPr/>
        </p:nvPicPr>
        <p:blipFill>
          <a:blip r:embed="rId22" cstate="hqprint">
            <a:extLst>
              <a:ext uri="{28A0092B-C50C-407E-A947-70E740481C1C}">
                <a14:useLocalDpi xmlns:a14="http://schemas.microsoft.com/office/drawing/2010/main"/>
              </a:ext>
            </a:extLst>
          </a:blip>
          <a:srcRect/>
          <a:stretch>
            <a:fillRect/>
          </a:stretch>
        </p:blipFill>
        <p:spPr bwMode="auto">
          <a:xfrm>
            <a:off x="10559341" y="5922391"/>
            <a:ext cx="869506" cy="286937"/>
          </a:xfrm>
          <a:prstGeom prst="rect">
            <a:avLst/>
          </a:prstGeom>
          <a:noFill/>
          <a:extLst>
            <a:ext uri="{909E8E84-426E-40DD-AFC4-6F175D3DCCD1}">
              <a14:hiddenFill xmlns:a14="http://schemas.microsoft.com/office/drawing/2010/main">
                <a:solidFill>
                  <a:srgbClr val="FFFFFF"/>
                </a:solidFill>
              </a14:hiddenFill>
            </a:ext>
          </a:extLst>
        </p:spPr>
      </p:pic>
      <p:pic>
        <p:nvPicPr>
          <p:cNvPr id="124" name="Picture 10" descr="Image result for SMI standard motor interfaceprotocol logo">
            <a:extLst>
              <a:ext uri="{FF2B5EF4-FFF2-40B4-BE49-F238E27FC236}">
                <a16:creationId xmlns:a16="http://schemas.microsoft.com/office/drawing/2014/main" id="{4A15C971-8547-4DE4-81C7-11018D5E55C8}"/>
              </a:ext>
            </a:extLst>
          </p:cNvPr>
          <p:cNvPicPr>
            <a:picLocks noChangeAspect="1" noChangeArrowheads="1"/>
          </p:cNvPicPr>
          <p:nvPr/>
        </p:nvPicPr>
        <p:blipFill>
          <a:blip r:embed="rId23" cstate="hqprint">
            <a:extLst>
              <a:ext uri="{28A0092B-C50C-407E-A947-70E740481C1C}">
                <a14:useLocalDpi xmlns:a14="http://schemas.microsoft.com/office/drawing/2010/main"/>
              </a:ext>
            </a:extLst>
          </a:blip>
          <a:srcRect/>
          <a:stretch>
            <a:fillRect/>
          </a:stretch>
        </p:blipFill>
        <p:spPr bwMode="auto">
          <a:xfrm>
            <a:off x="10707970" y="5466308"/>
            <a:ext cx="567054" cy="339099"/>
          </a:xfrm>
          <a:prstGeom prst="rect">
            <a:avLst/>
          </a:prstGeom>
          <a:noFill/>
          <a:extLst>
            <a:ext uri="{909E8E84-426E-40DD-AFC4-6F175D3DCCD1}">
              <a14:hiddenFill xmlns:a14="http://schemas.microsoft.com/office/drawing/2010/main">
                <a:solidFill>
                  <a:srgbClr val="FFFFFF"/>
                </a:solidFill>
              </a14:hiddenFill>
            </a:ext>
          </a:extLst>
        </p:spPr>
      </p:pic>
      <p:pic>
        <p:nvPicPr>
          <p:cNvPr id="126" name="Picture 12" descr="Related image">
            <a:extLst>
              <a:ext uri="{FF2B5EF4-FFF2-40B4-BE49-F238E27FC236}">
                <a16:creationId xmlns:a16="http://schemas.microsoft.com/office/drawing/2014/main" id="{B1C0A707-F3C9-4332-BBCD-EB0DB617178F}"/>
              </a:ext>
            </a:extLst>
          </p:cNvPr>
          <p:cNvPicPr>
            <a:picLocks noChangeAspect="1" noChangeArrowheads="1"/>
          </p:cNvPicPr>
          <p:nvPr/>
        </p:nvPicPr>
        <p:blipFill rotWithShape="1">
          <a:blip r:embed="rId24" cstate="hqprint">
            <a:extLst>
              <a:ext uri="{28A0092B-C50C-407E-A947-70E740481C1C}">
                <a14:useLocalDpi xmlns:a14="http://schemas.microsoft.com/office/drawing/2010/main"/>
              </a:ext>
            </a:extLst>
          </a:blip>
          <a:srcRect/>
          <a:stretch/>
        </p:blipFill>
        <p:spPr bwMode="auto">
          <a:xfrm>
            <a:off x="623392" y="6052400"/>
            <a:ext cx="1257854" cy="304800"/>
          </a:xfrm>
          <a:prstGeom prst="rect">
            <a:avLst/>
          </a:prstGeom>
          <a:noFill/>
          <a:extLst>
            <a:ext uri="{909E8E84-426E-40DD-AFC4-6F175D3DCCD1}">
              <a14:hiddenFill xmlns:a14="http://schemas.microsoft.com/office/drawing/2010/main">
                <a:solidFill>
                  <a:srgbClr val="FFFFFF"/>
                </a:solidFill>
              </a14:hiddenFill>
            </a:ext>
          </a:extLst>
        </p:spPr>
      </p:pic>
      <p:pic>
        <p:nvPicPr>
          <p:cNvPr id="128" name="Picture 16" descr="Image result for m-bus logo">
            <a:extLst>
              <a:ext uri="{FF2B5EF4-FFF2-40B4-BE49-F238E27FC236}">
                <a16:creationId xmlns:a16="http://schemas.microsoft.com/office/drawing/2014/main" id="{79EC9EAA-4C5F-48E0-83D0-3D6E3DC9742B}"/>
              </a:ext>
            </a:extLst>
          </p:cNvPr>
          <p:cNvPicPr>
            <a:picLocks noChangeAspect="1" noChangeArrowheads="1"/>
          </p:cNvPicPr>
          <p:nvPr/>
        </p:nvPicPr>
        <p:blipFill>
          <a:blip r:embed="rId25" cstate="hqprint">
            <a:extLst>
              <a:ext uri="{28A0092B-C50C-407E-A947-70E740481C1C}">
                <a14:useLocalDpi xmlns:a14="http://schemas.microsoft.com/office/drawing/2010/main"/>
              </a:ext>
            </a:extLst>
          </a:blip>
          <a:srcRect/>
          <a:stretch>
            <a:fillRect/>
          </a:stretch>
        </p:blipFill>
        <p:spPr bwMode="auto">
          <a:xfrm>
            <a:off x="9073951" y="6404118"/>
            <a:ext cx="592636" cy="185039"/>
          </a:xfrm>
          <a:prstGeom prst="rect">
            <a:avLst/>
          </a:prstGeom>
          <a:noFill/>
          <a:extLst>
            <a:ext uri="{909E8E84-426E-40DD-AFC4-6F175D3DCCD1}">
              <a14:hiddenFill xmlns:a14="http://schemas.microsoft.com/office/drawing/2010/main">
                <a:solidFill>
                  <a:srgbClr val="FFFFFF"/>
                </a:solidFill>
              </a14:hiddenFill>
            </a:ext>
          </a:extLst>
        </p:spPr>
      </p:pic>
      <p:pic>
        <p:nvPicPr>
          <p:cNvPr id="130" name="Picture 18" descr="Image result for profibus logo">
            <a:extLst>
              <a:ext uri="{FF2B5EF4-FFF2-40B4-BE49-F238E27FC236}">
                <a16:creationId xmlns:a16="http://schemas.microsoft.com/office/drawing/2014/main" id="{87AA52EB-4937-4616-B68E-5C02F75C14C8}"/>
              </a:ext>
            </a:extLst>
          </p:cNvPr>
          <p:cNvPicPr>
            <a:picLocks noChangeAspect="1" noChangeArrowheads="1"/>
          </p:cNvPicPr>
          <p:nvPr/>
        </p:nvPicPr>
        <p:blipFill>
          <a:blip r:embed="rId26" cstate="hqprint">
            <a:extLst>
              <a:ext uri="{28A0092B-C50C-407E-A947-70E740481C1C}">
                <a14:useLocalDpi xmlns:a14="http://schemas.microsoft.com/office/drawing/2010/main"/>
              </a:ext>
            </a:extLst>
          </a:blip>
          <a:srcRect/>
          <a:stretch>
            <a:fillRect/>
          </a:stretch>
        </p:blipFill>
        <p:spPr bwMode="auto">
          <a:xfrm>
            <a:off x="2137640" y="6196416"/>
            <a:ext cx="939237" cy="496886"/>
          </a:xfrm>
          <a:prstGeom prst="rect">
            <a:avLst/>
          </a:prstGeom>
          <a:noFill/>
          <a:extLst>
            <a:ext uri="{909E8E84-426E-40DD-AFC4-6F175D3DCCD1}">
              <a14:hiddenFill xmlns:a14="http://schemas.microsoft.com/office/drawing/2010/main">
                <a:solidFill>
                  <a:srgbClr val="FFFFFF"/>
                </a:solidFill>
              </a14:hiddenFill>
            </a:ext>
          </a:extLst>
        </p:spPr>
      </p:pic>
      <p:pic>
        <p:nvPicPr>
          <p:cNvPr id="131" name="Picture 20" descr="Image result for interbus logo">
            <a:extLst>
              <a:ext uri="{FF2B5EF4-FFF2-40B4-BE49-F238E27FC236}">
                <a16:creationId xmlns:a16="http://schemas.microsoft.com/office/drawing/2014/main" id="{5D76A621-0793-42DF-90ED-2B28FE39D004}"/>
              </a:ext>
            </a:extLst>
          </p:cNvPr>
          <p:cNvPicPr>
            <a:picLocks noChangeAspect="1" noChangeArrowheads="1"/>
          </p:cNvPicPr>
          <p:nvPr/>
        </p:nvPicPr>
        <p:blipFill>
          <a:blip r:embed="rId27" cstate="hqprint">
            <a:extLst>
              <a:ext uri="{28A0092B-C50C-407E-A947-70E740481C1C}">
                <a14:useLocalDpi xmlns:a14="http://schemas.microsoft.com/office/drawing/2010/main"/>
              </a:ext>
            </a:extLst>
          </a:blip>
          <a:srcRect/>
          <a:stretch>
            <a:fillRect/>
          </a:stretch>
        </p:blipFill>
        <p:spPr bwMode="auto">
          <a:xfrm>
            <a:off x="8102373" y="6225299"/>
            <a:ext cx="493660" cy="493660"/>
          </a:xfrm>
          <a:prstGeom prst="rect">
            <a:avLst/>
          </a:prstGeom>
          <a:noFill/>
          <a:extLst>
            <a:ext uri="{909E8E84-426E-40DD-AFC4-6F175D3DCCD1}">
              <a14:hiddenFill xmlns:a14="http://schemas.microsoft.com/office/drawing/2010/main">
                <a:solidFill>
                  <a:srgbClr val="FFFFFF"/>
                </a:solidFill>
              </a14:hiddenFill>
            </a:ext>
          </a:extLst>
        </p:spPr>
      </p:pic>
      <p:pic>
        <p:nvPicPr>
          <p:cNvPr id="132" name="Picture 22" descr="Related image">
            <a:extLst>
              <a:ext uri="{FF2B5EF4-FFF2-40B4-BE49-F238E27FC236}">
                <a16:creationId xmlns:a16="http://schemas.microsoft.com/office/drawing/2014/main" id="{F527A5D1-EAF9-4A0A-8A87-6EE4F26743A1}"/>
              </a:ext>
            </a:extLst>
          </p:cNvPr>
          <p:cNvPicPr>
            <a:picLocks noChangeAspect="1" noChangeArrowheads="1"/>
          </p:cNvPicPr>
          <p:nvPr/>
        </p:nvPicPr>
        <p:blipFill rotWithShape="1">
          <a:blip r:embed="rId28" cstate="hqprint">
            <a:extLst>
              <a:ext uri="{BEBA8EAE-BF5A-486C-A8C5-ECC9F3942E4B}">
                <a14:imgProps xmlns:a14="http://schemas.microsoft.com/office/drawing/2010/main">
                  <a14:imgLayer r:embed="rId29">
                    <a14:imgEffect>
                      <a14:brightnessContrast bright="-40000" contrast="20000"/>
                    </a14:imgEffect>
                  </a14:imgLayer>
                </a14:imgProps>
              </a:ext>
              <a:ext uri="{28A0092B-C50C-407E-A947-70E740481C1C}">
                <a14:useLocalDpi xmlns:a14="http://schemas.microsoft.com/office/drawing/2010/main"/>
              </a:ext>
            </a:extLst>
          </a:blip>
          <a:srcRect/>
          <a:stretch/>
        </p:blipFill>
        <p:spPr bwMode="auto">
          <a:xfrm>
            <a:off x="8892213" y="5433039"/>
            <a:ext cx="1401365" cy="392836"/>
          </a:xfrm>
          <a:prstGeom prst="rect">
            <a:avLst/>
          </a:prstGeom>
          <a:noFill/>
          <a:extLst>
            <a:ext uri="{909E8E84-426E-40DD-AFC4-6F175D3DCCD1}">
              <a14:hiddenFill xmlns:a14="http://schemas.microsoft.com/office/drawing/2010/main">
                <a:solidFill>
                  <a:srgbClr val="FFFFFF"/>
                </a:solidFill>
              </a14:hiddenFill>
            </a:ext>
          </a:extLst>
        </p:spPr>
      </p:pic>
      <p:pic>
        <p:nvPicPr>
          <p:cNvPr id="133" name="Picture 24" descr="Related image">
            <a:extLst>
              <a:ext uri="{FF2B5EF4-FFF2-40B4-BE49-F238E27FC236}">
                <a16:creationId xmlns:a16="http://schemas.microsoft.com/office/drawing/2014/main" id="{DCD22927-47D3-4DA1-A4CD-2303316283A6}"/>
              </a:ext>
            </a:extLst>
          </p:cNvPr>
          <p:cNvPicPr>
            <a:picLocks noChangeAspect="1" noChangeArrowheads="1"/>
          </p:cNvPicPr>
          <p:nvPr/>
        </p:nvPicPr>
        <p:blipFill rotWithShape="1">
          <a:blip r:embed="rId30" cstate="hqprint">
            <a:extLst>
              <a:ext uri="{28A0092B-C50C-407E-A947-70E740481C1C}">
                <a14:useLocalDpi xmlns:a14="http://schemas.microsoft.com/office/drawing/2010/main"/>
              </a:ext>
            </a:extLst>
          </a:blip>
          <a:srcRect t="25598" b="32296"/>
          <a:stretch/>
        </p:blipFill>
        <p:spPr bwMode="auto">
          <a:xfrm>
            <a:off x="10756005" y="6387371"/>
            <a:ext cx="519019" cy="218534"/>
          </a:xfrm>
          <a:prstGeom prst="rect">
            <a:avLst/>
          </a:prstGeom>
          <a:noFill/>
          <a:extLst>
            <a:ext uri="{909E8E84-426E-40DD-AFC4-6F175D3DCCD1}">
              <a14:hiddenFill xmlns:a14="http://schemas.microsoft.com/office/drawing/2010/main">
                <a:solidFill>
                  <a:srgbClr val="FFFFFF"/>
                </a:solidFill>
              </a14:hiddenFill>
            </a:ext>
          </a:extLst>
        </p:spPr>
      </p:pic>
      <p:pic>
        <p:nvPicPr>
          <p:cNvPr id="134" name="Picture 133">
            <a:extLst>
              <a:ext uri="{FF2B5EF4-FFF2-40B4-BE49-F238E27FC236}">
                <a16:creationId xmlns:a16="http://schemas.microsoft.com/office/drawing/2014/main" id="{257E2708-8683-4773-B7AF-AF55BC0A12D5}"/>
              </a:ext>
            </a:extLst>
          </p:cNvPr>
          <p:cNvPicPr>
            <a:picLocks noChangeAspect="1"/>
          </p:cNvPicPr>
          <p:nvPr/>
        </p:nvPicPr>
        <p:blipFill>
          <a:blip r:embed="rId31">
            <a:clrChange>
              <a:clrFrom>
                <a:srgbClr val="BCD5E0"/>
              </a:clrFrom>
              <a:clrTo>
                <a:srgbClr val="BCD5E0">
                  <a:alpha val="0"/>
                </a:srgbClr>
              </a:clrTo>
            </a:clrChange>
            <a:biLevel thresh="75000"/>
          </a:blip>
          <a:stretch>
            <a:fillRect/>
          </a:stretch>
        </p:blipFill>
        <p:spPr>
          <a:xfrm>
            <a:off x="622742" y="6399974"/>
            <a:ext cx="1275939" cy="318985"/>
          </a:xfrm>
          <a:prstGeom prst="rect">
            <a:avLst/>
          </a:prstGeom>
        </p:spPr>
      </p:pic>
      <p:pic>
        <p:nvPicPr>
          <p:cNvPr id="135" name="Picture 26" descr="Image result for bacnet logo">
            <a:extLst>
              <a:ext uri="{FF2B5EF4-FFF2-40B4-BE49-F238E27FC236}">
                <a16:creationId xmlns:a16="http://schemas.microsoft.com/office/drawing/2014/main" id="{6F7E18C2-426F-42B8-961F-7789BBD7481E}"/>
              </a:ext>
            </a:extLst>
          </p:cNvPr>
          <p:cNvPicPr>
            <a:picLocks noChangeAspect="1" noChangeArrowheads="1"/>
          </p:cNvPicPr>
          <p:nvPr/>
        </p:nvPicPr>
        <p:blipFill>
          <a:blip r:embed="rId32" cstate="hqprint">
            <a:extLst>
              <a:ext uri="{BEBA8EAE-BF5A-486C-A8C5-ECC9F3942E4B}">
                <a14:imgProps xmlns:a14="http://schemas.microsoft.com/office/drawing/2010/main">
                  <a14:imgLayer r:embed="rId33">
                    <a14:imgEffect>
                      <a14:brightnessContrast bright="-40000" contrast="-20000"/>
                    </a14:imgEffect>
                  </a14:imgLayer>
                </a14:imgProps>
              </a:ext>
              <a:ext uri="{28A0092B-C50C-407E-A947-70E740481C1C}">
                <a14:useLocalDpi xmlns:a14="http://schemas.microsoft.com/office/drawing/2010/main"/>
              </a:ext>
            </a:extLst>
          </a:blip>
          <a:srcRect/>
          <a:stretch>
            <a:fillRect/>
          </a:stretch>
        </p:blipFill>
        <p:spPr bwMode="auto">
          <a:xfrm>
            <a:off x="9214277" y="5953150"/>
            <a:ext cx="1060219" cy="215700"/>
          </a:xfrm>
          <a:prstGeom prst="rect">
            <a:avLst/>
          </a:prstGeom>
          <a:noFill/>
          <a:extLst>
            <a:ext uri="{909E8E84-426E-40DD-AFC4-6F175D3DCCD1}">
              <a14:hiddenFill xmlns:a14="http://schemas.microsoft.com/office/drawing/2010/main">
                <a:solidFill>
                  <a:srgbClr val="FFFFFF"/>
                </a:solidFill>
              </a14:hiddenFill>
            </a:ext>
          </a:extLst>
        </p:spPr>
      </p:pic>
      <p:pic>
        <p:nvPicPr>
          <p:cNvPr id="138" name="Picture 32" descr="Image result for modbus logo">
            <a:extLst>
              <a:ext uri="{FF2B5EF4-FFF2-40B4-BE49-F238E27FC236}">
                <a16:creationId xmlns:a16="http://schemas.microsoft.com/office/drawing/2014/main" id="{9427A916-0FB4-4588-ABD9-820A5824BA35}"/>
              </a:ext>
            </a:extLst>
          </p:cNvPr>
          <p:cNvPicPr>
            <a:picLocks noChangeAspect="1" noChangeArrowheads="1"/>
          </p:cNvPicPr>
          <p:nvPr/>
        </p:nvPicPr>
        <p:blipFill>
          <a:blip r:embed="rId34" cstate="hqprint">
            <a:extLst>
              <a:ext uri="{28A0092B-C50C-407E-A947-70E740481C1C}">
                <a14:useLocalDpi xmlns:a14="http://schemas.microsoft.com/office/drawing/2010/main"/>
              </a:ext>
            </a:extLst>
          </a:blip>
          <a:srcRect/>
          <a:stretch>
            <a:fillRect/>
          </a:stretch>
        </p:blipFill>
        <p:spPr bwMode="auto">
          <a:xfrm>
            <a:off x="3214594" y="6340432"/>
            <a:ext cx="1045677" cy="332901"/>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34" descr="Image result for ENOCEANp logo">
            <a:extLst>
              <a:ext uri="{FF2B5EF4-FFF2-40B4-BE49-F238E27FC236}">
                <a16:creationId xmlns:a16="http://schemas.microsoft.com/office/drawing/2014/main" id="{C1409691-9EDE-4CF8-8EB3-04F6FED3004D}"/>
              </a:ext>
            </a:extLst>
          </p:cNvPr>
          <p:cNvPicPr>
            <a:picLocks noChangeAspect="1" noChangeArrowheads="1"/>
          </p:cNvPicPr>
          <p:nvPr/>
        </p:nvPicPr>
        <p:blipFill>
          <a:blip r:embed="rId35" cstate="hqprint">
            <a:extLst>
              <a:ext uri="{28A0092B-C50C-407E-A947-70E740481C1C}">
                <a14:useLocalDpi xmlns:a14="http://schemas.microsoft.com/office/drawing/2010/main"/>
              </a:ext>
            </a:extLst>
          </a:blip>
          <a:srcRect/>
          <a:stretch>
            <a:fillRect/>
          </a:stretch>
        </p:blipFill>
        <p:spPr bwMode="auto">
          <a:xfrm>
            <a:off x="8072937" y="5910332"/>
            <a:ext cx="727960" cy="284185"/>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40" descr="Image result for as-interface logo">
            <a:extLst>
              <a:ext uri="{FF2B5EF4-FFF2-40B4-BE49-F238E27FC236}">
                <a16:creationId xmlns:a16="http://schemas.microsoft.com/office/drawing/2014/main" id="{5020F6B7-5F92-4769-93BE-483F8AEA21B7}"/>
              </a:ext>
            </a:extLst>
          </p:cNvPr>
          <p:cNvPicPr>
            <a:picLocks noChangeAspect="1" noChangeArrowheads="1"/>
          </p:cNvPicPr>
          <p:nvPr/>
        </p:nvPicPr>
        <p:blipFill>
          <a:blip r:embed="rId36" cstate="hqprint">
            <a:extLst>
              <a:ext uri="{BEBA8EAE-BF5A-486C-A8C5-ECC9F3942E4B}">
                <a14:imgProps xmlns:a14="http://schemas.microsoft.com/office/drawing/2010/main">
                  <a14:imgLayer r:embed="rId37">
                    <a14:imgEffect>
                      <a14:brightnessContrast bright="-61000" contrast="-40000"/>
                    </a14:imgEffect>
                  </a14:imgLayer>
                </a14:imgProps>
              </a:ext>
              <a:ext uri="{28A0092B-C50C-407E-A947-70E740481C1C}">
                <a14:useLocalDpi xmlns:a14="http://schemas.microsoft.com/office/drawing/2010/main"/>
              </a:ext>
            </a:extLst>
          </a:blip>
          <a:srcRect/>
          <a:stretch>
            <a:fillRect/>
          </a:stretch>
        </p:blipFill>
        <p:spPr bwMode="auto">
          <a:xfrm>
            <a:off x="3334758" y="5422018"/>
            <a:ext cx="679237" cy="374912"/>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42" descr="Image result for io-link logo">
            <a:extLst>
              <a:ext uri="{FF2B5EF4-FFF2-40B4-BE49-F238E27FC236}">
                <a16:creationId xmlns:a16="http://schemas.microsoft.com/office/drawing/2014/main" id="{EFFF811F-8893-45B4-A9C7-DCB2DCCFC61C}"/>
              </a:ext>
            </a:extLst>
          </p:cNvPr>
          <p:cNvPicPr>
            <a:picLocks noChangeAspect="1" noChangeArrowheads="1"/>
          </p:cNvPicPr>
          <p:nvPr/>
        </p:nvPicPr>
        <p:blipFill rotWithShape="1">
          <a:blip r:embed="rId38" cstate="hqprint">
            <a:extLst>
              <a:ext uri="{28A0092B-C50C-407E-A947-70E740481C1C}">
                <a14:useLocalDpi xmlns:a14="http://schemas.microsoft.com/office/drawing/2010/main"/>
              </a:ext>
            </a:extLst>
          </a:blip>
          <a:srcRect/>
          <a:stretch/>
        </p:blipFill>
        <p:spPr bwMode="auto">
          <a:xfrm>
            <a:off x="3208222" y="5962367"/>
            <a:ext cx="1053972" cy="243585"/>
          </a:xfrm>
          <a:prstGeom prst="rect">
            <a:avLst/>
          </a:prstGeom>
          <a:noFill/>
          <a:extLst>
            <a:ext uri="{909E8E84-426E-40DD-AFC4-6F175D3DCCD1}">
              <a14:hiddenFill xmlns:a14="http://schemas.microsoft.com/office/drawing/2010/main">
                <a:solidFill>
                  <a:srgbClr val="FFFFFF"/>
                </a:solidFill>
              </a14:hiddenFill>
            </a:ext>
          </a:extLst>
        </p:spPr>
      </p:pic>
      <p:pic>
        <p:nvPicPr>
          <p:cNvPr id="148" name="Picture 2" descr="Image result for opc ua">
            <a:extLst>
              <a:ext uri="{FF2B5EF4-FFF2-40B4-BE49-F238E27FC236}">
                <a16:creationId xmlns:a16="http://schemas.microsoft.com/office/drawing/2014/main" id="{3BECB3A7-322B-43E3-9C8E-DA8C4377CF73}"/>
              </a:ext>
            </a:extLst>
          </p:cNvPr>
          <p:cNvPicPr>
            <a:picLocks noChangeAspect="1" noChangeArrowheads="1"/>
          </p:cNvPicPr>
          <p:nvPr/>
        </p:nvPicPr>
        <p:blipFill>
          <a:blip r:embed="rId39" cstate="hqprint">
            <a:extLst>
              <a:ext uri="{28A0092B-C50C-407E-A947-70E740481C1C}">
                <a14:useLocalDpi xmlns:a14="http://schemas.microsoft.com/office/drawing/2010/main"/>
              </a:ext>
            </a:extLst>
          </a:blip>
          <a:srcRect/>
          <a:stretch>
            <a:fillRect/>
          </a:stretch>
        </p:blipFill>
        <p:spPr bwMode="auto">
          <a:xfrm>
            <a:off x="5505553" y="2880599"/>
            <a:ext cx="830304" cy="1536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18822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2" y="1090799"/>
            <a:ext cx="7844832" cy="5331600"/>
          </a:xfrm>
        </p:spPr>
        <p:txBody>
          <a:bodyPr vert="horz" lIns="450000" tIns="190800" rIns="91440" bIns="45720" rtlCol="0">
            <a:noAutofit/>
          </a:bodyPr>
          <a:lstStyle/>
          <a:p>
            <a:r>
              <a:rPr lang="de-DE" sz="2000" dirty="0"/>
              <a:t>Easy </a:t>
            </a:r>
            <a:r>
              <a:rPr lang="de-DE" sz="2000" dirty="0" err="1"/>
              <a:t>integration</a:t>
            </a:r>
            <a:r>
              <a:rPr lang="de-DE" sz="2000" dirty="0"/>
              <a:t> </a:t>
            </a:r>
            <a:r>
              <a:rPr lang="de-DE" sz="2000" dirty="0" err="1"/>
              <a:t>of</a:t>
            </a:r>
            <a:r>
              <a:rPr lang="de-DE" sz="2000" dirty="0"/>
              <a:t> IoT </a:t>
            </a:r>
            <a:r>
              <a:rPr lang="de-DE" sz="2000" dirty="0" err="1"/>
              <a:t>communication</a:t>
            </a:r>
            <a:r>
              <a:rPr lang="de-DE" sz="2000" dirty="0"/>
              <a:t> </a:t>
            </a:r>
            <a:r>
              <a:rPr lang="de-DE" sz="2000" dirty="0" err="1"/>
              <a:t>protocols</a:t>
            </a:r>
            <a:endParaRPr lang="de-DE" sz="2000" dirty="0"/>
          </a:p>
          <a:p>
            <a:r>
              <a:rPr lang="de-DE" sz="2000" dirty="0"/>
              <a:t>Multiple </a:t>
            </a:r>
            <a:r>
              <a:rPr lang="de-DE" sz="2000" dirty="0" err="1"/>
              <a:t>protocols</a:t>
            </a:r>
            <a:r>
              <a:rPr lang="de-DE" sz="2000" dirty="0"/>
              <a:t> </a:t>
            </a:r>
            <a:r>
              <a:rPr lang="de-DE" sz="2000" dirty="0" err="1"/>
              <a:t>available</a:t>
            </a:r>
            <a:r>
              <a:rPr lang="de-DE" sz="2000" dirty="0"/>
              <a:t>: MQTT, HTTPS, OPC UA Pub/Sub, </a:t>
            </a:r>
            <a:r>
              <a:rPr lang="de-DE" sz="2000" dirty="0" err="1"/>
              <a:t>WebSockets</a:t>
            </a:r>
            <a:r>
              <a:rPr lang="de-DE" sz="2000" dirty="0"/>
              <a:t>, OCPP</a:t>
            </a:r>
          </a:p>
          <a:p>
            <a:r>
              <a:rPr lang="de-DE" sz="2000" dirty="0"/>
              <a:t>Smartphone App </a:t>
            </a:r>
            <a:r>
              <a:rPr lang="de-DE" sz="2000" dirty="0" err="1"/>
              <a:t>available</a:t>
            </a:r>
            <a:r>
              <a:rPr lang="de-DE" sz="2000" dirty="0"/>
              <a:t> </a:t>
            </a:r>
            <a:r>
              <a:rPr lang="de-DE" sz="2000" dirty="0" err="1"/>
              <a:t>for</a:t>
            </a:r>
            <a:r>
              <a:rPr lang="de-DE" sz="2000" dirty="0"/>
              <a:t> Android and iOS</a:t>
            </a:r>
          </a:p>
        </p:txBody>
      </p:sp>
      <p:sp>
        <p:nvSpPr>
          <p:cNvPr id="21" name="Freihandform 24"/>
          <p:cNvSpPr>
            <a:spLocks noChangeAspect="1"/>
          </p:cNvSpPr>
          <p:nvPr/>
        </p:nvSpPr>
        <p:spPr>
          <a:xfrm>
            <a:off x="8061503" y="1193610"/>
            <a:ext cx="4046882" cy="2089189"/>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bg1">
                <a:lumMod val="8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2200" b="0" i="0" u="none" strike="noStrike" kern="1200" cap="none" spc="0" normalizeH="0" baseline="0" noProof="0" dirty="0">
              <a:ln>
                <a:solidFill>
                  <a:prstClr val="white">
                    <a:lumMod val="75000"/>
                  </a:prstClr>
                </a:solidFill>
              </a:ln>
              <a:solidFill>
                <a:prstClr val="white"/>
              </a:solidFill>
              <a:effectLst/>
              <a:uLnTx/>
              <a:uFillTx/>
              <a:latin typeface="Arial" pitchFamily="34" charset="0"/>
              <a:ea typeface="+mn-ea"/>
              <a:cs typeface="Arial" pitchFamily="34" charset="0"/>
            </a:endParaRPr>
          </a:p>
        </p:txBody>
      </p:sp>
      <p:sp>
        <p:nvSpPr>
          <p:cNvPr id="4" name="Title 3"/>
          <p:cNvSpPr>
            <a:spLocks noGrp="1"/>
          </p:cNvSpPr>
          <p:nvPr>
            <p:ph type="title"/>
          </p:nvPr>
        </p:nvSpPr>
        <p:spPr/>
        <p:txBody>
          <a:bodyPr/>
          <a:lstStyle/>
          <a:p>
            <a:r>
              <a:rPr lang="de-DE"/>
              <a:t>TwinCAT IoT product overview</a:t>
            </a:r>
            <a:endParaRPr lang="de-DE" dirty="0"/>
          </a:p>
        </p:txBody>
      </p:sp>
      <p:pic>
        <p:nvPicPr>
          <p:cNvPr id="5" name="Grafik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68208" y="3895142"/>
            <a:ext cx="4127463" cy="2824119"/>
          </a:xfrm>
          <a:prstGeom prst="rect">
            <a:avLst/>
          </a:prstGeom>
        </p:spPr>
      </p:pic>
      <p:sp>
        <p:nvSpPr>
          <p:cNvPr id="2" name="Slide Number Placeholder 1"/>
          <p:cNvSpPr>
            <a:spLocks noGrp="1"/>
          </p:cNvSpPr>
          <p:nvPr>
            <p:ph type="sldNum" sz="quarter" idx="4"/>
          </p:nvPr>
        </p:nvSpPr>
        <p:spPr bwMode="gray">
          <a:xfrm>
            <a:off x="98616" y="6551941"/>
            <a:ext cx="765208" cy="441325"/>
          </a:xfrm>
          <a:prstGeom prst="rect">
            <a:avLst/>
          </a:prstGeom>
        </p:spPr>
        <p:txBody>
          <a:bodyPr vert="horz" lIns="234000" tIns="45720" rIns="3600" bIns="45720" rtlCol="0" anchor="ctr"/>
          <a:lstStyle>
            <a:defPPr>
              <a:defRPr lang="de-DE"/>
            </a:defPPr>
            <a:lvl1pPr marL="0" algn="l" defTabSz="914400" rtl="0" eaLnBrk="1" latinLnBrk="0" hangingPunct="1">
              <a:defRPr sz="1100" kern="1200">
                <a:solidFill>
                  <a:schemeClr val="accent1"/>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A930EF64-91C9-4EBD-82F9-3643AB15A28C}" type="slidenum">
              <a:rPr kumimoji="0" lang="de-DE" sz="1100" b="0" i="0" u="none" strike="noStrike" kern="1200" cap="none" spc="0" normalizeH="0" baseline="0" noProof="0" smtClean="0">
                <a:ln>
                  <a:noFill/>
                </a:ln>
                <a:solidFill>
                  <a:srgbClr val="B3BCC8"/>
                </a:solidFill>
                <a:effectLst/>
                <a:uLnTx/>
                <a:uFillTx/>
                <a:latin typeface="Arial" pitchFamily="34" charset="0"/>
                <a:ea typeface="+mn-ea"/>
                <a:cs typeface="Arial"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de-DE" sz="1100" b="0" i="0" u="none" strike="noStrike" kern="1200" cap="none" spc="0" normalizeH="0" baseline="0" noProof="0">
              <a:ln>
                <a:noFill/>
              </a:ln>
              <a:solidFill>
                <a:srgbClr val="B3BCC8"/>
              </a:solidFill>
              <a:effectLst/>
              <a:uLnTx/>
              <a:uFillTx/>
              <a:latin typeface="Arial" pitchFamily="34" charset="0"/>
              <a:ea typeface="+mn-ea"/>
              <a:cs typeface="Arial" pitchFamily="34" charset="0"/>
            </a:endParaRPr>
          </a:p>
        </p:txBody>
      </p:sp>
      <p:cxnSp>
        <p:nvCxnSpPr>
          <p:cNvPr id="30" name="Straight Arrow Connector 41"/>
          <p:cNvCxnSpPr/>
          <p:nvPr/>
        </p:nvCxnSpPr>
        <p:spPr>
          <a:xfrm flipV="1">
            <a:off x="8522006" y="3394111"/>
            <a:ext cx="0" cy="1002062"/>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41"/>
          <p:cNvCxnSpPr/>
          <p:nvPr/>
        </p:nvCxnSpPr>
        <p:spPr>
          <a:xfrm flipV="1">
            <a:off x="11042286" y="3394111"/>
            <a:ext cx="0" cy="1111588"/>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41"/>
          <p:cNvCxnSpPr/>
          <p:nvPr/>
        </p:nvCxnSpPr>
        <p:spPr>
          <a:xfrm flipV="1">
            <a:off x="10019091" y="3394111"/>
            <a:ext cx="0" cy="1665350"/>
          </a:xfrm>
          <a:prstGeom prst="straightConnector1">
            <a:avLst/>
          </a:prstGeom>
          <a:ln w="38100">
            <a:solidFill>
              <a:srgbClr val="EF0000"/>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54F8CD7C-CD52-6816-8330-E1E629751ECC}"/>
              </a:ext>
            </a:extLst>
          </p:cNvPr>
          <p:cNvGrpSpPr/>
          <p:nvPr/>
        </p:nvGrpSpPr>
        <p:grpSpPr>
          <a:xfrm>
            <a:off x="654937" y="2952091"/>
            <a:ext cx="1614367" cy="1513695"/>
            <a:chOff x="401584" y="2819401"/>
            <a:chExt cx="1614367" cy="1513695"/>
          </a:xfrm>
          <a:solidFill>
            <a:srgbClr val="86405C"/>
          </a:solidFill>
        </p:grpSpPr>
        <p:sp>
          <p:nvSpPr>
            <p:cNvPr id="14" name="Abgerundetes Rechteck 14">
              <a:extLst>
                <a:ext uri="{FF2B5EF4-FFF2-40B4-BE49-F238E27FC236}">
                  <a16:creationId xmlns:a16="http://schemas.microsoft.com/office/drawing/2014/main" id="{7F7C9616-B28F-43EA-B543-D31BF36AB409}"/>
                </a:ext>
              </a:extLst>
            </p:cNvPr>
            <p:cNvSpPr/>
            <p:nvPr/>
          </p:nvSpPr>
          <p:spPr>
            <a:xfrm>
              <a:off x="401584" y="2819401"/>
              <a:ext cx="1614367"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TF6701 IoT Communication</a:t>
              </a:r>
            </a:p>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MQTT client connectivity</a:t>
              </a:r>
            </a:p>
            <a:p>
              <a:pPr marL="0" marR="0" lvl="0" indent="0" algn="ctr"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6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8" name="Picture 7">
              <a:extLst>
                <a:ext uri="{FF2B5EF4-FFF2-40B4-BE49-F238E27FC236}">
                  <a16:creationId xmlns:a16="http://schemas.microsoft.com/office/drawing/2014/main" id="{6D412C48-B7C3-466C-8157-2D7980071D92}"/>
                </a:ext>
              </a:extLst>
            </p:cNvPr>
            <p:cNvPicPr>
              <a:picLocks noChangeAspect="1"/>
            </p:cNvPicPr>
            <p:nvPr/>
          </p:nvPicPr>
          <p:blipFill>
            <a:blip r:embed="rId3"/>
            <a:stretch>
              <a:fillRect/>
            </a:stretch>
          </p:blipFill>
          <p:spPr>
            <a:xfrm>
              <a:off x="457243" y="3436827"/>
              <a:ext cx="1449402" cy="493337"/>
            </a:xfrm>
            <a:prstGeom prst="rect">
              <a:avLst/>
            </a:prstGeom>
            <a:grpFill/>
          </p:spPr>
        </p:pic>
      </p:grpSp>
      <p:grpSp>
        <p:nvGrpSpPr>
          <p:cNvPr id="22" name="Group 21">
            <a:extLst>
              <a:ext uri="{FF2B5EF4-FFF2-40B4-BE49-F238E27FC236}">
                <a16:creationId xmlns:a16="http://schemas.microsoft.com/office/drawing/2014/main" id="{4B0CF9CC-64F8-5B22-AD4A-5D6D83A509B2}"/>
              </a:ext>
            </a:extLst>
          </p:cNvPr>
          <p:cNvGrpSpPr/>
          <p:nvPr/>
        </p:nvGrpSpPr>
        <p:grpSpPr>
          <a:xfrm>
            <a:off x="2433693" y="2952091"/>
            <a:ext cx="1618488" cy="1513695"/>
            <a:chOff x="2369190" y="2819401"/>
            <a:chExt cx="1618488" cy="1513695"/>
          </a:xfrm>
          <a:solidFill>
            <a:srgbClr val="86405C"/>
          </a:solidFill>
        </p:grpSpPr>
        <p:sp>
          <p:nvSpPr>
            <p:cNvPr id="29" name="Abgerundetes Rechteck 14">
              <a:extLst>
                <a:ext uri="{FF2B5EF4-FFF2-40B4-BE49-F238E27FC236}">
                  <a16:creationId xmlns:a16="http://schemas.microsoft.com/office/drawing/2014/main" id="{00527B59-0D83-4A20-9DF5-6665E6B8FAAB}"/>
                </a:ext>
              </a:extLst>
            </p:cNvPr>
            <p:cNvSpPr/>
            <p:nvPr/>
          </p:nvSpPr>
          <p:spPr>
            <a:xfrm>
              <a:off x="2369190" y="2819401"/>
              <a:ext cx="1618488"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TF6720 IoT Data Agent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IoT gateway application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Standalone tool</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33" name="Grafik 50">
              <a:extLst>
                <a:ext uri="{FF2B5EF4-FFF2-40B4-BE49-F238E27FC236}">
                  <a16:creationId xmlns:a16="http://schemas.microsoft.com/office/drawing/2014/main" id="{CEAC930A-B148-4331-B72E-6B01115F8E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4361" y="3426396"/>
              <a:ext cx="1317549" cy="713672"/>
            </a:xfrm>
            <a:prstGeom prst="rect">
              <a:avLst/>
            </a:prstGeom>
            <a:grpFill/>
            <a:effectLst/>
          </p:spPr>
        </p:pic>
      </p:grpSp>
      <p:grpSp>
        <p:nvGrpSpPr>
          <p:cNvPr id="23" name="Group 22">
            <a:extLst>
              <a:ext uri="{FF2B5EF4-FFF2-40B4-BE49-F238E27FC236}">
                <a16:creationId xmlns:a16="http://schemas.microsoft.com/office/drawing/2014/main" id="{EFDDC91B-801B-1D6F-BD25-A627277E9AC0}"/>
              </a:ext>
            </a:extLst>
          </p:cNvPr>
          <p:cNvGrpSpPr/>
          <p:nvPr/>
        </p:nvGrpSpPr>
        <p:grpSpPr>
          <a:xfrm>
            <a:off x="4212419" y="2952091"/>
            <a:ext cx="1618488" cy="1513695"/>
            <a:chOff x="4032176" y="2819401"/>
            <a:chExt cx="1618488" cy="1513695"/>
          </a:xfrm>
          <a:solidFill>
            <a:srgbClr val="86405C"/>
          </a:solidFill>
        </p:grpSpPr>
        <p:sp>
          <p:nvSpPr>
            <p:cNvPr id="34" name="Abgerundetes Rechteck 14">
              <a:extLst>
                <a:ext uri="{FF2B5EF4-FFF2-40B4-BE49-F238E27FC236}">
                  <a16:creationId xmlns:a16="http://schemas.microsoft.com/office/drawing/2014/main" id="{275B3868-F666-4A94-B1F8-816C4C37EAF2}"/>
                </a:ext>
              </a:extLst>
            </p:cNvPr>
            <p:cNvSpPr/>
            <p:nvPr/>
          </p:nvSpPr>
          <p:spPr>
            <a:xfrm>
              <a:off x="4032176" y="2819401"/>
              <a:ext cx="1618488" cy="1513695"/>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TF6710 IoT Functions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Data Agent access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12" name="Picture 11">
              <a:extLst>
                <a:ext uri="{FF2B5EF4-FFF2-40B4-BE49-F238E27FC236}">
                  <a16:creationId xmlns:a16="http://schemas.microsoft.com/office/drawing/2014/main" id="{93087257-7230-4B24-9A65-0ED07F8C1EF2}"/>
                </a:ext>
              </a:extLst>
            </p:cNvPr>
            <p:cNvPicPr>
              <a:picLocks noChangeAspect="1"/>
            </p:cNvPicPr>
            <p:nvPr/>
          </p:nvPicPr>
          <p:blipFill>
            <a:blip r:embed="rId5"/>
            <a:stretch>
              <a:fillRect/>
            </a:stretch>
          </p:blipFill>
          <p:spPr>
            <a:xfrm>
              <a:off x="4147633" y="3428367"/>
              <a:ext cx="1405936" cy="220256"/>
            </a:xfrm>
            <a:prstGeom prst="rect">
              <a:avLst/>
            </a:prstGeom>
            <a:grpFill/>
          </p:spPr>
        </p:pic>
        <p:pic>
          <p:nvPicPr>
            <p:cNvPr id="19" name="Picture 18">
              <a:extLst>
                <a:ext uri="{FF2B5EF4-FFF2-40B4-BE49-F238E27FC236}">
                  <a16:creationId xmlns:a16="http://schemas.microsoft.com/office/drawing/2014/main" id="{01CD3807-D520-4A2E-9581-D33E0B9ED191}"/>
                </a:ext>
              </a:extLst>
            </p:cNvPr>
            <p:cNvPicPr>
              <a:picLocks noChangeAspect="1"/>
            </p:cNvPicPr>
            <p:nvPr/>
          </p:nvPicPr>
          <p:blipFill>
            <a:blip r:embed="rId6"/>
            <a:stretch>
              <a:fillRect/>
            </a:stretch>
          </p:blipFill>
          <p:spPr>
            <a:xfrm>
              <a:off x="4146944" y="3754100"/>
              <a:ext cx="697526" cy="149627"/>
            </a:xfrm>
            <a:prstGeom prst="rect">
              <a:avLst/>
            </a:prstGeom>
            <a:grpFill/>
          </p:spPr>
        </p:pic>
        <p:pic>
          <p:nvPicPr>
            <p:cNvPr id="39" name="Picture 38">
              <a:extLst>
                <a:ext uri="{FF2B5EF4-FFF2-40B4-BE49-F238E27FC236}">
                  <a16:creationId xmlns:a16="http://schemas.microsoft.com/office/drawing/2014/main" id="{8641615E-C4BA-4F90-B75A-D6C777231D98}"/>
                </a:ext>
              </a:extLst>
            </p:cNvPr>
            <p:cNvPicPr>
              <a:picLocks noChangeAspect="1"/>
            </p:cNvPicPr>
            <p:nvPr/>
          </p:nvPicPr>
          <p:blipFill>
            <a:blip r:embed="rId7"/>
            <a:stretch>
              <a:fillRect/>
            </a:stretch>
          </p:blipFill>
          <p:spPr>
            <a:xfrm>
              <a:off x="4887486" y="3762083"/>
              <a:ext cx="670194" cy="146864"/>
            </a:xfrm>
            <a:prstGeom prst="rect">
              <a:avLst/>
            </a:prstGeom>
            <a:grpFill/>
          </p:spPr>
        </p:pic>
      </p:grpSp>
      <p:grpSp>
        <p:nvGrpSpPr>
          <p:cNvPr id="25" name="Group 24">
            <a:extLst>
              <a:ext uri="{FF2B5EF4-FFF2-40B4-BE49-F238E27FC236}">
                <a16:creationId xmlns:a16="http://schemas.microsoft.com/office/drawing/2014/main" id="{F73994B8-6E2D-9C81-63BF-3846D85A854E}"/>
              </a:ext>
            </a:extLst>
          </p:cNvPr>
          <p:cNvGrpSpPr/>
          <p:nvPr/>
        </p:nvGrpSpPr>
        <p:grpSpPr>
          <a:xfrm>
            <a:off x="654937" y="4652415"/>
            <a:ext cx="1614367" cy="1358747"/>
            <a:chOff x="401584" y="4661053"/>
            <a:chExt cx="1614367" cy="1358747"/>
          </a:xfrm>
          <a:solidFill>
            <a:srgbClr val="86405C"/>
          </a:solidFill>
        </p:grpSpPr>
        <p:sp>
          <p:nvSpPr>
            <p:cNvPr id="40" name="Abgerundetes Rechteck 14">
              <a:extLst>
                <a:ext uri="{FF2B5EF4-FFF2-40B4-BE49-F238E27FC236}">
                  <a16:creationId xmlns:a16="http://schemas.microsoft.com/office/drawing/2014/main" id="{FA15FFA0-8E7A-4428-A4D9-E09ADC43AF92}"/>
                </a:ext>
              </a:extLst>
            </p:cNvPr>
            <p:cNvSpPr/>
            <p:nvPr/>
          </p:nvSpPr>
          <p:spPr>
            <a:xfrm>
              <a:off x="401584" y="4661053"/>
              <a:ext cx="1614367" cy="1358747"/>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TF6760 IoT HTTP/REST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HTTP(S) client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41" name="Picture 40">
              <a:extLst>
                <a:ext uri="{FF2B5EF4-FFF2-40B4-BE49-F238E27FC236}">
                  <a16:creationId xmlns:a16="http://schemas.microsoft.com/office/drawing/2014/main" id="{BBC5B39F-D415-485B-9E9C-93D5D3A66535}"/>
                </a:ext>
              </a:extLst>
            </p:cNvPr>
            <p:cNvPicPr>
              <a:picLocks noChangeAspect="1"/>
            </p:cNvPicPr>
            <p:nvPr/>
          </p:nvPicPr>
          <p:blipFill>
            <a:blip r:embed="rId5"/>
            <a:stretch>
              <a:fillRect/>
            </a:stretch>
          </p:blipFill>
          <p:spPr>
            <a:xfrm>
              <a:off x="464646" y="5311365"/>
              <a:ext cx="1449402" cy="227065"/>
            </a:xfrm>
            <a:prstGeom prst="rect">
              <a:avLst/>
            </a:prstGeom>
            <a:grpFill/>
          </p:spPr>
        </p:pic>
        <p:pic>
          <p:nvPicPr>
            <p:cNvPr id="42" name="Picture 41">
              <a:extLst>
                <a:ext uri="{FF2B5EF4-FFF2-40B4-BE49-F238E27FC236}">
                  <a16:creationId xmlns:a16="http://schemas.microsoft.com/office/drawing/2014/main" id="{15DEE16C-3275-4669-B372-DCF226AF0C2B}"/>
                </a:ext>
              </a:extLst>
            </p:cNvPr>
            <p:cNvPicPr>
              <a:picLocks noChangeAspect="1"/>
            </p:cNvPicPr>
            <p:nvPr/>
          </p:nvPicPr>
          <p:blipFill>
            <a:blip r:embed="rId6"/>
            <a:stretch>
              <a:fillRect/>
            </a:stretch>
          </p:blipFill>
          <p:spPr>
            <a:xfrm>
              <a:off x="464646" y="5636389"/>
              <a:ext cx="701017" cy="150375"/>
            </a:xfrm>
            <a:prstGeom prst="rect">
              <a:avLst/>
            </a:prstGeom>
            <a:grpFill/>
          </p:spPr>
        </p:pic>
        <p:pic>
          <p:nvPicPr>
            <p:cNvPr id="43" name="Picture 42">
              <a:extLst>
                <a:ext uri="{FF2B5EF4-FFF2-40B4-BE49-F238E27FC236}">
                  <a16:creationId xmlns:a16="http://schemas.microsoft.com/office/drawing/2014/main" id="{BC5A96E5-AE3B-4EBF-BF36-531FB51B2A63}"/>
                </a:ext>
              </a:extLst>
            </p:cNvPr>
            <p:cNvPicPr>
              <a:picLocks noChangeAspect="1"/>
            </p:cNvPicPr>
            <p:nvPr/>
          </p:nvPicPr>
          <p:blipFill>
            <a:blip r:embed="rId7"/>
            <a:stretch>
              <a:fillRect/>
            </a:stretch>
          </p:blipFill>
          <p:spPr>
            <a:xfrm>
              <a:off x="1181944" y="5636389"/>
              <a:ext cx="724701" cy="158808"/>
            </a:xfrm>
            <a:prstGeom prst="rect">
              <a:avLst/>
            </a:prstGeom>
            <a:grpFill/>
          </p:spPr>
        </p:pic>
      </p:grpSp>
      <p:sp>
        <p:nvSpPr>
          <p:cNvPr id="44" name="Abgerundetes Rechteck 14">
            <a:extLst>
              <a:ext uri="{FF2B5EF4-FFF2-40B4-BE49-F238E27FC236}">
                <a16:creationId xmlns:a16="http://schemas.microsoft.com/office/drawing/2014/main" id="{1BD75A45-933D-4831-B1C0-E658EC8EE333}"/>
              </a:ext>
            </a:extLst>
          </p:cNvPr>
          <p:cNvSpPr/>
          <p:nvPr/>
        </p:nvSpPr>
        <p:spPr>
          <a:xfrm>
            <a:off x="2445749" y="4652415"/>
            <a:ext cx="1619295" cy="1358748"/>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TF6770 IoT WebSockets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WebSockets</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client</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server</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driver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for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the PLC</a:t>
            </a:r>
          </a:p>
        </p:txBody>
      </p:sp>
      <p:grpSp>
        <p:nvGrpSpPr>
          <p:cNvPr id="24" name="Group 23">
            <a:extLst>
              <a:ext uri="{FF2B5EF4-FFF2-40B4-BE49-F238E27FC236}">
                <a16:creationId xmlns:a16="http://schemas.microsoft.com/office/drawing/2014/main" id="{4BA61798-0851-C6E9-4389-F25222A8ABAA}"/>
              </a:ext>
            </a:extLst>
          </p:cNvPr>
          <p:cNvGrpSpPr/>
          <p:nvPr/>
        </p:nvGrpSpPr>
        <p:grpSpPr>
          <a:xfrm>
            <a:off x="5986154" y="2952091"/>
            <a:ext cx="1618488" cy="1513696"/>
            <a:chOff x="5976392" y="2819401"/>
            <a:chExt cx="1618488" cy="1513696"/>
          </a:xfrm>
          <a:solidFill>
            <a:srgbClr val="86405C"/>
          </a:solidFill>
        </p:grpSpPr>
        <p:sp>
          <p:nvSpPr>
            <p:cNvPr id="6" name="Abgerundetes Rechteck 14">
              <a:extLst>
                <a:ext uri="{FF2B5EF4-FFF2-40B4-BE49-F238E27FC236}">
                  <a16:creationId xmlns:a16="http://schemas.microsoft.com/office/drawing/2014/main" id="{60482663-8FCB-062D-4737-CDE2CB59B673}"/>
                </a:ext>
              </a:extLst>
            </p:cNvPr>
            <p:cNvSpPr/>
            <p:nvPr/>
          </p:nvSpPr>
          <p:spPr>
            <a:xfrm>
              <a:off x="5976392" y="2819401"/>
              <a:ext cx="1618488" cy="1513696"/>
            </a:xfrm>
            <a:prstGeom prst="roundRect">
              <a:avLst/>
            </a:prstGeom>
            <a:grp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TF6730 IoT Communicator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Smartphone App</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pic>
          <p:nvPicPr>
            <p:cNvPr id="46" name="Picture 45">
              <a:extLst>
                <a:ext uri="{FF2B5EF4-FFF2-40B4-BE49-F238E27FC236}">
                  <a16:creationId xmlns:a16="http://schemas.microsoft.com/office/drawing/2014/main" id="{804A3BFE-9892-4B9D-8774-D4979F7D6D86}"/>
                </a:ext>
              </a:extLst>
            </p:cNvPr>
            <p:cNvPicPr>
              <a:picLocks noChangeAspect="1"/>
            </p:cNvPicPr>
            <p:nvPr/>
          </p:nvPicPr>
          <p:blipFill>
            <a:blip r:embed="rId8"/>
            <a:stretch>
              <a:fillRect/>
            </a:stretch>
          </p:blipFill>
          <p:spPr>
            <a:xfrm>
              <a:off x="6276411" y="3399868"/>
              <a:ext cx="988651" cy="386101"/>
            </a:xfrm>
            <a:prstGeom prst="rect">
              <a:avLst/>
            </a:prstGeom>
            <a:grpFill/>
          </p:spPr>
        </p:pic>
        <p:pic>
          <p:nvPicPr>
            <p:cNvPr id="48" name="Picture 47">
              <a:extLst>
                <a:ext uri="{FF2B5EF4-FFF2-40B4-BE49-F238E27FC236}">
                  <a16:creationId xmlns:a16="http://schemas.microsoft.com/office/drawing/2014/main" id="{67FDF120-0C4C-4797-9A35-1D3EE228A34E}"/>
                </a:ext>
              </a:extLst>
            </p:cNvPr>
            <p:cNvPicPr>
              <a:picLocks noChangeAspect="1"/>
            </p:cNvPicPr>
            <p:nvPr/>
          </p:nvPicPr>
          <p:blipFill>
            <a:blip r:embed="rId9"/>
            <a:stretch>
              <a:fillRect/>
            </a:stretch>
          </p:blipFill>
          <p:spPr>
            <a:xfrm>
              <a:off x="6276411" y="3844932"/>
              <a:ext cx="988651" cy="325379"/>
            </a:xfrm>
            <a:prstGeom prst="rect">
              <a:avLst/>
            </a:prstGeom>
            <a:grpFill/>
          </p:spPr>
        </p:pic>
      </p:grpSp>
      <p:sp>
        <p:nvSpPr>
          <p:cNvPr id="49" name="Abgerundetes Rechteck 14">
            <a:extLst>
              <a:ext uri="{FF2B5EF4-FFF2-40B4-BE49-F238E27FC236}">
                <a16:creationId xmlns:a16="http://schemas.microsoft.com/office/drawing/2014/main" id="{5D871DF2-9511-4E80-867D-792E14607E47}"/>
              </a:ext>
            </a:extLst>
          </p:cNvPr>
          <p:cNvSpPr/>
          <p:nvPr/>
        </p:nvSpPr>
        <p:spPr>
          <a:xfrm>
            <a:off x="5990025" y="4652414"/>
            <a:ext cx="1612623" cy="572397"/>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TF6020 JSON Data Interface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Req/Res MQTT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ADS interface for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sp>
        <p:nvSpPr>
          <p:cNvPr id="36" name="Abgerundetes Rechteck 14">
            <a:extLst>
              <a:ext uri="{FF2B5EF4-FFF2-40B4-BE49-F238E27FC236}">
                <a16:creationId xmlns:a16="http://schemas.microsoft.com/office/drawing/2014/main" id="{2E8709C7-C8AE-44B5-BBC8-5F20909A3DF8}"/>
              </a:ext>
            </a:extLst>
          </p:cNvPr>
          <p:cNvSpPr/>
          <p:nvPr/>
        </p:nvSpPr>
        <p:spPr>
          <a:xfrm>
            <a:off x="5990025" y="5302726"/>
            <a:ext cx="1618488" cy="708435"/>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TF6105 OPC UA Pub/Sub</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OPC UA Pub/Sub connectivity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MQTT</a:t>
            </a:r>
            <a:r>
              <a:rPr kumimoji="0" lang="de-DE" sz="800" b="0" i="0" u="none" strike="noStrike" kern="1200" cap="none" spc="0" normalizeH="0" baseline="0" noProof="0">
                <a:ln>
                  <a:noFill/>
                </a:ln>
                <a:solidFill>
                  <a:prstClr val="white"/>
                </a:solidFill>
                <a:effectLst/>
                <a:uLnTx/>
                <a:uFillTx/>
                <a:latin typeface="Arial" pitchFamily="34" charset="0"/>
                <a:ea typeface="+mn-ea"/>
                <a:cs typeface="Arial" pitchFamily="34" charset="0"/>
              </a:rPr>
              <a:t>, UDP</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sp>
        <p:nvSpPr>
          <p:cNvPr id="7" name="TextBox 6">
            <a:extLst>
              <a:ext uri="{FF2B5EF4-FFF2-40B4-BE49-F238E27FC236}">
                <a16:creationId xmlns:a16="http://schemas.microsoft.com/office/drawing/2014/main" id="{9A66C33C-A9EF-401F-9B4D-AC0B402E4669}"/>
              </a:ext>
            </a:extLst>
          </p:cNvPr>
          <p:cNvSpPr txBox="1"/>
          <p:nvPr/>
        </p:nvSpPr>
        <p:spPr>
          <a:xfrm>
            <a:off x="8753102" y="3413060"/>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grpSp>
        <p:nvGrpSpPr>
          <p:cNvPr id="9" name="Group 8">
            <a:extLst>
              <a:ext uri="{FF2B5EF4-FFF2-40B4-BE49-F238E27FC236}">
                <a16:creationId xmlns:a16="http://schemas.microsoft.com/office/drawing/2014/main" id="{159D5B89-1DEC-425B-B56D-B33D873811B1}"/>
              </a:ext>
            </a:extLst>
          </p:cNvPr>
          <p:cNvGrpSpPr/>
          <p:nvPr/>
        </p:nvGrpSpPr>
        <p:grpSpPr>
          <a:xfrm>
            <a:off x="9515563" y="1407536"/>
            <a:ext cx="1185601" cy="512720"/>
            <a:chOff x="9004188" y="1636830"/>
            <a:chExt cx="1185601" cy="512720"/>
          </a:xfrm>
        </p:grpSpPr>
        <p:pic>
          <p:nvPicPr>
            <p:cNvPr id="47" name="Grafik 46">
              <a:extLst>
                <a:ext uri="{FF2B5EF4-FFF2-40B4-BE49-F238E27FC236}">
                  <a16:creationId xmlns:a16="http://schemas.microsoft.com/office/drawing/2014/main" id="{9E8F0606-1E16-4494-9305-0963F52DF8F7}"/>
                </a:ext>
              </a:extLst>
            </p:cNvPr>
            <p:cNvPicPr>
              <a:picLocks noChangeAspect="1"/>
            </p:cNvPicPr>
            <p:nvPr/>
          </p:nvPicPr>
          <p:blipFill>
            <a:blip r:embed="rId10"/>
            <a:stretch>
              <a:fillRect/>
            </a:stretch>
          </p:blipFill>
          <p:spPr>
            <a:xfrm>
              <a:off x="9386257" y="1636830"/>
              <a:ext cx="421465" cy="314272"/>
            </a:xfrm>
            <a:prstGeom prst="rect">
              <a:avLst/>
            </a:prstGeom>
          </p:spPr>
        </p:pic>
        <p:sp>
          <p:nvSpPr>
            <p:cNvPr id="53" name="Textfeld 47">
              <a:extLst>
                <a:ext uri="{FF2B5EF4-FFF2-40B4-BE49-F238E27FC236}">
                  <a16:creationId xmlns:a16="http://schemas.microsoft.com/office/drawing/2014/main" id="{4DB526DA-308A-4A8B-90C1-FB422F82B197}"/>
                </a:ext>
              </a:extLst>
            </p:cNvPr>
            <p:cNvSpPr txBox="1"/>
            <p:nvPr/>
          </p:nvSpPr>
          <p:spPr>
            <a:xfrm>
              <a:off x="9004188" y="1934106"/>
              <a:ext cx="118560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2075B6"/>
                  </a:solidFill>
                  <a:effectLst/>
                  <a:uLnTx/>
                  <a:uFillTx/>
                  <a:latin typeface="Arial"/>
                  <a:ea typeface="+mn-ea"/>
                  <a:cs typeface="+mn-cs"/>
                </a:rPr>
                <a:t>Microsoft Azure</a:t>
              </a:r>
            </a:p>
          </p:txBody>
        </p:sp>
      </p:grpSp>
      <p:pic>
        <p:nvPicPr>
          <p:cNvPr id="54" name="Grafik 44">
            <a:extLst>
              <a:ext uri="{FF2B5EF4-FFF2-40B4-BE49-F238E27FC236}">
                <a16:creationId xmlns:a16="http://schemas.microsoft.com/office/drawing/2014/main" id="{B92AA533-E608-4A98-A401-590C7537AB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060091" y="1706450"/>
            <a:ext cx="528047" cy="323194"/>
          </a:xfrm>
          <a:prstGeom prst="rect">
            <a:avLst/>
          </a:prstGeom>
        </p:spPr>
      </p:pic>
      <p:grpSp>
        <p:nvGrpSpPr>
          <p:cNvPr id="55" name="Gruppieren 48">
            <a:extLst>
              <a:ext uri="{FF2B5EF4-FFF2-40B4-BE49-F238E27FC236}">
                <a16:creationId xmlns:a16="http://schemas.microsoft.com/office/drawing/2014/main" id="{6B2E8F19-5DB3-4906-A764-B3B851849D3C}"/>
              </a:ext>
            </a:extLst>
          </p:cNvPr>
          <p:cNvGrpSpPr>
            <a:grpSpLocks noChangeAspect="1"/>
          </p:cNvGrpSpPr>
          <p:nvPr/>
        </p:nvGrpSpPr>
        <p:grpSpPr>
          <a:xfrm>
            <a:off x="10601545" y="1716037"/>
            <a:ext cx="900574" cy="298200"/>
            <a:chOff x="5094695" y="2140356"/>
            <a:chExt cx="1925578" cy="648071"/>
          </a:xfrm>
        </p:grpSpPr>
        <p:pic>
          <p:nvPicPr>
            <p:cNvPr id="56" name="Grafik 49">
              <a:extLst>
                <a:ext uri="{FF2B5EF4-FFF2-40B4-BE49-F238E27FC236}">
                  <a16:creationId xmlns:a16="http://schemas.microsoft.com/office/drawing/2014/main" id="{1B7D60A2-9600-44B3-AB37-593568D4E626}"/>
                </a:ext>
              </a:extLst>
            </p:cNvPr>
            <p:cNvPicPr>
              <a:picLocks noChangeAspect="1"/>
            </p:cNvPicPr>
            <p:nvPr/>
          </p:nvPicPr>
          <p:blipFill>
            <a:blip r:embed="rId12"/>
            <a:stretch>
              <a:fillRect/>
            </a:stretch>
          </p:blipFill>
          <p:spPr>
            <a:xfrm>
              <a:off x="5094695" y="2140356"/>
              <a:ext cx="668948" cy="335563"/>
            </a:xfrm>
            <a:prstGeom prst="rect">
              <a:avLst/>
            </a:prstGeom>
          </p:spPr>
        </p:pic>
        <p:pic>
          <p:nvPicPr>
            <p:cNvPr id="57" name="Grafik 50">
              <a:extLst>
                <a:ext uri="{FF2B5EF4-FFF2-40B4-BE49-F238E27FC236}">
                  <a16:creationId xmlns:a16="http://schemas.microsoft.com/office/drawing/2014/main" id="{42EA8A29-34DC-4007-ACB2-AC086F0999F8}"/>
                </a:ext>
              </a:extLst>
            </p:cNvPr>
            <p:cNvPicPr>
              <a:picLocks noChangeAspect="1"/>
            </p:cNvPicPr>
            <p:nvPr/>
          </p:nvPicPr>
          <p:blipFill>
            <a:blip r:embed="rId13"/>
            <a:stretch>
              <a:fillRect/>
            </a:stretch>
          </p:blipFill>
          <p:spPr>
            <a:xfrm>
              <a:off x="5123993" y="2481242"/>
              <a:ext cx="1896280" cy="307185"/>
            </a:xfrm>
            <a:prstGeom prst="rect">
              <a:avLst/>
            </a:prstGeom>
          </p:spPr>
        </p:pic>
      </p:grpSp>
      <p:grpSp>
        <p:nvGrpSpPr>
          <p:cNvPr id="58" name="Gruppieren 58">
            <a:extLst>
              <a:ext uri="{FF2B5EF4-FFF2-40B4-BE49-F238E27FC236}">
                <a16:creationId xmlns:a16="http://schemas.microsoft.com/office/drawing/2014/main" id="{E2CECA4D-B645-4EF3-ADD1-62FA91904DF8}"/>
              </a:ext>
            </a:extLst>
          </p:cNvPr>
          <p:cNvGrpSpPr/>
          <p:nvPr/>
        </p:nvGrpSpPr>
        <p:grpSpPr>
          <a:xfrm>
            <a:off x="8587552" y="2749424"/>
            <a:ext cx="1012895" cy="371837"/>
            <a:chOff x="6319439" y="4290140"/>
            <a:chExt cx="2173825" cy="757535"/>
          </a:xfrm>
        </p:grpSpPr>
        <p:pic>
          <p:nvPicPr>
            <p:cNvPr id="59" name="Grafik 59">
              <a:extLst>
                <a:ext uri="{FF2B5EF4-FFF2-40B4-BE49-F238E27FC236}">
                  <a16:creationId xmlns:a16="http://schemas.microsoft.com/office/drawing/2014/main" id="{85801AA7-F109-4DE5-882B-89AFEFD8BE3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319439" y="4290140"/>
              <a:ext cx="2088232" cy="412889"/>
            </a:xfrm>
            <a:prstGeom prst="rect">
              <a:avLst/>
            </a:prstGeom>
          </p:spPr>
        </p:pic>
        <p:sp>
          <p:nvSpPr>
            <p:cNvPr id="60" name="Textfeld 60">
              <a:extLst>
                <a:ext uri="{FF2B5EF4-FFF2-40B4-BE49-F238E27FC236}">
                  <a16:creationId xmlns:a16="http://schemas.microsoft.com/office/drawing/2014/main" id="{87EA4773-7C47-4C48-93A8-7BB6DB4FF37A}"/>
                </a:ext>
              </a:extLst>
            </p:cNvPr>
            <p:cNvSpPr txBox="1"/>
            <p:nvPr/>
          </p:nvSpPr>
          <p:spPr>
            <a:xfrm>
              <a:off x="6951328" y="4608756"/>
              <a:ext cx="1541936" cy="4389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11619C"/>
                  </a:solidFill>
                  <a:effectLst/>
                  <a:uLnTx/>
                  <a:uFillTx/>
                  <a:latin typeface="Arial"/>
                  <a:ea typeface="+mn-ea"/>
                  <a:cs typeface="+mn-cs"/>
                </a:rPr>
                <a:t>Thingspeak</a:t>
              </a:r>
            </a:p>
          </p:txBody>
        </p:sp>
      </p:grpSp>
      <p:pic>
        <p:nvPicPr>
          <p:cNvPr id="61" name="Grafik 61">
            <a:extLst>
              <a:ext uri="{FF2B5EF4-FFF2-40B4-BE49-F238E27FC236}">
                <a16:creationId xmlns:a16="http://schemas.microsoft.com/office/drawing/2014/main" id="{CAC86A7C-4B4E-46E6-901C-7EF7C5823D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859100" y="2149053"/>
            <a:ext cx="1086777" cy="226619"/>
          </a:xfrm>
          <a:prstGeom prst="rect">
            <a:avLst/>
          </a:prstGeom>
        </p:spPr>
      </p:pic>
      <p:pic>
        <p:nvPicPr>
          <p:cNvPr id="62" name="Grafik 3">
            <a:extLst>
              <a:ext uri="{FF2B5EF4-FFF2-40B4-BE49-F238E27FC236}">
                <a16:creationId xmlns:a16="http://schemas.microsoft.com/office/drawing/2014/main" id="{17EF1082-7011-409A-B874-CF33F24C2C39}"/>
              </a:ext>
            </a:extLst>
          </p:cNvPr>
          <p:cNvPicPr>
            <a:picLocks noChangeAspect="1"/>
          </p:cNvPicPr>
          <p:nvPr/>
        </p:nvPicPr>
        <p:blipFill rotWithShape="1">
          <a:blip r:embed="rId16">
            <a:extLst>
              <a:ext uri="{28A0092B-C50C-407E-A947-70E740481C1C}">
                <a14:useLocalDpi xmlns:a14="http://schemas.microsoft.com/office/drawing/2010/main" val="0"/>
              </a:ext>
            </a:extLst>
          </a:blip>
          <a:srcRect l="30303" t="37400" r="30302" b="34250"/>
          <a:stretch/>
        </p:blipFill>
        <p:spPr>
          <a:xfrm>
            <a:off x="8289899" y="1981628"/>
            <a:ext cx="787805" cy="354512"/>
          </a:xfrm>
          <a:prstGeom prst="rect">
            <a:avLst/>
          </a:prstGeom>
        </p:spPr>
      </p:pic>
      <p:pic>
        <p:nvPicPr>
          <p:cNvPr id="63" name="Picture 2" descr="1.7 | projects.eclipse.org">
            <a:extLst>
              <a:ext uri="{FF2B5EF4-FFF2-40B4-BE49-F238E27FC236}">
                <a16:creationId xmlns:a16="http://schemas.microsoft.com/office/drawing/2014/main" id="{5896712D-FA4B-41D6-BCA6-A37B7A4EB8C6}"/>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198982" y="2209370"/>
            <a:ext cx="433777" cy="427270"/>
          </a:xfrm>
          <a:prstGeom prst="rect">
            <a:avLst/>
          </a:prstGeom>
          <a:noFill/>
          <a:extLst>
            <a:ext uri="{909E8E84-426E-40DD-AFC4-6F175D3DCCD1}">
              <a14:hiddenFill xmlns:a14="http://schemas.microsoft.com/office/drawing/2010/main">
                <a:solidFill>
                  <a:srgbClr val="FFFFFF"/>
                </a:solidFill>
              </a14:hiddenFill>
            </a:ext>
          </a:extLst>
        </p:spPr>
      </p:pic>
      <p:pic>
        <p:nvPicPr>
          <p:cNvPr id="64" name="Grafik 4">
            <a:extLst>
              <a:ext uri="{FF2B5EF4-FFF2-40B4-BE49-F238E27FC236}">
                <a16:creationId xmlns:a16="http://schemas.microsoft.com/office/drawing/2014/main" id="{4D339F9B-8221-45E8-B918-62CEBFE64685}"/>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1054111" y="2266148"/>
            <a:ext cx="898789" cy="342367"/>
          </a:xfrm>
          <a:prstGeom prst="rect">
            <a:avLst/>
          </a:prstGeom>
        </p:spPr>
      </p:pic>
      <p:pic>
        <p:nvPicPr>
          <p:cNvPr id="70" name="Grafik 44">
            <a:extLst>
              <a:ext uri="{FF2B5EF4-FFF2-40B4-BE49-F238E27FC236}">
                <a16:creationId xmlns:a16="http://schemas.microsoft.com/office/drawing/2014/main" id="{BCF8FF79-BDCD-4BA2-BD4F-CA929B3022B3}"/>
              </a:ext>
            </a:extLst>
          </p:cNvPr>
          <p:cNvPicPr>
            <a:picLocks noChangeAspect="1"/>
          </p:cNvPicPr>
          <p:nvPr/>
        </p:nvPicPr>
        <p:blipFill>
          <a:blip r:embed="rId19"/>
          <a:stretch>
            <a:fillRect/>
          </a:stretch>
        </p:blipFill>
        <p:spPr>
          <a:xfrm>
            <a:off x="8123455" y="4410484"/>
            <a:ext cx="797101" cy="565595"/>
          </a:xfrm>
          <a:prstGeom prst="rect">
            <a:avLst/>
          </a:prstGeom>
          <a:effectLst>
            <a:outerShdw blurRad="50800" dist="38100" dir="2700000" algn="tl" rotWithShape="0">
              <a:prstClr val="black">
                <a:alpha val="40000"/>
              </a:prstClr>
            </a:outerShdw>
          </a:effectLst>
        </p:spPr>
      </p:pic>
      <p:pic>
        <p:nvPicPr>
          <p:cNvPr id="71" name="Grafik 74">
            <a:extLst>
              <a:ext uri="{FF2B5EF4-FFF2-40B4-BE49-F238E27FC236}">
                <a16:creationId xmlns:a16="http://schemas.microsoft.com/office/drawing/2014/main" id="{F3795D68-75FE-4688-A601-27E6A249FF85}"/>
              </a:ext>
            </a:extLst>
          </p:cNvPr>
          <p:cNvPicPr>
            <a:picLocks noChangeAspect="1"/>
          </p:cNvPicPr>
          <p:nvPr/>
        </p:nvPicPr>
        <p:blipFill>
          <a:blip r:embed="rId20"/>
          <a:stretch>
            <a:fillRect/>
          </a:stretch>
        </p:blipFill>
        <p:spPr>
          <a:xfrm>
            <a:off x="9783442" y="5059461"/>
            <a:ext cx="479385" cy="563586"/>
          </a:xfrm>
          <a:prstGeom prst="rect">
            <a:avLst/>
          </a:prstGeom>
          <a:effectLst>
            <a:outerShdw blurRad="50800" dist="38100" dir="2700000" algn="tl" rotWithShape="0">
              <a:prstClr val="black">
                <a:alpha val="40000"/>
              </a:prstClr>
            </a:outerShdw>
          </a:effectLst>
        </p:spPr>
      </p:pic>
      <p:pic>
        <p:nvPicPr>
          <p:cNvPr id="72" name="Grafik 6">
            <a:extLst>
              <a:ext uri="{FF2B5EF4-FFF2-40B4-BE49-F238E27FC236}">
                <a16:creationId xmlns:a16="http://schemas.microsoft.com/office/drawing/2014/main" id="{6204EC6A-C989-4BCA-8123-0EA0423FA3EC}"/>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0669435" y="4523955"/>
            <a:ext cx="745702" cy="563751"/>
          </a:xfrm>
          <a:prstGeom prst="rect">
            <a:avLst/>
          </a:prstGeom>
          <a:effectLst>
            <a:outerShdw blurRad="50800" dist="38100" dir="2700000" algn="tl" rotWithShape="0">
              <a:prstClr val="black">
                <a:alpha val="40000"/>
              </a:prstClr>
            </a:outerShdw>
          </a:effectLst>
        </p:spPr>
      </p:pic>
      <p:sp>
        <p:nvSpPr>
          <p:cNvPr id="10" name="Abgerundetes Rechteck 14">
            <a:extLst>
              <a:ext uri="{FF2B5EF4-FFF2-40B4-BE49-F238E27FC236}">
                <a16:creationId xmlns:a16="http://schemas.microsoft.com/office/drawing/2014/main" id="{93FCC30C-629C-EA64-5239-962652974FCA}"/>
              </a:ext>
            </a:extLst>
          </p:cNvPr>
          <p:cNvSpPr/>
          <p:nvPr/>
        </p:nvSpPr>
        <p:spPr>
          <a:xfrm>
            <a:off x="4218284" y="4652415"/>
            <a:ext cx="1618488" cy="1358747"/>
          </a:xfrm>
          <a:prstGeom prst="roundRect">
            <a:avLst/>
          </a:prstGeom>
          <a:solidFill>
            <a:srgbClr val="86405C"/>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TF6771 IoT OCPP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OCPP </a:t>
            </a:r>
            <a:r>
              <a:rPr kumimoji="0" lang="de-DE" sz="800" b="1"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client</a:t>
            </a:r>
            <a:r>
              <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1"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connectivity</a:t>
            </a: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OCPP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server</a:t>
            </a: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 </a:t>
            </a:r>
            <a:r>
              <a:rPr kumimoji="0" lang="de-DE" sz="800" b="0" i="0" u="none" strike="noStrike" kern="1200" cap="none" spc="0" normalizeH="0" baseline="0" noProof="0" dirty="0" err="1">
                <a:ln>
                  <a:noFill/>
                </a:ln>
                <a:solidFill>
                  <a:prstClr val="white"/>
                </a:solidFill>
                <a:effectLst/>
                <a:uLnTx/>
                <a:uFillTx/>
                <a:latin typeface="Arial" pitchFamily="34" charset="0"/>
                <a:ea typeface="+mn-ea"/>
                <a:cs typeface="Arial" pitchFamily="34" charset="0"/>
              </a:rPr>
              <a:t>connectivity</a:t>
            </a:r>
            <a:endPar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white"/>
                </a:solidFill>
                <a:effectLst/>
                <a:uLnTx/>
                <a:uFillTx/>
                <a:latin typeface="Arial" pitchFamily="34" charset="0"/>
                <a:ea typeface="+mn-ea"/>
                <a:cs typeface="Arial" pitchFamily="34" charset="0"/>
              </a:rPr>
              <a:t>Real-time driver for the PLC</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8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grpSp>
        <p:nvGrpSpPr>
          <p:cNvPr id="11" name="Group 110">
            <a:extLst>
              <a:ext uri="{FF2B5EF4-FFF2-40B4-BE49-F238E27FC236}">
                <a16:creationId xmlns:a16="http://schemas.microsoft.com/office/drawing/2014/main" id="{B1922545-4113-D88E-10DD-3832FC182600}"/>
              </a:ext>
            </a:extLst>
          </p:cNvPr>
          <p:cNvGrpSpPr/>
          <p:nvPr/>
        </p:nvGrpSpPr>
        <p:grpSpPr>
          <a:xfrm>
            <a:off x="9686082" y="2477644"/>
            <a:ext cx="1484702" cy="694745"/>
            <a:chOff x="3015912" y="2180475"/>
            <a:chExt cx="1484702" cy="694745"/>
          </a:xfrm>
        </p:grpSpPr>
        <p:pic>
          <p:nvPicPr>
            <p:cNvPr id="13" name="Picture 112">
              <a:extLst>
                <a:ext uri="{FF2B5EF4-FFF2-40B4-BE49-F238E27FC236}">
                  <a16:creationId xmlns:a16="http://schemas.microsoft.com/office/drawing/2014/main" id="{D8417CA2-86FF-F258-83B8-BDD5E6EAE20A}"/>
                </a:ext>
              </a:extLst>
            </p:cNvPr>
            <p:cNvPicPr>
              <a:picLocks noChangeAspect="1"/>
            </p:cNvPicPr>
            <p:nvPr/>
          </p:nvPicPr>
          <p:blipFill>
            <a:blip r:embed="rId22"/>
            <a:srcRect/>
            <a:stretch/>
          </p:blipFill>
          <p:spPr>
            <a:xfrm>
              <a:off x="3283516" y="2180475"/>
              <a:ext cx="943684" cy="487062"/>
            </a:xfrm>
            <a:prstGeom prst="rect">
              <a:avLst/>
            </a:prstGeom>
          </p:spPr>
        </p:pic>
        <p:sp>
          <p:nvSpPr>
            <p:cNvPr id="15" name="TextBox 113">
              <a:extLst>
                <a:ext uri="{FF2B5EF4-FFF2-40B4-BE49-F238E27FC236}">
                  <a16:creationId xmlns:a16="http://schemas.microsoft.com/office/drawing/2014/main" id="{CFA6FE15-2A84-B53F-03FC-252722686415}"/>
                </a:ext>
              </a:extLst>
            </p:cNvPr>
            <p:cNvSpPr txBox="1"/>
            <p:nvPr/>
          </p:nvSpPr>
          <p:spPr>
            <a:xfrm>
              <a:off x="3015912" y="2659776"/>
              <a:ext cx="1484702"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srgbClr val="000000"/>
                  </a:solidFill>
                  <a:effectLst/>
                  <a:uLnTx/>
                  <a:uFillTx/>
                  <a:latin typeface="Arial"/>
                  <a:ea typeface="+mn-ea"/>
                  <a:cs typeface="+mn-cs"/>
                </a:rPr>
                <a:t>TwinCAT Cloud Engineering</a:t>
              </a:r>
              <a:endParaRPr kumimoji="0" lang="en-US" sz="800" b="0" i="0" u="none" strike="noStrike" kern="1200" cap="none" spc="0" normalizeH="0" baseline="0" noProof="0" dirty="0">
                <a:ln>
                  <a:noFill/>
                </a:ln>
                <a:solidFill>
                  <a:srgbClr val="000000"/>
                </a:solidFill>
                <a:effectLst/>
                <a:uLnTx/>
                <a:uFillTx/>
                <a:latin typeface="Arial"/>
                <a:ea typeface="+mn-ea"/>
                <a:cs typeface="+mn-cs"/>
              </a:endParaRPr>
            </a:p>
          </p:txBody>
        </p:sp>
      </p:grpSp>
      <p:sp>
        <p:nvSpPr>
          <p:cNvPr id="16" name="TextBox 6">
            <a:extLst>
              <a:ext uri="{FF2B5EF4-FFF2-40B4-BE49-F238E27FC236}">
                <a16:creationId xmlns:a16="http://schemas.microsoft.com/office/drawing/2014/main" id="{62DE505A-3B3B-3E66-72CB-E26432B1FC0E}"/>
              </a:ext>
            </a:extLst>
          </p:cNvPr>
          <p:cNvSpPr txBox="1"/>
          <p:nvPr/>
        </p:nvSpPr>
        <p:spPr>
          <a:xfrm>
            <a:off x="10029835" y="3395896"/>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sp>
        <p:nvSpPr>
          <p:cNvPr id="17" name="TextBox 6">
            <a:extLst>
              <a:ext uri="{FF2B5EF4-FFF2-40B4-BE49-F238E27FC236}">
                <a16:creationId xmlns:a16="http://schemas.microsoft.com/office/drawing/2014/main" id="{DDD1985A-655F-9D3A-B0D7-8051541B3F8E}"/>
              </a:ext>
            </a:extLst>
          </p:cNvPr>
          <p:cNvSpPr txBox="1"/>
          <p:nvPr/>
        </p:nvSpPr>
        <p:spPr>
          <a:xfrm>
            <a:off x="11122218" y="3390711"/>
            <a:ext cx="986167" cy="5078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MQTT, WSS,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HTTPS, OCPP,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rgbClr val="000000"/>
                </a:solidFill>
                <a:effectLst/>
                <a:uLnTx/>
                <a:uFillTx/>
                <a:latin typeface="Arial"/>
                <a:ea typeface="+mn-ea"/>
                <a:cs typeface="+mn-cs"/>
              </a:rPr>
              <a:t>OPC UA</a:t>
            </a:r>
            <a:endParaRPr kumimoji="0" lang="en-US" sz="900" b="0" i="0" u="none" strike="noStrike" kern="1200" cap="none" spc="0" normalizeH="0" baseline="0" noProof="0" dirty="0">
              <a:ln>
                <a:noFill/>
              </a:ln>
              <a:solidFill>
                <a:srgbClr val="000000"/>
              </a:solidFill>
              <a:effectLst/>
              <a:uLnTx/>
              <a:uFillTx/>
              <a:latin typeface="Arial"/>
              <a:ea typeface="+mn-ea"/>
              <a:cs typeface="+mn-cs"/>
            </a:endParaRPr>
          </a:p>
        </p:txBody>
      </p:sp>
      <p:pic>
        <p:nvPicPr>
          <p:cNvPr id="18" name="Picture 17" descr="Text&#10;&#10;Description automatically generated with medium confidence">
            <a:extLst>
              <a:ext uri="{FF2B5EF4-FFF2-40B4-BE49-F238E27FC236}">
                <a16:creationId xmlns:a16="http://schemas.microsoft.com/office/drawing/2014/main" id="{62FA10F1-014C-11D8-51D2-08D1AE964005}"/>
              </a:ext>
            </a:extLst>
          </p:cNvPr>
          <p:cNvPicPr>
            <a:picLocks noChangeAspect="1"/>
          </p:cNvPicPr>
          <p:nvPr/>
        </p:nvPicPr>
        <p:blipFill>
          <a:blip r:embed="rId23"/>
          <a:stretch>
            <a:fillRect/>
          </a:stretch>
        </p:blipFill>
        <p:spPr>
          <a:xfrm>
            <a:off x="8641393" y="4229798"/>
            <a:ext cx="380677" cy="380677"/>
          </a:xfrm>
          <a:prstGeom prst="rect">
            <a:avLst/>
          </a:prstGeom>
          <a:effectLst>
            <a:outerShdw blurRad="50800" dist="38100" dir="2700000" algn="tl" rotWithShape="0">
              <a:prstClr val="black">
                <a:alpha val="40000"/>
              </a:prstClr>
            </a:outerShdw>
          </a:effectLst>
        </p:spPr>
      </p:pic>
      <p:pic>
        <p:nvPicPr>
          <p:cNvPr id="26" name="Picture 25" descr="Text&#10;&#10;Description automatically generated with medium confidence">
            <a:extLst>
              <a:ext uri="{FF2B5EF4-FFF2-40B4-BE49-F238E27FC236}">
                <a16:creationId xmlns:a16="http://schemas.microsoft.com/office/drawing/2014/main" id="{938CF45E-980A-127A-21CE-CBBEA2359F93}"/>
              </a:ext>
            </a:extLst>
          </p:cNvPr>
          <p:cNvPicPr>
            <a:picLocks noChangeAspect="1"/>
          </p:cNvPicPr>
          <p:nvPr/>
        </p:nvPicPr>
        <p:blipFill>
          <a:blip r:embed="rId23"/>
          <a:stretch>
            <a:fillRect/>
          </a:stretch>
        </p:blipFill>
        <p:spPr>
          <a:xfrm>
            <a:off x="10118756" y="4877707"/>
            <a:ext cx="380677" cy="380677"/>
          </a:xfrm>
          <a:prstGeom prst="rect">
            <a:avLst/>
          </a:prstGeom>
          <a:effectLst>
            <a:outerShdw blurRad="50800" dist="38100" dir="2700000" algn="tl" rotWithShape="0">
              <a:prstClr val="black">
                <a:alpha val="40000"/>
              </a:prstClr>
            </a:outerShdw>
          </a:effectLst>
        </p:spPr>
      </p:pic>
      <p:pic>
        <p:nvPicPr>
          <p:cNvPr id="27" name="Picture 26" descr="Text&#10;&#10;Description automatically generated with medium confidence">
            <a:extLst>
              <a:ext uri="{FF2B5EF4-FFF2-40B4-BE49-F238E27FC236}">
                <a16:creationId xmlns:a16="http://schemas.microsoft.com/office/drawing/2014/main" id="{56EAF4F5-62E8-AC1B-A54A-C99F9316AF68}"/>
              </a:ext>
            </a:extLst>
          </p:cNvPr>
          <p:cNvPicPr>
            <a:picLocks noChangeAspect="1"/>
          </p:cNvPicPr>
          <p:nvPr/>
        </p:nvPicPr>
        <p:blipFill>
          <a:blip r:embed="rId23"/>
          <a:stretch>
            <a:fillRect/>
          </a:stretch>
        </p:blipFill>
        <p:spPr>
          <a:xfrm>
            <a:off x="11199801" y="4312481"/>
            <a:ext cx="380677" cy="380677"/>
          </a:xfrm>
          <a:prstGeom prst="rect">
            <a:avLst/>
          </a:prstGeom>
          <a:effectLst>
            <a:outerShdw blurRad="50800" dist="38100" dir="2700000" algn="tl" rotWithShape="0">
              <a:prstClr val="black">
                <a:alpha val="40000"/>
              </a:prstClr>
            </a:outerShdw>
          </a:effectLst>
        </p:spPr>
      </p:pic>
      <p:sp>
        <p:nvSpPr>
          <p:cNvPr id="28" name="Rectangle 27">
            <a:extLst>
              <a:ext uri="{FF2B5EF4-FFF2-40B4-BE49-F238E27FC236}">
                <a16:creationId xmlns:a16="http://schemas.microsoft.com/office/drawing/2014/main" id="{B7505020-F8AE-B25E-2012-83CAD6694A18}"/>
              </a:ext>
            </a:extLst>
          </p:cNvPr>
          <p:cNvSpPr/>
          <p:nvPr/>
        </p:nvSpPr>
        <p:spPr>
          <a:xfrm>
            <a:off x="5917487" y="5258385"/>
            <a:ext cx="1814115" cy="837616"/>
          </a:xfrm>
          <a:prstGeom prst="rect">
            <a:avLst/>
          </a:prstGeom>
          <a:noFill/>
          <a:ln w="28575">
            <a:solidFill>
              <a:srgbClr val="C00000"/>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lvl="0" indent="-266700" algn="l" defTabSz="914400" rtl="0" eaLnBrk="1" fontAlgn="auto" latinLnBrk="0" hangingPunct="1">
              <a:lnSpc>
                <a:spcPct val="100000"/>
              </a:lnSpc>
              <a:spcBef>
                <a:spcPts val="600"/>
              </a:spcBef>
              <a:spcAft>
                <a:spcPts val="0"/>
              </a:spcAft>
              <a:buClrTx/>
              <a:buSzTx/>
              <a:buFont typeface="Wingdings" pitchFamily="2" charset="2"/>
              <a:buChar char="§"/>
              <a:tabLst/>
              <a:defRPr/>
            </a:pPr>
            <a:endParaRPr kumimoji="0" lang="en-US" sz="1800" b="0" i="0" u="none" strike="noStrike" kern="1200" cap="none" spc="0" normalizeH="0" baseline="0" noProof="0" dirty="0">
              <a:ln>
                <a:noFill/>
              </a:ln>
              <a:solidFill>
                <a:srgbClr val="000000"/>
              </a:solidFill>
              <a:effectLst/>
              <a:uLnTx/>
              <a:uFillTx/>
              <a:latin typeface="Arial"/>
              <a:ea typeface="+mn-ea"/>
              <a:cs typeface="Arial" pitchFamily="34" charset="0"/>
            </a:endParaRPr>
          </a:p>
        </p:txBody>
      </p:sp>
      <p:sp>
        <p:nvSpPr>
          <p:cNvPr id="35" name="Rectangle 34">
            <a:extLst>
              <a:ext uri="{FF2B5EF4-FFF2-40B4-BE49-F238E27FC236}">
                <a16:creationId xmlns:a16="http://schemas.microsoft.com/office/drawing/2014/main" id="{2609B374-990B-AB30-EE76-65F13E370546}"/>
              </a:ext>
            </a:extLst>
          </p:cNvPr>
          <p:cNvSpPr/>
          <p:nvPr/>
        </p:nvSpPr>
        <p:spPr>
          <a:xfrm>
            <a:off x="535642" y="2899745"/>
            <a:ext cx="1814115" cy="1605954"/>
          </a:xfrm>
          <a:prstGeom prst="rect">
            <a:avLst/>
          </a:prstGeom>
          <a:noFill/>
          <a:ln w="28575">
            <a:solidFill>
              <a:srgbClr val="C00000"/>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lvl="0" indent="-266700" algn="l" defTabSz="914400" rtl="0" eaLnBrk="1" fontAlgn="auto" latinLnBrk="0" hangingPunct="1">
              <a:lnSpc>
                <a:spcPct val="100000"/>
              </a:lnSpc>
              <a:spcBef>
                <a:spcPts val="600"/>
              </a:spcBef>
              <a:spcAft>
                <a:spcPts val="0"/>
              </a:spcAft>
              <a:buClrTx/>
              <a:buSzTx/>
              <a:buFont typeface="Wingdings" pitchFamily="2" charset="2"/>
              <a:buChar char="§"/>
              <a:tabLst/>
              <a:defRPr/>
            </a:pPr>
            <a:endParaRPr kumimoji="0" lang="en-US" sz="1800" b="0" i="0" u="none" strike="noStrike" kern="1200" cap="none" spc="0" normalizeH="0" baseline="0" noProof="0" dirty="0">
              <a:ln>
                <a:noFill/>
              </a:ln>
              <a:solidFill>
                <a:srgbClr val="000000"/>
              </a:solidFill>
              <a:effectLst/>
              <a:uLnTx/>
              <a:uFillTx/>
              <a:latin typeface="Arial"/>
              <a:ea typeface="+mn-ea"/>
              <a:cs typeface="Arial" pitchFamily="34" charset="0"/>
            </a:endParaRPr>
          </a:p>
        </p:txBody>
      </p:sp>
    </p:spTree>
    <p:extLst>
      <p:ext uri="{BB962C8B-B14F-4D97-AF65-F5344CB8AC3E}">
        <p14:creationId xmlns:p14="http://schemas.microsoft.com/office/powerpoint/2010/main" val="4008354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MQTT</a:t>
            </a:r>
          </a:p>
        </p:txBody>
      </p:sp>
      <p:sp>
        <p:nvSpPr>
          <p:cNvPr id="4" name="Text Placeholder 3">
            <a:extLst>
              <a:ext uri="{FF2B5EF4-FFF2-40B4-BE49-F238E27FC236}">
                <a16:creationId xmlns:a16="http://schemas.microsoft.com/office/drawing/2014/main" id="{A71D6825-4B0A-9252-D188-74DAFE610622}"/>
              </a:ext>
            </a:extLst>
          </p:cNvPr>
          <p:cNvSpPr>
            <a:spLocks noGrp="1"/>
          </p:cNvSpPr>
          <p:nvPr>
            <p:ph type="body" sz="quarter" idx="15"/>
          </p:nvPr>
        </p:nvSpPr>
        <p:spPr>
          <a:xfrm>
            <a:off x="2" y="1090799"/>
            <a:ext cx="11135759" cy="3142810"/>
          </a:xfrm>
        </p:spPr>
        <p:txBody>
          <a:bodyPr/>
          <a:lstStyle/>
          <a:p>
            <a:r>
              <a:rPr lang="en-US" sz="1600" dirty="0"/>
              <a:t>“A lightweight, publish-subscribe, machine to machine network protocol.”</a:t>
            </a:r>
          </a:p>
          <a:p>
            <a:r>
              <a:rPr lang="en-US" sz="1600" dirty="0"/>
              <a:t>Originally designed for remote sites with low-bandwidth or unreliable networks.</a:t>
            </a:r>
          </a:p>
          <a:p>
            <a:r>
              <a:rPr lang="en-US" sz="1600" dirty="0"/>
              <a:t>Why is MQTT ideal for IoT?</a:t>
            </a:r>
          </a:p>
          <a:p>
            <a:pPr lvl="1"/>
            <a:r>
              <a:rPr lang="en-US" sz="1600" dirty="0"/>
              <a:t>Simple</a:t>
            </a:r>
          </a:p>
          <a:p>
            <a:pPr lvl="2"/>
            <a:r>
              <a:rPr lang="en-US" sz="1600" dirty="0"/>
              <a:t>Pub/sub simplifies device communications and routing</a:t>
            </a:r>
          </a:p>
          <a:p>
            <a:pPr lvl="2"/>
            <a:r>
              <a:rPr lang="en-US" sz="1600" dirty="0"/>
              <a:t>Supports multiple data formats</a:t>
            </a:r>
          </a:p>
          <a:p>
            <a:pPr lvl="1"/>
            <a:r>
              <a:rPr lang="en-US" sz="1600" dirty="0"/>
              <a:t>Secure</a:t>
            </a:r>
          </a:p>
          <a:p>
            <a:pPr lvl="2"/>
            <a:r>
              <a:rPr lang="en-US" sz="1600" dirty="0"/>
              <a:t>Supports TLS (certificate-based encryption)</a:t>
            </a:r>
          </a:p>
          <a:p>
            <a:pPr lvl="1"/>
            <a:r>
              <a:rPr lang="en-US" sz="1600" dirty="0"/>
              <a:t>Performant</a:t>
            </a:r>
          </a:p>
          <a:p>
            <a:pPr lvl="1"/>
            <a:endParaRPr lang="en-US" sz="1600" dirty="0"/>
          </a:p>
        </p:txBody>
      </p:sp>
    </p:spTree>
    <p:extLst>
      <p:ext uri="{BB962C8B-B14F-4D97-AF65-F5344CB8AC3E}">
        <p14:creationId xmlns:p14="http://schemas.microsoft.com/office/powerpoint/2010/main" val="5543668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Traditional MES Communication Model</a:t>
            </a:r>
          </a:p>
        </p:txBody>
      </p:sp>
      <p:pic>
        <p:nvPicPr>
          <p:cNvPr id="154" name="Graphic 153" descr="Network diagram outline">
            <a:extLst>
              <a:ext uri="{FF2B5EF4-FFF2-40B4-BE49-F238E27FC236}">
                <a16:creationId xmlns:a16="http://schemas.microsoft.com/office/drawing/2014/main" id="{8C8C8AD2-471A-E255-2704-BC71130939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77020" y="3034792"/>
            <a:ext cx="588489" cy="588489"/>
          </a:xfrm>
          <a:prstGeom prst="rect">
            <a:avLst/>
          </a:prstGeom>
        </p:spPr>
      </p:pic>
      <p:cxnSp>
        <p:nvCxnSpPr>
          <p:cNvPr id="175" name="Straight Connector 174">
            <a:extLst>
              <a:ext uri="{FF2B5EF4-FFF2-40B4-BE49-F238E27FC236}">
                <a16:creationId xmlns:a16="http://schemas.microsoft.com/office/drawing/2014/main" id="{8DE99167-A22E-322C-AE7D-7A09885FC159}"/>
              </a:ext>
            </a:extLst>
          </p:cNvPr>
          <p:cNvCxnSpPr>
            <a:cxnSpLocks/>
          </p:cNvCxnSpPr>
          <p:nvPr/>
        </p:nvCxnSpPr>
        <p:spPr>
          <a:xfrm>
            <a:off x="10434320" y="3321467"/>
            <a:ext cx="459386"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22ED788F-547E-96A8-C5C5-C3C8C154EA85}"/>
              </a:ext>
            </a:extLst>
          </p:cNvPr>
          <p:cNvGrpSpPr/>
          <p:nvPr/>
        </p:nvGrpSpPr>
        <p:grpSpPr>
          <a:xfrm>
            <a:off x="10956010" y="2919554"/>
            <a:ext cx="914155" cy="1009846"/>
            <a:chOff x="6784259" y="2270625"/>
            <a:chExt cx="914155" cy="1009846"/>
          </a:xfrm>
        </p:grpSpPr>
        <p:grpSp>
          <p:nvGrpSpPr>
            <p:cNvPr id="183" name="Group 182">
              <a:extLst>
                <a:ext uri="{FF2B5EF4-FFF2-40B4-BE49-F238E27FC236}">
                  <a16:creationId xmlns:a16="http://schemas.microsoft.com/office/drawing/2014/main" id="{9D92D8B7-233A-168A-EF85-5EC0FDF4582F}"/>
                </a:ext>
              </a:extLst>
            </p:cNvPr>
            <p:cNvGrpSpPr/>
            <p:nvPr/>
          </p:nvGrpSpPr>
          <p:grpSpPr>
            <a:xfrm>
              <a:off x="6784260" y="2516702"/>
              <a:ext cx="914154" cy="763769"/>
              <a:chOff x="8118020" y="5095886"/>
              <a:chExt cx="914154" cy="763769"/>
            </a:xfrm>
          </p:grpSpPr>
          <p:pic>
            <p:nvPicPr>
              <p:cNvPr id="172" name="Graphic 171" descr="Server outline">
                <a:extLst>
                  <a:ext uri="{FF2B5EF4-FFF2-40B4-BE49-F238E27FC236}">
                    <a16:creationId xmlns:a16="http://schemas.microsoft.com/office/drawing/2014/main" id="{EDD8E2F0-4000-5804-9AB0-EE64678A20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18020" y="5271166"/>
                <a:ext cx="588489" cy="588489"/>
              </a:xfrm>
              <a:prstGeom prst="rect">
                <a:avLst/>
              </a:prstGeom>
            </p:spPr>
          </p:pic>
          <p:pic>
            <p:nvPicPr>
              <p:cNvPr id="173" name="Graphic 172" descr="Database outline">
                <a:extLst>
                  <a:ext uri="{FF2B5EF4-FFF2-40B4-BE49-F238E27FC236}">
                    <a16:creationId xmlns:a16="http://schemas.microsoft.com/office/drawing/2014/main" id="{CF3B9355-FD8B-6B5E-BAA1-DABBEEC92A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45755" y="5114168"/>
                <a:ext cx="486418" cy="486418"/>
              </a:xfrm>
              <a:prstGeom prst="rect">
                <a:avLst/>
              </a:prstGeom>
            </p:spPr>
          </p:pic>
          <p:sp>
            <p:nvSpPr>
              <p:cNvPr id="182" name="Rectangle 181">
                <a:extLst>
                  <a:ext uri="{FF2B5EF4-FFF2-40B4-BE49-F238E27FC236}">
                    <a16:creationId xmlns:a16="http://schemas.microsoft.com/office/drawing/2014/main" id="{A1F9946D-EE4A-1919-386A-06C08137C00B}"/>
                  </a:ext>
                </a:extLst>
              </p:cNvPr>
              <p:cNvSpPr/>
              <p:nvPr/>
            </p:nvSpPr>
            <p:spPr>
              <a:xfrm>
                <a:off x="8118020" y="5095886"/>
                <a:ext cx="914154" cy="736610"/>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grpSp>
        <p:sp>
          <p:nvSpPr>
            <p:cNvPr id="7" name="TextBox 6">
              <a:extLst>
                <a:ext uri="{FF2B5EF4-FFF2-40B4-BE49-F238E27FC236}">
                  <a16:creationId xmlns:a16="http://schemas.microsoft.com/office/drawing/2014/main" id="{9CBD2FAA-DF1C-8539-634C-9B5E284E6548}"/>
                </a:ext>
              </a:extLst>
            </p:cNvPr>
            <p:cNvSpPr txBox="1"/>
            <p:nvPr/>
          </p:nvSpPr>
          <p:spPr>
            <a:xfrm>
              <a:off x="6784259" y="2270625"/>
              <a:ext cx="914154" cy="276999"/>
            </a:xfrm>
            <a:prstGeom prst="rect">
              <a:avLst/>
            </a:prstGeom>
            <a:noFill/>
          </p:spPr>
          <p:txBody>
            <a:bodyPr wrap="square" rtlCol="0">
              <a:spAutoFit/>
            </a:bodyPr>
            <a:lstStyle/>
            <a:p>
              <a:pPr algn="ctr"/>
              <a:r>
                <a:rPr lang="en-US" sz="1200" dirty="0"/>
                <a:t>IT System</a:t>
              </a:r>
            </a:p>
          </p:txBody>
        </p:sp>
      </p:grpSp>
      <p:sp>
        <p:nvSpPr>
          <p:cNvPr id="9" name="TextBox 8">
            <a:extLst>
              <a:ext uri="{FF2B5EF4-FFF2-40B4-BE49-F238E27FC236}">
                <a16:creationId xmlns:a16="http://schemas.microsoft.com/office/drawing/2014/main" id="{14D5340F-CF5C-8908-356E-CA511B060B62}"/>
              </a:ext>
            </a:extLst>
          </p:cNvPr>
          <p:cNvSpPr txBox="1"/>
          <p:nvPr/>
        </p:nvSpPr>
        <p:spPr>
          <a:xfrm>
            <a:off x="9784080" y="2762984"/>
            <a:ext cx="1034969" cy="276999"/>
          </a:xfrm>
          <a:prstGeom prst="rect">
            <a:avLst/>
          </a:prstGeom>
          <a:noFill/>
        </p:spPr>
        <p:txBody>
          <a:bodyPr wrap="square" rtlCol="0">
            <a:spAutoFit/>
          </a:bodyPr>
          <a:lstStyle/>
          <a:p>
            <a:pPr algn="ctr"/>
            <a:r>
              <a:rPr lang="en-US" sz="1200" dirty="0"/>
              <a:t>Networking</a:t>
            </a:r>
          </a:p>
        </p:txBody>
      </p:sp>
      <p:grpSp>
        <p:nvGrpSpPr>
          <p:cNvPr id="4" name="Group 3">
            <a:extLst>
              <a:ext uri="{FF2B5EF4-FFF2-40B4-BE49-F238E27FC236}">
                <a16:creationId xmlns:a16="http://schemas.microsoft.com/office/drawing/2014/main" id="{3677CFDC-1102-E3B4-2735-A25E2C0BAB33}"/>
              </a:ext>
            </a:extLst>
          </p:cNvPr>
          <p:cNvGrpSpPr/>
          <p:nvPr/>
        </p:nvGrpSpPr>
        <p:grpSpPr>
          <a:xfrm>
            <a:off x="4716825" y="1461888"/>
            <a:ext cx="2556627" cy="1189119"/>
            <a:chOff x="7530034" y="4542825"/>
            <a:chExt cx="2556627" cy="1189119"/>
          </a:xfrm>
        </p:grpSpPr>
        <p:sp>
          <p:nvSpPr>
            <p:cNvPr id="64" name="TextBox 63">
              <a:extLst>
                <a:ext uri="{FF2B5EF4-FFF2-40B4-BE49-F238E27FC236}">
                  <a16:creationId xmlns:a16="http://schemas.microsoft.com/office/drawing/2014/main" id="{EAE56640-853E-57E2-400F-652B836D632C}"/>
                </a:ext>
              </a:extLst>
            </p:cNvPr>
            <p:cNvSpPr txBox="1"/>
            <p:nvPr/>
          </p:nvSpPr>
          <p:spPr>
            <a:xfrm>
              <a:off x="7530040" y="4778549"/>
              <a:ext cx="2556621" cy="246221"/>
            </a:xfrm>
            <a:prstGeom prst="rect">
              <a:avLst/>
            </a:prstGeom>
            <a:noFill/>
          </p:spPr>
          <p:txBody>
            <a:bodyPr wrap="square" rtlCol="0">
              <a:spAutoFit/>
            </a:bodyPr>
            <a:lstStyle/>
            <a:p>
              <a:r>
                <a:rPr lang="en-US" sz="1000" dirty="0">
                  <a:solidFill>
                    <a:srgbClr val="C00000"/>
                  </a:solidFill>
                </a:rPr>
                <a:t>IP Address:	10.10.1.10</a:t>
              </a:r>
            </a:p>
          </p:txBody>
        </p:sp>
        <p:sp>
          <p:nvSpPr>
            <p:cNvPr id="65" name="TextBox 64">
              <a:extLst>
                <a:ext uri="{FF2B5EF4-FFF2-40B4-BE49-F238E27FC236}">
                  <a16:creationId xmlns:a16="http://schemas.microsoft.com/office/drawing/2014/main" id="{582CD0D4-839D-7DB4-575A-5D186ABC648E}"/>
                </a:ext>
              </a:extLst>
            </p:cNvPr>
            <p:cNvSpPr txBox="1"/>
            <p:nvPr/>
          </p:nvSpPr>
          <p:spPr>
            <a:xfrm>
              <a:off x="7530038" y="5005220"/>
              <a:ext cx="2556620" cy="246221"/>
            </a:xfrm>
            <a:prstGeom prst="rect">
              <a:avLst/>
            </a:prstGeom>
            <a:noFill/>
            <a:ln>
              <a:noFill/>
            </a:ln>
          </p:spPr>
          <p:txBody>
            <a:bodyPr wrap="square" rtlCol="0">
              <a:spAutoFit/>
            </a:bodyPr>
            <a:lstStyle/>
            <a:p>
              <a:r>
                <a:rPr lang="en-US" sz="1000" dirty="0">
                  <a:solidFill>
                    <a:srgbClr val="00B050"/>
                  </a:solidFill>
                </a:rPr>
                <a:t>Protocol:	</a:t>
              </a:r>
              <a:r>
                <a:rPr lang="en-US" sz="1000" dirty="0" err="1">
                  <a:solidFill>
                    <a:srgbClr val="00B050"/>
                  </a:solidFill>
                </a:rPr>
                <a:t>ModbusTCP</a:t>
              </a:r>
              <a:endParaRPr lang="en-US" sz="1000" dirty="0">
                <a:solidFill>
                  <a:srgbClr val="00B050"/>
                </a:solidFill>
              </a:endParaRPr>
            </a:p>
          </p:txBody>
        </p:sp>
        <p:sp>
          <p:nvSpPr>
            <p:cNvPr id="67" name="TextBox 66">
              <a:extLst>
                <a:ext uri="{FF2B5EF4-FFF2-40B4-BE49-F238E27FC236}">
                  <a16:creationId xmlns:a16="http://schemas.microsoft.com/office/drawing/2014/main" id="{7DD882BD-BD8C-1B7A-EFE1-7B03FA3AE605}"/>
                </a:ext>
              </a:extLst>
            </p:cNvPr>
            <p:cNvSpPr txBox="1"/>
            <p:nvPr/>
          </p:nvSpPr>
          <p:spPr>
            <a:xfrm>
              <a:off x="7530039" y="5249997"/>
              <a:ext cx="2556619" cy="246221"/>
            </a:xfrm>
            <a:prstGeom prst="rect">
              <a:avLst/>
            </a:prstGeom>
            <a:noFill/>
            <a:ln>
              <a:noFill/>
            </a:ln>
          </p:spPr>
          <p:txBody>
            <a:bodyPr wrap="square" rtlCol="0">
              <a:spAutoFit/>
            </a:bodyPr>
            <a:lstStyle/>
            <a:p>
              <a:r>
                <a:rPr lang="en-US" sz="1000" dirty="0">
                  <a:solidFill>
                    <a:srgbClr val="7030A0"/>
                  </a:solidFill>
                </a:rPr>
                <a:t>Data Address:	432770</a:t>
              </a:r>
            </a:p>
          </p:txBody>
        </p:sp>
        <p:sp>
          <p:nvSpPr>
            <p:cNvPr id="68" name="TextBox 67">
              <a:extLst>
                <a:ext uri="{FF2B5EF4-FFF2-40B4-BE49-F238E27FC236}">
                  <a16:creationId xmlns:a16="http://schemas.microsoft.com/office/drawing/2014/main" id="{ADDA789B-CF26-17B9-A9CD-9B5108933B25}"/>
                </a:ext>
              </a:extLst>
            </p:cNvPr>
            <p:cNvSpPr txBox="1"/>
            <p:nvPr/>
          </p:nvSpPr>
          <p:spPr>
            <a:xfrm>
              <a:off x="7530037" y="5485723"/>
              <a:ext cx="2556619" cy="246221"/>
            </a:xfrm>
            <a:prstGeom prst="rect">
              <a:avLst/>
            </a:prstGeom>
            <a:noFill/>
            <a:ln>
              <a:noFill/>
            </a:ln>
          </p:spPr>
          <p:txBody>
            <a:bodyPr wrap="square" rtlCol="0">
              <a:spAutoFit/>
            </a:bodyPr>
            <a:lstStyle/>
            <a:p>
              <a:r>
                <a:rPr lang="en-US" sz="1000" dirty="0">
                  <a:solidFill>
                    <a:srgbClr val="7030A0"/>
                  </a:solidFill>
                </a:rPr>
                <a:t>Data Format:	2x 16-bit words</a:t>
              </a:r>
            </a:p>
          </p:txBody>
        </p:sp>
        <p:sp>
          <p:nvSpPr>
            <p:cNvPr id="3" name="TextBox 2">
              <a:extLst>
                <a:ext uri="{FF2B5EF4-FFF2-40B4-BE49-F238E27FC236}">
                  <a16:creationId xmlns:a16="http://schemas.microsoft.com/office/drawing/2014/main" id="{16BF23FD-9018-0096-F5B9-A68118016ECB}"/>
                </a:ext>
              </a:extLst>
            </p:cNvPr>
            <p:cNvSpPr txBox="1"/>
            <p:nvPr/>
          </p:nvSpPr>
          <p:spPr>
            <a:xfrm>
              <a:off x="7530034" y="4542825"/>
              <a:ext cx="2556621" cy="246221"/>
            </a:xfrm>
            <a:prstGeom prst="rect">
              <a:avLst/>
            </a:prstGeom>
            <a:noFill/>
          </p:spPr>
          <p:txBody>
            <a:bodyPr wrap="square" rtlCol="0">
              <a:spAutoFit/>
            </a:bodyPr>
            <a:lstStyle/>
            <a:p>
              <a:r>
                <a:rPr lang="en-US" sz="1000" u="sng" dirty="0"/>
                <a:t>Transaction</a:t>
              </a:r>
            </a:p>
          </p:txBody>
        </p:sp>
      </p:grpSp>
      <p:grpSp>
        <p:nvGrpSpPr>
          <p:cNvPr id="15" name="Group 14">
            <a:extLst>
              <a:ext uri="{FF2B5EF4-FFF2-40B4-BE49-F238E27FC236}">
                <a16:creationId xmlns:a16="http://schemas.microsoft.com/office/drawing/2014/main" id="{EC7FD94A-3E38-484A-8FA2-32638B3BD4B9}"/>
              </a:ext>
            </a:extLst>
          </p:cNvPr>
          <p:cNvGrpSpPr/>
          <p:nvPr/>
        </p:nvGrpSpPr>
        <p:grpSpPr>
          <a:xfrm>
            <a:off x="7017999" y="1091784"/>
            <a:ext cx="1915992" cy="1681284"/>
            <a:chOff x="2135238" y="1963268"/>
            <a:chExt cx="2396108" cy="2117505"/>
          </a:xfrm>
        </p:grpSpPr>
        <p:pic>
          <p:nvPicPr>
            <p:cNvPr id="45" name="Graphic 44" descr="Computer outline">
              <a:extLst>
                <a:ext uri="{FF2B5EF4-FFF2-40B4-BE49-F238E27FC236}">
                  <a16:creationId xmlns:a16="http://schemas.microsoft.com/office/drawing/2014/main" id="{691297A5-E7E5-5C3F-269B-9202712C7BA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101" name="Graphic 100" descr="Robot Hand outline">
              <a:extLst>
                <a:ext uri="{FF2B5EF4-FFF2-40B4-BE49-F238E27FC236}">
                  <a16:creationId xmlns:a16="http://schemas.microsoft.com/office/drawing/2014/main" id="{E3B3441E-D714-F9B2-A94A-D5E458B24C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146" name="Graphic 145" descr="Network diagram outline">
              <a:extLst>
                <a:ext uri="{FF2B5EF4-FFF2-40B4-BE49-F238E27FC236}">
                  <a16:creationId xmlns:a16="http://schemas.microsoft.com/office/drawing/2014/main" id="{D6E7181E-B0D4-01DB-F024-CE036558AD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147" name="Straight Connector 146">
              <a:extLst>
                <a:ext uri="{FF2B5EF4-FFF2-40B4-BE49-F238E27FC236}">
                  <a16:creationId xmlns:a16="http://schemas.microsoft.com/office/drawing/2014/main" id="{7753DFD0-586E-AD02-B9EE-752E3F4520FB}"/>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AF1E2388-27E6-B254-2D07-A8B1EA73F24F}"/>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70" name="Rectangle 169">
              <a:extLst>
                <a:ext uri="{FF2B5EF4-FFF2-40B4-BE49-F238E27FC236}">
                  <a16:creationId xmlns:a16="http://schemas.microsoft.com/office/drawing/2014/main" id="{A451C981-C901-9AF4-7B9F-A23F108D74A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5" name="TextBox 4">
              <a:extLst>
                <a:ext uri="{FF2B5EF4-FFF2-40B4-BE49-F238E27FC236}">
                  <a16:creationId xmlns:a16="http://schemas.microsoft.com/office/drawing/2014/main" id="{17EFE07A-BB89-C40B-18DC-580A56552826}"/>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11" name="Graphic 10" descr="Binary outline">
              <a:extLst>
                <a:ext uri="{FF2B5EF4-FFF2-40B4-BE49-F238E27FC236}">
                  <a16:creationId xmlns:a16="http://schemas.microsoft.com/office/drawing/2014/main" id="{5735ADE2-FEA7-E83F-5FAF-3A1394B7408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12" name="Straight Connector 11">
              <a:extLst>
                <a:ext uri="{FF2B5EF4-FFF2-40B4-BE49-F238E27FC236}">
                  <a16:creationId xmlns:a16="http://schemas.microsoft.com/office/drawing/2014/main" id="{C05104EE-9093-4EE1-71F4-887254E582C7}"/>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31" name="Group 30">
            <a:extLst>
              <a:ext uri="{FF2B5EF4-FFF2-40B4-BE49-F238E27FC236}">
                <a16:creationId xmlns:a16="http://schemas.microsoft.com/office/drawing/2014/main" id="{85D4E3E9-9C43-97D6-CF36-E32ADBB4B85F}"/>
              </a:ext>
            </a:extLst>
          </p:cNvPr>
          <p:cNvGrpSpPr/>
          <p:nvPr/>
        </p:nvGrpSpPr>
        <p:grpSpPr>
          <a:xfrm>
            <a:off x="4670654" y="3331926"/>
            <a:ext cx="2681139" cy="1189119"/>
            <a:chOff x="7530034" y="4542825"/>
            <a:chExt cx="2681139" cy="1189119"/>
          </a:xfrm>
        </p:grpSpPr>
        <p:sp>
          <p:nvSpPr>
            <p:cNvPr id="32" name="TextBox 31">
              <a:extLst>
                <a:ext uri="{FF2B5EF4-FFF2-40B4-BE49-F238E27FC236}">
                  <a16:creationId xmlns:a16="http://schemas.microsoft.com/office/drawing/2014/main" id="{FA5D28F1-3B63-D9C0-46A2-9B854B72E4F2}"/>
                </a:ext>
              </a:extLst>
            </p:cNvPr>
            <p:cNvSpPr txBox="1"/>
            <p:nvPr/>
          </p:nvSpPr>
          <p:spPr>
            <a:xfrm>
              <a:off x="7530040" y="4778549"/>
              <a:ext cx="2681133" cy="246221"/>
            </a:xfrm>
            <a:prstGeom prst="rect">
              <a:avLst/>
            </a:prstGeom>
            <a:noFill/>
          </p:spPr>
          <p:txBody>
            <a:bodyPr wrap="square" rtlCol="0">
              <a:spAutoFit/>
            </a:bodyPr>
            <a:lstStyle/>
            <a:p>
              <a:r>
                <a:rPr lang="en-US" sz="1000" dirty="0">
                  <a:solidFill>
                    <a:srgbClr val="C00000"/>
                  </a:solidFill>
                </a:rPr>
                <a:t>IP Address:	10.10.2.10</a:t>
              </a:r>
            </a:p>
          </p:txBody>
        </p:sp>
        <p:sp>
          <p:nvSpPr>
            <p:cNvPr id="33" name="TextBox 32">
              <a:extLst>
                <a:ext uri="{FF2B5EF4-FFF2-40B4-BE49-F238E27FC236}">
                  <a16:creationId xmlns:a16="http://schemas.microsoft.com/office/drawing/2014/main" id="{F9741870-CD3C-E3AA-9C5B-472661B086E9}"/>
                </a:ext>
              </a:extLst>
            </p:cNvPr>
            <p:cNvSpPr txBox="1"/>
            <p:nvPr/>
          </p:nvSpPr>
          <p:spPr>
            <a:xfrm>
              <a:off x="7530038" y="5005220"/>
              <a:ext cx="2681132" cy="246221"/>
            </a:xfrm>
            <a:prstGeom prst="rect">
              <a:avLst/>
            </a:prstGeom>
            <a:noFill/>
            <a:ln>
              <a:noFill/>
            </a:ln>
          </p:spPr>
          <p:txBody>
            <a:bodyPr wrap="square" rtlCol="0">
              <a:spAutoFit/>
            </a:bodyPr>
            <a:lstStyle/>
            <a:p>
              <a:r>
                <a:rPr lang="en-US" sz="1000" dirty="0">
                  <a:solidFill>
                    <a:srgbClr val="00B050"/>
                  </a:solidFill>
                </a:rPr>
                <a:t>Protocol:	Beckhoff ADS</a:t>
              </a:r>
            </a:p>
          </p:txBody>
        </p:sp>
        <p:sp>
          <p:nvSpPr>
            <p:cNvPr id="34" name="TextBox 33">
              <a:extLst>
                <a:ext uri="{FF2B5EF4-FFF2-40B4-BE49-F238E27FC236}">
                  <a16:creationId xmlns:a16="http://schemas.microsoft.com/office/drawing/2014/main" id="{6B3CDD78-3EFB-2737-724B-85B0642227CB}"/>
                </a:ext>
              </a:extLst>
            </p:cNvPr>
            <p:cNvSpPr txBox="1"/>
            <p:nvPr/>
          </p:nvSpPr>
          <p:spPr>
            <a:xfrm>
              <a:off x="7530039" y="5249997"/>
              <a:ext cx="2681131" cy="246221"/>
            </a:xfrm>
            <a:prstGeom prst="rect">
              <a:avLst/>
            </a:prstGeom>
            <a:noFill/>
            <a:ln>
              <a:noFill/>
            </a:ln>
          </p:spPr>
          <p:txBody>
            <a:bodyPr wrap="square" rtlCol="0">
              <a:spAutoFit/>
            </a:bodyPr>
            <a:lstStyle/>
            <a:p>
              <a:r>
                <a:rPr lang="en-US" sz="1000" dirty="0">
                  <a:solidFill>
                    <a:srgbClr val="7030A0"/>
                  </a:solidFill>
                </a:rPr>
                <a:t>Data Address:	‘PLC1.MAIN.eStatus’</a:t>
              </a:r>
            </a:p>
          </p:txBody>
        </p:sp>
        <p:sp>
          <p:nvSpPr>
            <p:cNvPr id="35" name="TextBox 34">
              <a:extLst>
                <a:ext uri="{FF2B5EF4-FFF2-40B4-BE49-F238E27FC236}">
                  <a16:creationId xmlns:a16="http://schemas.microsoft.com/office/drawing/2014/main" id="{7AD69C3B-B531-B75D-359C-923C2BE11F93}"/>
                </a:ext>
              </a:extLst>
            </p:cNvPr>
            <p:cNvSpPr txBox="1"/>
            <p:nvPr/>
          </p:nvSpPr>
          <p:spPr>
            <a:xfrm>
              <a:off x="7530038" y="5485723"/>
              <a:ext cx="2681130" cy="246221"/>
            </a:xfrm>
            <a:prstGeom prst="rect">
              <a:avLst/>
            </a:prstGeom>
            <a:noFill/>
            <a:ln>
              <a:noFill/>
            </a:ln>
          </p:spPr>
          <p:txBody>
            <a:bodyPr wrap="square" rtlCol="0">
              <a:spAutoFit/>
            </a:bodyPr>
            <a:lstStyle/>
            <a:p>
              <a:r>
                <a:rPr lang="en-US" sz="1000" dirty="0">
                  <a:solidFill>
                    <a:srgbClr val="7030A0"/>
                  </a:solidFill>
                </a:rPr>
                <a:t>Data Format:	1x 32-bit DINT</a:t>
              </a:r>
            </a:p>
          </p:txBody>
        </p:sp>
        <p:sp>
          <p:nvSpPr>
            <p:cNvPr id="36" name="TextBox 35">
              <a:extLst>
                <a:ext uri="{FF2B5EF4-FFF2-40B4-BE49-F238E27FC236}">
                  <a16:creationId xmlns:a16="http://schemas.microsoft.com/office/drawing/2014/main" id="{A00FA4B6-CE5D-42C4-9A45-4634609B72BC}"/>
                </a:ext>
              </a:extLst>
            </p:cNvPr>
            <p:cNvSpPr txBox="1"/>
            <p:nvPr/>
          </p:nvSpPr>
          <p:spPr>
            <a:xfrm>
              <a:off x="7530034" y="4542825"/>
              <a:ext cx="2681133" cy="246221"/>
            </a:xfrm>
            <a:prstGeom prst="rect">
              <a:avLst/>
            </a:prstGeom>
            <a:noFill/>
          </p:spPr>
          <p:txBody>
            <a:bodyPr wrap="square" rtlCol="0">
              <a:spAutoFit/>
            </a:bodyPr>
            <a:lstStyle/>
            <a:p>
              <a:r>
                <a:rPr lang="en-US" sz="1000" u="sng" dirty="0"/>
                <a:t>Transaction</a:t>
              </a:r>
            </a:p>
          </p:txBody>
        </p:sp>
      </p:gr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1" y="1091783"/>
            <a:ext cx="4570205" cy="4902509"/>
          </a:xfrm>
        </p:spPr>
        <p:txBody>
          <a:bodyPr/>
          <a:lstStyle/>
          <a:p>
            <a:r>
              <a:rPr lang="en-US" sz="1400" dirty="0"/>
              <a:t>To transact with each OT device, we need:</a:t>
            </a:r>
          </a:p>
          <a:p>
            <a:pPr lvl="1"/>
            <a:r>
              <a:rPr lang="en-US" sz="1400" dirty="0"/>
              <a:t>Networking</a:t>
            </a:r>
          </a:p>
          <a:p>
            <a:pPr lvl="2"/>
            <a:r>
              <a:rPr lang="en-US" sz="1400" dirty="0"/>
              <a:t>Security, firewall</a:t>
            </a:r>
          </a:p>
          <a:p>
            <a:pPr lvl="2"/>
            <a:r>
              <a:rPr lang="en-US" sz="1400" dirty="0"/>
              <a:t>Address routing, NAT</a:t>
            </a:r>
          </a:p>
          <a:p>
            <a:pPr lvl="1"/>
            <a:r>
              <a:rPr lang="en-US" sz="1400" dirty="0"/>
              <a:t>Application protocol driver</a:t>
            </a:r>
          </a:p>
          <a:p>
            <a:pPr lvl="2"/>
            <a:r>
              <a:rPr lang="en-US" sz="1400" dirty="0"/>
              <a:t>Port numbers</a:t>
            </a:r>
          </a:p>
          <a:p>
            <a:pPr lvl="2"/>
            <a:r>
              <a:rPr lang="en-US" sz="1400" dirty="0"/>
              <a:t>Device/node addressing</a:t>
            </a:r>
          </a:p>
          <a:p>
            <a:pPr lvl="2"/>
            <a:r>
              <a:rPr lang="en-US" sz="1400" dirty="0"/>
              <a:t>Vendor software</a:t>
            </a:r>
          </a:p>
          <a:p>
            <a:pPr lvl="1"/>
            <a:r>
              <a:rPr lang="en-US" sz="1400" dirty="0"/>
              <a:t>Data address and type information</a:t>
            </a:r>
          </a:p>
          <a:p>
            <a:pPr lvl="2"/>
            <a:r>
              <a:rPr lang="en-US" sz="1400" dirty="0"/>
              <a:t>Type systems</a:t>
            </a:r>
          </a:p>
          <a:p>
            <a:pPr lvl="2"/>
            <a:r>
              <a:rPr lang="en-US" sz="1400" dirty="0"/>
              <a:t>Byte packing, endianness  </a:t>
            </a:r>
          </a:p>
        </p:txBody>
      </p:sp>
      <p:grpSp>
        <p:nvGrpSpPr>
          <p:cNvPr id="57" name="Group 56">
            <a:extLst>
              <a:ext uri="{FF2B5EF4-FFF2-40B4-BE49-F238E27FC236}">
                <a16:creationId xmlns:a16="http://schemas.microsoft.com/office/drawing/2014/main" id="{B4D8F406-CD06-8148-BB28-74ED404DB052}"/>
              </a:ext>
            </a:extLst>
          </p:cNvPr>
          <p:cNvGrpSpPr/>
          <p:nvPr/>
        </p:nvGrpSpPr>
        <p:grpSpPr>
          <a:xfrm>
            <a:off x="7017999" y="3009824"/>
            <a:ext cx="1915992" cy="1681284"/>
            <a:chOff x="2135238" y="1963268"/>
            <a:chExt cx="2396108" cy="2117505"/>
          </a:xfrm>
        </p:grpSpPr>
        <p:pic>
          <p:nvPicPr>
            <p:cNvPr id="58" name="Graphic 57" descr="Computer outline">
              <a:extLst>
                <a:ext uri="{FF2B5EF4-FFF2-40B4-BE49-F238E27FC236}">
                  <a16:creationId xmlns:a16="http://schemas.microsoft.com/office/drawing/2014/main" id="{958DC58B-9ACE-048E-45D6-BC29D6E27B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60" name="Graphic 59" descr="Robot Hand outline">
              <a:extLst>
                <a:ext uri="{FF2B5EF4-FFF2-40B4-BE49-F238E27FC236}">
                  <a16:creationId xmlns:a16="http://schemas.microsoft.com/office/drawing/2014/main" id="{9D1E84CE-43D7-BD43-2721-20A76C2882A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61" name="Graphic 60" descr="Network diagram outline">
              <a:extLst>
                <a:ext uri="{FF2B5EF4-FFF2-40B4-BE49-F238E27FC236}">
                  <a16:creationId xmlns:a16="http://schemas.microsoft.com/office/drawing/2014/main" id="{3570A6FF-4FD2-8C50-640D-BA76137FCC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62" name="Straight Connector 61">
              <a:extLst>
                <a:ext uri="{FF2B5EF4-FFF2-40B4-BE49-F238E27FC236}">
                  <a16:creationId xmlns:a16="http://schemas.microsoft.com/office/drawing/2014/main" id="{E0BFDA76-9C70-AB44-FE8F-79EDE5339EFF}"/>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AFE5CC8-81E6-3915-47B2-89F6308EC062}"/>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69" name="Rectangle 68">
              <a:extLst>
                <a:ext uri="{FF2B5EF4-FFF2-40B4-BE49-F238E27FC236}">
                  <a16:creationId xmlns:a16="http://schemas.microsoft.com/office/drawing/2014/main" id="{CB1CADF1-62A3-96C9-128B-344822B6251B}"/>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70" name="TextBox 69">
              <a:extLst>
                <a:ext uri="{FF2B5EF4-FFF2-40B4-BE49-F238E27FC236}">
                  <a16:creationId xmlns:a16="http://schemas.microsoft.com/office/drawing/2014/main" id="{47B1012F-376F-E4E5-FD84-687588BB9AC2}"/>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72" name="Graphic 71" descr="Binary outline">
              <a:extLst>
                <a:ext uri="{FF2B5EF4-FFF2-40B4-BE49-F238E27FC236}">
                  <a16:creationId xmlns:a16="http://schemas.microsoft.com/office/drawing/2014/main" id="{4B8EE7AC-5C1C-4940-493E-4C9180F5188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73" name="Straight Connector 72">
              <a:extLst>
                <a:ext uri="{FF2B5EF4-FFF2-40B4-BE49-F238E27FC236}">
                  <a16:creationId xmlns:a16="http://schemas.microsoft.com/office/drawing/2014/main" id="{5127CE8D-A0DD-CDD8-AA79-E589F0AECD7E}"/>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A646FA52-D858-5F45-B8B7-3C49D0C5BD72}"/>
              </a:ext>
            </a:extLst>
          </p:cNvPr>
          <p:cNvGrpSpPr/>
          <p:nvPr/>
        </p:nvGrpSpPr>
        <p:grpSpPr>
          <a:xfrm>
            <a:off x="7017999" y="4925574"/>
            <a:ext cx="1915992" cy="1681284"/>
            <a:chOff x="2135238" y="1963268"/>
            <a:chExt cx="2396108" cy="2117505"/>
          </a:xfrm>
        </p:grpSpPr>
        <p:pic>
          <p:nvPicPr>
            <p:cNvPr id="78" name="Graphic 77" descr="Computer outline">
              <a:extLst>
                <a:ext uri="{FF2B5EF4-FFF2-40B4-BE49-F238E27FC236}">
                  <a16:creationId xmlns:a16="http://schemas.microsoft.com/office/drawing/2014/main" id="{55ACCF91-DEE6-E815-0256-34B752A233A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79" name="Graphic 78" descr="Robot Hand outline">
              <a:extLst>
                <a:ext uri="{FF2B5EF4-FFF2-40B4-BE49-F238E27FC236}">
                  <a16:creationId xmlns:a16="http://schemas.microsoft.com/office/drawing/2014/main" id="{82690282-7C39-B6BA-8812-5E40795B2A2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80" name="Graphic 79" descr="Network diagram outline">
              <a:extLst>
                <a:ext uri="{FF2B5EF4-FFF2-40B4-BE49-F238E27FC236}">
                  <a16:creationId xmlns:a16="http://schemas.microsoft.com/office/drawing/2014/main" id="{D25CCBA0-45C1-0709-933F-3BFB7CC7A0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22077" y="2686676"/>
              <a:ext cx="476279" cy="476279"/>
            </a:xfrm>
            <a:prstGeom prst="rect">
              <a:avLst/>
            </a:prstGeom>
          </p:spPr>
        </p:pic>
        <p:cxnSp>
          <p:nvCxnSpPr>
            <p:cNvPr id="81" name="Straight Connector 80">
              <a:extLst>
                <a:ext uri="{FF2B5EF4-FFF2-40B4-BE49-F238E27FC236}">
                  <a16:creationId xmlns:a16="http://schemas.microsoft.com/office/drawing/2014/main" id="{4D4F7ABC-0307-77EA-8D9D-668E3B6612FF}"/>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6AA40150-C271-D346-E813-B4CF244E83A1}"/>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83" name="Rectangle 82">
              <a:extLst>
                <a:ext uri="{FF2B5EF4-FFF2-40B4-BE49-F238E27FC236}">
                  <a16:creationId xmlns:a16="http://schemas.microsoft.com/office/drawing/2014/main" id="{2B9861F4-6EA8-6286-5922-B0244444F628}"/>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84" name="TextBox 83">
              <a:extLst>
                <a:ext uri="{FF2B5EF4-FFF2-40B4-BE49-F238E27FC236}">
                  <a16:creationId xmlns:a16="http://schemas.microsoft.com/office/drawing/2014/main" id="{E9768571-CC17-F1A1-87D9-F34015A8C19E}"/>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86" name="Graphic 85" descr="Binary outline">
              <a:extLst>
                <a:ext uri="{FF2B5EF4-FFF2-40B4-BE49-F238E27FC236}">
                  <a16:creationId xmlns:a16="http://schemas.microsoft.com/office/drawing/2014/main" id="{B2BB4688-6130-8ED2-C70E-2CAB44424CB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32496" y="3361610"/>
              <a:ext cx="459386" cy="459384"/>
            </a:xfrm>
            <a:prstGeom prst="rect">
              <a:avLst/>
            </a:prstGeom>
          </p:spPr>
        </p:pic>
        <p:cxnSp>
          <p:nvCxnSpPr>
            <p:cNvPr id="87" name="Straight Connector 86">
              <a:extLst>
                <a:ext uri="{FF2B5EF4-FFF2-40B4-BE49-F238E27FC236}">
                  <a16:creationId xmlns:a16="http://schemas.microsoft.com/office/drawing/2014/main" id="{6ABCD130-81F9-B7D3-8CF3-A75D165AA040}"/>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4B6FCB23-998F-EE93-8921-B16881E9FCE3}"/>
              </a:ext>
            </a:extLst>
          </p:cNvPr>
          <p:cNvGrpSpPr/>
          <p:nvPr/>
        </p:nvGrpSpPr>
        <p:grpSpPr>
          <a:xfrm>
            <a:off x="4718829" y="5228940"/>
            <a:ext cx="1326555" cy="1204508"/>
            <a:chOff x="7530035" y="4542825"/>
            <a:chExt cx="1915998" cy="1204508"/>
          </a:xfrm>
        </p:grpSpPr>
        <p:sp>
          <p:nvSpPr>
            <p:cNvPr id="89" name="TextBox 88">
              <a:extLst>
                <a:ext uri="{FF2B5EF4-FFF2-40B4-BE49-F238E27FC236}">
                  <a16:creationId xmlns:a16="http://schemas.microsoft.com/office/drawing/2014/main" id="{383664CF-9619-258A-71C8-245422BA551B}"/>
                </a:ext>
              </a:extLst>
            </p:cNvPr>
            <p:cNvSpPr txBox="1"/>
            <p:nvPr/>
          </p:nvSpPr>
          <p:spPr>
            <a:xfrm>
              <a:off x="7530039" y="4778549"/>
              <a:ext cx="1915994" cy="261610"/>
            </a:xfrm>
            <a:prstGeom prst="rect">
              <a:avLst/>
            </a:prstGeom>
            <a:noFill/>
          </p:spPr>
          <p:txBody>
            <a:bodyPr wrap="square" rtlCol="0">
              <a:spAutoFit/>
            </a:bodyPr>
            <a:lstStyle/>
            <a:p>
              <a:r>
                <a:rPr lang="en-US" sz="1100" dirty="0">
                  <a:solidFill>
                    <a:srgbClr val="C00000"/>
                  </a:solidFill>
                </a:rPr>
                <a:t>IP Address:	…</a:t>
              </a:r>
            </a:p>
          </p:txBody>
        </p:sp>
        <p:sp>
          <p:nvSpPr>
            <p:cNvPr id="90" name="TextBox 89">
              <a:extLst>
                <a:ext uri="{FF2B5EF4-FFF2-40B4-BE49-F238E27FC236}">
                  <a16:creationId xmlns:a16="http://schemas.microsoft.com/office/drawing/2014/main" id="{E96767D8-D577-95F6-825A-2A0C97313D4D}"/>
                </a:ext>
              </a:extLst>
            </p:cNvPr>
            <p:cNvSpPr txBox="1"/>
            <p:nvPr/>
          </p:nvSpPr>
          <p:spPr>
            <a:xfrm>
              <a:off x="7530037" y="5005220"/>
              <a:ext cx="1915993" cy="261610"/>
            </a:xfrm>
            <a:prstGeom prst="rect">
              <a:avLst/>
            </a:prstGeom>
            <a:noFill/>
            <a:ln>
              <a:noFill/>
            </a:ln>
          </p:spPr>
          <p:txBody>
            <a:bodyPr wrap="square" rtlCol="0">
              <a:spAutoFit/>
            </a:bodyPr>
            <a:lstStyle/>
            <a:p>
              <a:r>
                <a:rPr lang="en-US" sz="1100" dirty="0">
                  <a:solidFill>
                    <a:srgbClr val="00B050"/>
                  </a:solidFill>
                </a:rPr>
                <a:t>Protocol:	…</a:t>
              </a:r>
            </a:p>
          </p:txBody>
        </p:sp>
        <p:sp>
          <p:nvSpPr>
            <p:cNvPr id="91" name="TextBox 90">
              <a:extLst>
                <a:ext uri="{FF2B5EF4-FFF2-40B4-BE49-F238E27FC236}">
                  <a16:creationId xmlns:a16="http://schemas.microsoft.com/office/drawing/2014/main" id="{011CBEE5-0B88-C7C8-0024-F77E209DE0CF}"/>
                </a:ext>
              </a:extLst>
            </p:cNvPr>
            <p:cNvSpPr txBox="1"/>
            <p:nvPr/>
          </p:nvSpPr>
          <p:spPr>
            <a:xfrm>
              <a:off x="7530039" y="5249997"/>
              <a:ext cx="1915992" cy="261610"/>
            </a:xfrm>
            <a:prstGeom prst="rect">
              <a:avLst/>
            </a:prstGeom>
            <a:noFill/>
            <a:ln>
              <a:noFill/>
            </a:ln>
          </p:spPr>
          <p:txBody>
            <a:bodyPr wrap="square" rtlCol="0">
              <a:spAutoFit/>
            </a:bodyPr>
            <a:lstStyle/>
            <a:p>
              <a:r>
                <a:rPr lang="en-US" sz="1100" dirty="0">
                  <a:solidFill>
                    <a:srgbClr val="7030A0"/>
                  </a:solidFill>
                </a:rPr>
                <a:t>Data Address:	…</a:t>
              </a:r>
            </a:p>
          </p:txBody>
        </p:sp>
        <p:sp>
          <p:nvSpPr>
            <p:cNvPr id="92" name="TextBox 91">
              <a:extLst>
                <a:ext uri="{FF2B5EF4-FFF2-40B4-BE49-F238E27FC236}">
                  <a16:creationId xmlns:a16="http://schemas.microsoft.com/office/drawing/2014/main" id="{EE14A5F4-A3C7-5CC0-C709-F5DBF9E5737A}"/>
                </a:ext>
              </a:extLst>
            </p:cNvPr>
            <p:cNvSpPr txBox="1"/>
            <p:nvPr/>
          </p:nvSpPr>
          <p:spPr>
            <a:xfrm>
              <a:off x="7530037" y="5485723"/>
              <a:ext cx="1915991" cy="261610"/>
            </a:xfrm>
            <a:prstGeom prst="rect">
              <a:avLst/>
            </a:prstGeom>
            <a:noFill/>
            <a:ln>
              <a:noFill/>
            </a:ln>
          </p:spPr>
          <p:txBody>
            <a:bodyPr wrap="square" rtlCol="0">
              <a:spAutoFit/>
            </a:bodyPr>
            <a:lstStyle/>
            <a:p>
              <a:r>
                <a:rPr lang="en-US" sz="1100" dirty="0">
                  <a:solidFill>
                    <a:srgbClr val="7030A0"/>
                  </a:solidFill>
                </a:rPr>
                <a:t>Data Format:	…</a:t>
              </a:r>
            </a:p>
          </p:txBody>
        </p:sp>
        <p:sp>
          <p:nvSpPr>
            <p:cNvPr id="93" name="TextBox 92">
              <a:extLst>
                <a:ext uri="{FF2B5EF4-FFF2-40B4-BE49-F238E27FC236}">
                  <a16:creationId xmlns:a16="http://schemas.microsoft.com/office/drawing/2014/main" id="{BEA3DA02-5706-68D0-8ADA-109004B806AB}"/>
                </a:ext>
              </a:extLst>
            </p:cNvPr>
            <p:cNvSpPr txBox="1"/>
            <p:nvPr/>
          </p:nvSpPr>
          <p:spPr>
            <a:xfrm>
              <a:off x="7530035" y="4542825"/>
              <a:ext cx="1915992" cy="261610"/>
            </a:xfrm>
            <a:prstGeom prst="rect">
              <a:avLst/>
            </a:prstGeom>
            <a:noFill/>
          </p:spPr>
          <p:txBody>
            <a:bodyPr wrap="square" rtlCol="0">
              <a:spAutoFit/>
            </a:bodyPr>
            <a:lstStyle/>
            <a:p>
              <a:r>
                <a:rPr lang="en-US" sz="1100" u="sng" dirty="0"/>
                <a:t>Transaction</a:t>
              </a:r>
            </a:p>
          </p:txBody>
        </p:sp>
      </p:grpSp>
      <p:cxnSp>
        <p:nvCxnSpPr>
          <p:cNvPr id="98" name="Straight Connector 97">
            <a:extLst>
              <a:ext uri="{FF2B5EF4-FFF2-40B4-BE49-F238E27FC236}">
                <a16:creationId xmlns:a16="http://schemas.microsoft.com/office/drawing/2014/main" id="{77209866-DBC8-3921-0D75-5F9FA9DF1031}"/>
              </a:ext>
            </a:extLst>
          </p:cNvPr>
          <p:cNvCxnSpPr>
            <a:cxnSpLocks/>
          </p:cNvCxnSpPr>
          <p:nvPr/>
        </p:nvCxnSpPr>
        <p:spPr>
          <a:xfrm>
            <a:off x="9032240" y="2160503"/>
            <a:ext cx="844779" cy="953999"/>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F7E57F8C-A6C7-0B28-A63F-F897C064BE97}"/>
              </a:ext>
            </a:extLst>
          </p:cNvPr>
          <p:cNvCxnSpPr>
            <a:cxnSpLocks/>
          </p:cNvCxnSpPr>
          <p:nvPr/>
        </p:nvCxnSpPr>
        <p:spPr>
          <a:xfrm flipV="1">
            <a:off x="9032240" y="3340911"/>
            <a:ext cx="844779" cy="64428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59B6E910-6BEE-7574-6AAF-CAF1A151BC57}"/>
              </a:ext>
            </a:extLst>
          </p:cNvPr>
          <p:cNvCxnSpPr>
            <a:cxnSpLocks/>
          </p:cNvCxnSpPr>
          <p:nvPr/>
        </p:nvCxnSpPr>
        <p:spPr>
          <a:xfrm flipH="1">
            <a:off x="9034439" y="3578147"/>
            <a:ext cx="897773" cy="2357965"/>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75F39-F966-5C70-DA84-A789DF92824C}"/>
              </a:ext>
            </a:extLst>
          </p:cNvPr>
          <p:cNvSpPr txBox="1"/>
          <p:nvPr/>
        </p:nvSpPr>
        <p:spPr>
          <a:xfrm>
            <a:off x="10653391" y="4013213"/>
            <a:ext cx="1493822" cy="1015663"/>
          </a:xfrm>
          <a:prstGeom prst="rect">
            <a:avLst/>
          </a:prstGeom>
          <a:noFill/>
        </p:spPr>
        <p:txBody>
          <a:bodyPr wrap="square" rtlCol="0">
            <a:spAutoFit/>
          </a:bodyPr>
          <a:lstStyle/>
          <a:p>
            <a:r>
              <a:rPr lang="en-US" sz="1000" dirty="0"/>
              <a:t>Address Table</a:t>
            </a:r>
          </a:p>
          <a:p>
            <a:r>
              <a:rPr lang="en-US" sz="1000" dirty="0"/>
              <a:t>---------------</a:t>
            </a:r>
          </a:p>
          <a:p>
            <a:r>
              <a:rPr lang="en-US" sz="1000" dirty="0">
                <a:solidFill>
                  <a:srgbClr val="C00000"/>
                </a:solidFill>
              </a:rPr>
              <a:t>Machine1: 10.10.1.10</a:t>
            </a:r>
          </a:p>
          <a:p>
            <a:r>
              <a:rPr lang="en-US" sz="1000" dirty="0">
                <a:solidFill>
                  <a:srgbClr val="C00000"/>
                </a:solidFill>
              </a:rPr>
              <a:t>Machine2: 10.10.2.10</a:t>
            </a:r>
          </a:p>
          <a:p>
            <a:r>
              <a:rPr lang="en-US" sz="1000" dirty="0">
                <a:solidFill>
                  <a:srgbClr val="C00000"/>
                </a:solidFill>
              </a:rPr>
              <a:t>Machine#: 10.10.x.x</a:t>
            </a:r>
          </a:p>
          <a:p>
            <a:r>
              <a:rPr lang="en-US" sz="1000" dirty="0">
                <a:solidFill>
                  <a:srgbClr val="C00000"/>
                </a:solidFill>
              </a:rPr>
              <a:t>…</a:t>
            </a:r>
          </a:p>
        </p:txBody>
      </p:sp>
    </p:spTree>
    <p:extLst>
      <p:ext uri="{BB962C8B-B14F-4D97-AF65-F5344CB8AC3E}">
        <p14:creationId xmlns:p14="http://schemas.microsoft.com/office/powerpoint/2010/main" val="134107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dirty="0"/>
              <a:t>Broker </a:t>
            </a:r>
            <a:r>
              <a:rPr lang="en-US" sz="2000" dirty="0"/>
              <a:t>Pub/Sub Model</a:t>
            </a:r>
          </a:p>
        </p:txBody>
      </p:sp>
      <p:grpSp>
        <p:nvGrpSpPr>
          <p:cNvPr id="8" name="Group 7">
            <a:extLst>
              <a:ext uri="{FF2B5EF4-FFF2-40B4-BE49-F238E27FC236}">
                <a16:creationId xmlns:a16="http://schemas.microsoft.com/office/drawing/2014/main" id="{22ED788F-547E-96A8-C5C5-C3C8C154EA85}"/>
              </a:ext>
            </a:extLst>
          </p:cNvPr>
          <p:cNvGrpSpPr/>
          <p:nvPr/>
        </p:nvGrpSpPr>
        <p:grpSpPr>
          <a:xfrm>
            <a:off x="10227441" y="4779307"/>
            <a:ext cx="914155" cy="1009846"/>
            <a:chOff x="6784259" y="2270625"/>
            <a:chExt cx="914155" cy="1009846"/>
          </a:xfrm>
        </p:grpSpPr>
        <p:grpSp>
          <p:nvGrpSpPr>
            <p:cNvPr id="183" name="Group 182">
              <a:extLst>
                <a:ext uri="{FF2B5EF4-FFF2-40B4-BE49-F238E27FC236}">
                  <a16:creationId xmlns:a16="http://schemas.microsoft.com/office/drawing/2014/main" id="{9D92D8B7-233A-168A-EF85-5EC0FDF4582F}"/>
                </a:ext>
              </a:extLst>
            </p:cNvPr>
            <p:cNvGrpSpPr/>
            <p:nvPr/>
          </p:nvGrpSpPr>
          <p:grpSpPr>
            <a:xfrm>
              <a:off x="6784260" y="2516702"/>
              <a:ext cx="914154" cy="763769"/>
              <a:chOff x="8118020" y="5095886"/>
              <a:chExt cx="914154" cy="763769"/>
            </a:xfrm>
          </p:grpSpPr>
          <p:pic>
            <p:nvPicPr>
              <p:cNvPr id="172" name="Graphic 171" descr="Server outline">
                <a:extLst>
                  <a:ext uri="{FF2B5EF4-FFF2-40B4-BE49-F238E27FC236}">
                    <a16:creationId xmlns:a16="http://schemas.microsoft.com/office/drawing/2014/main" id="{EDD8E2F0-4000-5804-9AB0-EE64678A20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18020" y="5271166"/>
                <a:ext cx="588489" cy="588489"/>
              </a:xfrm>
              <a:prstGeom prst="rect">
                <a:avLst/>
              </a:prstGeom>
            </p:spPr>
          </p:pic>
          <p:pic>
            <p:nvPicPr>
              <p:cNvPr id="173" name="Graphic 172" descr="Database outline">
                <a:extLst>
                  <a:ext uri="{FF2B5EF4-FFF2-40B4-BE49-F238E27FC236}">
                    <a16:creationId xmlns:a16="http://schemas.microsoft.com/office/drawing/2014/main" id="{CF3B9355-FD8B-6B5E-BAA1-DABBEEC92A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45755" y="5114168"/>
                <a:ext cx="486418" cy="486418"/>
              </a:xfrm>
              <a:prstGeom prst="rect">
                <a:avLst/>
              </a:prstGeom>
            </p:spPr>
          </p:pic>
          <p:sp>
            <p:nvSpPr>
              <p:cNvPr id="182" name="Rectangle 181">
                <a:extLst>
                  <a:ext uri="{FF2B5EF4-FFF2-40B4-BE49-F238E27FC236}">
                    <a16:creationId xmlns:a16="http://schemas.microsoft.com/office/drawing/2014/main" id="{A1F9946D-EE4A-1919-386A-06C08137C00B}"/>
                  </a:ext>
                </a:extLst>
              </p:cNvPr>
              <p:cNvSpPr/>
              <p:nvPr/>
            </p:nvSpPr>
            <p:spPr>
              <a:xfrm>
                <a:off x="8118020" y="5095886"/>
                <a:ext cx="914154" cy="736610"/>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grpSp>
        <p:sp>
          <p:nvSpPr>
            <p:cNvPr id="7" name="TextBox 6">
              <a:extLst>
                <a:ext uri="{FF2B5EF4-FFF2-40B4-BE49-F238E27FC236}">
                  <a16:creationId xmlns:a16="http://schemas.microsoft.com/office/drawing/2014/main" id="{9CBD2FAA-DF1C-8539-634C-9B5E284E6548}"/>
                </a:ext>
              </a:extLst>
            </p:cNvPr>
            <p:cNvSpPr txBox="1"/>
            <p:nvPr/>
          </p:nvSpPr>
          <p:spPr>
            <a:xfrm>
              <a:off x="6784259" y="2270625"/>
              <a:ext cx="914154" cy="276999"/>
            </a:xfrm>
            <a:prstGeom prst="rect">
              <a:avLst/>
            </a:prstGeom>
            <a:noFill/>
          </p:spPr>
          <p:txBody>
            <a:bodyPr wrap="square" rtlCol="0">
              <a:spAutoFit/>
            </a:bodyPr>
            <a:lstStyle/>
            <a:p>
              <a:pPr algn="ctr"/>
              <a:r>
                <a:rPr lang="en-US" sz="1200" dirty="0"/>
                <a:t>IT System</a:t>
              </a:r>
            </a:p>
          </p:txBody>
        </p:sp>
      </p:gr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2" y="1091783"/>
            <a:ext cx="4280298" cy="4902509"/>
          </a:xfrm>
        </p:spPr>
        <p:txBody>
          <a:bodyPr/>
          <a:lstStyle/>
          <a:p>
            <a:r>
              <a:rPr lang="en-US" sz="1400" dirty="0"/>
              <a:t>To transact with each OT device, we need:</a:t>
            </a:r>
          </a:p>
          <a:p>
            <a:pPr lvl="1"/>
            <a:r>
              <a:rPr lang="en-US" sz="1400" dirty="0"/>
              <a:t>Broker address</a:t>
            </a:r>
          </a:p>
          <a:p>
            <a:pPr lvl="1"/>
            <a:r>
              <a:rPr lang="en-US" sz="1400" dirty="0"/>
              <a:t>Topic</a:t>
            </a:r>
          </a:p>
          <a:p>
            <a:pPr lvl="1"/>
            <a:endParaRPr lang="en-US" sz="1400" dirty="0"/>
          </a:p>
          <a:p>
            <a:r>
              <a:rPr lang="en-US" sz="1400" dirty="0"/>
              <a:t>Payloads can be binary or JSON (human-readable)</a:t>
            </a:r>
          </a:p>
          <a:p>
            <a:pPr marL="0" indent="0">
              <a:buNone/>
            </a:pPr>
            <a:endParaRPr lang="en-US" sz="1400" dirty="0"/>
          </a:p>
          <a:p>
            <a:r>
              <a:rPr lang="en-US" sz="1400" dirty="0"/>
              <a:t>New components can simply connect to the broker and can begin publishing/subscribing</a:t>
            </a:r>
          </a:p>
          <a:p>
            <a:endParaRPr lang="en-US" sz="1400" dirty="0"/>
          </a:p>
          <a:p>
            <a:r>
              <a:rPr lang="en-US" sz="1400" dirty="0"/>
              <a:t>Topics created as needed, with user-defined names and “paths”:</a:t>
            </a:r>
          </a:p>
        </p:txBody>
      </p:sp>
      <p:grpSp>
        <p:nvGrpSpPr>
          <p:cNvPr id="2" name="Group 1">
            <a:extLst>
              <a:ext uri="{FF2B5EF4-FFF2-40B4-BE49-F238E27FC236}">
                <a16:creationId xmlns:a16="http://schemas.microsoft.com/office/drawing/2014/main" id="{8626C8BD-FF52-351C-6FD4-C1B97D4F4E9F}"/>
              </a:ext>
            </a:extLst>
          </p:cNvPr>
          <p:cNvGrpSpPr/>
          <p:nvPr/>
        </p:nvGrpSpPr>
        <p:grpSpPr>
          <a:xfrm>
            <a:off x="8281590" y="3528815"/>
            <a:ext cx="1042787" cy="1042787"/>
            <a:chOff x="3774715" y="3284768"/>
            <a:chExt cx="1042787" cy="1042787"/>
          </a:xfrm>
        </p:grpSpPr>
        <p:pic>
          <p:nvPicPr>
            <p:cNvPr id="6" name="Graphic 5" descr="Cloud outline">
              <a:extLst>
                <a:ext uri="{FF2B5EF4-FFF2-40B4-BE49-F238E27FC236}">
                  <a16:creationId xmlns:a16="http://schemas.microsoft.com/office/drawing/2014/main" id="{B810C0A7-C6AA-1C90-4270-1CBE6A5A3B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74715" y="3284768"/>
              <a:ext cx="1042787" cy="1042787"/>
            </a:xfrm>
            <a:prstGeom prst="rect">
              <a:avLst/>
            </a:prstGeom>
          </p:spPr>
        </p:pic>
        <p:sp>
          <p:nvSpPr>
            <p:cNvPr id="10" name="TextBox 9">
              <a:extLst>
                <a:ext uri="{FF2B5EF4-FFF2-40B4-BE49-F238E27FC236}">
                  <a16:creationId xmlns:a16="http://schemas.microsoft.com/office/drawing/2014/main" id="{8718B1CF-1459-8727-3598-8CDC99F2ECA5}"/>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cxnSp>
        <p:nvCxnSpPr>
          <p:cNvPr id="13" name="Straight Connector 12">
            <a:extLst>
              <a:ext uri="{FF2B5EF4-FFF2-40B4-BE49-F238E27FC236}">
                <a16:creationId xmlns:a16="http://schemas.microsoft.com/office/drawing/2014/main" id="{21DC8C9D-FDAB-930C-6BF5-AC81E05B7800}"/>
              </a:ext>
            </a:extLst>
          </p:cNvPr>
          <p:cNvCxnSpPr>
            <a:cxnSpLocks/>
          </p:cNvCxnSpPr>
          <p:nvPr/>
        </p:nvCxnSpPr>
        <p:spPr>
          <a:xfrm>
            <a:off x="8615151" y="2948699"/>
            <a:ext cx="62251" cy="761865"/>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21" name="Group 20">
            <a:extLst>
              <a:ext uri="{FF2B5EF4-FFF2-40B4-BE49-F238E27FC236}">
                <a16:creationId xmlns:a16="http://schemas.microsoft.com/office/drawing/2014/main" id="{A4E72C95-3588-C43E-C893-28B3F8C78E71}"/>
              </a:ext>
            </a:extLst>
          </p:cNvPr>
          <p:cNvGrpSpPr/>
          <p:nvPr/>
        </p:nvGrpSpPr>
        <p:grpSpPr>
          <a:xfrm>
            <a:off x="5649921" y="4975353"/>
            <a:ext cx="1915992" cy="1681284"/>
            <a:chOff x="2135238" y="1963268"/>
            <a:chExt cx="2396108" cy="2117505"/>
          </a:xfrm>
        </p:grpSpPr>
        <p:pic>
          <p:nvPicPr>
            <p:cNvPr id="22" name="Graphic 21" descr="Computer outline">
              <a:extLst>
                <a:ext uri="{FF2B5EF4-FFF2-40B4-BE49-F238E27FC236}">
                  <a16:creationId xmlns:a16="http://schemas.microsoft.com/office/drawing/2014/main" id="{4F4F65D3-FE66-1F13-36E7-C5BFBC573C8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23" name="Graphic 22" descr="Robot Hand outline">
              <a:extLst>
                <a:ext uri="{FF2B5EF4-FFF2-40B4-BE49-F238E27FC236}">
                  <a16:creationId xmlns:a16="http://schemas.microsoft.com/office/drawing/2014/main" id="{7C62F193-96BE-6F47-3056-07CF8D9D1B7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24" name="Graphic 23" descr="Network diagram outline">
              <a:extLst>
                <a:ext uri="{FF2B5EF4-FFF2-40B4-BE49-F238E27FC236}">
                  <a16:creationId xmlns:a16="http://schemas.microsoft.com/office/drawing/2014/main" id="{406F21BF-9F89-4A7B-98B0-7A8B4654BD5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25" name="Straight Connector 24">
              <a:extLst>
                <a:ext uri="{FF2B5EF4-FFF2-40B4-BE49-F238E27FC236}">
                  <a16:creationId xmlns:a16="http://schemas.microsoft.com/office/drawing/2014/main" id="{2C4C9B89-FA44-76B6-2827-4E43743BCBF5}"/>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49378CC-27C5-4344-C4C7-0F46BE1E4777}"/>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4EF2635A-B817-F772-8990-6D6F3179C7B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28" name="TextBox 27">
              <a:extLst>
                <a:ext uri="{FF2B5EF4-FFF2-40B4-BE49-F238E27FC236}">
                  <a16:creationId xmlns:a16="http://schemas.microsoft.com/office/drawing/2014/main" id="{1883D03C-6420-6F81-2476-38B76EEE558F}"/>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30" name="Graphic 29" descr="Binary outline">
              <a:extLst>
                <a:ext uri="{FF2B5EF4-FFF2-40B4-BE49-F238E27FC236}">
                  <a16:creationId xmlns:a16="http://schemas.microsoft.com/office/drawing/2014/main" id="{32B5313A-6566-BE6D-624B-7E685AA3766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38" name="Straight Connector 37">
              <a:extLst>
                <a:ext uri="{FF2B5EF4-FFF2-40B4-BE49-F238E27FC236}">
                  <a16:creationId xmlns:a16="http://schemas.microsoft.com/office/drawing/2014/main" id="{DFF4083A-EC45-ADF4-003E-DE6396BDD614}"/>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cxnSp>
        <p:nvCxnSpPr>
          <p:cNvPr id="40" name="Straight Connector 39">
            <a:extLst>
              <a:ext uri="{FF2B5EF4-FFF2-40B4-BE49-F238E27FC236}">
                <a16:creationId xmlns:a16="http://schemas.microsoft.com/office/drawing/2014/main" id="{AEF7985F-91FD-379D-1D1E-A84338A4EDE0}"/>
              </a:ext>
            </a:extLst>
          </p:cNvPr>
          <p:cNvCxnSpPr>
            <a:cxnSpLocks/>
          </p:cNvCxnSpPr>
          <p:nvPr/>
        </p:nvCxnSpPr>
        <p:spPr>
          <a:xfrm>
            <a:off x="9312308" y="4385671"/>
            <a:ext cx="804595" cy="622589"/>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BDD97F4B-F1D4-0B39-4313-8D0702E37E26}"/>
              </a:ext>
            </a:extLst>
          </p:cNvPr>
          <p:cNvGrpSpPr/>
          <p:nvPr/>
        </p:nvGrpSpPr>
        <p:grpSpPr>
          <a:xfrm>
            <a:off x="9303295" y="3222358"/>
            <a:ext cx="2309327" cy="953393"/>
            <a:chOff x="7530034" y="4542825"/>
            <a:chExt cx="2309327" cy="953393"/>
          </a:xfrm>
        </p:grpSpPr>
        <p:sp>
          <p:nvSpPr>
            <p:cNvPr id="43" name="TextBox 42">
              <a:extLst>
                <a:ext uri="{FF2B5EF4-FFF2-40B4-BE49-F238E27FC236}">
                  <a16:creationId xmlns:a16="http://schemas.microsoft.com/office/drawing/2014/main" id="{49B131FA-141B-54B9-81B2-12A9AFCD9971}"/>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44" name="TextBox 43">
              <a:extLst>
                <a:ext uri="{FF2B5EF4-FFF2-40B4-BE49-F238E27FC236}">
                  <a16:creationId xmlns:a16="http://schemas.microsoft.com/office/drawing/2014/main" id="{A773561F-6489-C734-5F75-38E1D9B63396}"/>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Machine/1/Status</a:t>
              </a:r>
            </a:p>
          </p:txBody>
        </p:sp>
        <p:sp>
          <p:nvSpPr>
            <p:cNvPr id="46" name="TextBox 45">
              <a:extLst>
                <a:ext uri="{FF2B5EF4-FFF2-40B4-BE49-F238E27FC236}">
                  <a16:creationId xmlns:a16="http://schemas.microsoft.com/office/drawing/2014/main" id="{E43C3EC3-BA4E-B21D-5FFE-27DD2C9C15FC}"/>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‘running’ }</a:t>
              </a:r>
            </a:p>
          </p:txBody>
        </p:sp>
        <p:sp>
          <p:nvSpPr>
            <p:cNvPr id="49" name="TextBox 48">
              <a:extLst>
                <a:ext uri="{FF2B5EF4-FFF2-40B4-BE49-F238E27FC236}">
                  <a16:creationId xmlns:a16="http://schemas.microsoft.com/office/drawing/2014/main" id="{B5E1259A-13C5-AE31-4013-EEF9F5FE70C0}"/>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grpSp>
        <p:nvGrpSpPr>
          <p:cNvPr id="50" name="Group 49">
            <a:extLst>
              <a:ext uri="{FF2B5EF4-FFF2-40B4-BE49-F238E27FC236}">
                <a16:creationId xmlns:a16="http://schemas.microsoft.com/office/drawing/2014/main" id="{C82E6545-61DC-87E8-0484-79B0991CDC57}"/>
              </a:ext>
            </a:extLst>
          </p:cNvPr>
          <p:cNvGrpSpPr/>
          <p:nvPr/>
        </p:nvGrpSpPr>
        <p:grpSpPr>
          <a:xfrm>
            <a:off x="7848310" y="1232222"/>
            <a:ext cx="1915992" cy="1681284"/>
            <a:chOff x="2135238" y="1963268"/>
            <a:chExt cx="2396108" cy="2117505"/>
          </a:xfrm>
        </p:grpSpPr>
        <p:pic>
          <p:nvPicPr>
            <p:cNvPr id="51" name="Graphic 50" descr="Computer outline">
              <a:extLst>
                <a:ext uri="{FF2B5EF4-FFF2-40B4-BE49-F238E27FC236}">
                  <a16:creationId xmlns:a16="http://schemas.microsoft.com/office/drawing/2014/main" id="{0FD076CB-56F4-F0FE-CF82-267F7861D88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52" name="Graphic 51" descr="Robot Hand outline">
              <a:extLst>
                <a:ext uri="{FF2B5EF4-FFF2-40B4-BE49-F238E27FC236}">
                  <a16:creationId xmlns:a16="http://schemas.microsoft.com/office/drawing/2014/main" id="{C5D9E33B-BEBB-FBA9-072F-87061D35344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53" name="Graphic 52" descr="Network diagram outline">
              <a:extLst>
                <a:ext uri="{FF2B5EF4-FFF2-40B4-BE49-F238E27FC236}">
                  <a16:creationId xmlns:a16="http://schemas.microsoft.com/office/drawing/2014/main" id="{CF501951-5DAD-4C14-1430-F79E0A90A1A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54" name="Straight Connector 53">
              <a:extLst>
                <a:ext uri="{FF2B5EF4-FFF2-40B4-BE49-F238E27FC236}">
                  <a16:creationId xmlns:a16="http://schemas.microsoft.com/office/drawing/2014/main" id="{C6DBD242-5DF4-86B8-E397-1B2EA8256166}"/>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F10D9FC-93FC-ABAD-6AB2-3FC8B0C9AC60}"/>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3622207D-C864-7529-649C-356B63624711}"/>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66" name="TextBox 65">
              <a:extLst>
                <a:ext uri="{FF2B5EF4-FFF2-40B4-BE49-F238E27FC236}">
                  <a16:creationId xmlns:a16="http://schemas.microsoft.com/office/drawing/2014/main" id="{A03E5BBD-1C3F-E1EE-2C9C-391DBB8DCEC7}"/>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74" name="Graphic 73" descr="Binary outline">
              <a:extLst>
                <a:ext uri="{FF2B5EF4-FFF2-40B4-BE49-F238E27FC236}">
                  <a16:creationId xmlns:a16="http://schemas.microsoft.com/office/drawing/2014/main" id="{8F61042D-072C-F499-BB8C-38C53703E81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75" name="Straight Connector 74">
              <a:extLst>
                <a:ext uri="{FF2B5EF4-FFF2-40B4-BE49-F238E27FC236}">
                  <a16:creationId xmlns:a16="http://schemas.microsoft.com/office/drawing/2014/main" id="{13A801A9-C05D-5891-DED6-6ECB3C4FCF5E}"/>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326C825A-728E-4260-B27B-05F6B8674535}"/>
              </a:ext>
            </a:extLst>
          </p:cNvPr>
          <p:cNvGrpSpPr/>
          <p:nvPr/>
        </p:nvGrpSpPr>
        <p:grpSpPr>
          <a:xfrm>
            <a:off x="6643694" y="3514240"/>
            <a:ext cx="2309327" cy="953393"/>
            <a:chOff x="7530034" y="4542825"/>
            <a:chExt cx="2309327" cy="953393"/>
          </a:xfrm>
        </p:grpSpPr>
        <p:sp>
          <p:nvSpPr>
            <p:cNvPr id="94" name="TextBox 93">
              <a:extLst>
                <a:ext uri="{FF2B5EF4-FFF2-40B4-BE49-F238E27FC236}">
                  <a16:creationId xmlns:a16="http://schemas.microsoft.com/office/drawing/2014/main" id="{4D6C7D69-44FA-D7E1-C702-420369167E9B}"/>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95" name="TextBox 94">
              <a:extLst>
                <a:ext uri="{FF2B5EF4-FFF2-40B4-BE49-F238E27FC236}">
                  <a16:creationId xmlns:a16="http://schemas.microsoft.com/office/drawing/2014/main" id="{08CDBE46-51A9-0E77-FCDE-07874C62AD57}"/>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Machine/2/Status</a:t>
              </a:r>
            </a:p>
          </p:txBody>
        </p:sp>
        <p:sp>
          <p:nvSpPr>
            <p:cNvPr id="96" name="TextBox 95">
              <a:extLst>
                <a:ext uri="{FF2B5EF4-FFF2-40B4-BE49-F238E27FC236}">
                  <a16:creationId xmlns:a16="http://schemas.microsoft.com/office/drawing/2014/main" id="{AAA1D2E5-8AFB-5DE4-CEEA-4112110CD1B3}"/>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‘idle’ }</a:t>
              </a:r>
            </a:p>
          </p:txBody>
        </p:sp>
        <p:sp>
          <p:nvSpPr>
            <p:cNvPr id="97" name="TextBox 96">
              <a:extLst>
                <a:ext uri="{FF2B5EF4-FFF2-40B4-BE49-F238E27FC236}">
                  <a16:creationId xmlns:a16="http://schemas.microsoft.com/office/drawing/2014/main" id="{2914A34E-C709-749C-0DE5-F559EF47F436}"/>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cxnSp>
        <p:nvCxnSpPr>
          <p:cNvPr id="100" name="Straight Connector 99">
            <a:extLst>
              <a:ext uri="{FF2B5EF4-FFF2-40B4-BE49-F238E27FC236}">
                <a16:creationId xmlns:a16="http://schemas.microsoft.com/office/drawing/2014/main" id="{615DE0C3-271F-58F3-6043-ABAD1227264A}"/>
              </a:ext>
            </a:extLst>
          </p:cNvPr>
          <p:cNvCxnSpPr>
            <a:cxnSpLocks/>
          </p:cNvCxnSpPr>
          <p:nvPr/>
        </p:nvCxnSpPr>
        <p:spPr>
          <a:xfrm>
            <a:off x="6674255" y="3343760"/>
            <a:ext cx="1775697" cy="42352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nvGrpSpPr>
          <p:cNvPr id="105" name="Group 104">
            <a:extLst>
              <a:ext uri="{FF2B5EF4-FFF2-40B4-BE49-F238E27FC236}">
                <a16:creationId xmlns:a16="http://schemas.microsoft.com/office/drawing/2014/main" id="{23FA4DFB-B870-8326-5907-729F7D408C5D}"/>
              </a:ext>
            </a:extLst>
          </p:cNvPr>
          <p:cNvGrpSpPr/>
          <p:nvPr/>
        </p:nvGrpSpPr>
        <p:grpSpPr>
          <a:xfrm>
            <a:off x="4640615" y="2803049"/>
            <a:ext cx="1915992" cy="1681284"/>
            <a:chOff x="2135238" y="1963268"/>
            <a:chExt cx="2396108" cy="2117505"/>
          </a:xfrm>
        </p:grpSpPr>
        <p:pic>
          <p:nvPicPr>
            <p:cNvPr id="106" name="Graphic 105" descr="Computer outline">
              <a:extLst>
                <a:ext uri="{FF2B5EF4-FFF2-40B4-BE49-F238E27FC236}">
                  <a16:creationId xmlns:a16="http://schemas.microsoft.com/office/drawing/2014/main" id="{0688B9AF-5F75-0F1D-9292-7B90AA2EA3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67893" y="3309274"/>
              <a:ext cx="748924" cy="748924"/>
            </a:xfrm>
            <a:prstGeom prst="rect">
              <a:avLst/>
            </a:prstGeom>
          </p:spPr>
        </p:pic>
        <p:pic>
          <p:nvPicPr>
            <p:cNvPr id="107" name="Graphic 106" descr="Robot Hand outline">
              <a:extLst>
                <a:ext uri="{FF2B5EF4-FFF2-40B4-BE49-F238E27FC236}">
                  <a16:creationId xmlns:a16="http://schemas.microsoft.com/office/drawing/2014/main" id="{4A8264A9-C38D-DF5B-D2FA-C550B1B409E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00271" y="2451088"/>
              <a:ext cx="914400" cy="914401"/>
            </a:xfrm>
            <a:prstGeom prst="rect">
              <a:avLst/>
            </a:prstGeom>
          </p:spPr>
        </p:pic>
        <p:pic>
          <p:nvPicPr>
            <p:cNvPr id="108" name="Graphic 107" descr="Network diagram outline">
              <a:extLst>
                <a:ext uri="{FF2B5EF4-FFF2-40B4-BE49-F238E27FC236}">
                  <a16:creationId xmlns:a16="http://schemas.microsoft.com/office/drawing/2014/main" id="{5D4B59C5-0AA9-CCCE-383E-AB14672499F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722077" y="2686676"/>
              <a:ext cx="476279" cy="476279"/>
            </a:xfrm>
            <a:prstGeom prst="rect">
              <a:avLst/>
            </a:prstGeom>
          </p:spPr>
        </p:pic>
        <p:cxnSp>
          <p:nvCxnSpPr>
            <p:cNvPr id="109" name="Straight Connector 108">
              <a:extLst>
                <a:ext uri="{FF2B5EF4-FFF2-40B4-BE49-F238E27FC236}">
                  <a16:creationId xmlns:a16="http://schemas.microsoft.com/office/drawing/2014/main" id="{65A45A38-A65B-C512-586C-890F90E08273}"/>
                </a:ext>
              </a:extLst>
            </p:cNvPr>
            <p:cNvCxnSpPr>
              <a:cxnSpLocks/>
            </p:cNvCxnSpPr>
            <p:nvPr/>
          </p:nvCxnSpPr>
          <p:spPr>
            <a:xfrm flipV="1">
              <a:off x="2729315" y="3139377"/>
              <a:ext cx="68449" cy="26873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928954A-98BB-9D7F-174D-087C3DE988EE}"/>
                </a:ext>
              </a:extLst>
            </p:cNvPr>
            <p:cNvCxnSpPr>
              <a:cxnSpLocks/>
            </p:cNvCxnSpPr>
            <p:nvPr/>
          </p:nvCxnSpPr>
          <p:spPr>
            <a:xfrm>
              <a:off x="3247725" y="2908288"/>
              <a:ext cx="229904" cy="0"/>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85127E5F-BB28-4249-33F7-DC67D428AD95}"/>
                </a:ext>
              </a:extLst>
            </p:cNvPr>
            <p:cNvSpPr/>
            <p:nvPr/>
          </p:nvSpPr>
          <p:spPr>
            <a:xfrm>
              <a:off x="2135238" y="2302635"/>
              <a:ext cx="2396108" cy="1778138"/>
            </a:xfrm>
            <a:prstGeom prst="rect">
              <a:avLst/>
            </a:prstGeom>
            <a:noFill/>
            <a:ln w="6350">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
          <p:nvSpPr>
            <p:cNvPr id="112" name="TextBox 111">
              <a:extLst>
                <a:ext uri="{FF2B5EF4-FFF2-40B4-BE49-F238E27FC236}">
                  <a16:creationId xmlns:a16="http://schemas.microsoft.com/office/drawing/2014/main" id="{49DFE444-10FE-D46A-28F9-AB252F9FAE65}"/>
                </a:ext>
              </a:extLst>
            </p:cNvPr>
            <p:cNvSpPr txBox="1"/>
            <p:nvPr/>
          </p:nvSpPr>
          <p:spPr>
            <a:xfrm>
              <a:off x="2538850" y="1963268"/>
              <a:ext cx="1512379" cy="276999"/>
            </a:xfrm>
            <a:prstGeom prst="rect">
              <a:avLst/>
            </a:prstGeom>
            <a:noFill/>
          </p:spPr>
          <p:txBody>
            <a:bodyPr wrap="square" rtlCol="0">
              <a:spAutoFit/>
            </a:bodyPr>
            <a:lstStyle/>
            <a:p>
              <a:pPr algn="ctr"/>
              <a:r>
                <a:rPr lang="en-US" sz="1200" dirty="0"/>
                <a:t>OT System</a:t>
              </a:r>
            </a:p>
          </p:txBody>
        </p:sp>
        <p:pic>
          <p:nvPicPr>
            <p:cNvPr id="113" name="Graphic 112" descr="Binary outline">
              <a:extLst>
                <a:ext uri="{FF2B5EF4-FFF2-40B4-BE49-F238E27FC236}">
                  <a16:creationId xmlns:a16="http://schemas.microsoft.com/office/drawing/2014/main" id="{3EEBCFF4-6CC0-EFBC-09EE-8DC31F3C6D5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32496" y="3361610"/>
              <a:ext cx="459386" cy="459384"/>
            </a:xfrm>
            <a:prstGeom prst="rect">
              <a:avLst/>
            </a:prstGeom>
          </p:spPr>
        </p:pic>
        <p:cxnSp>
          <p:nvCxnSpPr>
            <p:cNvPr id="114" name="Straight Connector 113">
              <a:extLst>
                <a:ext uri="{FF2B5EF4-FFF2-40B4-BE49-F238E27FC236}">
                  <a16:creationId xmlns:a16="http://schemas.microsoft.com/office/drawing/2014/main" id="{CCD5318E-EDB4-2272-19D2-E21C7CCA9959}"/>
                </a:ext>
              </a:extLst>
            </p:cNvPr>
            <p:cNvCxnSpPr>
              <a:cxnSpLocks/>
            </p:cNvCxnSpPr>
            <p:nvPr/>
          </p:nvCxnSpPr>
          <p:spPr>
            <a:xfrm>
              <a:off x="3059187" y="3093563"/>
              <a:ext cx="357067" cy="306102"/>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grpSp>
      <p:cxnSp>
        <p:nvCxnSpPr>
          <p:cNvPr id="115" name="Straight Connector 114">
            <a:extLst>
              <a:ext uri="{FF2B5EF4-FFF2-40B4-BE49-F238E27FC236}">
                <a16:creationId xmlns:a16="http://schemas.microsoft.com/office/drawing/2014/main" id="{CFEDAA39-3D48-057B-120B-2E58F3667523}"/>
              </a:ext>
            </a:extLst>
          </p:cNvPr>
          <p:cNvCxnSpPr>
            <a:cxnSpLocks/>
          </p:cNvCxnSpPr>
          <p:nvPr/>
        </p:nvCxnSpPr>
        <p:spPr>
          <a:xfrm flipV="1">
            <a:off x="7630876" y="4415764"/>
            <a:ext cx="974235" cy="77952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B61617E4-38A4-8686-BD01-1DEFBD158DD3}"/>
              </a:ext>
            </a:extLst>
          </p:cNvPr>
          <p:cNvSpPr txBox="1"/>
          <p:nvPr/>
        </p:nvSpPr>
        <p:spPr>
          <a:xfrm>
            <a:off x="10139205" y="5802120"/>
            <a:ext cx="1493822" cy="707886"/>
          </a:xfrm>
          <a:prstGeom prst="rect">
            <a:avLst/>
          </a:prstGeom>
          <a:noFill/>
        </p:spPr>
        <p:txBody>
          <a:bodyPr wrap="square" rtlCol="0">
            <a:spAutoFit/>
          </a:bodyPr>
          <a:lstStyle/>
          <a:p>
            <a:r>
              <a:rPr lang="en-US" sz="1000" dirty="0"/>
              <a:t>Subscribe</a:t>
            </a:r>
          </a:p>
          <a:p>
            <a:r>
              <a:rPr lang="en-US" sz="1000" dirty="0"/>
              <a:t>---------------</a:t>
            </a:r>
          </a:p>
          <a:p>
            <a:r>
              <a:rPr lang="en-US" sz="1000" dirty="0">
                <a:solidFill>
                  <a:srgbClr val="C00000"/>
                </a:solidFill>
              </a:rPr>
              <a:t>Broker: 10.10.0.1</a:t>
            </a:r>
          </a:p>
          <a:p>
            <a:r>
              <a:rPr lang="en-US" sz="1000" dirty="0">
                <a:solidFill>
                  <a:srgbClr val="00B050"/>
                </a:solidFill>
              </a:rPr>
              <a:t>Topic: Machine/#</a:t>
            </a:r>
          </a:p>
        </p:txBody>
      </p:sp>
      <p:grpSp>
        <p:nvGrpSpPr>
          <p:cNvPr id="125" name="Group 124">
            <a:extLst>
              <a:ext uri="{FF2B5EF4-FFF2-40B4-BE49-F238E27FC236}">
                <a16:creationId xmlns:a16="http://schemas.microsoft.com/office/drawing/2014/main" id="{C6BF4634-0D7C-08F6-A26B-E3A1EA23F30A}"/>
              </a:ext>
            </a:extLst>
          </p:cNvPr>
          <p:cNvGrpSpPr/>
          <p:nvPr/>
        </p:nvGrpSpPr>
        <p:grpSpPr>
          <a:xfrm>
            <a:off x="7816716" y="5291614"/>
            <a:ext cx="2309327" cy="953393"/>
            <a:chOff x="7530034" y="4542825"/>
            <a:chExt cx="2309327" cy="953393"/>
          </a:xfrm>
        </p:grpSpPr>
        <p:sp>
          <p:nvSpPr>
            <p:cNvPr id="126" name="TextBox 125">
              <a:extLst>
                <a:ext uri="{FF2B5EF4-FFF2-40B4-BE49-F238E27FC236}">
                  <a16:creationId xmlns:a16="http://schemas.microsoft.com/office/drawing/2014/main" id="{AE274389-F676-453F-A27C-6EC5BD87F25D}"/>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10.10.0.1</a:t>
              </a:r>
            </a:p>
          </p:txBody>
        </p:sp>
        <p:sp>
          <p:nvSpPr>
            <p:cNvPr id="127" name="TextBox 126">
              <a:extLst>
                <a:ext uri="{FF2B5EF4-FFF2-40B4-BE49-F238E27FC236}">
                  <a16:creationId xmlns:a16="http://schemas.microsoft.com/office/drawing/2014/main" id="{A5C99679-5499-517C-EBF9-5331B5246D3E}"/>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Machine/3/Status</a:t>
              </a:r>
            </a:p>
          </p:txBody>
        </p:sp>
        <p:sp>
          <p:nvSpPr>
            <p:cNvPr id="128" name="TextBox 127">
              <a:extLst>
                <a:ext uri="{FF2B5EF4-FFF2-40B4-BE49-F238E27FC236}">
                  <a16:creationId xmlns:a16="http://schemas.microsoft.com/office/drawing/2014/main" id="{C0A9DE9A-8710-4172-44FF-990B073607E5}"/>
                </a:ext>
              </a:extLst>
            </p:cNvPr>
            <p:cNvSpPr txBox="1"/>
            <p:nvPr/>
          </p:nvSpPr>
          <p:spPr>
            <a:xfrm>
              <a:off x="7530039" y="5249997"/>
              <a:ext cx="2309319" cy="246221"/>
            </a:xfrm>
            <a:prstGeom prst="rect">
              <a:avLst/>
            </a:prstGeom>
            <a:noFill/>
            <a:ln>
              <a:noFill/>
            </a:ln>
          </p:spPr>
          <p:txBody>
            <a:bodyPr wrap="square" rtlCol="0">
              <a:spAutoFit/>
            </a:bodyPr>
            <a:lstStyle/>
            <a:p>
              <a:r>
                <a:rPr lang="en-US" sz="1000" dirty="0">
                  <a:solidFill>
                    <a:srgbClr val="7030A0"/>
                  </a:solidFill>
                </a:rPr>
                <a:t>Data:      { ‘status’: ‘running’ }</a:t>
              </a:r>
            </a:p>
          </p:txBody>
        </p:sp>
        <p:sp>
          <p:nvSpPr>
            <p:cNvPr id="129" name="TextBox 128">
              <a:extLst>
                <a:ext uri="{FF2B5EF4-FFF2-40B4-BE49-F238E27FC236}">
                  <a16:creationId xmlns:a16="http://schemas.microsoft.com/office/drawing/2014/main" id="{E82FEC2B-2229-95ED-4F9A-D02C0651C8CC}"/>
                </a:ext>
              </a:extLst>
            </p:cNvPr>
            <p:cNvSpPr txBox="1"/>
            <p:nvPr/>
          </p:nvSpPr>
          <p:spPr>
            <a:xfrm>
              <a:off x="7530034" y="4542825"/>
              <a:ext cx="2309321" cy="246221"/>
            </a:xfrm>
            <a:prstGeom prst="rect">
              <a:avLst/>
            </a:prstGeom>
            <a:noFill/>
          </p:spPr>
          <p:txBody>
            <a:bodyPr wrap="square" rtlCol="0">
              <a:spAutoFit/>
            </a:bodyPr>
            <a:lstStyle/>
            <a:p>
              <a:r>
                <a:rPr lang="en-US" sz="1000" u="sng" dirty="0"/>
                <a:t>Publish</a:t>
              </a:r>
            </a:p>
          </p:txBody>
        </p:sp>
      </p:grpSp>
      <p:sp>
        <p:nvSpPr>
          <p:cNvPr id="134" name="TextBox 133">
            <a:extLst>
              <a:ext uri="{FF2B5EF4-FFF2-40B4-BE49-F238E27FC236}">
                <a16:creationId xmlns:a16="http://schemas.microsoft.com/office/drawing/2014/main" id="{3EB0BFA7-1C0E-86A5-7F61-D38FC24FA618}"/>
              </a:ext>
            </a:extLst>
          </p:cNvPr>
          <p:cNvSpPr txBox="1"/>
          <p:nvPr/>
        </p:nvSpPr>
        <p:spPr>
          <a:xfrm>
            <a:off x="356515" y="4983837"/>
            <a:ext cx="4486630" cy="1015663"/>
          </a:xfrm>
          <a:prstGeom prst="rect">
            <a:avLst/>
          </a:prstGeom>
          <a:noFill/>
        </p:spPr>
        <p:txBody>
          <a:bodyPr wrap="square" rtlCol="0">
            <a:spAutoFit/>
          </a:bodyPr>
          <a:lstStyle/>
          <a:p>
            <a:r>
              <a:rPr lang="en-US" sz="1000" dirty="0">
                <a:latin typeface="Consolas" panose="020B0609020204030204" pitchFamily="49" charset="0"/>
              </a:rPr>
              <a:t>Topic Subscription      Messages Received</a:t>
            </a:r>
          </a:p>
          <a:p>
            <a:r>
              <a:rPr lang="en-US" sz="1000" dirty="0">
                <a:latin typeface="Consolas" panose="020B0609020204030204" pitchFamily="49" charset="0"/>
              </a:rPr>
              <a:t>-------------------    ---------------------------------</a:t>
            </a:r>
          </a:p>
          <a:p>
            <a:r>
              <a:rPr lang="en-US" sz="1000" dirty="0">
                <a:latin typeface="Consolas" panose="020B0609020204030204" pitchFamily="49" charset="0"/>
              </a:rPr>
              <a:t>Machine/#	          All messages from all machines</a:t>
            </a:r>
          </a:p>
          <a:p>
            <a:r>
              <a:rPr lang="en-US" sz="1000" dirty="0">
                <a:latin typeface="Consolas" panose="020B0609020204030204" pitchFamily="49" charset="0"/>
              </a:rPr>
              <a:t>Machine/1/#	          All messages from machine 1</a:t>
            </a:r>
          </a:p>
          <a:p>
            <a:r>
              <a:rPr lang="en-US" sz="1000" dirty="0">
                <a:latin typeface="Consolas" panose="020B0609020204030204" pitchFamily="49" charset="0"/>
              </a:rPr>
              <a:t>Machine/1/Status       Machine 1 status messages</a:t>
            </a:r>
          </a:p>
          <a:p>
            <a:r>
              <a:rPr lang="en-US" sz="1000" dirty="0">
                <a:latin typeface="Consolas" panose="020B0609020204030204" pitchFamily="49" charset="0"/>
              </a:rPr>
              <a:t>Machine/+/Status       </a:t>
            </a:r>
            <a:r>
              <a:rPr lang="en-US" sz="1000" dirty="0" err="1">
                <a:latin typeface="Consolas" panose="020B0609020204030204" pitchFamily="49" charset="0"/>
              </a:rPr>
              <a:t>Status</a:t>
            </a:r>
            <a:r>
              <a:rPr lang="en-US" sz="1000" dirty="0">
                <a:latin typeface="Consolas" panose="020B0609020204030204" pitchFamily="49" charset="0"/>
              </a:rPr>
              <a:t> messages from all machines</a:t>
            </a:r>
          </a:p>
        </p:txBody>
      </p:sp>
    </p:spTree>
    <p:extLst>
      <p:ext uri="{BB962C8B-B14F-4D97-AF65-F5344CB8AC3E}">
        <p14:creationId xmlns:p14="http://schemas.microsoft.com/office/powerpoint/2010/main" val="76832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dirty="0"/>
              <a:t>QoS and Retain</a:t>
            </a:r>
            <a:endParaRPr lang="en-US" sz="2000" dirty="0"/>
          </a:p>
        </p:txBody>
      </p:sp>
      <p:sp>
        <p:nvSpPr>
          <p:cNvPr id="37" name="Text Placeholder 3">
            <a:extLst>
              <a:ext uri="{FF2B5EF4-FFF2-40B4-BE49-F238E27FC236}">
                <a16:creationId xmlns:a16="http://schemas.microsoft.com/office/drawing/2014/main" id="{18BAB947-AB1C-220D-467E-0387A4218EA8}"/>
              </a:ext>
            </a:extLst>
          </p:cNvPr>
          <p:cNvSpPr>
            <a:spLocks noGrp="1"/>
          </p:cNvSpPr>
          <p:nvPr>
            <p:ph type="body" sz="quarter" idx="15"/>
          </p:nvPr>
        </p:nvSpPr>
        <p:spPr>
          <a:xfrm>
            <a:off x="2" y="1091783"/>
            <a:ext cx="4280298" cy="4902509"/>
          </a:xfrm>
        </p:spPr>
        <p:txBody>
          <a:bodyPr/>
          <a:lstStyle/>
          <a:p>
            <a:r>
              <a:rPr lang="en-US" sz="1400" dirty="0"/>
              <a:t>QoS (Quality of Service) – Means of guaranteeing message transfer to the broker, specified by the client</a:t>
            </a:r>
          </a:p>
          <a:p>
            <a:pPr lvl="1"/>
            <a:r>
              <a:rPr lang="en-US" sz="1400" dirty="0"/>
              <a:t>Level 0: At most once</a:t>
            </a:r>
          </a:p>
          <a:p>
            <a:pPr lvl="1"/>
            <a:r>
              <a:rPr lang="en-US" sz="1400" dirty="0"/>
              <a:t>Level 1: </a:t>
            </a:r>
            <a:r>
              <a:rPr lang="en-US" sz="1400"/>
              <a:t>At least </a:t>
            </a:r>
            <a:r>
              <a:rPr lang="en-US" sz="1400" dirty="0"/>
              <a:t>once</a:t>
            </a:r>
          </a:p>
          <a:p>
            <a:pPr lvl="1"/>
            <a:r>
              <a:rPr lang="en-US" sz="1400" dirty="0"/>
              <a:t>Level 2: Exactly once</a:t>
            </a:r>
          </a:p>
          <a:p>
            <a:pPr lvl="1"/>
            <a:endParaRPr lang="en-US" sz="1400" dirty="0"/>
          </a:p>
          <a:p>
            <a:r>
              <a:rPr lang="en-US" sz="1400" dirty="0"/>
              <a:t>Retain – Mechanism for ensuring a subscriber received the message.</a:t>
            </a:r>
          </a:p>
          <a:p>
            <a:pPr lvl="1"/>
            <a:r>
              <a:rPr lang="en-US" sz="1400" dirty="0"/>
              <a:t>A flag to inform the broker to hold onto the most recent “retain” message for a topic</a:t>
            </a:r>
          </a:p>
          <a:p>
            <a:pPr lvl="1"/>
            <a:r>
              <a:rPr lang="en-US" sz="1400" dirty="0"/>
              <a:t>Any client subscribing to the topic, before or after the publish, will receive this message</a:t>
            </a:r>
          </a:p>
        </p:txBody>
      </p:sp>
      <p:pic>
        <p:nvPicPr>
          <p:cNvPr id="3" name="Picture 2">
            <a:extLst>
              <a:ext uri="{FF2B5EF4-FFF2-40B4-BE49-F238E27FC236}">
                <a16:creationId xmlns:a16="http://schemas.microsoft.com/office/drawing/2014/main" id="{5347327C-CA8E-DF4C-4504-B75A6777A08D}"/>
              </a:ext>
            </a:extLst>
          </p:cNvPr>
          <p:cNvPicPr>
            <a:picLocks noChangeAspect="1"/>
          </p:cNvPicPr>
          <p:nvPr/>
        </p:nvPicPr>
        <p:blipFill>
          <a:blip r:embed="rId3"/>
          <a:stretch>
            <a:fillRect/>
          </a:stretch>
        </p:blipFill>
        <p:spPr>
          <a:xfrm>
            <a:off x="3923528" y="1313722"/>
            <a:ext cx="4043970" cy="1820190"/>
          </a:xfrm>
          <a:prstGeom prst="rect">
            <a:avLst/>
          </a:prstGeom>
        </p:spPr>
      </p:pic>
      <p:pic>
        <p:nvPicPr>
          <p:cNvPr id="4" name="Picture 3">
            <a:extLst>
              <a:ext uri="{FF2B5EF4-FFF2-40B4-BE49-F238E27FC236}">
                <a16:creationId xmlns:a16="http://schemas.microsoft.com/office/drawing/2014/main" id="{18E14A78-1E33-B8EF-73B3-BA4076492CA2}"/>
              </a:ext>
            </a:extLst>
          </p:cNvPr>
          <p:cNvPicPr>
            <a:picLocks noChangeAspect="1"/>
          </p:cNvPicPr>
          <p:nvPr/>
        </p:nvPicPr>
        <p:blipFill>
          <a:blip r:embed="rId4"/>
          <a:stretch>
            <a:fillRect/>
          </a:stretch>
        </p:blipFill>
        <p:spPr>
          <a:xfrm>
            <a:off x="8065187" y="1322807"/>
            <a:ext cx="3571727" cy="2107641"/>
          </a:xfrm>
          <a:prstGeom prst="rect">
            <a:avLst/>
          </a:prstGeom>
        </p:spPr>
      </p:pic>
      <p:pic>
        <p:nvPicPr>
          <p:cNvPr id="5" name="Picture 4">
            <a:extLst>
              <a:ext uri="{FF2B5EF4-FFF2-40B4-BE49-F238E27FC236}">
                <a16:creationId xmlns:a16="http://schemas.microsoft.com/office/drawing/2014/main" id="{DBA2807D-4E94-E984-06D8-C465551AC70B}"/>
              </a:ext>
            </a:extLst>
          </p:cNvPr>
          <p:cNvPicPr>
            <a:picLocks noChangeAspect="1"/>
          </p:cNvPicPr>
          <p:nvPr/>
        </p:nvPicPr>
        <p:blipFill>
          <a:blip r:embed="rId5"/>
          <a:stretch>
            <a:fillRect/>
          </a:stretch>
        </p:blipFill>
        <p:spPr>
          <a:xfrm>
            <a:off x="6181841" y="3543037"/>
            <a:ext cx="3766691" cy="3102637"/>
          </a:xfrm>
          <a:prstGeom prst="rect">
            <a:avLst/>
          </a:prstGeom>
        </p:spPr>
      </p:pic>
      <p:pic>
        <p:nvPicPr>
          <p:cNvPr id="11" name="Picture 10">
            <a:extLst>
              <a:ext uri="{FF2B5EF4-FFF2-40B4-BE49-F238E27FC236}">
                <a16:creationId xmlns:a16="http://schemas.microsoft.com/office/drawing/2014/main" id="{956CBC31-5BE0-DD31-B27C-CA03412FE91E}"/>
              </a:ext>
            </a:extLst>
          </p:cNvPr>
          <p:cNvPicPr>
            <a:picLocks noChangeAspect="1"/>
          </p:cNvPicPr>
          <p:nvPr/>
        </p:nvPicPr>
        <p:blipFill>
          <a:blip r:embed="rId6"/>
          <a:stretch>
            <a:fillRect/>
          </a:stretch>
        </p:blipFill>
        <p:spPr>
          <a:xfrm>
            <a:off x="546833" y="5079882"/>
            <a:ext cx="3975205" cy="1649919"/>
          </a:xfrm>
          <a:prstGeom prst="rect">
            <a:avLst/>
          </a:prstGeom>
        </p:spPr>
      </p:pic>
    </p:spTree>
    <p:extLst>
      <p:ext uri="{BB962C8B-B14F-4D97-AF65-F5344CB8AC3E}">
        <p14:creationId xmlns:p14="http://schemas.microsoft.com/office/powerpoint/2010/main" val="145275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a:extLst>
              <a:ext uri="{FF2B5EF4-FFF2-40B4-BE49-F238E27FC236}">
                <a16:creationId xmlns:a16="http://schemas.microsoft.com/office/drawing/2014/main" id="{C0A4D197-E2D5-940B-46E5-0923AC2FDBB5}"/>
              </a:ext>
            </a:extLst>
          </p:cNvPr>
          <p:cNvSpPr>
            <a:spLocks noGrp="1"/>
          </p:cNvSpPr>
          <p:nvPr>
            <p:ph type="title"/>
          </p:nvPr>
        </p:nvSpPr>
        <p:spPr>
          <a:xfrm>
            <a:off x="1605" y="201363"/>
            <a:ext cx="10137600" cy="906366"/>
          </a:xfrm>
        </p:spPr>
        <p:txBody>
          <a:bodyPr/>
          <a:lstStyle/>
          <a:p>
            <a:r>
              <a:rPr lang="en-US" sz="1800" b="0" dirty="0"/>
              <a:t>TwinCAT Connectivity</a:t>
            </a:r>
            <a:br>
              <a:rPr lang="en-US" dirty="0"/>
            </a:br>
            <a:r>
              <a:rPr lang="en-US" sz="2000" dirty="0"/>
              <a:t>Broker Scalability</a:t>
            </a:r>
          </a:p>
        </p:txBody>
      </p:sp>
      <p:pic>
        <p:nvPicPr>
          <p:cNvPr id="6" name="Graphic 5" descr="Factory outline">
            <a:extLst>
              <a:ext uri="{FF2B5EF4-FFF2-40B4-BE49-F238E27FC236}">
                <a16:creationId xmlns:a16="http://schemas.microsoft.com/office/drawing/2014/main" id="{A919933A-1246-846D-7BA3-C4249570F3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76150" y="2006453"/>
            <a:ext cx="783626" cy="783626"/>
          </a:xfrm>
          <a:prstGeom prst="rect">
            <a:avLst/>
          </a:prstGeom>
        </p:spPr>
      </p:pic>
      <p:grpSp>
        <p:nvGrpSpPr>
          <p:cNvPr id="10" name="Group 9">
            <a:extLst>
              <a:ext uri="{FF2B5EF4-FFF2-40B4-BE49-F238E27FC236}">
                <a16:creationId xmlns:a16="http://schemas.microsoft.com/office/drawing/2014/main" id="{7D614EBC-480B-234D-866B-777ABE3F75FC}"/>
              </a:ext>
            </a:extLst>
          </p:cNvPr>
          <p:cNvGrpSpPr/>
          <p:nvPr/>
        </p:nvGrpSpPr>
        <p:grpSpPr>
          <a:xfrm>
            <a:off x="6099808" y="2232437"/>
            <a:ext cx="1042787" cy="1042787"/>
            <a:chOff x="3774715" y="3284768"/>
            <a:chExt cx="1042787" cy="1042787"/>
          </a:xfrm>
        </p:grpSpPr>
        <p:pic>
          <p:nvPicPr>
            <p:cNvPr id="8" name="Graphic 7" descr="Cloud outline">
              <a:extLst>
                <a:ext uri="{FF2B5EF4-FFF2-40B4-BE49-F238E27FC236}">
                  <a16:creationId xmlns:a16="http://schemas.microsoft.com/office/drawing/2014/main" id="{6726FEE8-53CA-8842-2FE8-A4BABFEAB5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4715" y="3284768"/>
              <a:ext cx="1042787" cy="1042787"/>
            </a:xfrm>
            <a:prstGeom prst="rect">
              <a:avLst/>
            </a:prstGeom>
          </p:spPr>
        </p:pic>
        <p:sp>
          <p:nvSpPr>
            <p:cNvPr id="9" name="TextBox 8">
              <a:extLst>
                <a:ext uri="{FF2B5EF4-FFF2-40B4-BE49-F238E27FC236}">
                  <a16:creationId xmlns:a16="http://schemas.microsoft.com/office/drawing/2014/main" id="{529A7CE5-2C48-8527-17AA-AA1985F96979}"/>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grpSp>
        <p:nvGrpSpPr>
          <p:cNvPr id="4" name="Group 3">
            <a:extLst>
              <a:ext uri="{FF2B5EF4-FFF2-40B4-BE49-F238E27FC236}">
                <a16:creationId xmlns:a16="http://schemas.microsoft.com/office/drawing/2014/main" id="{81723074-207A-DDA2-7187-5659767F3BA0}"/>
              </a:ext>
            </a:extLst>
          </p:cNvPr>
          <p:cNvGrpSpPr/>
          <p:nvPr/>
        </p:nvGrpSpPr>
        <p:grpSpPr>
          <a:xfrm>
            <a:off x="7906194" y="1177834"/>
            <a:ext cx="1042787" cy="1042787"/>
            <a:chOff x="3774715" y="3284768"/>
            <a:chExt cx="1042787" cy="1042787"/>
          </a:xfrm>
        </p:grpSpPr>
        <p:pic>
          <p:nvPicPr>
            <p:cNvPr id="11" name="Graphic 10" descr="Cloud outline">
              <a:extLst>
                <a:ext uri="{FF2B5EF4-FFF2-40B4-BE49-F238E27FC236}">
                  <a16:creationId xmlns:a16="http://schemas.microsoft.com/office/drawing/2014/main" id="{39B45826-BAA4-FEC6-BF0A-631E3AC672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74715" y="3284768"/>
              <a:ext cx="1042787" cy="1042787"/>
            </a:xfrm>
            <a:prstGeom prst="rect">
              <a:avLst/>
            </a:prstGeom>
          </p:spPr>
        </p:pic>
        <p:sp>
          <p:nvSpPr>
            <p:cNvPr id="12" name="TextBox 11">
              <a:extLst>
                <a:ext uri="{FF2B5EF4-FFF2-40B4-BE49-F238E27FC236}">
                  <a16:creationId xmlns:a16="http://schemas.microsoft.com/office/drawing/2014/main" id="{11F49502-C6A2-3CBC-1DD2-AA79B07F8819}"/>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grpSp>
        <p:nvGrpSpPr>
          <p:cNvPr id="13" name="Group 12">
            <a:extLst>
              <a:ext uri="{FF2B5EF4-FFF2-40B4-BE49-F238E27FC236}">
                <a16:creationId xmlns:a16="http://schemas.microsoft.com/office/drawing/2014/main" id="{3D4E9089-A432-8544-1524-E65E80511520}"/>
              </a:ext>
            </a:extLst>
          </p:cNvPr>
          <p:cNvGrpSpPr/>
          <p:nvPr/>
        </p:nvGrpSpPr>
        <p:grpSpPr>
          <a:xfrm>
            <a:off x="10222707" y="2192969"/>
            <a:ext cx="1042787" cy="1042787"/>
            <a:chOff x="3774715" y="3284768"/>
            <a:chExt cx="1042787" cy="1042787"/>
          </a:xfrm>
        </p:grpSpPr>
        <p:pic>
          <p:nvPicPr>
            <p:cNvPr id="14" name="Graphic 13" descr="Cloud outline">
              <a:extLst>
                <a:ext uri="{FF2B5EF4-FFF2-40B4-BE49-F238E27FC236}">
                  <a16:creationId xmlns:a16="http://schemas.microsoft.com/office/drawing/2014/main" id="{AF882354-91D8-17CB-C22D-976D14435A1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74715" y="3284768"/>
              <a:ext cx="1042787" cy="1042787"/>
            </a:xfrm>
            <a:prstGeom prst="rect">
              <a:avLst/>
            </a:prstGeom>
          </p:spPr>
        </p:pic>
        <p:sp>
          <p:nvSpPr>
            <p:cNvPr id="15" name="TextBox 14">
              <a:extLst>
                <a:ext uri="{FF2B5EF4-FFF2-40B4-BE49-F238E27FC236}">
                  <a16:creationId xmlns:a16="http://schemas.microsoft.com/office/drawing/2014/main" id="{F0A70E5D-26A8-D6B5-639D-4FEE05D8DCDD}"/>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pic>
        <p:nvPicPr>
          <p:cNvPr id="16" name="Graphic 15" descr="Factory outline">
            <a:extLst>
              <a:ext uri="{FF2B5EF4-FFF2-40B4-BE49-F238E27FC236}">
                <a16:creationId xmlns:a16="http://schemas.microsoft.com/office/drawing/2014/main" id="{CDC16C2F-79B4-C095-6097-B504272E93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75327" y="3482719"/>
            <a:ext cx="783626" cy="783626"/>
          </a:xfrm>
          <a:prstGeom prst="rect">
            <a:avLst/>
          </a:prstGeom>
        </p:spPr>
      </p:pic>
      <p:grpSp>
        <p:nvGrpSpPr>
          <p:cNvPr id="17" name="Group 16">
            <a:extLst>
              <a:ext uri="{FF2B5EF4-FFF2-40B4-BE49-F238E27FC236}">
                <a16:creationId xmlns:a16="http://schemas.microsoft.com/office/drawing/2014/main" id="{12B963B4-FDBF-A754-933E-1767BE727B59}"/>
              </a:ext>
            </a:extLst>
          </p:cNvPr>
          <p:cNvGrpSpPr/>
          <p:nvPr/>
        </p:nvGrpSpPr>
        <p:grpSpPr>
          <a:xfrm>
            <a:off x="10421884" y="3669235"/>
            <a:ext cx="1042787" cy="1042787"/>
            <a:chOff x="3774715" y="3284768"/>
            <a:chExt cx="1042787" cy="1042787"/>
          </a:xfrm>
        </p:grpSpPr>
        <p:pic>
          <p:nvPicPr>
            <p:cNvPr id="18" name="Graphic 17" descr="Cloud outline">
              <a:extLst>
                <a:ext uri="{FF2B5EF4-FFF2-40B4-BE49-F238E27FC236}">
                  <a16:creationId xmlns:a16="http://schemas.microsoft.com/office/drawing/2014/main" id="{E9BDB7A0-ADD0-17F2-39FA-EDF3C1A2AC0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74715" y="3284768"/>
              <a:ext cx="1042787" cy="1042787"/>
            </a:xfrm>
            <a:prstGeom prst="rect">
              <a:avLst/>
            </a:prstGeom>
          </p:spPr>
        </p:pic>
        <p:sp>
          <p:nvSpPr>
            <p:cNvPr id="19" name="TextBox 18">
              <a:extLst>
                <a:ext uri="{FF2B5EF4-FFF2-40B4-BE49-F238E27FC236}">
                  <a16:creationId xmlns:a16="http://schemas.microsoft.com/office/drawing/2014/main" id="{A951FE0E-7666-7738-6611-6E005F117F15}"/>
                </a:ext>
              </a:extLst>
            </p:cNvPr>
            <p:cNvSpPr txBox="1"/>
            <p:nvPr/>
          </p:nvSpPr>
          <p:spPr>
            <a:xfrm>
              <a:off x="3977751" y="3725349"/>
              <a:ext cx="636713" cy="276999"/>
            </a:xfrm>
            <a:prstGeom prst="rect">
              <a:avLst/>
            </a:prstGeom>
            <a:noFill/>
          </p:spPr>
          <p:txBody>
            <a:bodyPr wrap="none" rtlCol="0">
              <a:spAutoFit/>
            </a:bodyPr>
            <a:lstStyle/>
            <a:p>
              <a:r>
                <a:rPr lang="en-US" sz="1200" dirty="0"/>
                <a:t>Broker</a:t>
              </a:r>
            </a:p>
          </p:txBody>
        </p:sp>
      </p:grpSp>
      <p:cxnSp>
        <p:nvCxnSpPr>
          <p:cNvPr id="45" name="Straight Connector 44">
            <a:extLst>
              <a:ext uri="{FF2B5EF4-FFF2-40B4-BE49-F238E27FC236}">
                <a16:creationId xmlns:a16="http://schemas.microsoft.com/office/drawing/2014/main" id="{D4A53A85-EC80-24D0-79B7-67562A8CB004}"/>
              </a:ext>
            </a:extLst>
          </p:cNvPr>
          <p:cNvCxnSpPr>
            <a:cxnSpLocks/>
          </p:cNvCxnSpPr>
          <p:nvPr/>
        </p:nvCxnSpPr>
        <p:spPr>
          <a:xfrm flipH="1">
            <a:off x="6877892" y="2006453"/>
            <a:ext cx="1121145" cy="53799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DB50731-E0B1-86C7-8253-7C2A116B626E}"/>
              </a:ext>
            </a:extLst>
          </p:cNvPr>
          <p:cNvCxnSpPr>
            <a:cxnSpLocks/>
          </p:cNvCxnSpPr>
          <p:nvPr/>
        </p:nvCxnSpPr>
        <p:spPr>
          <a:xfrm>
            <a:off x="8899054" y="1981964"/>
            <a:ext cx="1391500" cy="637081"/>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D353927-8C02-02E0-956D-59A07837A1DB}"/>
              </a:ext>
            </a:extLst>
          </p:cNvPr>
          <p:cNvCxnSpPr>
            <a:cxnSpLocks/>
          </p:cNvCxnSpPr>
          <p:nvPr/>
        </p:nvCxnSpPr>
        <p:spPr>
          <a:xfrm>
            <a:off x="8557268" y="2045376"/>
            <a:ext cx="2067652" cy="1919568"/>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446B6C81-6C6E-90C6-B02B-E50501742E2C}"/>
              </a:ext>
            </a:extLst>
          </p:cNvPr>
          <p:cNvCxnSpPr>
            <a:cxnSpLocks/>
          </p:cNvCxnSpPr>
          <p:nvPr/>
        </p:nvCxnSpPr>
        <p:spPr>
          <a:xfrm>
            <a:off x="7660027" y="3874532"/>
            <a:ext cx="0" cy="1254488"/>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pic>
        <p:nvPicPr>
          <p:cNvPr id="59" name="Graphic 58" descr="Server outline">
            <a:extLst>
              <a:ext uri="{FF2B5EF4-FFF2-40B4-BE49-F238E27FC236}">
                <a16:creationId xmlns:a16="http://schemas.microsoft.com/office/drawing/2014/main" id="{473B56CB-5365-5585-8643-D32E15F6506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48909" y="3069042"/>
            <a:ext cx="588489" cy="588489"/>
          </a:xfrm>
          <a:prstGeom prst="rect">
            <a:avLst/>
          </a:prstGeom>
        </p:spPr>
      </p:pic>
      <p:grpSp>
        <p:nvGrpSpPr>
          <p:cNvPr id="60" name="Group 59">
            <a:extLst>
              <a:ext uri="{FF2B5EF4-FFF2-40B4-BE49-F238E27FC236}">
                <a16:creationId xmlns:a16="http://schemas.microsoft.com/office/drawing/2014/main" id="{94F7BBAA-962D-D839-E5EE-FBBEF5E3D036}"/>
              </a:ext>
            </a:extLst>
          </p:cNvPr>
          <p:cNvGrpSpPr/>
          <p:nvPr/>
        </p:nvGrpSpPr>
        <p:grpSpPr>
          <a:xfrm>
            <a:off x="7970422" y="2942521"/>
            <a:ext cx="2309327" cy="1876723"/>
            <a:chOff x="7530034" y="4542825"/>
            <a:chExt cx="2309327" cy="1876723"/>
          </a:xfrm>
        </p:grpSpPr>
        <p:sp>
          <p:nvSpPr>
            <p:cNvPr id="61" name="TextBox 60">
              <a:extLst>
                <a:ext uri="{FF2B5EF4-FFF2-40B4-BE49-F238E27FC236}">
                  <a16:creationId xmlns:a16="http://schemas.microsoft.com/office/drawing/2014/main" id="{0C58D5A5-B7AB-D43E-7657-9798BB9DC99C}"/>
                </a:ext>
              </a:extLst>
            </p:cNvPr>
            <p:cNvSpPr txBox="1"/>
            <p:nvPr/>
          </p:nvSpPr>
          <p:spPr>
            <a:xfrm>
              <a:off x="7530040" y="4778549"/>
              <a:ext cx="2309321" cy="246221"/>
            </a:xfrm>
            <a:prstGeom prst="rect">
              <a:avLst/>
            </a:prstGeom>
            <a:noFill/>
          </p:spPr>
          <p:txBody>
            <a:bodyPr wrap="square" rtlCol="0">
              <a:spAutoFit/>
            </a:bodyPr>
            <a:lstStyle/>
            <a:p>
              <a:r>
                <a:rPr lang="en-US" sz="1000" dirty="0">
                  <a:solidFill>
                    <a:srgbClr val="C00000"/>
                  </a:solidFill>
                </a:rPr>
                <a:t>Broker:   cloud.broker.com</a:t>
              </a:r>
            </a:p>
          </p:txBody>
        </p:sp>
        <p:sp>
          <p:nvSpPr>
            <p:cNvPr id="62" name="TextBox 61">
              <a:extLst>
                <a:ext uri="{FF2B5EF4-FFF2-40B4-BE49-F238E27FC236}">
                  <a16:creationId xmlns:a16="http://schemas.microsoft.com/office/drawing/2014/main" id="{D5972E1E-E3A7-BD40-EC04-7B54182EE38C}"/>
                </a:ext>
              </a:extLst>
            </p:cNvPr>
            <p:cNvSpPr txBox="1"/>
            <p:nvPr/>
          </p:nvSpPr>
          <p:spPr>
            <a:xfrm>
              <a:off x="7530038" y="5005220"/>
              <a:ext cx="2309320" cy="246221"/>
            </a:xfrm>
            <a:prstGeom prst="rect">
              <a:avLst/>
            </a:prstGeom>
            <a:noFill/>
            <a:ln>
              <a:noFill/>
            </a:ln>
          </p:spPr>
          <p:txBody>
            <a:bodyPr wrap="square" rtlCol="0">
              <a:spAutoFit/>
            </a:bodyPr>
            <a:lstStyle/>
            <a:p>
              <a:r>
                <a:rPr lang="en-US" sz="1000" dirty="0">
                  <a:solidFill>
                    <a:srgbClr val="00B050"/>
                  </a:solidFill>
                </a:rPr>
                <a:t>Topic:     Site/1/Machine/2/Status</a:t>
              </a:r>
            </a:p>
          </p:txBody>
        </p:sp>
        <p:sp>
          <p:nvSpPr>
            <p:cNvPr id="63" name="TextBox 62">
              <a:extLst>
                <a:ext uri="{FF2B5EF4-FFF2-40B4-BE49-F238E27FC236}">
                  <a16:creationId xmlns:a16="http://schemas.microsoft.com/office/drawing/2014/main" id="{3DAFBE5B-BF4C-EA9A-D1E3-13A02ED4555B}"/>
                </a:ext>
              </a:extLst>
            </p:cNvPr>
            <p:cNvSpPr txBox="1"/>
            <p:nvPr/>
          </p:nvSpPr>
          <p:spPr>
            <a:xfrm>
              <a:off x="7530039" y="5249997"/>
              <a:ext cx="2309319" cy="1169551"/>
            </a:xfrm>
            <a:prstGeom prst="rect">
              <a:avLst/>
            </a:prstGeom>
            <a:noFill/>
            <a:ln>
              <a:noFill/>
            </a:ln>
          </p:spPr>
          <p:txBody>
            <a:bodyPr wrap="square" rtlCol="0">
              <a:spAutoFit/>
            </a:bodyPr>
            <a:lstStyle/>
            <a:p>
              <a:r>
                <a:rPr lang="en-US" sz="1000" dirty="0">
                  <a:solidFill>
                    <a:srgbClr val="7030A0"/>
                  </a:solidFill>
                </a:rPr>
                <a:t>Data:</a:t>
              </a:r>
            </a:p>
            <a:p>
              <a:r>
                <a:rPr lang="en-US" sz="1000" dirty="0">
                  <a:solidFill>
                    <a:srgbClr val="7030A0"/>
                  </a:solidFill>
                </a:rPr>
                <a:t>{ </a:t>
              </a:r>
            </a:p>
            <a:p>
              <a:r>
                <a:rPr lang="en-US" sz="1000" dirty="0">
                  <a:solidFill>
                    <a:srgbClr val="7030A0"/>
                  </a:solidFill>
                </a:rPr>
                <a:t>  ‘status’: ‘running’,</a:t>
              </a:r>
            </a:p>
            <a:p>
              <a:r>
                <a:rPr lang="en-US" sz="1000" dirty="0">
                  <a:solidFill>
                    <a:srgbClr val="7030A0"/>
                  </a:solidFill>
                </a:rPr>
                <a:t>  ‘ppm’: 12.32,</a:t>
              </a:r>
            </a:p>
            <a:p>
              <a:r>
                <a:rPr lang="en-US" sz="1000" dirty="0">
                  <a:solidFill>
                    <a:srgbClr val="7030A0"/>
                  </a:solidFill>
                </a:rPr>
                <a:t>  ‘uptime: ‘3:54:21’</a:t>
              </a:r>
            </a:p>
            <a:p>
              <a:r>
                <a:rPr lang="en-US" sz="1000" dirty="0">
                  <a:solidFill>
                    <a:srgbClr val="7030A0"/>
                  </a:solidFill>
                </a:rPr>
                <a:t>  …</a:t>
              </a:r>
            </a:p>
            <a:p>
              <a:r>
                <a:rPr lang="en-US" sz="1000" dirty="0">
                  <a:solidFill>
                    <a:srgbClr val="7030A0"/>
                  </a:solidFill>
                </a:rPr>
                <a:t>}</a:t>
              </a:r>
            </a:p>
          </p:txBody>
        </p:sp>
        <p:sp>
          <p:nvSpPr>
            <p:cNvPr id="64" name="TextBox 63">
              <a:extLst>
                <a:ext uri="{FF2B5EF4-FFF2-40B4-BE49-F238E27FC236}">
                  <a16:creationId xmlns:a16="http://schemas.microsoft.com/office/drawing/2014/main" id="{5F0B3C8B-7562-FE48-7883-F753D97B3EB4}"/>
                </a:ext>
              </a:extLst>
            </p:cNvPr>
            <p:cNvSpPr txBox="1"/>
            <p:nvPr/>
          </p:nvSpPr>
          <p:spPr>
            <a:xfrm>
              <a:off x="7530034" y="4542825"/>
              <a:ext cx="2309321" cy="246221"/>
            </a:xfrm>
            <a:prstGeom prst="rect">
              <a:avLst/>
            </a:prstGeom>
            <a:noFill/>
          </p:spPr>
          <p:txBody>
            <a:bodyPr wrap="square" rtlCol="0">
              <a:spAutoFit/>
            </a:bodyPr>
            <a:lstStyle/>
            <a:p>
              <a:r>
                <a:rPr lang="en-US" sz="1000" u="sng" dirty="0"/>
                <a:t>Subscribe</a:t>
              </a:r>
            </a:p>
          </p:txBody>
        </p:sp>
      </p:grpSp>
      <p:sp>
        <p:nvSpPr>
          <p:cNvPr id="68" name="TextBox 67">
            <a:extLst>
              <a:ext uri="{FF2B5EF4-FFF2-40B4-BE49-F238E27FC236}">
                <a16:creationId xmlns:a16="http://schemas.microsoft.com/office/drawing/2014/main" id="{F118DC66-347A-072C-33C2-9E4946CFBCE8}"/>
              </a:ext>
            </a:extLst>
          </p:cNvPr>
          <p:cNvSpPr txBox="1"/>
          <p:nvPr/>
        </p:nvSpPr>
        <p:spPr>
          <a:xfrm>
            <a:off x="10273438" y="1779294"/>
            <a:ext cx="1209339" cy="276999"/>
          </a:xfrm>
          <a:prstGeom prst="rect">
            <a:avLst/>
          </a:prstGeom>
          <a:noFill/>
        </p:spPr>
        <p:txBody>
          <a:bodyPr wrap="square" rtlCol="0">
            <a:spAutoFit/>
          </a:bodyPr>
          <a:lstStyle/>
          <a:p>
            <a:pPr algn="ctr"/>
            <a:r>
              <a:rPr lang="en-US" sz="1200" dirty="0"/>
              <a:t>Site 2</a:t>
            </a:r>
          </a:p>
        </p:txBody>
      </p:sp>
      <p:sp>
        <p:nvSpPr>
          <p:cNvPr id="69" name="TextBox 68">
            <a:extLst>
              <a:ext uri="{FF2B5EF4-FFF2-40B4-BE49-F238E27FC236}">
                <a16:creationId xmlns:a16="http://schemas.microsoft.com/office/drawing/2014/main" id="{4BFCA36C-566C-D761-7D7A-BA72A7D6FA1B}"/>
              </a:ext>
            </a:extLst>
          </p:cNvPr>
          <p:cNvSpPr txBox="1"/>
          <p:nvPr/>
        </p:nvSpPr>
        <p:spPr>
          <a:xfrm>
            <a:off x="5654057" y="1923820"/>
            <a:ext cx="1209339" cy="276999"/>
          </a:xfrm>
          <a:prstGeom prst="rect">
            <a:avLst/>
          </a:prstGeom>
          <a:noFill/>
        </p:spPr>
        <p:txBody>
          <a:bodyPr wrap="square" rtlCol="0">
            <a:spAutoFit/>
          </a:bodyPr>
          <a:lstStyle/>
          <a:p>
            <a:pPr algn="ctr"/>
            <a:r>
              <a:rPr lang="en-US" sz="1200" dirty="0"/>
              <a:t>Site 1</a:t>
            </a:r>
          </a:p>
        </p:txBody>
      </p:sp>
      <p:sp>
        <p:nvSpPr>
          <p:cNvPr id="70" name="TextBox 69">
            <a:extLst>
              <a:ext uri="{FF2B5EF4-FFF2-40B4-BE49-F238E27FC236}">
                <a16:creationId xmlns:a16="http://schemas.microsoft.com/office/drawing/2014/main" id="{86D5D85C-5353-C431-B1FC-1919A17F3881}"/>
              </a:ext>
            </a:extLst>
          </p:cNvPr>
          <p:cNvSpPr txBox="1"/>
          <p:nvPr/>
        </p:nvSpPr>
        <p:spPr>
          <a:xfrm>
            <a:off x="10357801" y="3382795"/>
            <a:ext cx="1209339" cy="276999"/>
          </a:xfrm>
          <a:prstGeom prst="rect">
            <a:avLst/>
          </a:prstGeom>
          <a:noFill/>
        </p:spPr>
        <p:txBody>
          <a:bodyPr wrap="square" rtlCol="0">
            <a:spAutoFit/>
          </a:bodyPr>
          <a:lstStyle/>
          <a:p>
            <a:pPr algn="ctr"/>
            <a:r>
              <a:rPr lang="en-US" sz="1200" dirty="0"/>
              <a:t>Site 3</a:t>
            </a:r>
          </a:p>
        </p:txBody>
      </p:sp>
      <p:cxnSp>
        <p:nvCxnSpPr>
          <p:cNvPr id="74" name="Straight Connector 73">
            <a:extLst>
              <a:ext uri="{FF2B5EF4-FFF2-40B4-BE49-F238E27FC236}">
                <a16:creationId xmlns:a16="http://schemas.microsoft.com/office/drawing/2014/main" id="{22BB8D26-5307-9615-D5D2-0930CB750682}"/>
              </a:ext>
            </a:extLst>
          </p:cNvPr>
          <p:cNvCxnSpPr>
            <a:cxnSpLocks/>
          </p:cNvCxnSpPr>
          <p:nvPr/>
        </p:nvCxnSpPr>
        <p:spPr>
          <a:xfrm flipH="1">
            <a:off x="7660027" y="2069098"/>
            <a:ext cx="631167" cy="999944"/>
          </a:xfrm>
          <a:prstGeom prst="lin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B515234C-D461-E2B1-2F1F-0DE911695E0E}"/>
              </a:ext>
            </a:extLst>
          </p:cNvPr>
          <p:cNvSpPr txBox="1"/>
          <p:nvPr/>
        </p:nvSpPr>
        <p:spPr>
          <a:xfrm>
            <a:off x="6379605" y="5789534"/>
            <a:ext cx="2872118" cy="246221"/>
          </a:xfrm>
          <a:prstGeom prst="rect">
            <a:avLst/>
          </a:prstGeom>
          <a:noFill/>
        </p:spPr>
        <p:txBody>
          <a:bodyPr wrap="square" rtlCol="0">
            <a:spAutoFit/>
          </a:bodyPr>
          <a:lstStyle/>
          <a:p>
            <a:r>
              <a:rPr lang="en-US" sz="1000" dirty="0">
                <a:solidFill>
                  <a:srgbClr val="C00000"/>
                </a:solidFill>
              </a:rPr>
              <a:t>https://web.portal.com/site/1/machine/2/status</a:t>
            </a:r>
          </a:p>
        </p:txBody>
      </p:sp>
      <p:sp>
        <p:nvSpPr>
          <p:cNvPr id="84" name="Text Placeholder 3">
            <a:extLst>
              <a:ext uri="{FF2B5EF4-FFF2-40B4-BE49-F238E27FC236}">
                <a16:creationId xmlns:a16="http://schemas.microsoft.com/office/drawing/2014/main" id="{EB5179CF-2773-089D-D065-E63D545FA341}"/>
              </a:ext>
            </a:extLst>
          </p:cNvPr>
          <p:cNvSpPr>
            <a:spLocks noGrp="1"/>
          </p:cNvSpPr>
          <p:nvPr>
            <p:ph type="body" sz="quarter" idx="15"/>
          </p:nvPr>
        </p:nvSpPr>
        <p:spPr>
          <a:xfrm>
            <a:off x="2" y="1091783"/>
            <a:ext cx="5202168" cy="4902509"/>
          </a:xfrm>
        </p:spPr>
        <p:txBody>
          <a:bodyPr/>
          <a:lstStyle/>
          <a:p>
            <a:r>
              <a:rPr lang="en-US" sz="1400" dirty="0"/>
              <a:t>Broker-to-broker communications and cloud hosted brokers facilitate distributed, scalable connectivity</a:t>
            </a:r>
          </a:p>
          <a:p>
            <a:endParaRPr lang="en-US" sz="1400" dirty="0"/>
          </a:p>
          <a:p>
            <a:r>
              <a:rPr lang="en-US" sz="1400" dirty="0"/>
              <a:t>Formalize topic naming and hierarchy (“namespaces”) to organize site, machine and component level data</a:t>
            </a:r>
          </a:p>
          <a:p>
            <a:endParaRPr lang="en-US" sz="1400" dirty="0"/>
          </a:p>
          <a:p>
            <a:r>
              <a:rPr lang="en-US" sz="1400" dirty="0"/>
              <a:t>Web service can be introduced for external access</a:t>
            </a:r>
          </a:p>
        </p:txBody>
      </p:sp>
      <p:pic>
        <p:nvPicPr>
          <p:cNvPr id="85" name="Graphic 84" descr="Factory outline">
            <a:extLst>
              <a:ext uri="{FF2B5EF4-FFF2-40B4-BE49-F238E27FC236}">
                <a16:creationId xmlns:a16="http://schemas.microsoft.com/office/drawing/2014/main" id="{5F8D8F00-882E-C30A-D92C-A82525F3F7F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2675" y="1986852"/>
            <a:ext cx="783626" cy="783626"/>
          </a:xfrm>
          <a:prstGeom prst="rect">
            <a:avLst/>
          </a:prstGeom>
        </p:spPr>
      </p:pic>
      <p:sp>
        <p:nvSpPr>
          <p:cNvPr id="93" name="TextBox 92">
            <a:extLst>
              <a:ext uri="{FF2B5EF4-FFF2-40B4-BE49-F238E27FC236}">
                <a16:creationId xmlns:a16="http://schemas.microsoft.com/office/drawing/2014/main" id="{0AD712EA-DFF4-B74A-14BA-519E75BFA5F6}"/>
              </a:ext>
            </a:extLst>
          </p:cNvPr>
          <p:cNvSpPr txBox="1"/>
          <p:nvPr/>
        </p:nvSpPr>
        <p:spPr>
          <a:xfrm>
            <a:off x="7713270" y="1181571"/>
            <a:ext cx="1302817" cy="246221"/>
          </a:xfrm>
          <a:prstGeom prst="rect">
            <a:avLst/>
          </a:prstGeom>
          <a:noFill/>
        </p:spPr>
        <p:txBody>
          <a:bodyPr wrap="square" rtlCol="0">
            <a:spAutoFit/>
          </a:bodyPr>
          <a:lstStyle/>
          <a:p>
            <a:pPr algn="ctr"/>
            <a:r>
              <a:rPr lang="en-US" sz="1000" dirty="0">
                <a:solidFill>
                  <a:srgbClr val="C00000"/>
                </a:solidFill>
              </a:rPr>
              <a:t>cloud.broker.com</a:t>
            </a:r>
          </a:p>
        </p:txBody>
      </p:sp>
      <p:grpSp>
        <p:nvGrpSpPr>
          <p:cNvPr id="101" name="Group 100">
            <a:extLst>
              <a:ext uri="{FF2B5EF4-FFF2-40B4-BE49-F238E27FC236}">
                <a16:creationId xmlns:a16="http://schemas.microsoft.com/office/drawing/2014/main" id="{D2A9519C-70DA-B8EF-837E-4048B83CF118}"/>
              </a:ext>
            </a:extLst>
          </p:cNvPr>
          <p:cNvGrpSpPr/>
          <p:nvPr/>
        </p:nvGrpSpPr>
        <p:grpSpPr>
          <a:xfrm>
            <a:off x="7526981" y="5051967"/>
            <a:ext cx="783625" cy="783625"/>
            <a:chOff x="8054387" y="5360193"/>
            <a:chExt cx="783625" cy="783625"/>
          </a:xfrm>
        </p:grpSpPr>
        <p:pic>
          <p:nvPicPr>
            <p:cNvPr id="7" name="Graphic 6" descr="Tablet outline">
              <a:extLst>
                <a:ext uri="{FF2B5EF4-FFF2-40B4-BE49-F238E27FC236}">
                  <a16:creationId xmlns:a16="http://schemas.microsoft.com/office/drawing/2014/main" id="{9CAAC422-E69D-143E-A2FE-4D2891F9FF4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54387" y="5360193"/>
              <a:ext cx="783625" cy="783625"/>
            </a:xfrm>
            <a:prstGeom prst="rect">
              <a:avLst/>
            </a:prstGeom>
          </p:spPr>
        </p:pic>
        <p:pic>
          <p:nvPicPr>
            <p:cNvPr id="97" name="Graphic 96" descr="Gantt Chart outline">
              <a:extLst>
                <a:ext uri="{FF2B5EF4-FFF2-40B4-BE49-F238E27FC236}">
                  <a16:creationId xmlns:a16="http://schemas.microsoft.com/office/drawing/2014/main" id="{1E5C15F5-FEEA-F431-BA23-AA6B2589193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55503" y="5560738"/>
              <a:ext cx="374244" cy="374244"/>
            </a:xfrm>
            <a:prstGeom prst="rect">
              <a:avLst/>
            </a:prstGeom>
          </p:spPr>
        </p:pic>
      </p:grpSp>
      <p:grpSp>
        <p:nvGrpSpPr>
          <p:cNvPr id="100" name="Group 99">
            <a:extLst>
              <a:ext uri="{FF2B5EF4-FFF2-40B4-BE49-F238E27FC236}">
                <a16:creationId xmlns:a16="http://schemas.microsoft.com/office/drawing/2014/main" id="{9B8A6767-8869-E0F8-DD8E-B5F90CDC52A2}"/>
              </a:ext>
            </a:extLst>
          </p:cNvPr>
          <p:cNvGrpSpPr/>
          <p:nvPr/>
        </p:nvGrpSpPr>
        <p:grpSpPr>
          <a:xfrm>
            <a:off x="6991437" y="5129020"/>
            <a:ext cx="636102" cy="636102"/>
            <a:chOff x="7527994" y="5487393"/>
            <a:chExt cx="636102" cy="636102"/>
          </a:xfrm>
        </p:grpSpPr>
        <p:pic>
          <p:nvPicPr>
            <p:cNvPr id="119" name="Graphic 118" descr="Smart Phone outline">
              <a:extLst>
                <a:ext uri="{FF2B5EF4-FFF2-40B4-BE49-F238E27FC236}">
                  <a16:creationId xmlns:a16="http://schemas.microsoft.com/office/drawing/2014/main" id="{FCAD8C32-FD55-9B7E-9D0A-D9FF4C6E827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527994" y="5487393"/>
              <a:ext cx="636102" cy="636102"/>
            </a:xfrm>
            <a:prstGeom prst="rect">
              <a:avLst/>
            </a:prstGeom>
          </p:spPr>
        </p:pic>
        <p:pic>
          <p:nvPicPr>
            <p:cNvPr id="99" name="Graphic 98" descr="Pie chart outline">
              <a:extLst>
                <a:ext uri="{FF2B5EF4-FFF2-40B4-BE49-F238E27FC236}">
                  <a16:creationId xmlns:a16="http://schemas.microsoft.com/office/drawing/2014/main" id="{94D13A0D-1BC3-4697-822B-559DE44E63C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740698" y="5703994"/>
              <a:ext cx="203807" cy="203807"/>
            </a:xfrm>
            <a:prstGeom prst="rect">
              <a:avLst/>
            </a:prstGeom>
          </p:spPr>
        </p:pic>
      </p:grpSp>
      <p:pic>
        <p:nvPicPr>
          <p:cNvPr id="104" name="Graphic 103" descr="Robot Hand outline">
            <a:extLst>
              <a:ext uri="{FF2B5EF4-FFF2-40B4-BE49-F238E27FC236}">
                <a16:creationId xmlns:a16="http://schemas.microsoft.com/office/drawing/2014/main" id="{04DF46DD-198E-2CD0-BCC8-E76CC8D2ED6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68635" y="2251361"/>
            <a:ext cx="311678" cy="309482"/>
          </a:xfrm>
          <a:prstGeom prst="rect">
            <a:avLst/>
          </a:prstGeom>
        </p:spPr>
      </p:pic>
      <p:pic>
        <p:nvPicPr>
          <p:cNvPr id="107" name="Graphic 106" descr="Robot Hand outline">
            <a:extLst>
              <a:ext uri="{FF2B5EF4-FFF2-40B4-BE49-F238E27FC236}">
                <a16:creationId xmlns:a16="http://schemas.microsoft.com/office/drawing/2014/main" id="{D0896374-F7EB-DC91-0280-733ABCC842AF}"/>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305327" y="2599089"/>
            <a:ext cx="311678" cy="309482"/>
          </a:xfrm>
          <a:prstGeom prst="rect">
            <a:avLst/>
          </a:prstGeom>
        </p:spPr>
      </p:pic>
      <p:pic>
        <p:nvPicPr>
          <p:cNvPr id="108" name="Graphic 107" descr="Robot Hand outline">
            <a:extLst>
              <a:ext uri="{FF2B5EF4-FFF2-40B4-BE49-F238E27FC236}">
                <a16:creationId xmlns:a16="http://schemas.microsoft.com/office/drawing/2014/main" id="{6115EDC0-553B-ABD0-D2A2-3782C84E650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686612" y="2707428"/>
            <a:ext cx="311678" cy="309482"/>
          </a:xfrm>
          <a:prstGeom prst="rect">
            <a:avLst/>
          </a:prstGeom>
        </p:spPr>
      </p:pic>
      <p:sp>
        <p:nvSpPr>
          <p:cNvPr id="109" name="TextBox 108">
            <a:extLst>
              <a:ext uri="{FF2B5EF4-FFF2-40B4-BE49-F238E27FC236}">
                <a16:creationId xmlns:a16="http://schemas.microsoft.com/office/drawing/2014/main" id="{7B048027-11BC-4072-6536-A38C4101CEDB}"/>
              </a:ext>
            </a:extLst>
          </p:cNvPr>
          <p:cNvSpPr txBox="1"/>
          <p:nvPr/>
        </p:nvSpPr>
        <p:spPr>
          <a:xfrm>
            <a:off x="5163565" y="2833510"/>
            <a:ext cx="438836" cy="246221"/>
          </a:xfrm>
          <a:prstGeom prst="rect">
            <a:avLst/>
          </a:prstGeom>
          <a:noFill/>
        </p:spPr>
        <p:txBody>
          <a:bodyPr wrap="square" rtlCol="0">
            <a:spAutoFit/>
          </a:bodyPr>
          <a:lstStyle/>
          <a:p>
            <a:pPr algn="ctr"/>
            <a:r>
              <a:rPr lang="en-US" sz="1000" dirty="0"/>
              <a:t>2</a:t>
            </a:r>
          </a:p>
        </p:txBody>
      </p:sp>
      <p:sp>
        <p:nvSpPr>
          <p:cNvPr id="110" name="TextBox 109">
            <a:extLst>
              <a:ext uri="{FF2B5EF4-FFF2-40B4-BE49-F238E27FC236}">
                <a16:creationId xmlns:a16="http://schemas.microsoft.com/office/drawing/2014/main" id="{BF784531-590C-BF8C-0691-FE0B14A40528}"/>
              </a:ext>
            </a:extLst>
          </p:cNvPr>
          <p:cNvSpPr txBox="1"/>
          <p:nvPr/>
        </p:nvSpPr>
        <p:spPr>
          <a:xfrm>
            <a:off x="5561285" y="2944341"/>
            <a:ext cx="438836" cy="246221"/>
          </a:xfrm>
          <a:prstGeom prst="rect">
            <a:avLst/>
          </a:prstGeom>
          <a:noFill/>
        </p:spPr>
        <p:txBody>
          <a:bodyPr wrap="square" rtlCol="0">
            <a:spAutoFit/>
          </a:bodyPr>
          <a:lstStyle/>
          <a:p>
            <a:pPr algn="ctr"/>
            <a:r>
              <a:rPr lang="en-US" sz="1000" dirty="0"/>
              <a:t>3</a:t>
            </a:r>
          </a:p>
        </p:txBody>
      </p:sp>
      <p:sp>
        <p:nvSpPr>
          <p:cNvPr id="112" name="TextBox 111">
            <a:extLst>
              <a:ext uri="{FF2B5EF4-FFF2-40B4-BE49-F238E27FC236}">
                <a16:creationId xmlns:a16="http://schemas.microsoft.com/office/drawing/2014/main" id="{77680113-D86A-95FE-E6A0-2499695090B8}"/>
              </a:ext>
            </a:extLst>
          </p:cNvPr>
          <p:cNvSpPr txBox="1"/>
          <p:nvPr/>
        </p:nvSpPr>
        <p:spPr>
          <a:xfrm>
            <a:off x="5244090" y="2077708"/>
            <a:ext cx="438836" cy="246221"/>
          </a:xfrm>
          <a:prstGeom prst="rect">
            <a:avLst/>
          </a:prstGeom>
          <a:noFill/>
        </p:spPr>
        <p:txBody>
          <a:bodyPr wrap="square" rtlCol="0">
            <a:spAutoFit/>
          </a:bodyPr>
          <a:lstStyle/>
          <a:p>
            <a:pPr algn="ctr"/>
            <a:r>
              <a:rPr lang="en-US" sz="1000" dirty="0"/>
              <a:t>1</a:t>
            </a:r>
          </a:p>
        </p:txBody>
      </p:sp>
      <p:sp>
        <p:nvSpPr>
          <p:cNvPr id="114" name="TextBox 113">
            <a:extLst>
              <a:ext uri="{FF2B5EF4-FFF2-40B4-BE49-F238E27FC236}">
                <a16:creationId xmlns:a16="http://schemas.microsoft.com/office/drawing/2014/main" id="{1C3353BA-75BA-36A1-C950-068A85B66351}"/>
              </a:ext>
            </a:extLst>
          </p:cNvPr>
          <p:cNvSpPr txBox="1"/>
          <p:nvPr/>
        </p:nvSpPr>
        <p:spPr>
          <a:xfrm>
            <a:off x="6863396" y="3579753"/>
            <a:ext cx="1209339" cy="276999"/>
          </a:xfrm>
          <a:prstGeom prst="rect">
            <a:avLst/>
          </a:prstGeom>
          <a:noFill/>
        </p:spPr>
        <p:txBody>
          <a:bodyPr wrap="square" rtlCol="0">
            <a:spAutoFit/>
          </a:bodyPr>
          <a:lstStyle/>
          <a:p>
            <a:pPr algn="ctr"/>
            <a:r>
              <a:rPr lang="en-US" sz="1200" dirty="0"/>
              <a:t>Web server</a:t>
            </a:r>
          </a:p>
        </p:txBody>
      </p:sp>
    </p:spTree>
    <p:extLst>
      <p:ext uri="{BB962C8B-B14F-4D97-AF65-F5344CB8AC3E}">
        <p14:creationId xmlns:p14="http://schemas.microsoft.com/office/powerpoint/2010/main" val="2268354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E6CB882-EC62-47A1-B355-9D8031F779D9}"/>
              </a:ext>
            </a:extLst>
          </p:cNvPr>
          <p:cNvSpPr>
            <a:spLocks noGrp="1"/>
          </p:cNvSpPr>
          <p:nvPr>
            <p:ph type="body" sz="quarter" idx="15"/>
          </p:nvPr>
        </p:nvSpPr>
        <p:spPr>
          <a:xfrm>
            <a:off x="3" y="1090799"/>
            <a:ext cx="6529550" cy="5331600"/>
          </a:xfrm>
        </p:spPr>
        <p:txBody>
          <a:bodyPr/>
          <a:lstStyle/>
          <a:p>
            <a:r>
              <a:rPr lang="de-DE" sz="2000"/>
              <a:t>Implements OPC UA Pub/Sub (OPC10000-14)</a:t>
            </a:r>
          </a:p>
          <a:p>
            <a:r>
              <a:rPr lang="de-DE" sz="2000"/>
              <a:t>Supported transport protocols:</a:t>
            </a:r>
          </a:p>
          <a:p>
            <a:pPr lvl="1"/>
            <a:r>
              <a:rPr lang="en-US" sz="2000"/>
              <a:t>UDP: use case “Device-to-Device”</a:t>
            </a:r>
          </a:p>
          <a:p>
            <a:pPr lvl="1"/>
            <a:r>
              <a:rPr lang="en-US" sz="2000"/>
              <a:t>MQTT: use case “Device-to-Cloud”</a:t>
            </a:r>
          </a:p>
          <a:p>
            <a:r>
              <a:rPr lang="en-US" sz="2000"/>
              <a:t>Supported operating system platforms:</a:t>
            </a:r>
          </a:p>
          <a:p>
            <a:pPr lvl="1"/>
            <a:r>
              <a:rPr lang="en-US" sz="2000"/>
              <a:t>Windows 10 (32-bit/64-bit)</a:t>
            </a:r>
          </a:p>
          <a:p>
            <a:pPr lvl="1"/>
            <a:r>
              <a:rPr lang="en-US" sz="2000"/>
              <a:t>TwinCAT/BSD</a:t>
            </a:r>
          </a:p>
          <a:p>
            <a:pPr lvl="1"/>
            <a:r>
              <a:rPr lang="en-US" sz="2000"/>
              <a:t>TwinCAT/Linux (32-bit/64-bit)</a:t>
            </a:r>
          </a:p>
          <a:p>
            <a:endParaRPr lang="en-US" sz="2000"/>
          </a:p>
          <a:p>
            <a:endParaRPr lang="en-US" sz="2000"/>
          </a:p>
        </p:txBody>
      </p:sp>
      <p:sp>
        <p:nvSpPr>
          <p:cNvPr id="3" name="Title 2">
            <a:extLst>
              <a:ext uri="{FF2B5EF4-FFF2-40B4-BE49-F238E27FC236}">
                <a16:creationId xmlns:a16="http://schemas.microsoft.com/office/drawing/2014/main" id="{CA387656-C638-4697-B93D-9D9C415E992F}"/>
              </a:ext>
            </a:extLst>
          </p:cNvPr>
          <p:cNvSpPr>
            <a:spLocks noGrp="1"/>
          </p:cNvSpPr>
          <p:nvPr>
            <p:ph type="title"/>
          </p:nvPr>
        </p:nvSpPr>
        <p:spPr/>
        <p:txBody>
          <a:bodyPr/>
          <a:lstStyle/>
          <a:p>
            <a:r>
              <a:rPr lang="de-DE" dirty="0"/>
              <a:t>TF6105 | TC3 OPC UA Pub/Sub</a:t>
            </a:r>
            <a:endParaRPr lang="en-US" dirty="0"/>
          </a:p>
        </p:txBody>
      </p:sp>
      <p:sp>
        <p:nvSpPr>
          <p:cNvPr id="16" name="Freihandform 3">
            <a:extLst>
              <a:ext uri="{FF2B5EF4-FFF2-40B4-BE49-F238E27FC236}">
                <a16:creationId xmlns:a16="http://schemas.microsoft.com/office/drawing/2014/main" id="{E39DE55B-86B2-E763-E81A-97838FB76248}"/>
              </a:ext>
            </a:extLst>
          </p:cNvPr>
          <p:cNvSpPr>
            <a:spLocks noChangeAspect="1"/>
          </p:cNvSpPr>
          <p:nvPr/>
        </p:nvSpPr>
        <p:spPr>
          <a:xfrm>
            <a:off x="6485933" y="2932109"/>
            <a:ext cx="2238693" cy="1358365"/>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accent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252000" rIns="0" bIns="0" numCol="1" spcCol="0" rtlCol="0" fromWordArt="0" anchor="ctr" anchorCtr="0" forceAA="0" compatLnSpc="1">
            <a:prstTxWarp prst="textNoShape">
              <a:avLst/>
            </a:prstTxWarp>
            <a:noAutofit/>
          </a:bodyPr>
          <a:lstStyle/>
          <a:p>
            <a:pPr algn="ctr"/>
            <a:r>
              <a:rPr lang="de-DE" sz="1200" dirty="0">
                <a:solidFill>
                  <a:schemeClr val="tx1"/>
                </a:solidFill>
                <a:latin typeface="Arial" pitchFamily="34" charset="0"/>
                <a:cs typeface="Arial" pitchFamily="34" charset="0"/>
              </a:rPr>
              <a:t>Message Broker</a:t>
            </a:r>
          </a:p>
        </p:txBody>
      </p:sp>
      <p:cxnSp>
        <p:nvCxnSpPr>
          <p:cNvPr id="17" name="Straight Arrow Connector 16">
            <a:extLst>
              <a:ext uri="{FF2B5EF4-FFF2-40B4-BE49-F238E27FC236}">
                <a16:creationId xmlns:a16="http://schemas.microsoft.com/office/drawing/2014/main" id="{33F1AEF7-DABA-DEA9-04F8-EC97009492AF}"/>
              </a:ext>
            </a:extLst>
          </p:cNvPr>
          <p:cNvCxnSpPr>
            <a:cxnSpLocks/>
          </p:cNvCxnSpPr>
          <p:nvPr/>
        </p:nvCxnSpPr>
        <p:spPr>
          <a:xfrm flipV="1">
            <a:off x="7638703" y="4365524"/>
            <a:ext cx="0" cy="786058"/>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8" name="Gruppieren 69">
            <a:extLst>
              <a:ext uri="{FF2B5EF4-FFF2-40B4-BE49-F238E27FC236}">
                <a16:creationId xmlns:a16="http://schemas.microsoft.com/office/drawing/2014/main" id="{6FD5726A-BA85-CF5F-1B10-5E8EF5C725AF}"/>
              </a:ext>
            </a:extLst>
          </p:cNvPr>
          <p:cNvGrpSpPr>
            <a:grpSpLocks noChangeAspect="1"/>
          </p:cNvGrpSpPr>
          <p:nvPr/>
        </p:nvGrpSpPr>
        <p:grpSpPr>
          <a:xfrm>
            <a:off x="7512703" y="4619888"/>
            <a:ext cx="252000" cy="252000"/>
            <a:chOff x="9552384" y="1700808"/>
            <a:chExt cx="384282" cy="384282"/>
          </a:xfrm>
          <a:effectLst>
            <a:outerShdw blurRad="50800" dist="38100" dir="2700000" algn="tl" rotWithShape="0">
              <a:prstClr val="black">
                <a:alpha val="40000"/>
              </a:prstClr>
            </a:outerShdw>
          </a:effectLst>
        </p:grpSpPr>
        <p:sp>
          <p:nvSpPr>
            <p:cNvPr id="28" name="Ellipse 70">
              <a:extLst>
                <a:ext uri="{FF2B5EF4-FFF2-40B4-BE49-F238E27FC236}">
                  <a16:creationId xmlns:a16="http://schemas.microsoft.com/office/drawing/2014/main" id="{ED02E1DB-E210-E5C4-282D-21E69489C770}"/>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39" name="Grafik 71">
              <a:extLst>
                <a:ext uri="{FF2B5EF4-FFF2-40B4-BE49-F238E27FC236}">
                  <a16:creationId xmlns:a16="http://schemas.microsoft.com/office/drawing/2014/main" id="{80D89D9E-48AB-1532-0D41-7E0C603819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cxnSp>
        <p:nvCxnSpPr>
          <p:cNvPr id="40" name="Straight Arrow Connector 39">
            <a:extLst>
              <a:ext uri="{FF2B5EF4-FFF2-40B4-BE49-F238E27FC236}">
                <a16:creationId xmlns:a16="http://schemas.microsoft.com/office/drawing/2014/main" id="{ED764BF4-5F56-0952-B77E-EFF98DDE3C45}"/>
              </a:ext>
            </a:extLst>
          </p:cNvPr>
          <p:cNvCxnSpPr>
            <a:cxnSpLocks/>
          </p:cNvCxnSpPr>
          <p:nvPr/>
        </p:nvCxnSpPr>
        <p:spPr>
          <a:xfrm>
            <a:off x="8761600" y="5696724"/>
            <a:ext cx="1457391" cy="0"/>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41" name="Gruppieren 69">
            <a:extLst>
              <a:ext uri="{FF2B5EF4-FFF2-40B4-BE49-F238E27FC236}">
                <a16:creationId xmlns:a16="http://schemas.microsoft.com/office/drawing/2014/main" id="{711AA261-BD4E-BF4D-6741-39D42273AE64}"/>
              </a:ext>
            </a:extLst>
          </p:cNvPr>
          <p:cNvGrpSpPr>
            <a:grpSpLocks noChangeAspect="1"/>
          </p:cNvGrpSpPr>
          <p:nvPr/>
        </p:nvGrpSpPr>
        <p:grpSpPr>
          <a:xfrm>
            <a:off x="9364295" y="5561648"/>
            <a:ext cx="252000" cy="252000"/>
            <a:chOff x="9552384" y="1700808"/>
            <a:chExt cx="384282" cy="384282"/>
          </a:xfrm>
          <a:effectLst>
            <a:outerShdw blurRad="50800" dist="38100" dir="2700000" algn="tl" rotWithShape="0">
              <a:prstClr val="black">
                <a:alpha val="40000"/>
              </a:prstClr>
            </a:outerShdw>
          </a:effectLst>
        </p:grpSpPr>
        <p:sp>
          <p:nvSpPr>
            <p:cNvPr id="42" name="Ellipse 70">
              <a:extLst>
                <a:ext uri="{FF2B5EF4-FFF2-40B4-BE49-F238E27FC236}">
                  <a16:creationId xmlns:a16="http://schemas.microsoft.com/office/drawing/2014/main" id="{8210DBBA-006A-EA31-6453-C7C02A86935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43" name="Grafik 71">
              <a:extLst>
                <a:ext uri="{FF2B5EF4-FFF2-40B4-BE49-F238E27FC236}">
                  <a16:creationId xmlns:a16="http://schemas.microsoft.com/office/drawing/2014/main" id="{E81AB8F0-9B92-9BA3-1E5A-9BE6874DDF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sp>
        <p:nvSpPr>
          <p:cNvPr id="44" name="Rectangle: Rounded Corners 43">
            <a:extLst>
              <a:ext uri="{FF2B5EF4-FFF2-40B4-BE49-F238E27FC236}">
                <a16:creationId xmlns:a16="http://schemas.microsoft.com/office/drawing/2014/main" id="{41FB41C1-CF7B-B3BB-BF2C-29C7145CA2A0}"/>
              </a:ext>
            </a:extLst>
          </p:cNvPr>
          <p:cNvSpPr/>
          <p:nvPr/>
        </p:nvSpPr>
        <p:spPr>
          <a:xfrm>
            <a:off x="10278422" y="5208709"/>
            <a:ext cx="1566442" cy="974015"/>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3rd-Party application</a:t>
            </a:r>
            <a:endParaRPr lang="en-US" sz="1200" dirty="0">
              <a:solidFill>
                <a:schemeClr val="tx1"/>
              </a:solidFill>
              <a:latin typeface="+mj-lt"/>
              <a:cs typeface="Arial" pitchFamily="34" charset="0"/>
            </a:endParaRPr>
          </a:p>
        </p:txBody>
      </p:sp>
      <p:sp>
        <p:nvSpPr>
          <p:cNvPr id="45" name="Abgerundetes Rechteck 18">
            <a:extLst>
              <a:ext uri="{FF2B5EF4-FFF2-40B4-BE49-F238E27FC236}">
                <a16:creationId xmlns:a16="http://schemas.microsoft.com/office/drawing/2014/main" id="{1AFE2E8E-7FDF-D0B8-4433-D4E3C86FD6C7}"/>
              </a:ext>
            </a:extLst>
          </p:cNvPr>
          <p:cNvSpPr/>
          <p:nvPr/>
        </p:nvSpPr>
        <p:spPr>
          <a:xfrm>
            <a:off x="6485935" y="5208709"/>
            <a:ext cx="2238692" cy="974015"/>
          </a:xfrm>
          <a:prstGeom prst="roundRect">
            <a:avLst/>
          </a:prstGeom>
          <a:solidFill>
            <a:srgbClr val="86405C"/>
          </a:solidFill>
          <a:ln>
            <a:noFil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de-DE" sz="1200" dirty="0">
                <a:solidFill>
                  <a:schemeClr val="bg1"/>
                </a:solidFill>
              </a:rPr>
              <a:t>TF6105 OPC UA Pub/Sub</a:t>
            </a:r>
          </a:p>
        </p:txBody>
      </p:sp>
      <p:pic>
        <p:nvPicPr>
          <p:cNvPr id="46" name="Grafik 44">
            <a:extLst>
              <a:ext uri="{FF2B5EF4-FFF2-40B4-BE49-F238E27FC236}">
                <a16:creationId xmlns:a16="http://schemas.microsoft.com/office/drawing/2014/main" id="{9D739EDA-9F41-01DD-C2C9-F38F3633E7AB}"/>
              </a:ext>
            </a:extLst>
          </p:cNvPr>
          <p:cNvPicPr>
            <a:picLocks noChangeAspect="1"/>
          </p:cNvPicPr>
          <p:nvPr/>
        </p:nvPicPr>
        <p:blipFill>
          <a:blip r:embed="rId3"/>
          <a:stretch>
            <a:fillRect/>
          </a:stretch>
        </p:blipFill>
        <p:spPr>
          <a:xfrm>
            <a:off x="6659067" y="5030560"/>
            <a:ext cx="472694" cy="335407"/>
          </a:xfrm>
          <a:prstGeom prst="rect">
            <a:avLst/>
          </a:prstGeom>
          <a:effectLst>
            <a:outerShdw blurRad="50800" dist="38100" dir="2700000" algn="tl" rotWithShape="0">
              <a:prstClr val="black">
                <a:alpha val="40000"/>
              </a:prstClr>
            </a:outerShdw>
          </a:effectLst>
        </p:spPr>
      </p:pic>
      <p:grpSp>
        <p:nvGrpSpPr>
          <p:cNvPr id="48" name="Group 47">
            <a:extLst>
              <a:ext uri="{FF2B5EF4-FFF2-40B4-BE49-F238E27FC236}">
                <a16:creationId xmlns:a16="http://schemas.microsoft.com/office/drawing/2014/main" id="{76B6A3D0-3055-09C9-D7AD-F7D0F782A9CA}"/>
              </a:ext>
            </a:extLst>
          </p:cNvPr>
          <p:cNvGrpSpPr>
            <a:grpSpLocks noChangeAspect="1"/>
          </p:cNvGrpSpPr>
          <p:nvPr/>
        </p:nvGrpSpPr>
        <p:grpSpPr>
          <a:xfrm>
            <a:off x="8265343" y="5029647"/>
            <a:ext cx="318242" cy="322887"/>
            <a:chOff x="8589297" y="3284984"/>
            <a:chExt cx="2116803" cy="2147695"/>
          </a:xfrm>
          <a:effectLst>
            <a:outerShdw blurRad="50800" dist="38100" dir="2700000" algn="tl" rotWithShape="0">
              <a:prstClr val="black">
                <a:alpha val="40000"/>
              </a:prstClr>
            </a:outerShdw>
          </a:effectLst>
        </p:grpSpPr>
        <p:pic>
          <p:nvPicPr>
            <p:cNvPr id="49" name="Picture 89">
              <a:extLst>
                <a:ext uri="{FF2B5EF4-FFF2-40B4-BE49-F238E27FC236}">
                  <a16:creationId xmlns:a16="http://schemas.microsoft.com/office/drawing/2014/main" id="{5EE1A491-65C8-02DD-647A-7A13EB6B8A36}"/>
                </a:ext>
              </a:extLst>
            </p:cNvPr>
            <p:cNvPicPr>
              <a:picLocks noChangeAspect="1"/>
            </p:cNvPicPr>
            <p:nvPr/>
          </p:nvPicPr>
          <p:blipFill rotWithShape="1">
            <a:blip r:embed="rId4"/>
            <a:srcRect l="35549" t="30354"/>
            <a:stretch/>
          </p:blipFill>
          <p:spPr>
            <a:xfrm>
              <a:off x="8589297" y="3284984"/>
              <a:ext cx="2113951" cy="2147695"/>
            </a:xfrm>
            <a:prstGeom prst="rect">
              <a:avLst/>
            </a:prstGeom>
          </p:spPr>
        </p:pic>
        <p:pic>
          <p:nvPicPr>
            <p:cNvPr id="54" name="Picture Placeholder 1">
              <a:extLst>
                <a:ext uri="{FF2B5EF4-FFF2-40B4-BE49-F238E27FC236}">
                  <a16:creationId xmlns:a16="http://schemas.microsoft.com/office/drawing/2014/main" id="{7637CC91-A4F2-5BBE-684E-8618EF8BDFD0}"/>
                </a:ext>
              </a:extLst>
            </p:cNvPr>
            <p:cNvPicPr>
              <a:picLocks noChangeAspect="1"/>
            </p:cNvPicPr>
            <p:nvPr/>
          </p:nvPicPr>
          <p:blipFill>
            <a:blip r:embed="rId5"/>
            <a:srcRect/>
            <a:stretch>
              <a:fillRect/>
            </a:stretch>
          </p:blipFill>
          <p:spPr>
            <a:xfrm>
              <a:off x="10180638" y="3330575"/>
              <a:ext cx="525462" cy="525463"/>
            </a:xfrm>
            <a:prstGeom prst="rect">
              <a:avLst/>
            </a:prstGeom>
          </p:spPr>
        </p:pic>
        <p:pic>
          <p:nvPicPr>
            <p:cNvPr id="55" name="Picture Placeholder 2">
              <a:extLst>
                <a:ext uri="{FF2B5EF4-FFF2-40B4-BE49-F238E27FC236}">
                  <a16:creationId xmlns:a16="http://schemas.microsoft.com/office/drawing/2014/main" id="{B514B55D-C450-4925-0E87-E8C0BC6D8F8B}"/>
                </a:ext>
              </a:extLst>
            </p:cNvPr>
            <p:cNvPicPr>
              <a:picLocks noChangeAspect="1"/>
            </p:cNvPicPr>
            <p:nvPr/>
          </p:nvPicPr>
          <p:blipFill>
            <a:blip r:embed="rId6"/>
            <a:srcRect/>
            <a:stretch/>
          </p:blipFill>
          <p:spPr>
            <a:xfrm>
              <a:off x="9655175" y="3330575"/>
              <a:ext cx="525463" cy="525463"/>
            </a:xfrm>
            <a:prstGeom prst="rect">
              <a:avLst/>
            </a:prstGeom>
          </p:spPr>
        </p:pic>
        <p:pic>
          <p:nvPicPr>
            <p:cNvPr id="56" name="Picture Placeholder 3">
              <a:extLst>
                <a:ext uri="{FF2B5EF4-FFF2-40B4-BE49-F238E27FC236}">
                  <a16:creationId xmlns:a16="http://schemas.microsoft.com/office/drawing/2014/main" id="{B689FB51-4D9E-4835-F75E-D0C6A86B8939}"/>
                </a:ext>
              </a:extLst>
            </p:cNvPr>
            <p:cNvPicPr>
              <a:picLocks noChangeAspect="1"/>
            </p:cNvPicPr>
            <p:nvPr/>
          </p:nvPicPr>
          <p:blipFill>
            <a:blip r:embed="rId7"/>
            <a:srcRect/>
            <a:stretch/>
          </p:blipFill>
          <p:spPr>
            <a:xfrm>
              <a:off x="10180638" y="4906963"/>
              <a:ext cx="525462" cy="525462"/>
            </a:xfrm>
            <a:prstGeom prst="rect">
              <a:avLst/>
            </a:prstGeom>
          </p:spPr>
        </p:pic>
        <p:pic>
          <p:nvPicPr>
            <p:cNvPr id="57" name="Picture Placeholder 4">
              <a:extLst>
                <a:ext uri="{FF2B5EF4-FFF2-40B4-BE49-F238E27FC236}">
                  <a16:creationId xmlns:a16="http://schemas.microsoft.com/office/drawing/2014/main" id="{4D3FF999-1914-D585-90C6-0F391A963CF6}"/>
                </a:ext>
              </a:extLst>
            </p:cNvPr>
            <p:cNvPicPr>
              <a:picLocks noChangeAspect="1"/>
            </p:cNvPicPr>
            <p:nvPr/>
          </p:nvPicPr>
          <p:blipFill>
            <a:blip r:embed="rId8"/>
            <a:srcRect/>
            <a:stretch/>
          </p:blipFill>
          <p:spPr>
            <a:xfrm>
              <a:off x="9655175" y="4906963"/>
              <a:ext cx="525463" cy="525462"/>
            </a:xfrm>
            <a:prstGeom prst="rect">
              <a:avLst/>
            </a:prstGeom>
          </p:spPr>
        </p:pic>
        <p:pic>
          <p:nvPicPr>
            <p:cNvPr id="58" name="Picture Placeholder 5">
              <a:extLst>
                <a:ext uri="{FF2B5EF4-FFF2-40B4-BE49-F238E27FC236}">
                  <a16:creationId xmlns:a16="http://schemas.microsoft.com/office/drawing/2014/main" id="{F31A57E4-D18F-4D1C-BCF3-094DD9BFD425}"/>
                </a:ext>
              </a:extLst>
            </p:cNvPr>
            <p:cNvPicPr>
              <a:picLocks noChangeAspect="1"/>
            </p:cNvPicPr>
            <p:nvPr/>
          </p:nvPicPr>
          <p:blipFill>
            <a:blip r:embed="rId9"/>
            <a:srcRect/>
            <a:stretch/>
          </p:blipFill>
          <p:spPr>
            <a:xfrm>
              <a:off x="9655175" y="3856038"/>
              <a:ext cx="525463" cy="525462"/>
            </a:xfrm>
            <a:prstGeom prst="rect">
              <a:avLst/>
            </a:prstGeom>
          </p:spPr>
        </p:pic>
        <p:pic>
          <p:nvPicPr>
            <p:cNvPr id="59" name="Picture Placeholder 6">
              <a:extLst>
                <a:ext uri="{FF2B5EF4-FFF2-40B4-BE49-F238E27FC236}">
                  <a16:creationId xmlns:a16="http://schemas.microsoft.com/office/drawing/2014/main" id="{ADB2068C-5084-56BC-1F18-A0BA44C79C96}"/>
                </a:ext>
              </a:extLst>
            </p:cNvPr>
            <p:cNvPicPr>
              <a:picLocks noChangeAspect="1"/>
            </p:cNvPicPr>
            <p:nvPr/>
          </p:nvPicPr>
          <p:blipFill>
            <a:blip r:embed="rId10"/>
            <a:srcRect/>
            <a:stretch/>
          </p:blipFill>
          <p:spPr>
            <a:xfrm>
              <a:off x="8605838" y="3856038"/>
              <a:ext cx="525462" cy="525462"/>
            </a:xfrm>
            <a:prstGeom prst="rect">
              <a:avLst/>
            </a:prstGeom>
          </p:spPr>
        </p:pic>
        <p:pic>
          <p:nvPicPr>
            <p:cNvPr id="60" name="Picture Placeholder 9">
              <a:extLst>
                <a:ext uri="{FF2B5EF4-FFF2-40B4-BE49-F238E27FC236}">
                  <a16:creationId xmlns:a16="http://schemas.microsoft.com/office/drawing/2014/main" id="{5E973FAC-B473-FFDD-E15E-B5A68787922E}"/>
                </a:ext>
              </a:extLst>
            </p:cNvPr>
            <p:cNvPicPr>
              <a:picLocks noChangeAspect="1"/>
            </p:cNvPicPr>
            <p:nvPr/>
          </p:nvPicPr>
          <p:blipFill>
            <a:blip r:embed="rId11"/>
            <a:srcRect/>
            <a:stretch/>
          </p:blipFill>
          <p:spPr>
            <a:xfrm>
              <a:off x="10180638" y="3856038"/>
              <a:ext cx="525462" cy="525462"/>
            </a:xfrm>
            <a:prstGeom prst="rect">
              <a:avLst/>
            </a:prstGeom>
          </p:spPr>
        </p:pic>
        <p:pic>
          <p:nvPicPr>
            <p:cNvPr id="61" name="Picture Placeholder 10">
              <a:extLst>
                <a:ext uri="{FF2B5EF4-FFF2-40B4-BE49-F238E27FC236}">
                  <a16:creationId xmlns:a16="http://schemas.microsoft.com/office/drawing/2014/main" id="{B7B6905A-D6BC-C79D-EB37-8039105C1D60}"/>
                </a:ext>
              </a:extLst>
            </p:cNvPr>
            <p:cNvPicPr>
              <a:picLocks noChangeAspect="1"/>
            </p:cNvPicPr>
            <p:nvPr/>
          </p:nvPicPr>
          <p:blipFill>
            <a:blip r:embed="rId12"/>
            <a:srcRect/>
            <a:stretch/>
          </p:blipFill>
          <p:spPr>
            <a:xfrm>
              <a:off x="8605838" y="4906963"/>
              <a:ext cx="525462" cy="525462"/>
            </a:xfrm>
            <a:prstGeom prst="rect">
              <a:avLst/>
            </a:prstGeom>
          </p:spPr>
        </p:pic>
        <p:pic>
          <p:nvPicPr>
            <p:cNvPr id="62" name="Picture Placeholder 11">
              <a:extLst>
                <a:ext uri="{FF2B5EF4-FFF2-40B4-BE49-F238E27FC236}">
                  <a16:creationId xmlns:a16="http://schemas.microsoft.com/office/drawing/2014/main" id="{5468DB07-FE36-E660-83F3-3A60356954CE}"/>
                </a:ext>
              </a:extLst>
            </p:cNvPr>
            <p:cNvPicPr>
              <a:picLocks noChangeAspect="1"/>
            </p:cNvPicPr>
            <p:nvPr/>
          </p:nvPicPr>
          <p:blipFill>
            <a:blip r:embed="rId13"/>
            <a:srcRect t="151" b="151"/>
            <a:stretch/>
          </p:blipFill>
          <p:spPr bwMode="gray">
            <a:xfrm>
              <a:off x="9129713" y="3856038"/>
              <a:ext cx="527050" cy="525462"/>
            </a:xfrm>
            <a:prstGeom prst="rect">
              <a:avLst/>
            </a:prstGeom>
          </p:spPr>
        </p:pic>
        <p:pic>
          <p:nvPicPr>
            <p:cNvPr id="63" name="Picture Placeholder 12">
              <a:extLst>
                <a:ext uri="{FF2B5EF4-FFF2-40B4-BE49-F238E27FC236}">
                  <a16:creationId xmlns:a16="http://schemas.microsoft.com/office/drawing/2014/main" id="{F08D3A3A-4067-0A94-1F44-B4BCDE0B5F9D}"/>
                </a:ext>
              </a:extLst>
            </p:cNvPr>
            <p:cNvPicPr>
              <a:picLocks noChangeAspect="1"/>
            </p:cNvPicPr>
            <p:nvPr/>
          </p:nvPicPr>
          <p:blipFill>
            <a:blip r:embed="rId14"/>
            <a:srcRect t="151" b="151"/>
            <a:stretch/>
          </p:blipFill>
          <p:spPr>
            <a:xfrm>
              <a:off x="9129713" y="4906963"/>
              <a:ext cx="527050" cy="525462"/>
            </a:xfrm>
            <a:prstGeom prst="rect">
              <a:avLst/>
            </a:prstGeom>
          </p:spPr>
        </p:pic>
      </p:grpSp>
      <p:sp>
        <p:nvSpPr>
          <p:cNvPr id="64" name="Rectangle: Rounded Corners 63">
            <a:extLst>
              <a:ext uri="{FF2B5EF4-FFF2-40B4-BE49-F238E27FC236}">
                <a16:creationId xmlns:a16="http://schemas.microsoft.com/office/drawing/2014/main" id="{117F157A-9DD1-1A44-6190-2FF22272CA0B}"/>
              </a:ext>
            </a:extLst>
          </p:cNvPr>
          <p:cNvSpPr/>
          <p:nvPr/>
        </p:nvSpPr>
        <p:spPr>
          <a:xfrm>
            <a:off x="6485935" y="1319564"/>
            <a:ext cx="2238693" cy="688226"/>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3rd-party application</a:t>
            </a:r>
            <a:endParaRPr lang="en-US" sz="1200" dirty="0">
              <a:solidFill>
                <a:schemeClr val="tx1"/>
              </a:solidFill>
              <a:latin typeface="+mj-lt"/>
              <a:cs typeface="Arial" pitchFamily="34" charset="0"/>
            </a:endParaRPr>
          </a:p>
        </p:txBody>
      </p:sp>
      <p:cxnSp>
        <p:nvCxnSpPr>
          <p:cNvPr id="65" name="Straight Arrow Connector 64">
            <a:extLst>
              <a:ext uri="{FF2B5EF4-FFF2-40B4-BE49-F238E27FC236}">
                <a16:creationId xmlns:a16="http://schemas.microsoft.com/office/drawing/2014/main" id="{28029AFD-254B-806C-AD3A-D8F56707827A}"/>
              </a:ext>
            </a:extLst>
          </p:cNvPr>
          <p:cNvCxnSpPr>
            <a:cxnSpLocks/>
          </p:cNvCxnSpPr>
          <p:nvPr/>
        </p:nvCxnSpPr>
        <p:spPr>
          <a:xfrm flipV="1">
            <a:off x="7638703" y="2064916"/>
            <a:ext cx="0" cy="786058"/>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6" name="Textfeld 53">
            <a:extLst>
              <a:ext uri="{FF2B5EF4-FFF2-40B4-BE49-F238E27FC236}">
                <a16:creationId xmlns:a16="http://schemas.microsoft.com/office/drawing/2014/main" id="{C3DD940B-F95B-2904-64F3-77B60E0DFEF6}"/>
              </a:ext>
            </a:extLst>
          </p:cNvPr>
          <p:cNvSpPr txBox="1"/>
          <p:nvPr/>
        </p:nvSpPr>
        <p:spPr>
          <a:xfrm>
            <a:off x="7764703" y="2398883"/>
            <a:ext cx="2001217" cy="276999"/>
          </a:xfrm>
          <a:prstGeom prst="rect">
            <a:avLst/>
          </a:prstGeom>
          <a:noFill/>
        </p:spPr>
        <p:txBody>
          <a:bodyPr wrap="square" rtlCol="0">
            <a:spAutoFit/>
          </a:bodyPr>
          <a:lstStyle/>
          <a:p>
            <a:r>
              <a:rPr lang="de-DE" sz="1200"/>
              <a:t>Pub/Sub </a:t>
            </a:r>
            <a:r>
              <a:rPr lang="de-DE" sz="1200">
                <a:solidFill>
                  <a:srgbClr val="C00000"/>
                </a:solidFill>
              </a:rPr>
              <a:t>MQTT</a:t>
            </a:r>
            <a:endParaRPr lang="de-DE" sz="1200" dirty="0">
              <a:solidFill>
                <a:srgbClr val="C00000"/>
              </a:solidFill>
            </a:endParaRPr>
          </a:p>
        </p:txBody>
      </p:sp>
      <p:grpSp>
        <p:nvGrpSpPr>
          <p:cNvPr id="67" name="Gruppieren 69">
            <a:extLst>
              <a:ext uri="{FF2B5EF4-FFF2-40B4-BE49-F238E27FC236}">
                <a16:creationId xmlns:a16="http://schemas.microsoft.com/office/drawing/2014/main" id="{200AE0E4-965C-BD9C-DCEB-A7508444C2E1}"/>
              </a:ext>
            </a:extLst>
          </p:cNvPr>
          <p:cNvGrpSpPr>
            <a:grpSpLocks noChangeAspect="1"/>
          </p:cNvGrpSpPr>
          <p:nvPr/>
        </p:nvGrpSpPr>
        <p:grpSpPr>
          <a:xfrm>
            <a:off x="7512703" y="2319280"/>
            <a:ext cx="252000" cy="252000"/>
            <a:chOff x="9552384" y="1700808"/>
            <a:chExt cx="384282" cy="384282"/>
          </a:xfrm>
          <a:effectLst>
            <a:outerShdw blurRad="50800" dist="38100" dir="2700000" algn="tl" rotWithShape="0">
              <a:prstClr val="black">
                <a:alpha val="40000"/>
              </a:prstClr>
            </a:outerShdw>
          </a:effectLst>
        </p:grpSpPr>
        <p:sp>
          <p:nvSpPr>
            <p:cNvPr id="68" name="Ellipse 70">
              <a:extLst>
                <a:ext uri="{FF2B5EF4-FFF2-40B4-BE49-F238E27FC236}">
                  <a16:creationId xmlns:a16="http://schemas.microsoft.com/office/drawing/2014/main" id="{237025E0-5FFE-A874-1CA7-1E9A75BC9A5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69" name="Grafik 71">
              <a:extLst>
                <a:ext uri="{FF2B5EF4-FFF2-40B4-BE49-F238E27FC236}">
                  <a16:creationId xmlns:a16="http://schemas.microsoft.com/office/drawing/2014/main" id="{62B65E52-C53F-DE0C-3F29-0624E4DC60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pic>
        <p:nvPicPr>
          <p:cNvPr id="71" name="Picture 70">
            <a:extLst>
              <a:ext uri="{FF2B5EF4-FFF2-40B4-BE49-F238E27FC236}">
                <a16:creationId xmlns:a16="http://schemas.microsoft.com/office/drawing/2014/main" id="{F506C001-8CB0-412D-83D9-33BAD4BF7F4E}"/>
              </a:ext>
            </a:extLst>
          </p:cNvPr>
          <p:cNvPicPr>
            <a:picLocks noChangeAspect="1"/>
          </p:cNvPicPr>
          <p:nvPr/>
        </p:nvPicPr>
        <p:blipFill>
          <a:blip r:embed="rId15"/>
          <a:stretch>
            <a:fillRect/>
          </a:stretch>
        </p:blipFill>
        <p:spPr>
          <a:xfrm>
            <a:off x="7842197" y="2237798"/>
            <a:ext cx="842149" cy="184805"/>
          </a:xfrm>
          <a:prstGeom prst="rect">
            <a:avLst/>
          </a:prstGeom>
        </p:spPr>
      </p:pic>
      <p:sp>
        <p:nvSpPr>
          <p:cNvPr id="72" name="Textfeld 53">
            <a:extLst>
              <a:ext uri="{FF2B5EF4-FFF2-40B4-BE49-F238E27FC236}">
                <a16:creationId xmlns:a16="http://schemas.microsoft.com/office/drawing/2014/main" id="{CF1A7C10-D19D-5DA3-3B86-19221C2B67C6}"/>
              </a:ext>
            </a:extLst>
          </p:cNvPr>
          <p:cNvSpPr txBox="1"/>
          <p:nvPr/>
        </p:nvSpPr>
        <p:spPr>
          <a:xfrm>
            <a:off x="7769261" y="4708457"/>
            <a:ext cx="2001217" cy="276999"/>
          </a:xfrm>
          <a:prstGeom prst="rect">
            <a:avLst/>
          </a:prstGeom>
          <a:noFill/>
        </p:spPr>
        <p:txBody>
          <a:bodyPr wrap="square" rtlCol="0">
            <a:spAutoFit/>
          </a:bodyPr>
          <a:lstStyle/>
          <a:p>
            <a:r>
              <a:rPr lang="de-DE" sz="1200"/>
              <a:t>Pub/Sub </a:t>
            </a:r>
            <a:r>
              <a:rPr lang="de-DE" sz="1200">
                <a:solidFill>
                  <a:srgbClr val="C00000"/>
                </a:solidFill>
              </a:rPr>
              <a:t>MQTT</a:t>
            </a:r>
            <a:endParaRPr lang="de-DE" sz="1200" dirty="0">
              <a:solidFill>
                <a:srgbClr val="C00000"/>
              </a:solidFill>
            </a:endParaRPr>
          </a:p>
        </p:txBody>
      </p:sp>
      <p:pic>
        <p:nvPicPr>
          <p:cNvPr id="73" name="Picture 72">
            <a:extLst>
              <a:ext uri="{FF2B5EF4-FFF2-40B4-BE49-F238E27FC236}">
                <a16:creationId xmlns:a16="http://schemas.microsoft.com/office/drawing/2014/main" id="{6BD6F01C-7675-8AA5-F163-3F3612EC556C}"/>
              </a:ext>
            </a:extLst>
          </p:cNvPr>
          <p:cNvPicPr>
            <a:picLocks noChangeAspect="1"/>
          </p:cNvPicPr>
          <p:nvPr/>
        </p:nvPicPr>
        <p:blipFill>
          <a:blip r:embed="rId15"/>
          <a:stretch>
            <a:fillRect/>
          </a:stretch>
        </p:blipFill>
        <p:spPr>
          <a:xfrm>
            <a:off x="7846755" y="4547372"/>
            <a:ext cx="842149" cy="184805"/>
          </a:xfrm>
          <a:prstGeom prst="rect">
            <a:avLst/>
          </a:prstGeom>
        </p:spPr>
      </p:pic>
      <p:sp>
        <p:nvSpPr>
          <p:cNvPr id="74" name="Textfeld 53">
            <a:extLst>
              <a:ext uri="{FF2B5EF4-FFF2-40B4-BE49-F238E27FC236}">
                <a16:creationId xmlns:a16="http://schemas.microsoft.com/office/drawing/2014/main" id="{E6E8640B-1CA0-4B2D-7AF3-AE3073815345}"/>
              </a:ext>
            </a:extLst>
          </p:cNvPr>
          <p:cNvSpPr txBox="1"/>
          <p:nvPr/>
        </p:nvSpPr>
        <p:spPr>
          <a:xfrm>
            <a:off x="8946750" y="6054870"/>
            <a:ext cx="2001217" cy="276999"/>
          </a:xfrm>
          <a:prstGeom prst="rect">
            <a:avLst/>
          </a:prstGeom>
          <a:noFill/>
        </p:spPr>
        <p:txBody>
          <a:bodyPr wrap="square" rtlCol="0">
            <a:spAutoFit/>
          </a:bodyPr>
          <a:lstStyle/>
          <a:p>
            <a:r>
              <a:rPr lang="de-DE" sz="1200"/>
              <a:t>Pub/Sub </a:t>
            </a:r>
            <a:r>
              <a:rPr lang="de-DE" sz="1200">
                <a:solidFill>
                  <a:srgbClr val="C00000"/>
                </a:solidFill>
              </a:rPr>
              <a:t>UDP</a:t>
            </a:r>
            <a:endParaRPr lang="de-DE" sz="1200" dirty="0">
              <a:solidFill>
                <a:srgbClr val="C00000"/>
              </a:solidFill>
            </a:endParaRPr>
          </a:p>
        </p:txBody>
      </p:sp>
      <p:pic>
        <p:nvPicPr>
          <p:cNvPr id="75" name="Picture 74">
            <a:extLst>
              <a:ext uri="{FF2B5EF4-FFF2-40B4-BE49-F238E27FC236}">
                <a16:creationId xmlns:a16="http://schemas.microsoft.com/office/drawing/2014/main" id="{09CBD7D1-D5B4-7DA3-28D2-287C15EB659C}"/>
              </a:ext>
            </a:extLst>
          </p:cNvPr>
          <p:cNvPicPr>
            <a:picLocks noChangeAspect="1"/>
          </p:cNvPicPr>
          <p:nvPr/>
        </p:nvPicPr>
        <p:blipFill>
          <a:blip r:embed="rId15"/>
          <a:stretch>
            <a:fillRect/>
          </a:stretch>
        </p:blipFill>
        <p:spPr>
          <a:xfrm>
            <a:off x="9024244" y="5893785"/>
            <a:ext cx="842149" cy="184805"/>
          </a:xfrm>
          <a:prstGeom prst="rect">
            <a:avLst/>
          </a:prstGeom>
        </p:spPr>
      </p:pic>
    </p:spTree>
    <p:extLst>
      <p:ext uri="{BB962C8B-B14F-4D97-AF65-F5344CB8AC3E}">
        <p14:creationId xmlns:p14="http://schemas.microsoft.com/office/powerpoint/2010/main" val="4195812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F9EFBE-0B44-7513-DF9B-57953F0E8156}"/>
              </a:ext>
            </a:extLst>
          </p:cNvPr>
          <p:cNvSpPr>
            <a:spLocks noGrp="1"/>
          </p:cNvSpPr>
          <p:nvPr>
            <p:ph type="body" sz="quarter" idx="15"/>
          </p:nvPr>
        </p:nvSpPr>
        <p:spPr>
          <a:xfrm>
            <a:off x="2" y="1090799"/>
            <a:ext cx="7941453" cy="5331600"/>
          </a:xfrm>
        </p:spPr>
        <p:txBody>
          <a:bodyPr/>
          <a:lstStyle/>
          <a:p>
            <a:r>
              <a:rPr lang="de-DE" dirty="0"/>
              <a:t>OPC UA has had a client/server architecture since its beginning in 2006</a:t>
            </a:r>
          </a:p>
          <a:p>
            <a:r>
              <a:rPr lang="de-DE" dirty="0"/>
              <a:t>This </a:t>
            </a:r>
            <a:r>
              <a:rPr lang="de-DE" dirty="0" err="1"/>
              <a:t>has</a:t>
            </a:r>
            <a:r>
              <a:rPr lang="de-DE" dirty="0"/>
              <a:t> </a:t>
            </a:r>
            <a:r>
              <a:rPr lang="de-DE" dirty="0" err="1"/>
              <a:t>been</a:t>
            </a:r>
            <a:r>
              <a:rPr lang="de-DE" dirty="0"/>
              <a:t> </a:t>
            </a:r>
            <a:r>
              <a:rPr lang="de-DE" dirty="0" err="1"/>
              <a:t>perfectly</a:t>
            </a:r>
            <a:r>
              <a:rPr lang="de-DE" dirty="0"/>
              <a:t> </a:t>
            </a:r>
            <a:r>
              <a:rPr lang="de-DE" dirty="0" err="1"/>
              <a:t>suited</a:t>
            </a:r>
            <a:r>
              <a:rPr lang="de-DE" dirty="0"/>
              <a:t> </a:t>
            </a:r>
            <a:r>
              <a:rPr lang="de-DE" dirty="0" err="1"/>
              <a:t>for</a:t>
            </a:r>
            <a:r>
              <a:rPr lang="de-DE" dirty="0"/>
              <a:t> </a:t>
            </a:r>
            <a:r>
              <a:rPr lang="de-DE" u="sng" dirty="0" err="1"/>
              <a:t>direct</a:t>
            </a:r>
            <a:r>
              <a:rPr lang="de-DE" u="sng" dirty="0"/>
              <a:t> </a:t>
            </a:r>
            <a:r>
              <a:rPr lang="de-DE" u="sng" dirty="0" err="1"/>
              <a:t>communication</a:t>
            </a:r>
            <a:r>
              <a:rPr lang="de-DE" dirty="0"/>
              <a:t> </a:t>
            </a:r>
            <a:r>
              <a:rPr lang="de-DE" dirty="0" err="1"/>
              <a:t>between</a:t>
            </a:r>
            <a:r>
              <a:rPr lang="de-DE" dirty="0"/>
              <a:t> </a:t>
            </a:r>
            <a:r>
              <a:rPr lang="de-DE" dirty="0" err="1"/>
              <a:t>devices</a:t>
            </a:r>
            <a:r>
              <a:rPr lang="de-DE" dirty="0"/>
              <a:t>, e.g. an HMI </a:t>
            </a:r>
            <a:r>
              <a:rPr lang="de-DE" dirty="0" err="1"/>
              <a:t>that</a:t>
            </a:r>
            <a:r>
              <a:rPr lang="de-DE" dirty="0"/>
              <a:t> </a:t>
            </a:r>
            <a:r>
              <a:rPr lang="de-DE" dirty="0" err="1"/>
              <a:t>directly</a:t>
            </a:r>
            <a:r>
              <a:rPr lang="de-DE" dirty="0"/>
              <a:t> </a:t>
            </a:r>
            <a:r>
              <a:rPr lang="de-DE" dirty="0" err="1"/>
              <a:t>connects</a:t>
            </a:r>
            <a:r>
              <a:rPr lang="de-DE" dirty="0"/>
              <a:t> </a:t>
            </a:r>
            <a:r>
              <a:rPr lang="de-DE" dirty="0" err="1"/>
              <a:t>to</a:t>
            </a:r>
            <a:r>
              <a:rPr lang="de-DE" dirty="0"/>
              <a:t> </a:t>
            </a:r>
            <a:r>
              <a:rPr lang="de-DE" dirty="0" err="1"/>
              <a:t>the</a:t>
            </a:r>
            <a:r>
              <a:rPr lang="de-DE" dirty="0"/>
              <a:t> PLC </a:t>
            </a:r>
            <a:r>
              <a:rPr lang="de-DE" dirty="0" err="1"/>
              <a:t>to</a:t>
            </a:r>
            <a:r>
              <a:rPr lang="de-DE" dirty="0"/>
              <a:t> </a:t>
            </a:r>
            <a:r>
              <a:rPr lang="de-DE" dirty="0" err="1"/>
              <a:t>read</a:t>
            </a:r>
            <a:r>
              <a:rPr lang="de-DE" dirty="0"/>
              <a:t> </a:t>
            </a:r>
            <a:r>
              <a:rPr lang="de-DE" dirty="0" err="1"/>
              <a:t>data</a:t>
            </a:r>
            <a:endParaRPr lang="de-DE" dirty="0"/>
          </a:p>
          <a:p>
            <a:r>
              <a:rPr lang="de-DE" dirty="0" err="1"/>
              <a:t>However</a:t>
            </a:r>
            <a:r>
              <a:rPr lang="de-DE" dirty="0"/>
              <a:t> </a:t>
            </a:r>
            <a:r>
              <a:rPr lang="de-DE" dirty="0" err="1"/>
              <a:t>there</a:t>
            </a:r>
            <a:r>
              <a:rPr lang="de-DE" dirty="0"/>
              <a:t> </a:t>
            </a:r>
            <a:r>
              <a:rPr lang="de-DE" dirty="0" err="1"/>
              <a:t>are</a:t>
            </a:r>
            <a:r>
              <a:rPr lang="de-DE" dirty="0"/>
              <a:t> </a:t>
            </a:r>
            <a:r>
              <a:rPr lang="de-DE" dirty="0" err="1"/>
              <a:t>challenges</a:t>
            </a:r>
            <a:r>
              <a:rPr lang="de-DE" dirty="0"/>
              <a:t>:</a:t>
            </a:r>
          </a:p>
          <a:p>
            <a:pPr lvl="1"/>
            <a:r>
              <a:rPr lang="de-DE" dirty="0"/>
              <a:t>Firewalls </a:t>
            </a:r>
            <a:r>
              <a:rPr lang="de-DE" dirty="0" err="1"/>
              <a:t>that</a:t>
            </a:r>
            <a:r>
              <a:rPr lang="de-DE" dirty="0"/>
              <a:t> </a:t>
            </a:r>
            <a:r>
              <a:rPr lang="de-DE" dirty="0" err="1"/>
              <a:t>need</a:t>
            </a:r>
            <a:r>
              <a:rPr lang="de-DE" dirty="0"/>
              <a:t> </a:t>
            </a:r>
            <a:r>
              <a:rPr lang="de-DE" dirty="0" err="1"/>
              <a:t>to</a:t>
            </a:r>
            <a:r>
              <a:rPr lang="de-DE" dirty="0"/>
              <a:t> </a:t>
            </a:r>
            <a:r>
              <a:rPr lang="de-DE" dirty="0" err="1"/>
              <a:t>be</a:t>
            </a:r>
            <a:r>
              <a:rPr lang="de-DE" dirty="0"/>
              <a:t> </a:t>
            </a:r>
            <a:r>
              <a:rPr lang="de-DE" dirty="0" err="1"/>
              <a:t>configured</a:t>
            </a:r>
            <a:r>
              <a:rPr lang="de-DE" dirty="0"/>
              <a:t> in </a:t>
            </a:r>
            <a:r>
              <a:rPr lang="de-DE" dirty="0" err="1"/>
              <a:t>order</a:t>
            </a:r>
            <a:r>
              <a:rPr lang="de-DE" dirty="0"/>
              <a:t> </a:t>
            </a:r>
            <a:r>
              <a:rPr lang="de-DE" dirty="0" err="1"/>
              <a:t>to</a:t>
            </a:r>
            <a:r>
              <a:rPr lang="de-DE" dirty="0"/>
              <a:t> </a:t>
            </a:r>
            <a:r>
              <a:rPr lang="de-DE" dirty="0" err="1"/>
              <a:t>allow</a:t>
            </a:r>
            <a:r>
              <a:rPr lang="de-DE" dirty="0"/>
              <a:t> </a:t>
            </a:r>
            <a:r>
              <a:rPr lang="de-DE" dirty="0" err="1"/>
              <a:t>access</a:t>
            </a:r>
            <a:endParaRPr lang="de-DE" dirty="0"/>
          </a:p>
          <a:p>
            <a:pPr lvl="1"/>
            <a:r>
              <a:rPr lang="de-DE" dirty="0"/>
              <a:t>Poor </a:t>
            </a:r>
            <a:r>
              <a:rPr lang="de-DE" dirty="0" err="1"/>
              <a:t>scalability</a:t>
            </a:r>
            <a:r>
              <a:rPr lang="de-DE" dirty="0"/>
              <a:t> </a:t>
            </a:r>
            <a:r>
              <a:rPr lang="de-DE" dirty="0" err="1"/>
              <a:t>to</a:t>
            </a:r>
            <a:r>
              <a:rPr lang="de-DE" dirty="0"/>
              <a:t> </a:t>
            </a:r>
            <a:r>
              <a:rPr lang="de-DE" dirty="0" err="1"/>
              <a:t>hundreds</a:t>
            </a:r>
            <a:r>
              <a:rPr lang="de-DE" dirty="0"/>
              <a:t> </a:t>
            </a:r>
            <a:r>
              <a:rPr lang="de-DE" dirty="0" err="1"/>
              <a:t>or</a:t>
            </a:r>
            <a:r>
              <a:rPr lang="de-DE" dirty="0"/>
              <a:t> </a:t>
            </a:r>
            <a:r>
              <a:rPr lang="de-DE" dirty="0" err="1"/>
              <a:t>even</a:t>
            </a:r>
            <a:r>
              <a:rPr lang="de-DE" dirty="0"/>
              <a:t> </a:t>
            </a:r>
            <a:r>
              <a:rPr lang="de-DE" dirty="0" err="1"/>
              <a:t>thousands</a:t>
            </a:r>
            <a:r>
              <a:rPr lang="de-DE" dirty="0"/>
              <a:t> </a:t>
            </a:r>
            <a:r>
              <a:rPr lang="de-DE" dirty="0" err="1"/>
              <a:t>of</a:t>
            </a:r>
            <a:r>
              <a:rPr lang="de-DE" dirty="0"/>
              <a:t> </a:t>
            </a:r>
            <a:r>
              <a:rPr lang="de-DE" dirty="0" err="1"/>
              <a:t>devices</a:t>
            </a:r>
            <a:endParaRPr lang="de-DE" dirty="0"/>
          </a:p>
          <a:p>
            <a:pPr lvl="1"/>
            <a:r>
              <a:rPr lang="de-DE" dirty="0"/>
              <a:t>Poor </a:t>
            </a:r>
            <a:r>
              <a:rPr lang="de-DE" dirty="0" err="1"/>
              <a:t>performance</a:t>
            </a:r>
            <a:r>
              <a:rPr lang="de-DE" dirty="0"/>
              <a:t> </a:t>
            </a:r>
            <a:r>
              <a:rPr lang="de-DE" dirty="0" err="1"/>
              <a:t>because</a:t>
            </a:r>
            <a:r>
              <a:rPr lang="de-DE" dirty="0"/>
              <a:t> </a:t>
            </a:r>
            <a:r>
              <a:rPr lang="de-DE" dirty="0" err="1"/>
              <a:t>of</a:t>
            </a:r>
            <a:r>
              <a:rPr lang="de-DE" dirty="0"/>
              <a:t> </a:t>
            </a:r>
            <a:r>
              <a:rPr lang="de-DE" dirty="0" err="1"/>
              <a:t>the</a:t>
            </a:r>
            <a:r>
              <a:rPr lang="de-DE" dirty="0"/>
              <a:t> </a:t>
            </a:r>
            <a:r>
              <a:rPr lang="de-DE" dirty="0" err="1"/>
              <a:t>underlying</a:t>
            </a:r>
            <a:r>
              <a:rPr lang="de-DE" dirty="0"/>
              <a:t> TCP </a:t>
            </a:r>
            <a:r>
              <a:rPr lang="de-DE" dirty="0" err="1"/>
              <a:t>channel</a:t>
            </a:r>
            <a:r>
              <a:rPr lang="de-DE" dirty="0"/>
              <a:t> </a:t>
            </a:r>
            <a:r>
              <a:rPr lang="de-DE" dirty="0" err="1"/>
              <a:t>that</a:t>
            </a:r>
            <a:r>
              <a:rPr lang="de-DE" dirty="0"/>
              <a:t> </a:t>
            </a:r>
            <a:r>
              <a:rPr lang="de-DE" dirty="0" err="1"/>
              <a:t>is</a:t>
            </a:r>
            <a:r>
              <a:rPr lang="de-DE" dirty="0"/>
              <a:t> </a:t>
            </a:r>
            <a:r>
              <a:rPr lang="de-DE" dirty="0" err="1"/>
              <a:t>used</a:t>
            </a:r>
            <a:r>
              <a:rPr lang="de-DE" dirty="0"/>
              <a:t> </a:t>
            </a:r>
            <a:r>
              <a:rPr lang="de-DE" dirty="0" err="1"/>
              <a:t>for</a:t>
            </a:r>
            <a:r>
              <a:rPr lang="de-DE" dirty="0"/>
              <a:t> </a:t>
            </a:r>
            <a:r>
              <a:rPr lang="de-DE" dirty="0" err="1"/>
              <a:t>client</a:t>
            </a:r>
            <a:r>
              <a:rPr lang="de-DE" dirty="0"/>
              <a:t>/</a:t>
            </a:r>
            <a:r>
              <a:rPr lang="de-DE" dirty="0" err="1"/>
              <a:t>server</a:t>
            </a:r>
            <a:endParaRPr lang="de-DE" dirty="0"/>
          </a:p>
        </p:txBody>
      </p:sp>
      <p:sp>
        <p:nvSpPr>
          <p:cNvPr id="3" name="Title 2">
            <a:extLst>
              <a:ext uri="{FF2B5EF4-FFF2-40B4-BE49-F238E27FC236}">
                <a16:creationId xmlns:a16="http://schemas.microsoft.com/office/drawing/2014/main" id="{E315791F-7795-2F75-617B-61F51937B87C}"/>
              </a:ext>
            </a:extLst>
          </p:cNvPr>
          <p:cNvSpPr>
            <a:spLocks noGrp="1"/>
          </p:cNvSpPr>
          <p:nvPr>
            <p:ph type="title"/>
          </p:nvPr>
        </p:nvSpPr>
        <p:spPr/>
        <p:txBody>
          <a:bodyPr/>
          <a:lstStyle/>
          <a:p>
            <a:r>
              <a:rPr lang="en-US"/>
              <a:t>Client/Server vs. Pub/Sub</a:t>
            </a:r>
            <a:endParaRPr lang="en-US" dirty="0"/>
          </a:p>
        </p:txBody>
      </p:sp>
      <p:cxnSp>
        <p:nvCxnSpPr>
          <p:cNvPr id="31" name="Straight Arrow Connector 30">
            <a:extLst>
              <a:ext uri="{FF2B5EF4-FFF2-40B4-BE49-F238E27FC236}">
                <a16:creationId xmlns:a16="http://schemas.microsoft.com/office/drawing/2014/main" id="{73810824-ED2A-F918-3654-8C9142AF22E4}"/>
              </a:ext>
            </a:extLst>
          </p:cNvPr>
          <p:cNvCxnSpPr>
            <a:cxnSpLocks/>
          </p:cNvCxnSpPr>
          <p:nvPr/>
        </p:nvCxnSpPr>
        <p:spPr>
          <a:xfrm flipV="1">
            <a:off x="8994306" y="2305146"/>
            <a:ext cx="0" cy="1905181"/>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35" name="Gruppieren 69">
            <a:extLst>
              <a:ext uri="{FF2B5EF4-FFF2-40B4-BE49-F238E27FC236}">
                <a16:creationId xmlns:a16="http://schemas.microsoft.com/office/drawing/2014/main" id="{C448C14C-0148-85C1-D348-62E6075F9C3F}"/>
              </a:ext>
            </a:extLst>
          </p:cNvPr>
          <p:cNvGrpSpPr>
            <a:grpSpLocks noChangeAspect="1"/>
          </p:cNvGrpSpPr>
          <p:nvPr/>
        </p:nvGrpSpPr>
        <p:grpSpPr>
          <a:xfrm>
            <a:off x="8868306" y="3109530"/>
            <a:ext cx="252000" cy="252000"/>
            <a:chOff x="9552384" y="1700808"/>
            <a:chExt cx="384282" cy="384282"/>
          </a:xfrm>
          <a:effectLst>
            <a:outerShdw blurRad="50800" dist="38100" dir="2700000" algn="tl" rotWithShape="0">
              <a:prstClr val="black">
                <a:alpha val="40000"/>
              </a:prstClr>
            </a:outerShdw>
          </a:effectLst>
        </p:grpSpPr>
        <p:sp>
          <p:nvSpPr>
            <p:cNvPr id="36" name="Ellipse 70">
              <a:extLst>
                <a:ext uri="{FF2B5EF4-FFF2-40B4-BE49-F238E27FC236}">
                  <a16:creationId xmlns:a16="http://schemas.microsoft.com/office/drawing/2014/main" id="{E4EF5899-DD41-EECE-9002-5C570FEADBC1}"/>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37" name="Grafik 71">
              <a:extLst>
                <a:ext uri="{FF2B5EF4-FFF2-40B4-BE49-F238E27FC236}">
                  <a16:creationId xmlns:a16="http://schemas.microsoft.com/office/drawing/2014/main" id="{1620B5ED-BA01-6D9F-1EDD-0D3B7B8D9A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sp>
        <p:nvSpPr>
          <p:cNvPr id="38" name="Abgerundetes Rechteck 18">
            <a:extLst>
              <a:ext uri="{FF2B5EF4-FFF2-40B4-BE49-F238E27FC236}">
                <a16:creationId xmlns:a16="http://schemas.microsoft.com/office/drawing/2014/main" id="{881ACE82-0353-C120-28F9-12AF5A010513}"/>
              </a:ext>
            </a:extLst>
          </p:cNvPr>
          <p:cNvSpPr/>
          <p:nvPr/>
        </p:nvSpPr>
        <p:spPr>
          <a:xfrm>
            <a:off x="8077200" y="4267454"/>
            <a:ext cx="1841898" cy="747257"/>
          </a:xfrm>
          <a:prstGeom prst="roundRect">
            <a:avLst/>
          </a:prstGeom>
          <a:solidFill>
            <a:srgbClr val="86405C"/>
          </a:solidFill>
          <a:ln>
            <a:noFil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de-DE" sz="1200" dirty="0">
                <a:solidFill>
                  <a:schemeClr val="bg1"/>
                </a:solidFill>
              </a:rPr>
              <a:t>TF6100 OPC UA Client/Server</a:t>
            </a:r>
          </a:p>
        </p:txBody>
      </p:sp>
      <p:pic>
        <p:nvPicPr>
          <p:cNvPr id="39" name="Grafik 44">
            <a:extLst>
              <a:ext uri="{FF2B5EF4-FFF2-40B4-BE49-F238E27FC236}">
                <a16:creationId xmlns:a16="http://schemas.microsoft.com/office/drawing/2014/main" id="{F617E128-046C-B8BA-FD15-9CE5770E75EA}"/>
              </a:ext>
            </a:extLst>
          </p:cNvPr>
          <p:cNvPicPr>
            <a:picLocks noChangeAspect="1"/>
          </p:cNvPicPr>
          <p:nvPr/>
        </p:nvPicPr>
        <p:blipFill>
          <a:blip r:embed="rId3"/>
          <a:stretch>
            <a:fillRect/>
          </a:stretch>
        </p:blipFill>
        <p:spPr>
          <a:xfrm>
            <a:off x="8216546" y="4089305"/>
            <a:ext cx="472694" cy="335407"/>
          </a:xfrm>
          <a:prstGeom prst="rect">
            <a:avLst/>
          </a:prstGeom>
          <a:effectLst>
            <a:outerShdw blurRad="50800" dist="38100" dir="2700000" algn="tl" rotWithShape="0">
              <a:prstClr val="black">
                <a:alpha val="40000"/>
              </a:prstClr>
            </a:outerShdw>
          </a:effectLst>
        </p:spPr>
      </p:pic>
      <p:grpSp>
        <p:nvGrpSpPr>
          <p:cNvPr id="40" name="Group 39">
            <a:extLst>
              <a:ext uri="{FF2B5EF4-FFF2-40B4-BE49-F238E27FC236}">
                <a16:creationId xmlns:a16="http://schemas.microsoft.com/office/drawing/2014/main" id="{BA556F2B-94B9-7372-AE12-D397B033462D}"/>
              </a:ext>
            </a:extLst>
          </p:cNvPr>
          <p:cNvGrpSpPr>
            <a:grpSpLocks noChangeAspect="1"/>
          </p:cNvGrpSpPr>
          <p:nvPr/>
        </p:nvGrpSpPr>
        <p:grpSpPr>
          <a:xfrm>
            <a:off x="9464464" y="4088392"/>
            <a:ext cx="318242" cy="322887"/>
            <a:chOff x="8589297" y="3284984"/>
            <a:chExt cx="2116803" cy="2147695"/>
          </a:xfrm>
          <a:effectLst>
            <a:outerShdw blurRad="50800" dist="38100" dir="2700000" algn="tl" rotWithShape="0">
              <a:prstClr val="black">
                <a:alpha val="40000"/>
              </a:prstClr>
            </a:outerShdw>
          </a:effectLst>
        </p:grpSpPr>
        <p:pic>
          <p:nvPicPr>
            <p:cNvPr id="41" name="Picture 89">
              <a:extLst>
                <a:ext uri="{FF2B5EF4-FFF2-40B4-BE49-F238E27FC236}">
                  <a16:creationId xmlns:a16="http://schemas.microsoft.com/office/drawing/2014/main" id="{C829F4C3-D9EA-D06C-21F6-B4451BDE0D1A}"/>
                </a:ext>
              </a:extLst>
            </p:cNvPr>
            <p:cNvPicPr>
              <a:picLocks noChangeAspect="1"/>
            </p:cNvPicPr>
            <p:nvPr/>
          </p:nvPicPr>
          <p:blipFill rotWithShape="1">
            <a:blip r:embed="rId4"/>
            <a:srcRect l="35549" t="30354"/>
            <a:stretch/>
          </p:blipFill>
          <p:spPr>
            <a:xfrm>
              <a:off x="8589297" y="3284984"/>
              <a:ext cx="2113951" cy="2147695"/>
            </a:xfrm>
            <a:prstGeom prst="rect">
              <a:avLst/>
            </a:prstGeom>
          </p:spPr>
        </p:pic>
        <p:pic>
          <p:nvPicPr>
            <p:cNvPr id="42" name="Picture Placeholder 1">
              <a:extLst>
                <a:ext uri="{FF2B5EF4-FFF2-40B4-BE49-F238E27FC236}">
                  <a16:creationId xmlns:a16="http://schemas.microsoft.com/office/drawing/2014/main" id="{DB837C36-C3A1-4B99-A059-2A140DE452C5}"/>
                </a:ext>
              </a:extLst>
            </p:cNvPr>
            <p:cNvPicPr>
              <a:picLocks noChangeAspect="1"/>
            </p:cNvPicPr>
            <p:nvPr/>
          </p:nvPicPr>
          <p:blipFill>
            <a:blip r:embed="rId5"/>
            <a:srcRect/>
            <a:stretch>
              <a:fillRect/>
            </a:stretch>
          </p:blipFill>
          <p:spPr>
            <a:xfrm>
              <a:off x="10180638" y="3330575"/>
              <a:ext cx="525462" cy="525463"/>
            </a:xfrm>
            <a:prstGeom prst="rect">
              <a:avLst/>
            </a:prstGeom>
          </p:spPr>
        </p:pic>
        <p:pic>
          <p:nvPicPr>
            <p:cNvPr id="43" name="Picture Placeholder 2">
              <a:extLst>
                <a:ext uri="{FF2B5EF4-FFF2-40B4-BE49-F238E27FC236}">
                  <a16:creationId xmlns:a16="http://schemas.microsoft.com/office/drawing/2014/main" id="{6CAE91D0-DAB6-D8AC-8CF1-6EAB71184F59}"/>
                </a:ext>
              </a:extLst>
            </p:cNvPr>
            <p:cNvPicPr>
              <a:picLocks noChangeAspect="1"/>
            </p:cNvPicPr>
            <p:nvPr/>
          </p:nvPicPr>
          <p:blipFill>
            <a:blip r:embed="rId6"/>
            <a:srcRect/>
            <a:stretch/>
          </p:blipFill>
          <p:spPr>
            <a:xfrm>
              <a:off x="9655175" y="3330575"/>
              <a:ext cx="525463" cy="525463"/>
            </a:xfrm>
            <a:prstGeom prst="rect">
              <a:avLst/>
            </a:prstGeom>
          </p:spPr>
        </p:pic>
        <p:pic>
          <p:nvPicPr>
            <p:cNvPr id="44" name="Picture Placeholder 3">
              <a:extLst>
                <a:ext uri="{FF2B5EF4-FFF2-40B4-BE49-F238E27FC236}">
                  <a16:creationId xmlns:a16="http://schemas.microsoft.com/office/drawing/2014/main" id="{B43EC5DA-9D7C-ACFB-2E18-2F4999E21A57}"/>
                </a:ext>
              </a:extLst>
            </p:cNvPr>
            <p:cNvPicPr>
              <a:picLocks noChangeAspect="1"/>
            </p:cNvPicPr>
            <p:nvPr/>
          </p:nvPicPr>
          <p:blipFill>
            <a:blip r:embed="rId7"/>
            <a:srcRect/>
            <a:stretch/>
          </p:blipFill>
          <p:spPr>
            <a:xfrm>
              <a:off x="10180638" y="4906963"/>
              <a:ext cx="525462" cy="525462"/>
            </a:xfrm>
            <a:prstGeom prst="rect">
              <a:avLst/>
            </a:prstGeom>
          </p:spPr>
        </p:pic>
        <p:pic>
          <p:nvPicPr>
            <p:cNvPr id="45" name="Picture Placeholder 4">
              <a:extLst>
                <a:ext uri="{FF2B5EF4-FFF2-40B4-BE49-F238E27FC236}">
                  <a16:creationId xmlns:a16="http://schemas.microsoft.com/office/drawing/2014/main" id="{B5DD2943-AD5B-EDCD-D2F9-8FD5670D8597}"/>
                </a:ext>
              </a:extLst>
            </p:cNvPr>
            <p:cNvPicPr>
              <a:picLocks noChangeAspect="1"/>
            </p:cNvPicPr>
            <p:nvPr/>
          </p:nvPicPr>
          <p:blipFill>
            <a:blip r:embed="rId8"/>
            <a:srcRect/>
            <a:stretch/>
          </p:blipFill>
          <p:spPr>
            <a:xfrm>
              <a:off x="9655175" y="4906963"/>
              <a:ext cx="525463" cy="525462"/>
            </a:xfrm>
            <a:prstGeom prst="rect">
              <a:avLst/>
            </a:prstGeom>
          </p:spPr>
        </p:pic>
        <p:pic>
          <p:nvPicPr>
            <p:cNvPr id="46" name="Picture Placeholder 5">
              <a:extLst>
                <a:ext uri="{FF2B5EF4-FFF2-40B4-BE49-F238E27FC236}">
                  <a16:creationId xmlns:a16="http://schemas.microsoft.com/office/drawing/2014/main" id="{5F124B2F-0285-991B-1CE7-9E1A7F4EF400}"/>
                </a:ext>
              </a:extLst>
            </p:cNvPr>
            <p:cNvPicPr>
              <a:picLocks noChangeAspect="1"/>
            </p:cNvPicPr>
            <p:nvPr/>
          </p:nvPicPr>
          <p:blipFill>
            <a:blip r:embed="rId9"/>
            <a:srcRect/>
            <a:stretch/>
          </p:blipFill>
          <p:spPr>
            <a:xfrm>
              <a:off x="9655175" y="3856038"/>
              <a:ext cx="525463" cy="525462"/>
            </a:xfrm>
            <a:prstGeom prst="rect">
              <a:avLst/>
            </a:prstGeom>
          </p:spPr>
        </p:pic>
        <p:pic>
          <p:nvPicPr>
            <p:cNvPr id="47" name="Picture Placeholder 6">
              <a:extLst>
                <a:ext uri="{FF2B5EF4-FFF2-40B4-BE49-F238E27FC236}">
                  <a16:creationId xmlns:a16="http://schemas.microsoft.com/office/drawing/2014/main" id="{571D8FBC-C619-38BF-FB1E-0AD3CD0DEA2B}"/>
                </a:ext>
              </a:extLst>
            </p:cNvPr>
            <p:cNvPicPr>
              <a:picLocks noChangeAspect="1"/>
            </p:cNvPicPr>
            <p:nvPr/>
          </p:nvPicPr>
          <p:blipFill>
            <a:blip r:embed="rId10"/>
            <a:srcRect/>
            <a:stretch/>
          </p:blipFill>
          <p:spPr>
            <a:xfrm>
              <a:off x="8605838" y="3856038"/>
              <a:ext cx="525462" cy="525462"/>
            </a:xfrm>
            <a:prstGeom prst="rect">
              <a:avLst/>
            </a:prstGeom>
          </p:spPr>
        </p:pic>
        <p:pic>
          <p:nvPicPr>
            <p:cNvPr id="48" name="Picture Placeholder 9">
              <a:extLst>
                <a:ext uri="{FF2B5EF4-FFF2-40B4-BE49-F238E27FC236}">
                  <a16:creationId xmlns:a16="http://schemas.microsoft.com/office/drawing/2014/main" id="{D1A8B870-4500-3111-1FDC-1EBE08E8A946}"/>
                </a:ext>
              </a:extLst>
            </p:cNvPr>
            <p:cNvPicPr>
              <a:picLocks noChangeAspect="1"/>
            </p:cNvPicPr>
            <p:nvPr/>
          </p:nvPicPr>
          <p:blipFill>
            <a:blip r:embed="rId11"/>
            <a:srcRect/>
            <a:stretch/>
          </p:blipFill>
          <p:spPr>
            <a:xfrm>
              <a:off x="10180638" y="3856038"/>
              <a:ext cx="525462" cy="525462"/>
            </a:xfrm>
            <a:prstGeom prst="rect">
              <a:avLst/>
            </a:prstGeom>
          </p:spPr>
        </p:pic>
        <p:pic>
          <p:nvPicPr>
            <p:cNvPr id="49" name="Picture Placeholder 10">
              <a:extLst>
                <a:ext uri="{FF2B5EF4-FFF2-40B4-BE49-F238E27FC236}">
                  <a16:creationId xmlns:a16="http://schemas.microsoft.com/office/drawing/2014/main" id="{174CE6DE-852B-E44A-639B-3FFFE514107A}"/>
                </a:ext>
              </a:extLst>
            </p:cNvPr>
            <p:cNvPicPr>
              <a:picLocks noChangeAspect="1"/>
            </p:cNvPicPr>
            <p:nvPr/>
          </p:nvPicPr>
          <p:blipFill>
            <a:blip r:embed="rId12"/>
            <a:srcRect/>
            <a:stretch/>
          </p:blipFill>
          <p:spPr>
            <a:xfrm>
              <a:off x="8605838" y="4906963"/>
              <a:ext cx="525462" cy="525462"/>
            </a:xfrm>
            <a:prstGeom prst="rect">
              <a:avLst/>
            </a:prstGeom>
          </p:spPr>
        </p:pic>
        <p:pic>
          <p:nvPicPr>
            <p:cNvPr id="50" name="Picture Placeholder 11">
              <a:extLst>
                <a:ext uri="{FF2B5EF4-FFF2-40B4-BE49-F238E27FC236}">
                  <a16:creationId xmlns:a16="http://schemas.microsoft.com/office/drawing/2014/main" id="{452EA82B-0A98-42F3-0C79-7993D48B6AB3}"/>
                </a:ext>
              </a:extLst>
            </p:cNvPr>
            <p:cNvPicPr>
              <a:picLocks noChangeAspect="1"/>
            </p:cNvPicPr>
            <p:nvPr/>
          </p:nvPicPr>
          <p:blipFill>
            <a:blip r:embed="rId13"/>
            <a:srcRect t="151" b="151"/>
            <a:stretch/>
          </p:blipFill>
          <p:spPr bwMode="gray">
            <a:xfrm>
              <a:off x="9129713" y="3856038"/>
              <a:ext cx="527050" cy="525462"/>
            </a:xfrm>
            <a:prstGeom prst="rect">
              <a:avLst/>
            </a:prstGeom>
          </p:spPr>
        </p:pic>
        <p:pic>
          <p:nvPicPr>
            <p:cNvPr id="51" name="Picture Placeholder 12">
              <a:extLst>
                <a:ext uri="{FF2B5EF4-FFF2-40B4-BE49-F238E27FC236}">
                  <a16:creationId xmlns:a16="http://schemas.microsoft.com/office/drawing/2014/main" id="{DAF4691C-8C8E-A12C-CB38-5A95BBF1F27D}"/>
                </a:ext>
              </a:extLst>
            </p:cNvPr>
            <p:cNvPicPr>
              <a:picLocks noChangeAspect="1"/>
            </p:cNvPicPr>
            <p:nvPr/>
          </p:nvPicPr>
          <p:blipFill>
            <a:blip r:embed="rId14"/>
            <a:srcRect t="151" b="151"/>
            <a:stretch/>
          </p:blipFill>
          <p:spPr>
            <a:xfrm>
              <a:off x="9129713" y="4906963"/>
              <a:ext cx="527050" cy="525462"/>
            </a:xfrm>
            <a:prstGeom prst="rect">
              <a:avLst/>
            </a:prstGeom>
          </p:spPr>
        </p:pic>
      </p:grpSp>
      <p:sp>
        <p:nvSpPr>
          <p:cNvPr id="52" name="Rectangle: Rounded Corners 51">
            <a:extLst>
              <a:ext uri="{FF2B5EF4-FFF2-40B4-BE49-F238E27FC236}">
                <a16:creationId xmlns:a16="http://schemas.microsoft.com/office/drawing/2014/main" id="{ADED2605-7C0A-8C82-1EC0-70C87DADF011}"/>
              </a:ext>
            </a:extLst>
          </p:cNvPr>
          <p:cNvSpPr/>
          <p:nvPr/>
        </p:nvSpPr>
        <p:spPr>
          <a:xfrm>
            <a:off x="8077200" y="1456958"/>
            <a:ext cx="1841898" cy="75284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dirty="0">
                <a:solidFill>
                  <a:schemeClr val="tx1"/>
                </a:solidFill>
                <a:latin typeface="+mj-lt"/>
                <a:cs typeface="Arial" pitchFamily="34" charset="0"/>
              </a:rPr>
              <a:t>3rd Party OPC UA Client/Server</a:t>
            </a:r>
            <a:endParaRPr lang="en-US" sz="1200" dirty="0">
              <a:solidFill>
                <a:schemeClr val="tx1"/>
              </a:solidFill>
              <a:latin typeface="+mj-lt"/>
              <a:cs typeface="Arial" pitchFamily="34" charset="0"/>
            </a:endParaRPr>
          </a:p>
        </p:txBody>
      </p:sp>
      <p:sp>
        <p:nvSpPr>
          <p:cNvPr id="53" name="Rectangle: Rounded Corners 52">
            <a:extLst>
              <a:ext uri="{FF2B5EF4-FFF2-40B4-BE49-F238E27FC236}">
                <a16:creationId xmlns:a16="http://schemas.microsoft.com/office/drawing/2014/main" id="{6593393E-63A0-98FA-7F1A-D4E315A70BC4}"/>
              </a:ext>
            </a:extLst>
          </p:cNvPr>
          <p:cNvSpPr/>
          <p:nvPr/>
        </p:nvSpPr>
        <p:spPr>
          <a:xfrm>
            <a:off x="10071498" y="1456958"/>
            <a:ext cx="1841898" cy="75284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dirty="0">
                <a:solidFill>
                  <a:schemeClr val="tx1"/>
                </a:solidFill>
                <a:latin typeface="+mj-lt"/>
                <a:cs typeface="Arial" pitchFamily="34" charset="0"/>
              </a:rPr>
              <a:t>3rd Party OPC UA Client/Server</a:t>
            </a:r>
            <a:endParaRPr lang="en-US" sz="1200" dirty="0">
              <a:solidFill>
                <a:schemeClr val="tx1"/>
              </a:solidFill>
              <a:latin typeface="+mj-lt"/>
              <a:cs typeface="Arial" pitchFamily="34" charset="0"/>
            </a:endParaRPr>
          </a:p>
        </p:txBody>
      </p:sp>
      <p:cxnSp>
        <p:nvCxnSpPr>
          <p:cNvPr id="54" name="Straight Arrow Connector 53">
            <a:extLst>
              <a:ext uri="{FF2B5EF4-FFF2-40B4-BE49-F238E27FC236}">
                <a16:creationId xmlns:a16="http://schemas.microsoft.com/office/drawing/2014/main" id="{3952AECD-6409-8F51-0383-6E61EFCFC6B0}"/>
              </a:ext>
            </a:extLst>
          </p:cNvPr>
          <p:cNvCxnSpPr>
            <a:cxnSpLocks/>
          </p:cNvCxnSpPr>
          <p:nvPr/>
        </p:nvCxnSpPr>
        <p:spPr>
          <a:xfrm flipV="1">
            <a:off x="9919098" y="2269064"/>
            <a:ext cx="1073349" cy="1980771"/>
          </a:xfrm>
          <a:prstGeom prst="straightConnector1">
            <a:avLst/>
          </a:prstGeom>
          <a:ln w="381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57" name="Gruppieren 69">
            <a:extLst>
              <a:ext uri="{FF2B5EF4-FFF2-40B4-BE49-F238E27FC236}">
                <a16:creationId xmlns:a16="http://schemas.microsoft.com/office/drawing/2014/main" id="{96779F5A-043F-235F-E258-9A506138D228}"/>
              </a:ext>
            </a:extLst>
          </p:cNvPr>
          <p:cNvGrpSpPr>
            <a:grpSpLocks noChangeAspect="1"/>
          </p:cNvGrpSpPr>
          <p:nvPr/>
        </p:nvGrpSpPr>
        <p:grpSpPr>
          <a:xfrm>
            <a:off x="10315020" y="3128646"/>
            <a:ext cx="252000" cy="252000"/>
            <a:chOff x="9552384" y="1700808"/>
            <a:chExt cx="384282" cy="384282"/>
          </a:xfrm>
          <a:effectLst>
            <a:outerShdw blurRad="50800" dist="38100" dir="2700000" algn="tl" rotWithShape="0">
              <a:prstClr val="black">
                <a:alpha val="40000"/>
              </a:prstClr>
            </a:outerShdw>
          </a:effectLst>
        </p:grpSpPr>
        <p:sp>
          <p:nvSpPr>
            <p:cNvPr id="58" name="Ellipse 70">
              <a:extLst>
                <a:ext uri="{FF2B5EF4-FFF2-40B4-BE49-F238E27FC236}">
                  <a16:creationId xmlns:a16="http://schemas.microsoft.com/office/drawing/2014/main" id="{9F40CDB3-6685-842D-3DE5-893A0A1BD17D}"/>
                </a:ext>
              </a:extLst>
            </p:cNvPr>
            <p:cNvSpPr/>
            <p:nvPr/>
          </p:nvSpPr>
          <p:spPr>
            <a:xfrm>
              <a:off x="9552384" y="1700808"/>
              <a:ext cx="384282" cy="384282"/>
            </a:xfrm>
            <a:prstGeom prst="ellipse">
              <a:avLst/>
            </a:prstGeom>
            <a:gradFill>
              <a:gsLst>
                <a:gs pos="0">
                  <a:srgbClr val="EF0000"/>
                </a:gs>
                <a:gs pos="83000">
                  <a:srgbClr val="EF0000">
                    <a:lumMod val="50000"/>
                  </a:srgbClr>
                </a:gs>
              </a:gsLst>
              <a:lin ang="600000" scaled="0"/>
            </a:gradFill>
            <a:ln w="12700">
              <a:solidFill>
                <a:schemeClr val="bg1"/>
              </a:solidFill>
            </a:ln>
            <a:effectLst/>
          </p:spPr>
          <p:txBody>
            <a:bodyPr wrap="square" tIns="0" bIns="0" rtlCol="0" anchor="ctr">
              <a:noAutofit/>
            </a:bodyPr>
            <a:lstStyle/>
            <a:p>
              <a:pPr algn="ctr"/>
              <a:endParaRPr lang="de-DE" sz="4400" b="1" dirty="0">
                <a:solidFill>
                  <a:schemeClr val="bg1"/>
                </a:solidFill>
              </a:endParaRPr>
            </a:p>
          </p:txBody>
        </p:sp>
        <p:pic>
          <p:nvPicPr>
            <p:cNvPr id="59" name="Grafik 71">
              <a:extLst>
                <a:ext uri="{FF2B5EF4-FFF2-40B4-BE49-F238E27FC236}">
                  <a16:creationId xmlns:a16="http://schemas.microsoft.com/office/drawing/2014/main" id="{AF75D705-84EA-2770-80B7-578A90F975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43012" y="1740137"/>
              <a:ext cx="203027" cy="281814"/>
            </a:xfrm>
            <a:prstGeom prst="rect">
              <a:avLst/>
            </a:prstGeom>
          </p:spPr>
        </p:pic>
      </p:grpSp>
      <p:pic>
        <p:nvPicPr>
          <p:cNvPr id="4" name="Picture 3">
            <a:extLst>
              <a:ext uri="{FF2B5EF4-FFF2-40B4-BE49-F238E27FC236}">
                <a16:creationId xmlns:a16="http://schemas.microsoft.com/office/drawing/2014/main" id="{AEC6D546-5789-DE74-9FC0-0C648E0175F2}"/>
              </a:ext>
            </a:extLst>
          </p:cNvPr>
          <p:cNvPicPr>
            <a:picLocks noChangeAspect="1"/>
          </p:cNvPicPr>
          <p:nvPr/>
        </p:nvPicPr>
        <p:blipFill>
          <a:blip r:embed="rId15"/>
          <a:stretch>
            <a:fillRect/>
          </a:stretch>
        </p:blipFill>
        <p:spPr>
          <a:xfrm>
            <a:off x="9241072" y="3143127"/>
            <a:ext cx="842149" cy="184805"/>
          </a:xfrm>
          <a:prstGeom prst="rect">
            <a:avLst/>
          </a:prstGeom>
        </p:spPr>
      </p:pic>
      <p:pic>
        <p:nvPicPr>
          <p:cNvPr id="5" name="Picture 4">
            <a:extLst>
              <a:ext uri="{FF2B5EF4-FFF2-40B4-BE49-F238E27FC236}">
                <a16:creationId xmlns:a16="http://schemas.microsoft.com/office/drawing/2014/main" id="{3D9E16EA-D699-EB88-2C1D-EF3EC1A10EAB}"/>
              </a:ext>
            </a:extLst>
          </p:cNvPr>
          <p:cNvPicPr>
            <a:picLocks noChangeAspect="1"/>
          </p:cNvPicPr>
          <p:nvPr/>
        </p:nvPicPr>
        <p:blipFill>
          <a:blip r:embed="rId15"/>
          <a:stretch>
            <a:fillRect/>
          </a:stretch>
        </p:blipFill>
        <p:spPr>
          <a:xfrm>
            <a:off x="10707764" y="3143126"/>
            <a:ext cx="842149" cy="184805"/>
          </a:xfrm>
          <a:prstGeom prst="rect">
            <a:avLst/>
          </a:prstGeom>
        </p:spPr>
      </p:pic>
    </p:spTree>
    <p:extLst>
      <p:ext uri="{BB962C8B-B14F-4D97-AF65-F5344CB8AC3E}">
        <p14:creationId xmlns:p14="http://schemas.microsoft.com/office/powerpoint/2010/main" val="1388590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F9EFBE-0B44-7513-DF9B-57953F0E8156}"/>
              </a:ext>
            </a:extLst>
          </p:cNvPr>
          <p:cNvSpPr>
            <a:spLocks noGrp="1"/>
          </p:cNvSpPr>
          <p:nvPr>
            <p:ph type="body" sz="quarter" idx="15"/>
          </p:nvPr>
        </p:nvSpPr>
        <p:spPr>
          <a:xfrm>
            <a:off x="3" y="1090799"/>
            <a:ext cx="6912148" cy="5331600"/>
          </a:xfrm>
        </p:spPr>
        <p:txBody>
          <a:bodyPr/>
          <a:lstStyle/>
          <a:p>
            <a:r>
              <a:rPr lang="de-DE"/>
              <a:t>Inhomogeneous environments with different vendors make  interoperability a challenge</a:t>
            </a:r>
          </a:p>
          <a:p>
            <a:r>
              <a:rPr lang="de-DE"/>
              <a:t>Remember: MQTT only standardizes transport, the data format is up to the application</a:t>
            </a:r>
          </a:p>
          <a:p>
            <a:r>
              <a:rPr lang="de-DE"/>
              <a:t>Therefore OPC </a:t>
            </a:r>
            <a:r>
              <a:rPr lang="de-DE" dirty="0"/>
              <a:t>UA Pub/Sub and MQTT </a:t>
            </a:r>
            <a:r>
              <a:rPr lang="de-DE" dirty="0" err="1"/>
              <a:t>complement</a:t>
            </a:r>
            <a:r>
              <a:rPr lang="de-DE" dirty="0"/>
              <a:t> </a:t>
            </a:r>
            <a:r>
              <a:rPr lang="de-DE" err="1"/>
              <a:t>each</a:t>
            </a:r>
            <a:r>
              <a:rPr lang="de-DE"/>
              <a:t> other very well:</a:t>
            </a:r>
          </a:p>
          <a:p>
            <a:pPr lvl="1"/>
            <a:r>
              <a:rPr lang="de-DE"/>
              <a:t>MQTT provides standardized transport</a:t>
            </a:r>
          </a:p>
          <a:p>
            <a:pPr lvl="1"/>
            <a:r>
              <a:rPr lang="de-DE"/>
              <a:t>OPC UA provides standardized data format</a:t>
            </a:r>
            <a:endParaRPr lang="de-DE" dirty="0"/>
          </a:p>
        </p:txBody>
      </p:sp>
      <p:sp>
        <p:nvSpPr>
          <p:cNvPr id="3" name="Title 2">
            <a:extLst>
              <a:ext uri="{FF2B5EF4-FFF2-40B4-BE49-F238E27FC236}">
                <a16:creationId xmlns:a16="http://schemas.microsoft.com/office/drawing/2014/main" id="{E315791F-7795-2F75-617B-61F51937B87C}"/>
              </a:ext>
            </a:extLst>
          </p:cNvPr>
          <p:cNvSpPr>
            <a:spLocks noGrp="1"/>
          </p:cNvSpPr>
          <p:nvPr>
            <p:ph type="title"/>
          </p:nvPr>
        </p:nvSpPr>
        <p:spPr/>
        <p:txBody>
          <a:bodyPr/>
          <a:lstStyle/>
          <a:p>
            <a:r>
              <a:rPr lang="de-DE" dirty="0" err="1"/>
              <a:t>Should</a:t>
            </a:r>
            <a:r>
              <a:rPr lang="de-DE" dirty="0"/>
              <a:t> I </a:t>
            </a:r>
            <a:r>
              <a:rPr lang="de-DE" dirty="0" err="1"/>
              <a:t>use</a:t>
            </a:r>
            <a:r>
              <a:rPr lang="de-DE" dirty="0"/>
              <a:t> OPC UA Pub/Sub </a:t>
            </a:r>
            <a:r>
              <a:rPr lang="de-DE" dirty="0" err="1"/>
              <a:t>or</a:t>
            </a:r>
            <a:r>
              <a:rPr lang="de-DE" dirty="0"/>
              <a:t> MQTT?</a:t>
            </a:r>
            <a:endParaRPr lang="en-US" dirty="0"/>
          </a:p>
        </p:txBody>
      </p:sp>
      <p:cxnSp>
        <p:nvCxnSpPr>
          <p:cNvPr id="6" name="Straight Arrow Connector 41">
            <a:extLst>
              <a:ext uri="{FF2B5EF4-FFF2-40B4-BE49-F238E27FC236}">
                <a16:creationId xmlns:a16="http://schemas.microsoft.com/office/drawing/2014/main" id="{7B2A1715-ECD5-0877-9243-A857393105B1}"/>
              </a:ext>
            </a:extLst>
          </p:cNvPr>
          <p:cNvCxnSpPr/>
          <p:nvPr/>
        </p:nvCxnSpPr>
        <p:spPr>
          <a:xfrm flipV="1">
            <a:off x="7671048"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7" name="Rounded Rectangle 66">
            <a:extLst>
              <a:ext uri="{FF2B5EF4-FFF2-40B4-BE49-F238E27FC236}">
                <a16:creationId xmlns:a16="http://schemas.microsoft.com/office/drawing/2014/main" id="{9B02DA5B-7269-B15F-21E5-7F8D15CF9128}"/>
              </a:ext>
            </a:extLst>
          </p:cNvPr>
          <p:cNvSpPr/>
          <p:nvPr/>
        </p:nvSpPr>
        <p:spPr>
          <a:xfrm>
            <a:off x="7810759" y="3794639"/>
            <a:ext cx="1016721" cy="828348"/>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r>
              <a:rPr lang="de-DE" sz="800" dirty="0">
                <a:solidFill>
                  <a:schemeClr val="tx1"/>
                </a:solidFill>
                <a:latin typeface="Consolas" panose="020B0609020204030204" pitchFamily="49" charset="0"/>
              </a:rPr>
              <a:t>{</a:t>
            </a:r>
          </a:p>
          <a:p>
            <a:r>
              <a:rPr lang="de-DE" sz="800" dirty="0">
                <a:solidFill>
                  <a:schemeClr val="tx1"/>
                </a:solidFill>
                <a:latin typeface="Consolas" panose="020B0609020204030204" pitchFamily="49" charset="0"/>
              </a:rPr>
              <a:t>  </a:t>
            </a:r>
            <a:r>
              <a:rPr lang="de-DE" sz="800" dirty="0" err="1">
                <a:solidFill>
                  <a:schemeClr val="tx1"/>
                </a:solidFill>
                <a:latin typeface="Consolas" panose="020B0609020204030204" pitchFamily="49" charset="0"/>
              </a:rPr>
              <a:t>Timestamp</a:t>
            </a:r>
            <a:r>
              <a:rPr lang="de-DE" sz="800" dirty="0">
                <a:solidFill>
                  <a:schemeClr val="tx1"/>
                </a:solidFill>
                <a:latin typeface="Consolas" panose="020B0609020204030204" pitchFamily="49" charset="0"/>
              </a:rPr>
              <a:t> : x,</a:t>
            </a:r>
          </a:p>
          <a:p>
            <a:r>
              <a:rPr lang="de-DE" sz="800" dirty="0">
                <a:solidFill>
                  <a:schemeClr val="tx1"/>
                </a:solidFill>
                <a:latin typeface="Consolas" panose="020B0609020204030204" pitchFamily="49" charset="0"/>
              </a:rPr>
              <a:t>  Values : {</a:t>
            </a:r>
          </a:p>
          <a:p>
            <a:r>
              <a:rPr lang="de-DE" sz="800" dirty="0">
                <a:solidFill>
                  <a:schemeClr val="tx1"/>
                </a:solidFill>
                <a:latin typeface="Consolas" panose="020B0609020204030204" pitchFamily="49" charset="0"/>
              </a:rPr>
              <a:t>  Var1 : 42</a:t>
            </a:r>
          </a:p>
          <a:p>
            <a:r>
              <a:rPr lang="de-DE" sz="800" dirty="0">
                <a:solidFill>
                  <a:schemeClr val="tx1"/>
                </a:solidFill>
                <a:latin typeface="Consolas" panose="020B0609020204030204" pitchFamily="49" charset="0"/>
              </a:rPr>
              <a:t>  }</a:t>
            </a:r>
          </a:p>
          <a:p>
            <a:r>
              <a:rPr lang="de-DE" sz="800" dirty="0">
                <a:solidFill>
                  <a:schemeClr val="tx1"/>
                </a:solidFill>
                <a:latin typeface="Consolas" panose="020B0609020204030204" pitchFamily="49" charset="0"/>
              </a:rPr>
              <a:t>}</a:t>
            </a:r>
            <a:endParaRPr lang="en-US" sz="800" dirty="0">
              <a:solidFill>
                <a:schemeClr val="tx1"/>
              </a:solidFill>
              <a:latin typeface="Consolas" panose="020B0609020204030204" pitchFamily="49" charset="0"/>
            </a:endParaRPr>
          </a:p>
        </p:txBody>
      </p:sp>
      <p:cxnSp>
        <p:nvCxnSpPr>
          <p:cNvPr id="9" name="Straight Arrow Connector 41">
            <a:extLst>
              <a:ext uri="{FF2B5EF4-FFF2-40B4-BE49-F238E27FC236}">
                <a16:creationId xmlns:a16="http://schemas.microsoft.com/office/drawing/2014/main" id="{B85D83D6-552F-8FB2-C963-E5C1015DC219}"/>
              </a:ext>
            </a:extLst>
          </p:cNvPr>
          <p:cNvCxnSpPr/>
          <p:nvPr/>
        </p:nvCxnSpPr>
        <p:spPr>
          <a:xfrm flipV="1">
            <a:off x="9187520"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 name="Rounded Rectangle 66">
            <a:extLst>
              <a:ext uri="{FF2B5EF4-FFF2-40B4-BE49-F238E27FC236}">
                <a16:creationId xmlns:a16="http://schemas.microsoft.com/office/drawing/2014/main" id="{E2EED888-2B9A-7B29-A8F7-C03F5E7C35B2}"/>
              </a:ext>
            </a:extLst>
          </p:cNvPr>
          <p:cNvSpPr/>
          <p:nvPr/>
        </p:nvSpPr>
        <p:spPr>
          <a:xfrm>
            <a:off x="9327230" y="3789315"/>
            <a:ext cx="1016721" cy="833671"/>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r>
              <a:rPr lang="de-DE" sz="800" dirty="0">
                <a:solidFill>
                  <a:schemeClr val="tx1"/>
                </a:solidFill>
                <a:latin typeface="Consolas" panose="020B0609020204030204" pitchFamily="49" charset="0"/>
              </a:rPr>
              <a:t>{</a:t>
            </a:r>
          </a:p>
          <a:p>
            <a:r>
              <a:rPr lang="de-DE" sz="800" dirty="0">
                <a:solidFill>
                  <a:schemeClr val="tx1"/>
                </a:solidFill>
                <a:latin typeface="Consolas" panose="020B0609020204030204" pitchFamily="49" charset="0"/>
              </a:rPr>
              <a:t>  </a:t>
            </a:r>
            <a:r>
              <a:rPr lang="de-DE" sz="800" dirty="0" err="1">
                <a:solidFill>
                  <a:schemeClr val="tx1"/>
                </a:solidFill>
                <a:latin typeface="Consolas" panose="020B0609020204030204" pitchFamily="49" charset="0"/>
              </a:rPr>
              <a:t>DayTime</a:t>
            </a:r>
            <a:r>
              <a:rPr lang="de-DE" sz="800" dirty="0">
                <a:solidFill>
                  <a:schemeClr val="tx1"/>
                </a:solidFill>
                <a:latin typeface="Consolas" panose="020B0609020204030204" pitchFamily="49" charset="0"/>
              </a:rPr>
              <a:t> : x,</a:t>
            </a:r>
          </a:p>
          <a:p>
            <a:r>
              <a:rPr lang="de-DE" sz="800" dirty="0">
                <a:solidFill>
                  <a:schemeClr val="tx1"/>
                </a:solidFill>
                <a:latin typeface="Consolas" panose="020B0609020204030204" pitchFamily="49" charset="0"/>
              </a:rPr>
              <a:t>  Var1 : 42.0</a:t>
            </a:r>
          </a:p>
          <a:p>
            <a:r>
              <a:rPr lang="de-DE" sz="800" dirty="0">
                <a:solidFill>
                  <a:schemeClr val="tx1"/>
                </a:solidFill>
                <a:latin typeface="Consolas" panose="020B0609020204030204" pitchFamily="49" charset="0"/>
              </a:rPr>
              <a:t>}</a:t>
            </a:r>
            <a:endParaRPr lang="en-US" sz="800" dirty="0">
              <a:solidFill>
                <a:schemeClr val="tx1"/>
              </a:solidFill>
              <a:latin typeface="Consolas" panose="020B0609020204030204" pitchFamily="49" charset="0"/>
            </a:endParaRPr>
          </a:p>
        </p:txBody>
      </p:sp>
      <p:cxnSp>
        <p:nvCxnSpPr>
          <p:cNvPr id="12" name="Straight Arrow Connector 41">
            <a:extLst>
              <a:ext uri="{FF2B5EF4-FFF2-40B4-BE49-F238E27FC236}">
                <a16:creationId xmlns:a16="http://schemas.microsoft.com/office/drawing/2014/main" id="{FB40D254-A288-5312-5B7D-C76A9E357FB9}"/>
              </a:ext>
            </a:extLst>
          </p:cNvPr>
          <p:cNvCxnSpPr/>
          <p:nvPr/>
        </p:nvCxnSpPr>
        <p:spPr>
          <a:xfrm flipV="1">
            <a:off x="10699425" y="3352800"/>
            <a:ext cx="0" cy="151216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Rounded Rectangle 66">
            <a:extLst>
              <a:ext uri="{FF2B5EF4-FFF2-40B4-BE49-F238E27FC236}">
                <a16:creationId xmlns:a16="http://schemas.microsoft.com/office/drawing/2014/main" id="{EB14B2C8-CFFA-87B9-2F44-42CC395A0E85}"/>
              </a:ext>
            </a:extLst>
          </p:cNvPr>
          <p:cNvSpPr/>
          <p:nvPr/>
        </p:nvSpPr>
        <p:spPr>
          <a:xfrm>
            <a:off x="10839136" y="3794639"/>
            <a:ext cx="1016721" cy="828348"/>
          </a:xfrm>
          <a:prstGeom prst="roundRect">
            <a:avLst/>
          </a:prstGeom>
          <a:ln w="12700"/>
        </p:spPr>
        <p:style>
          <a:lnRef idx="2">
            <a:schemeClr val="accent1"/>
          </a:lnRef>
          <a:fillRef idx="1">
            <a:schemeClr val="lt1"/>
          </a:fillRef>
          <a:effectRef idx="0">
            <a:schemeClr val="accent1"/>
          </a:effectRef>
          <a:fontRef idx="minor">
            <a:schemeClr val="dk1"/>
          </a:fontRef>
        </p:style>
        <p:txBody>
          <a:bodyPr lIns="0" tIns="0" rIns="0" bIns="0" rtlCol="0" anchor="ctr"/>
          <a:lstStyle/>
          <a:p>
            <a:pPr algn="ctr"/>
            <a:r>
              <a:rPr lang="de-DE" sz="800" dirty="0">
                <a:solidFill>
                  <a:schemeClr val="tx1"/>
                </a:solidFill>
                <a:latin typeface="Consolas" panose="020B0609020204030204" pitchFamily="49" charset="0"/>
              </a:rPr>
              <a:t>OPC UA </a:t>
            </a:r>
            <a:r>
              <a:rPr lang="de-DE" sz="800" dirty="0" err="1">
                <a:solidFill>
                  <a:schemeClr val="tx1"/>
                </a:solidFill>
                <a:latin typeface="Consolas" panose="020B0609020204030204" pitchFamily="49" charset="0"/>
              </a:rPr>
              <a:t>object</a:t>
            </a:r>
            <a:endParaRPr lang="de-DE" sz="800" dirty="0">
              <a:solidFill>
                <a:schemeClr val="tx1"/>
              </a:solidFill>
              <a:latin typeface="Consolas" panose="020B0609020204030204" pitchFamily="49" charset="0"/>
            </a:endParaRPr>
          </a:p>
          <a:p>
            <a:pPr algn="ctr"/>
            <a:r>
              <a:rPr lang="de-DE" sz="800" dirty="0">
                <a:solidFill>
                  <a:schemeClr val="tx1"/>
                </a:solidFill>
                <a:latin typeface="Consolas" panose="020B0609020204030204" pitchFamily="49" charset="0"/>
              </a:rPr>
              <a:t>(Binary, JSON)</a:t>
            </a:r>
            <a:endParaRPr lang="en-US" sz="800" dirty="0">
              <a:solidFill>
                <a:schemeClr val="tx1"/>
              </a:solidFill>
              <a:latin typeface="Consolas" panose="020B0609020204030204" pitchFamily="49" charset="0"/>
            </a:endParaRPr>
          </a:p>
        </p:txBody>
      </p:sp>
      <p:sp>
        <p:nvSpPr>
          <p:cNvPr id="16" name="Rechteck 13">
            <a:extLst>
              <a:ext uri="{FF2B5EF4-FFF2-40B4-BE49-F238E27FC236}">
                <a16:creationId xmlns:a16="http://schemas.microsoft.com/office/drawing/2014/main" id="{08F80C20-FE58-2A22-B194-918824452A44}"/>
              </a:ext>
            </a:extLst>
          </p:cNvPr>
          <p:cNvSpPr/>
          <p:nvPr/>
        </p:nvSpPr>
        <p:spPr>
          <a:xfrm>
            <a:off x="7849999" y="3573872"/>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4" name="Rectangle: Rounded Corners 23">
            <a:extLst>
              <a:ext uri="{FF2B5EF4-FFF2-40B4-BE49-F238E27FC236}">
                <a16:creationId xmlns:a16="http://schemas.microsoft.com/office/drawing/2014/main" id="{8BA49FA5-1CBD-237D-86CC-A19B0784008D}"/>
              </a:ext>
            </a:extLst>
          </p:cNvPr>
          <p:cNvSpPr/>
          <p:nvPr/>
        </p:nvSpPr>
        <p:spPr>
          <a:xfrm>
            <a:off x="8673561" y="4912556"/>
            <a:ext cx="1016721" cy="610212"/>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3rd</a:t>
            </a:r>
            <a:r>
              <a:rPr lang="de-DE" sz="1200" dirty="0">
                <a:solidFill>
                  <a:schemeClr val="tx1"/>
                </a:solidFill>
                <a:latin typeface="+mj-lt"/>
                <a:cs typeface="Arial" pitchFamily="34" charset="0"/>
              </a:rPr>
              <a:t> Party</a:t>
            </a:r>
            <a:endParaRPr lang="en-US" sz="1200" dirty="0">
              <a:solidFill>
                <a:schemeClr val="tx1"/>
              </a:solidFill>
              <a:latin typeface="+mj-lt"/>
              <a:cs typeface="Arial" pitchFamily="34" charset="0"/>
            </a:endParaRPr>
          </a:p>
        </p:txBody>
      </p:sp>
      <p:sp>
        <p:nvSpPr>
          <p:cNvPr id="25" name="Rechteck 13">
            <a:extLst>
              <a:ext uri="{FF2B5EF4-FFF2-40B4-BE49-F238E27FC236}">
                <a16:creationId xmlns:a16="http://schemas.microsoft.com/office/drawing/2014/main" id="{4A55BAE5-528E-1DE6-6726-34FAFB98EA14}"/>
              </a:ext>
            </a:extLst>
          </p:cNvPr>
          <p:cNvSpPr/>
          <p:nvPr/>
        </p:nvSpPr>
        <p:spPr>
          <a:xfrm>
            <a:off x="9369518" y="3573871"/>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6" name="Rechteck 13">
            <a:extLst>
              <a:ext uri="{FF2B5EF4-FFF2-40B4-BE49-F238E27FC236}">
                <a16:creationId xmlns:a16="http://schemas.microsoft.com/office/drawing/2014/main" id="{E2488476-222B-9ABB-746A-A0212419683B}"/>
              </a:ext>
            </a:extLst>
          </p:cNvPr>
          <p:cNvSpPr/>
          <p:nvPr/>
        </p:nvSpPr>
        <p:spPr>
          <a:xfrm>
            <a:off x="10884067" y="3573871"/>
            <a:ext cx="926857" cy="215444"/>
          </a:xfrm>
          <a:prstGeom prst="rect">
            <a:avLst/>
          </a:prstGeom>
        </p:spPr>
        <p:txBody>
          <a:bodyPr wrap="none">
            <a:spAutoFit/>
          </a:bodyPr>
          <a:lstStyle/>
          <a:p>
            <a:pPr algn="ctr"/>
            <a:r>
              <a:rPr lang="de-DE" sz="800" dirty="0"/>
              <a:t>MQTT </a:t>
            </a:r>
            <a:r>
              <a:rPr lang="de-DE" sz="800" dirty="0" err="1"/>
              <a:t>payload</a:t>
            </a:r>
            <a:r>
              <a:rPr lang="de-DE" sz="800" dirty="0"/>
              <a:t>:</a:t>
            </a:r>
          </a:p>
        </p:txBody>
      </p:sp>
      <p:sp>
        <p:nvSpPr>
          <p:cNvPr id="27" name="Rectangle: Rounded Corners 26">
            <a:extLst>
              <a:ext uri="{FF2B5EF4-FFF2-40B4-BE49-F238E27FC236}">
                <a16:creationId xmlns:a16="http://schemas.microsoft.com/office/drawing/2014/main" id="{5450B8EB-8176-8E64-A0B4-A68910930AA1}"/>
              </a:ext>
            </a:extLst>
          </p:cNvPr>
          <p:cNvSpPr/>
          <p:nvPr/>
        </p:nvSpPr>
        <p:spPr>
          <a:xfrm>
            <a:off x="7239000" y="1447800"/>
            <a:ext cx="3885845" cy="336281"/>
          </a:xfrm>
          <a:prstGeom prst="roundRect">
            <a:avLst/>
          </a:prstGeom>
          <a:solidFill>
            <a:schemeClr val="bg1">
              <a:lumMod val="85000"/>
            </a:schemeClr>
          </a:solidFill>
          <a:ln w="6350">
            <a:noFill/>
            <a:miter lim="800000"/>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Ins="90000" rtlCol="0" anchor="ctr"/>
          <a:lstStyle/>
          <a:p>
            <a:pPr algn="ctr">
              <a:spcBef>
                <a:spcPts val="600"/>
              </a:spcBef>
            </a:pPr>
            <a:r>
              <a:rPr lang="de-DE" sz="1200">
                <a:solidFill>
                  <a:schemeClr val="tx1"/>
                </a:solidFill>
                <a:latin typeface="+mj-lt"/>
                <a:cs typeface="Arial" pitchFamily="34" charset="0"/>
              </a:rPr>
              <a:t>Application</a:t>
            </a:r>
            <a:endParaRPr lang="de-DE" sz="1200" dirty="0">
              <a:solidFill>
                <a:schemeClr val="tx1"/>
              </a:solidFill>
              <a:latin typeface="+mj-lt"/>
              <a:cs typeface="Arial" pitchFamily="34" charset="0"/>
            </a:endParaRPr>
          </a:p>
        </p:txBody>
      </p:sp>
      <p:cxnSp>
        <p:nvCxnSpPr>
          <p:cNvPr id="28" name="Straight Arrow Connector 41">
            <a:extLst>
              <a:ext uri="{FF2B5EF4-FFF2-40B4-BE49-F238E27FC236}">
                <a16:creationId xmlns:a16="http://schemas.microsoft.com/office/drawing/2014/main" id="{95DDCDCC-46CE-10D6-7410-FB72AB5CD364}"/>
              </a:ext>
            </a:extLst>
          </p:cNvPr>
          <p:cNvCxnSpPr>
            <a:cxnSpLocks/>
          </p:cNvCxnSpPr>
          <p:nvPr/>
        </p:nvCxnSpPr>
        <p:spPr>
          <a:xfrm flipV="1">
            <a:off x="9181923" y="1820613"/>
            <a:ext cx="0" cy="312987"/>
          </a:xfrm>
          <a:prstGeom prst="straightConnector1">
            <a:avLst/>
          </a:prstGeom>
          <a:ln w="25400">
            <a:solidFill>
              <a:schemeClr val="accent4"/>
            </a:solidFill>
            <a:headEnd type="triangl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32" name="Grafik 76">
            <a:extLst>
              <a:ext uri="{FF2B5EF4-FFF2-40B4-BE49-F238E27FC236}">
                <a16:creationId xmlns:a16="http://schemas.microsoft.com/office/drawing/2014/main" id="{21BAD809-129C-7ED3-31B8-F143B5871F64}"/>
              </a:ext>
            </a:extLst>
          </p:cNvPr>
          <p:cNvPicPr>
            <a:picLocks noChangeAspect="1"/>
          </p:cNvPicPr>
          <p:nvPr/>
        </p:nvPicPr>
        <p:blipFill>
          <a:blip r:embed="rId2"/>
          <a:stretch>
            <a:fillRect/>
          </a:stretch>
        </p:blipFill>
        <p:spPr>
          <a:xfrm>
            <a:off x="7239000" y="4912708"/>
            <a:ext cx="864096" cy="610212"/>
          </a:xfrm>
          <a:prstGeom prst="rect">
            <a:avLst/>
          </a:prstGeom>
          <a:effectLst>
            <a:outerShdw blurRad="50800" dist="38100" dir="2700000" algn="tl" rotWithShape="0">
              <a:prstClr val="black">
                <a:alpha val="40000"/>
              </a:prstClr>
            </a:outerShdw>
          </a:effectLst>
        </p:spPr>
      </p:pic>
      <p:pic>
        <p:nvPicPr>
          <p:cNvPr id="33" name="Grafik 76">
            <a:extLst>
              <a:ext uri="{FF2B5EF4-FFF2-40B4-BE49-F238E27FC236}">
                <a16:creationId xmlns:a16="http://schemas.microsoft.com/office/drawing/2014/main" id="{AC3140D8-A174-CE4E-89DF-C29B9FF098BD}"/>
              </a:ext>
            </a:extLst>
          </p:cNvPr>
          <p:cNvPicPr>
            <a:picLocks noChangeAspect="1"/>
          </p:cNvPicPr>
          <p:nvPr/>
        </p:nvPicPr>
        <p:blipFill>
          <a:blip r:embed="rId2"/>
          <a:stretch>
            <a:fillRect/>
          </a:stretch>
        </p:blipFill>
        <p:spPr>
          <a:xfrm>
            <a:off x="10260751" y="4912556"/>
            <a:ext cx="864096" cy="610212"/>
          </a:xfrm>
          <a:prstGeom prst="rect">
            <a:avLst/>
          </a:prstGeom>
          <a:effectLst>
            <a:outerShdw blurRad="50800" dist="38100" dir="2700000" algn="tl" rotWithShape="0">
              <a:prstClr val="black">
                <a:alpha val="40000"/>
              </a:prstClr>
            </a:outerShdw>
          </a:effectLst>
        </p:spPr>
      </p:pic>
      <p:sp>
        <p:nvSpPr>
          <p:cNvPr id="4" name="Freihandform 3">
            <a:extLst>
              <a:ext uri="{FF2B5EF4-FFF2-40B4-BE49-F238E27FC236}">
                <a16:creationId xmlns:a16="http://schemas.microsoft.com/office/drawing/2014/main" id="{F3AC5BCE-469F-4EFC-ADCF-E9F19EA6D233}"/>
              </a:ext>
            </a:extLst>
          </p:cNvPr>
          <p:cNvSpPr>
            <a:spLocks noChangeAspect="1"/>
          </p:cNvSpPr>
          <p:nvPr/>
        </p:nvSpPr>
        <p:spPr>
          <a:xfrm>
            <a:off x="7239001" y="2133600"/>
            <a:ext cx="3885846" cy="1173069"/>
          </a:xfrm>
          <a:custGeom>
            <a:avLst/>
            <a:gdLst>
              <a:gd name="connsiteX0" fmla="*/ 187377 w 3762531"/>
              <a:gd name="connsiteY0" fmla="*/ 262328 h 2488367"/>
              <a:gd name="connsiteX1" fmla="*/ 1109272 w 3762531"/>
              <a:gd name="connsiteY1" fmla="*/ 0 h 2488367"/>
              <a:gd name="connsiteX2" fmla="*/ 3642610 w 3762531"/>
              <a:gd name="connsiteY2" fmla="*/ 239843 h 2488367"/>
              <a:gd name="connsiteX3" fmla="*/ 3762531 w 3762531"/>
              <a:gd name="connsiteY3" fmla="*/ 2488367 h 2488367"/>
              <a:gd name="connsiteX4" fmla="*/ 0 w 3762531"/>
              <a:gd name="connsiteY4" fmla="*/ 2488367 h 2488367"/>
              <a:gd name="connsiteX5" fmla="*/ 187377 w 3762531"/>
              <a:gd name="connsiteY5" fmla="*/ 262328 h 2488367"/>
              <a:gd name="connsiteX0" fmla="*/ 187377 w 3762531"/>
              <a:gd name="connsiteY0" fmla="*/ 361158 h 2587197"/>
              <a:gd name="connsiteX1" fmla="*/ 1109272 w 3762531"/>
              <a:gd name="connsiteY1" fmla="*/ 98830 h 2587197"/>
              <a:gd name="connsiteX2" fmla="*/ 3642610 w 3762531"/>
              <a:gd name="connsiteY2" fmla="*/ 338673 h 2587197"/>
              <a:gd name="connsiteX3" fmla="*/ 3762531 w 3762531"/>
              <a:gd name="connsiteY3" fmla="*/ 2587197 h 2587197"/>
              <a:gd name="connsiteX4" fmla="*/ 0 w 3762531"/>
              <a:gd name="connsiteY4" fmla="*/ 2587197 h 2587197"/>
              <a:gd name="connsiteX5" fmla="*/ 187377 w 3762531"/>
              <a:gd name="connsiteY5" fmla="*/ 361158 h 2587197"/>
              <a:gd name="connsiteX0" fmla="*/ 870238 w 4445392"/>
              <a:gd name="connsiteY0" fmla="*/ 361158 h 2587197"/>
              <a:gd name="connsiteX1" fmla="*/ 1792133 w 4445392"/>
              <a:gd name="connsiteY1" fmla="*/ 98830 h 2587197"/>
              <a:gd name="connsiteX2" fmla="*/ 4325471 w 4445392"/>
              <a:gd name="connsiteY2" fmla="*/ 338673 h 2587197"/>
              <a:gd name="connsiteX3" fmla="*/ 4445392 w 4445392"/>
              <a:gd name="connsiteY3" fmla="*/ 2587197 h 2587197"/>
              <a:gd name="connsiteX4" fmla="*/ 682861 w 4445392"/>
              <a:gd name="connsiteY4" fmla="*/ 2587197 h 2587197"/>
              <a:gd name="connsiteX5" fmla="*/ 870238 w 4445392"/>
              <a:gd name="connsiteY5" fmla="*/ 361158 h 2587197"/>
              <a:gd name="connsiteX0" fmla="*/ 1283861 w 4859015"/>
              <a:gd name="connsiteY0" fmla="*/ 361158 h 2587197"/>
              <a:gd name="connsiteX1" fmla="*/ 2205756 w 4859015"/>
              <a:gd name="connsiteY1" fmla="*/ 98830 h 2587197"/>
              <a:gd name="connsiteX2" fmla="*/ 4739094 w 4859015"/>
              <a:gd name="connsiteY2" fmla="*/ 338673 h 2587197"/>
              <a:gd name="connsiteX3" fmla="*/ 4859015 w 4859015"/>
              <a:gd name="connsiteY3" fmla="*/ 2587197 h 2587197"/>
              <a:gd name="connsiteX4" fmla="*/ 1096484 w 4859015"/>
              <a:gd name="connsiteY4" fmla="*/ 2587197 h 2587197"/>
              <a:gd name="connsiteX5" fmla="*/ 1283861 w 4859015"/>
              <a:gd name="connsiteY5" fmla="*/ 361158 h 2587197"/>
              <a:gd name="connsiteX0" fmla="*/ 1283861 w 4859015"/>
              <a:gd name="connsiteY0" fmla="*/ 413104 h 2639143"/>
              <a:gd name="connsiteX1" fmla="*/ 2205756 w 4859015"/>
              <a:gd name="connsiteY1" fmla="*/ 150776 h 2639143"/>
              <a:gd name="connsiteX2" fmla="*/ 4739094 w 4859015"/>
              <a:gd name="connsiteY2" fmla="*/ 390619 h 2639143"/>
              <a:gd name="connsiteX3" fmla="*/ 4859015 w 4859015"/>
              <a:gd name="connsiteY3" fmla="*/ 2639143 h 2639143"/>
              <a:gd name="connsiteX4" fmla="*/ 1096484 w 4859015"/>
              <a:gd name="connsiteY4" fmla="*/ 2639143 h 2639143"/>
              <a:gd name="connsiteX5" fmla="*/ 1283861 w 4859015"/>
              <a:gd name="connsiteY5" fmla="*/ 413104 h 2639143"/>
              <a:gd name="connsiteX0" fmla="*/ 1283861 w 4859015"/>
              <a:gd name="connsiteY0" fmla="*/ 639949 h 2865988"/>
              <a:gd name="connsiteX1" fmla="*/ 2205756 w 4859015"/>
              <a:gd name="connsiteY1" fmla="*/ 377621 h 2865988"/>
              <a:gd name="connsiteX2" fmla="*/ 4739094 w 4859015"/>
              <a:gd name="connsiteY2" fmla="*/ 617464 h 2865988"/>
              <a:gd name="connsiteX3" fmla="*/ 4859015 w 4859015"/>
              <a:gd name="connsiteY3" fmla="*/ 2865988 h 2865988"/>
              <a:gd name="connsiteX4" fmla="*/ 1096484 w 4859015"/>
              <a:gd name="connsiteY4" fmla="*/ 2865988 h 2865988"/>
              <a:gd name="connsiteX5" fmla="*/ 1283861 w 4859015"/>
              <a:gd name="connsiteY5" fmla="*/ 639949 h 2865988"/>
              <a:gd name="connsiteX0" fmla="*/ 1283861 w 4859015"/>
              <a:gd name="connsiteY0" fmla="*/ 805598 h 3031637"/>
              <a:gd name="connsiteX1" fmla="*/ 2205756 w 4859015"/>
              <a:gd name="connsiteY1" fmla="*/ 543270 h 3031637"/>
              <a:gd name="connsiteX2" fmla="*/ 4739094 w 4859015"/>
              <a:gd name="connsiteY2" fmla="*/ 783113 h 3031637"/>
              <a:gd name="connsiteX3" fmla="*/ 4859015 w 4859015"/>
              <a:gd name="connsiteY3" fmla="*/ 3031637 h 3031637"/>
              <a:gd name="connsiteX4" fmla="*/ 1096484 w 4859015"/>
              <a:gd name="connsiteY4" fmla="*/ 3031637 h 3031637"/>
              <a:gd name="connsiteX5" fmla="*/ 1283861 w 4859015"/>
              <a:gd name="connsiteY5" fmla="*/ 805598 h 3031637"/>
              <a:gd name="connsiteX0" fmla="*/ 1283861 w 5259884"/>
              <a:gd name="connsiteY0" fmla="*/ 805598 h 3031637"/>
              <a:gd name="connsiteX1" fmla="*/ 2205756 w 5259884"/>
              <a:gd name="connsiteY1" fmla="*/ 543270 h 3031637"/>
              <a:gd name="connsiteX2" fmla="*/ 4739094 w 5259884"/>
              <a:gd name="connsiteY2" fmla="*/ 783113 h 3031637"/>
              <a:gd name="connsiteX3" fmla="*/ 4859015 w 5259884"/>
              <a:gd name="connsiteY3" fmla="*/ 3031637 h 3031637"/>
              <a:gd name="connsiteX4" fmla="*/ 1096484 w 5259884"/>
              <a:gd name="connsiteY4" fmla="*/ 3031637 h 3031637"/>
              <a:gd name="connsiteX5" fmla="*/ 1283861 w 5259884"/>
              <a:gd name="connsiteY5" fmla="*/ 805598 h 3031637"/>
              <a:gd name="connsiteX0" fmla="*/ 1283861 w 5871218"/>
              <a:gd name="connsiteY0" fmla="*/ 805598 h 3031637"/>
              <a:gd name="connsiteX1" fmla="*/ 2205756 w 5871218"/>
              <a:gd name="connsiteY1" fmla="*/ 543270 h 3031637"/>
              <a:gd name="connsiteX2" fmla="*/ 4739094 w 5871218"/>
              <a:gd name="connsiteY2" fmla="*/ 783113 h 3031637"/>
              <a:gd name="connsiteX3" fmla="*/ 4859015 w 5871218"/>
              <a:gd name="connsiteY3" fmla="*/ 3031637 h 3031637"/>
              <a:gd name="connsiteX4" fmla="*/ 1096484 w 5871218"/>
              <a:gd name="connsiteY4" fmla="*/ 3031637 h 3031637"/>
              <a:gd name="connsiteX5" fmla="*/ 1283861 w 5871218"/>
              <a:gd name="connsiteY5" fmla="*/ 805598 h 3031637"/>
              <a:gd name="connsiteX0" fmla="*/ 1283861 w 5924778"/>
              <a:gd name="connsiteY0" fmla="*/ 805598 h 3031637"/>
              <a:gd name="connsiteX1" fmla="*/ 2205756 w 5924778"/>
              <a:gd name="connsiteY1" fmla="*/ 543270 h 3031637"/>
              <a:gd name="connsiteX2" fmla="*/ 4739094 w 5924778"/>
              <a:gd name="connsiteY2" fmla="*/ 783113 h 3031637"/>
              <a:gd name="connsiteX3" fmla="*/ 4859015 w 5924778"/>
              <a:gd name="connsiteY3" fmla="*/ 3031637 h 3031637"/>
              <a:gd name="connsiteX4" fmla="*/ 1096484 w 5924778"/>
              <a:gd name="connsiteY4" fmla="*/ 3031637 h 3031637"/>
              <a:gd name="connsiteX5" fmla="*/ 1283861 w 5924778"/>
              <a:gd name="connsiteY5" fmla="*/ 805598 h 3031637"/>
              <a:gd name="connsiteX0" fmla="*/ 1283861 w 5924778"/>
              <a:gd name="connsiteY0" fmla="*/ 816848 h 3042887"/>
              <a:gd name="connsiteX1" fmla="*/ 2205756 w 5924778"/>
              <a:gd name="connsiteY1" fmla="*/ 554520 h 3042887"/>
              <a:gd name="connsiteX2" fmla="*/ 4739094 w 5924778"/>
              <a:gd name="connsiteY2" fmla="*/ 794363 h 3042887"/>
              <a:gd name="connsiteX3" fmla="*/ 4859015 w 5924778"/>
              <a:gd name="connsiteY3" fmla="*/ 3042887 h 3042887"/>
              <a:gd name="connsiteX4" fmla="*/ 1096484 w 5924778"/>
              <a:gd name="connsiteY4" fmla="*/ 3042887 h 3042887"/>
              <a:gd name="connsiteX5" fmla="*/ 1283861 w 5924778"/>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918987"/>
              <a:gd name="connsiteY0" fmla="*/ 816848 h 3042887"/>
              <a:gd name="connsiteX1" fmla="*/ 2199965 w 5918987"/>
              <a:gd name="connsiteY1" fmla="*/ 554520 h 3042887"/>
              <a:gd name="connsiteX2" fmla="*/ 4733303 w 5918987"/>
              <a:gd name="connsiteY2" fmla="*/ 794363 h 3042887"/>
              <a:gd name="connsiteX3" fmla="*/ 4853224 w 5918987"/>
              <a:gd name="connsiteY3" fmla="*/ 3042887 h 3042887"/>
              <a:gd name="connsiteX4" fmla="*/ 1090693 w 5918987"/>
              <a:gd name="connsiteY4" fmla="*/ 3042887 h 3042887"/>
              <a:gd name="connsiteX5" fmla="*/ 1278070 w 5918987"/>
              <a:gd name="connsiteY5" fmla="*/ 816848 h 3042887"/>
              <a:gd name="connsiteX0" fmla="*/ 1278070 w 5872028"/>
              <a:gd name="connsiteY0" fmla="*/ 816848 h 3042887"/>
              <a:gd name="connsiteX1" fmla="*/ 2199965 w 5872028"/>
              <a:gd name="connsiteY1" fmla="*/ 554520 h 3042887"/>
              <a:gd name="connsiteX2" fmla="*/ 4733303 w 5872028"/>
              <a:gd name="connsiteY2" fmla="*/ 794363 h 3042887"/>
              <a:gd name="connsiteX3" fmla="*/ 4853224 w 5872028"/>
              <a:gd name="connsiteY3" fmla="*/ 3042887 h 3042887"/>
              <a:gd name="connsiteX4" fmla="*/ 1090693 w 5872028"/>
              <a:gd name="connsiteY4" fmla="*/ 3042887 h 3042887"/>
              <a:gd name="connsiteX5" fmla="*/ 1278070 w 5872028"/>
              <a:gd name="connsiteY5" fmla="*/ 816848 h 3042887"/>
              <a:gd name="connsiteX0" fmla="*/ 1278070 w 5772302"/>
              <a:gd name="connsiteY0" fmla="*/ 816848 h 3042887"/>
              <a:gd name="connsiteX1" fmla="*/ 2199965 w 5772302"/>
              <a:gd name="connsiteY1" fmla="*/ 554520 h 3042887"/>
              <a:gd name="connsiteX2" fmla="*/ 4733303 w 5772302"/>
              <a:gd name="connsiteY2" fmla="*/ 794363 h 3042887"/>
              <a:gd name="connsiteX3" fmla="*/ 4670002 w 5772302"/>
              <a:gd name="connsiteY3" fmla="*/ 3037652 h 3042887"/>
              <a:gd name="connsiteX4" fmla="*/ 1090693 w 5772302"/>
              <a:gd name="connsiteY4" fmla="*/ 3042887 h 3042887"/>
              <a:gd name="connsiteX5" fmla="*/ 1278070 w 5772302"/>
              <a:gd name="connsiteY5" fmla="*/ 816848 h 3042887"/>
              <a:gd name="connsiteX0" fmla="*/ 1278070 w 5812783"/>
              <a:gd name="connsiteY0" fmla="*/ 816848 h 3042887"/>
              <a:gd name="connsiteX1" fmla="*/ 2199965 w 5812783"/>
              <a:gd name="connsiteY1" fmla="*/ 554520 h 3042887"/>
              <a:gd name="connsiteX2" fmla="*/ 4733303 w 5812783"/>
              <a:gd name="connsiteY2" fmla="*/ 794363 h 3042887"/>
              <a:gd name="connsiteX3" fmla="*/ 4670002 w 5812783"/>
              <a:gd name="connsiteY3" fmla="*/ 3037652 h 3042887"/>
              <a:gd name="connsiteX4" fmla="*/ 1090693 w 5812783"/>
              <a:gd name="connsiteY4" fmla="*/ 3042887 h 3042887"/>
              <a:gd name="connsiteX5" fmla="*/ 1278070 w 5812783"/>
              <a:gd name="connsiteY5" fmla="*/ 816848 h 3042887"/>
              <a:gd name="connsiteX0" fmla="*/ 1278070 w 5894253"/>
              <a:gd name="connsiteY0" fmla="*/ 816848 h 3042887"/>
              <a:gd name="connsiteX1" fmla="*/ 2199965 w 5894253"/>
              <a:gd name="connsiteY1" fmla="*/ 554520 h 3042887"/>
              <a:gd name="connsiteX2" fmla="*/ 4733303 w 5894253"/>
              <a:gd name="connsiteY2" fmla="*/ 794363 h 3042887"/>
              <a:gd name="connsiteX3" fmla="*/ 4670002 w 5894253"/>
              <a:gd name="connsiteY3" fmla="*/ 3037652 h 3042887"/>
              <a:gd name="connsiteX4" fmla="*/ 1090693 w 5894253"/>
              <a:gd name="connsiteY4" fmla="*/ 3042887 h 3042887"/>
              <a:gd name="connsiteX5" fmla="*/ 1278070 w 5894253"/>
              <a:gd name="connsiteY5" fmla="*/ 816848 h 304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94253" h="3042887">
                <a:moveTo>
                  <a:pt x="1278070" y="816848"/>
                </a:moveTo>
                <a:cubicBezTo>
                  <a:pt x="1465446" y="167274"/>
                  <a:pt x="2080044" y="447091"/>
                  <a:pt x="2199965" y="554520"/>
                </a:cubicBezTo>
                <a:cubicBezTo>
                  <a:pt x="2976955" y="-384863"/>
                  <a:pt x="4353552" y="-12608"/>
                  <a:pt x="4733303" y="794363"/>
                </a:cubicBezTo>
                <a:cubicBezTo>
                  <a:pt x="6240379" y="843022"/>
                  <a:pt x="6343074" y="2920642"/>
                  <a:pt x="4670002" y="3037652"/>
                </a:cubicBezTo>
                <a:lnTo>
                  <a:pt x="1090693" y="3042887"/>
                </a:lnTo>
                <a:cubicBezTo>
                  <a:pt x="-203458" y="3035392"/>
                  <a:pt x="-583208" y="809353"/>
                  <a:pt x="1278070" y="816848"/>
                </a:cubicBezTo>
                <a:close/>
              </a:path>
            </a:pathLst>
          </a:custGeom>
          <a:solidFill>
            <a:schemeClr val="bg1"/>
          </a:solidFill>
          <a:ln w="12700">
            <a:solidFill>
              <a:schemeClr val="accent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252000" rIns="0" bIns="0" numCol="1" spcCol="0" rtlCol="0" fromWordArt="0" anchor="ctr" anchorCtr="0" forceAA="0" compatLnSpc="1">
            <a:prstTxWarp prst="textNoShape">
              <a:avLst/>
            </a:prstTxWarp>
            <a:noAutofit/>
          </a:bodyPr>
          <a:lstStyle/>
          <a:p>
            <a:pPr algn="ctr"/>
            <a:r>
              <a:rPr lang="de-DE" sz="1200" dirty="0">
                <a:solidFill>
                  <a:schemeClr val="tx1"/>
                </a:solidFill>
                <a:latin typeface="Arial" pitchFamily="34" charset="0"/>
                <a:cs typeface="Arial" pitchFamily="34" charset="0"/>
              </a:rPr>
              <a:t>Message Broker</a:t>
            </a:r>
          </a:p>
        </p:txBody>
      </p:sp>
    </p:spTree>
    <p:extLst>
      <p:ext uri="{BB962C8B-B14F-4D97-AF65-F5344CB8AC3E}">
        <p14:creationId xmlns:p14="http://schemas.microsoft.com/office/powerpoint/2010/main" val="144878861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26a6e944beb4ff228629f3e532885d5e2ab5192"/>
</p:tagLst>
</file>

<file path=ppt/tags/tag2.xml><?xml version="1.0" encoding="utf-8"?>
<p:tagLst xmlns:a="http://schemas.openxmlformats.org/drawingml/2006/main" xmlns:r="http://schemas.openxmlformats.org/officeDocument/2006/relationships" xmlns:p="http://schemas.openxmlformats.org/presentationml/2006/main">
  <p:tag name="MIO_GUID" val="c0cc159b-75e6-4e38-8161-94ad6fe0d54f"/>
  <p:tag name="MIO_EK" val="2684"/>
  <p:tag name="MIO_UPDATE" val="True"/>
  <p:tag name="MIO_VERSION" val="07.03.2016 13:38:12"/>
  <p:tag name="MIO_DBID" val="139B19AA-1930-4175-8724-E8A5ED7A2045"/>
  <p:tag name="MIO_LASTDOWNLOADED" val="04.05.2016 08:55:22"/>
  <p:tag name="MIO_OBJECTNAME" val="Cloud"/>
  <p:tag name="MIO_LASTEDITORNAME" val="Anja Scholte"/>
</p:tagLst>
</file>

<file path=ppt/theme/theme1.xml><?xml version="1.0" encoding="utf-8"?>
<a:theme xmlns:a="http://schemas.openxmlformats.org/drawingml/2006/main" name="Beckhoff Slide Master">
  <a:themeElements>
    <a:clrScheme name="Beckhoff_Final_21.11.2013">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w="6350">
          <a:noFill/>
          <a:miter lim="800000"/>
        </a:ln>
      </a:spPr>
      <a:bodyPr lIns="234000" rIns="234000" rtlCol="0" anchor="ctr"/>
      <a:lstStyle>
        <a:defPPr marL="0" indent="0" algn="ctr">
          <a:buFont typeface="Wingdings" panose="05000000000000000000" pitchFamily="2" charset="2"/>
          <a:buNone/>
          <a:defRPr sz="2200" dirty="0" smtClean="0">
            <a:solidFill>
              <a:schemeClr val="bg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16-9_widescreen.potx" id="{EDB9DAFB-3505-4DE4-A232-9C89D76CD96D}" vid="{CFA5A39A-0228-493A-804E-685F8D17D969}"/>
    </a:ext>
  </a:extLst>
</a:theme>
</file>

<file path=ppt/theme/theme2.xml><?xml version="1.0" encoding="utf-8"?>
<a:theme xmlns:a="http://schemas.openxmlformats.org/drawingml/2006/main" name="Beckhoff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räsentation1" id="{3414D71D-22CF-4FF3-9B19-2D74093ED22C}" vid="{B36457BF-010A-4992-888B-A87F643354E0}"/>
    </a:ext>
  </a:extLst>
</a:theme>
</file>

<file path=ppt/theme/theme3.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86405C"/>
        </a:solidFill>
        <a:ln w="6350">
          <a:solidFill>
            <a:schemeClr val="tx1"/>
          </a:solidFill>
        </a:ln>
        <a:effectLst>
          <a:outerShdw blurRad="50800" dist="38100" dir="2700000" algn="tl" rotWithShape="0">
            <a:prstClr val="black">
              <a:alpha val="40000"/>
            </a:prstClr>
          </a:outerShdw>
        </a:effectLst>
      </a:spPr>
      <a:bodyPr lIns="0" tIns="0" rIns="0" bIns="432000" rtlCol="0" anchor="ctr"/>
      <a:lstStyle>
        <a:defPPr algn="ctr">
          <a:defRPr sz="800" dirty="0">
            <a:solidFill>
              <a:schemeClr val="bg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4.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E8B8A8C869DAC45A3308583CE5028F7" ma:contentTypeVersion="13" ma:contentTypeDescription="Create a new document." ma:contentTypeScope="" ma:versionID="76f635c9abd56161f8dd12e2b5b22287">
  <xsd:schema xmlns:xsd="http://www.w3.org/2001/XMLSchema" xmlns:xs="http://www.w3.org/2001/XMLSchema" xmlns:p="http://schemas.microsoft.com/office/2006/metadata/properties" xmlns:ns2="50554d83-e1eb-46cf-a385-a4b2f5d60db3" xmlns:ns3="48910432-6e73-4eb6-b47b-5c01b7c529a8" targetNamespace="http://schemas.microsoft.com/office/2006/metadata/properties" ma:root="true" ma:fieldsID="fb47922a711f3c40bfe604b9db53bda5" ns2:_="" ns3:_="">
    <xsd:import namespace="50554d83-e1eb-46cf-a385-a4b2f5d60db3"/>
    <xsd:import namespace="48910432-6e73-4eb6-b47b-5c01b7c529a8"/>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554d83-e1eb-46cf-a385-a4b2f5d60db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73d50ce3-5cc2-4a5a-9430-b625d6ec44d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8910432-6e73-4eb6-b47b-5c01b7c529a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3f5048d-e608-4158-840c-57eba13568d3}" ma:internalName="TaxCatchAll" ma:showField="CatchAllData" ma:web="48910432-6e73-4eb6-b47b-5c01b7c529a8">
      <xsd:complexType>
        <xsd:complexContent>
          <xsd:extension base="dms:MultiChoiceLookup">
            <xsd:sequence>
              <xsd:element name="Value" type="dms:Lookup" maxOccurs="unbounded" minOccurs="0" nillable="true"/>
            </xsd:sequence>
          </xsd:extension>
        </xsd:complexContent>
      </xsd:complexType>
    </xsd:element>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554d83-e1eb-46cf-a385-a4b2f5d60db3">
      <Terms xmlns="http://schemas.microsoft.com/office/infopath/2007/PartnerControls"/>
    </lcf76f155ced4ddcb4097134ff3c332f>
    <TaxCatchAll xmlns="48910432-6e73-4eb6-b47b-5c01b7c529a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5C5C3EA-BCF0-440A-9263-E2B5A6F26CCE}">
  <ds:schemaRefs>
    <ds:schemaRef ds:uri="48910432-6e73-4eb6-b47b-5c01b7c529a8"/>
    <ds:schemaRef ds:uri="50554d83-e1eb-46cf-a385-a4b2f5d60db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61F96E80-E3E3-4592-906C-959B0C62C11C}">
  <ds:schemaRefs>
    <ds:schemaRef ds:uri="48910432-6e73-4eb6-b47b-5c01b7c529a8"/>
    <ds:schemaRef ds:uri="50554d83-e1eb-46cf-a385-a4b2f5d60db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D89510FD-5460-4883-A42B-0CDAFB33693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Beckhoff_Slide_Master_16x9</Template>
  <TotalTime>841</TotalTime>
  <Words>1487</Words>
  <Application>Microsoft Office PowerPoint</Application>
  <PresentationFormat>Widescreen</PresentationFormat>
  <Paragraphs>315</Paragraphs>
  <Slides>11</Slides>
  <Notes>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11</vt:i4>
      </vt:variant>
    </vt:vector>
  </HeadingPairs>
  <TitlesOfParts>
    <vt:vector size="20" baseType="lpstr">
      <vt:lpstr>Arial</vt:lpstr>
      <vt:lpstr>Calibri</vt:lpstr>
      <vt:lpstr>Consolas</vt:lpstr>
      <vt:lpstr>Symbol</vt:lpstr>
      <vt:lpstr>Wingdings</vt:lpstr>
      <vt:lpstr>ヒラギノ角ゴ Pro W3</vt:lpstr>
      <vt:lpstr>Beckhoff Slide Master</vt:lpstr>
      <vt:lpstr>Beckhoff Slide Master</vt:lpstr>
      <vt:lpstr>Beckhoff Standard Slide Master</vt:lpstr>
      <vt:lpstr>Automation Communication Protocols</vt:lpstr>
      <vt:lpstr>TwinCAT Connectivity Big Picture</vt:lpstr>
      <vt:lpstr>TwinCAT IoT product overview</vt:lpstr>
      <vt:lpstr>TwinCAT Connectivity MQTT</vt:lpstr>
      <vt:lpstr>TwinCAT Connectivity Traditional MES Communication Model</vt:lpstr>
      <vt:lpstr>TwinCAT Connectivity Broker Pub/Sub Model</vt:lpstr>
      <vt:lpstr>TwinCAT Connectivity QoS and Retain</vt:lpstr>
      <vt:lpstr>TwinCAT Connectivity Broker Scalability</vt:lpstr>
      <vt:lpstr>TF6105 | TC3 OPC UA Pub/Sub</vt:lpstr>
      <vt:lpstr>Client/Server vs. Pub/Sub</vt:lpstr>
      <vt:lpstr>Should I use OPC UA Pub/Sub or MQTT?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TwinCAT IoT</dc:title>
  <dc:creator>Sven Goldstein</dc:creator>
  <cp:lastModifiedBy>Alyssa Dedolph</cp:lastModifiedBy>
  <cp:revision>265</cp:revision>
  <cp:lastPrinted>2016-06-28T12:26:43Z</cp:lastPrinted>
  <dcterms:created xsi:type="dcterms:W3CDTF">2019-03-04T12:28:34Z</dcterms:created>
  <dcterms:modified xsi:type="dcterms:W3CDTF">2026-06-02T13:06:30Z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0x0101002E8B8A8C869DAC45A3308583CE5028F7</vt:lpwstr>
  </property>
  <property fmtid="{D5CDD505-2E9C-101B-9397-08002B2CF9AE}" pid="3" name="MediaServiceImageTags">
    <vt:lpwstr/>
  </property>
</Properties>
</file>