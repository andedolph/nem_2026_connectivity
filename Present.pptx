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4"/>
    <p:sldMasterId id="2147483831" r:id="rId5"/>
    <p:sldMasterId id="2147483857" r:id="rId6"/>
  </p:sldMasterIdLst>
  <p:notesMasterIdLst>
    <p:notesMasterId r:id="rId26"/>
  </p:notesMasterIdLst>
  <p:handoutMasterIdLst>
    <p:handoutMasterId r:id="rId27"/>
  </p:handoutMasterIdLst>
  <p:sldIdLst>
    <p:sldId id="522" r:id="rId7"/>
    <p:sldId id="5692" r:id="rId8"/>
    <p:sldId id="5708" r:id="rId9"/>
    <p:sldId id="5693" r:id="rId10"/>
    <p:sldId id="5697" r:id="rId11"/>
    <p:sldId id="5698" r:id="rId12"/>
    <p:sldId id="5705" r:id="rId13"/>
    <p:sldId id="5694" r:id="rId14"/>
    <p:sldId id="5699" r:id="rId15"/>
    <p:sldId id="563" r:id="rId16"/>
    <p:sldId id="5700" r:id="rId17"/>
    <p:sldId id="5703" r:id="rId18"/>
    <p:sldId id="5706" r:id="rId19"/>
    <p:sldId id="558" r:id="rId20"/>
    <p:sldId id="5702" r:id="rId21"/>
    <p:sldId id="5879" r:id="rId22"/>
    <p:sldId id="5897" r:id="rId23"/>
    <p:sldId id="5894" r:id="rId24"/>
    <p:sldId id="5609" r:id="rId25"/>
  </p:sldIdLst>
  <p:sldSz cx="12192000" cy="6858000"/>
  <p:notesSz cx="6797675" cy="9926638"/>
  <p:custDataLst>
    <p:tags r:id="rId28"/>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1CD6AE-7EEB-4A53-85E2-0A8FA4D8B673}">
          <p14:sldIdLst>
            <p14:sldId id="522"/>
            <p14:sldId id="5692"/>
            <p14:sldId id="5708"/>
            <p14:sldId id="5693"/>
            <p14:sldId id="5697"/>
            <p14:sldId id="5698"/>
            <p14:sldId id="5705"/>
            <p14:sldId id="5694"/>
            <p14:sldId id="5699"/>
            <p14:sldId id="563"/>
            <p14:sldId id="5700"/>
            <p14:sldId id="5703"/>
            <p14:sldId id="5706"/>
            <p14:sldId id="558"/>
            <p14:sldId id="5702"/>
            <p14:sldId id="5879"/>
            <p14:sldId id="5897"/>
            <p14:sldId id="5894"/>
            <p14:sldId id="560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BCCA"/>
    <a:srgbClr val="80A44B"/>
    <a:srgbClr val="CBD1D4"/>
    <a:srgbClr val="4E6899"/>
    <a:srgbClr val="86405C"/>
    <a:srgbClr val="6B9D4A"/>
    <a:srgbClr val="EECB36"/>
    <a:srgbClr val="D0553A"/>
    <a:srgbClr val="6095F1"/>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61FD74-8E91-4FA7-A615-C7B8B3BCB965}" v="14" dt="2024-03-05T15:07:34.297"/>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542" autoAdjust="0"/>
  </p:normalViewPr>
  <p:slideViewPr>
    <p:cSldViewPr snapToGrid="0">
      <p:cViewPr varScale="1">
        <p:scale>
          <a:sx n="66" d="100"/>
          <a:sy n="66" d="100"/>
        </p:scale>
        <p:origin x="1301" y="53"/>
      </p:cViewPr>
      <p:guideLst/>
    </p:cSldViewPr>
  </p:slideViewPr>
  <p:notesTextViewPr>
    <p:cViewPr>
      <p:scale>
        <a:sx n="3" d="2"/>
        <a:sy n="3" d="2"/>
      </p:scale>
      <p:origin x="0" y="0"/>
    </p:cViewPr>
  </p:notesTextViewPr>
  <p:notesViewPr>
    <p:cSldViewPr snapToGrid="0">
      <p:cViewPr varScale="1">
        <p:scale>
          <a:sx n="66" d="100"/>
          <a:sy n="66" d="100"/>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ags" Target="tags/tag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ip Ehlers" userId="4fd2640c-ca70-4caa-9093-515fea07faaf" providerId="ADAL" clId="{3D61FD74-8E91-4FA7-A615-C7B8B3BCB965}"/>
    <pc:docChg chg="custSel addSld modSld">
      <pc:chgData name="Philip Ehlers" userId="4fd2640c-ca70-4caa-9093-515fea07faaf" providerId="ADAL" clId="{3D61FD74-8E91-4FA7-A615-C7B8B3BCB965}" dt="2024-03-05T15:07:34.296" v="45" actId="1076"/>
      <pc:docMkLst>
        <pc:docMk/>
      </pc:docMkLst>
      <pc:sldChg chg="addSp delSp modSp">
        <pc:chgData name="Philip Ehlers" userId="4fd2640c-ca70-4caa-9093-515fea07faaf" providerId="ADAL" clId="{3D61FD74-8E91-4FA7-A615-C7B8B3BCB965}" dt="2024-02-21T17:18:26.225" v="27" actId="478"/>
        <pc:sldMkLst>
          <pc:docMk/>
          <pc:sldMk cId="4015238678" sldId="5611"/>
        </pc:sldMkLst>
        <pc:picChg chg="add del mod">
          <ac:chgData name="Philip Ehlers" userId="4fd2640c-ca70-4caa-9093-515fea07faaf" providerId="ADAL" clId="{3D61FD74-8E91-4FA7-A615-C7B8B3BCB965}" dt="2024-02-21T17:18:26.225" v="27" actId="478"/>
          <ac:picMkLst>
            <pc:docMk/>
            <pc:sldMk cId="4015238678" sldId="5611"/>
            <ac:picMk id="1026" creationId="{BF516B3F-5D7F-DB32-E4F5-843EF8244523}"/>
          </ac:picMkLst>
        </pc:picChg>
      </pc:sldChg>
      <pc:sldChg chg="addSp delSp modSp mod">
        <pc:chgData name="Philip Ehlers" userId="4fd2640c-ca70-4caa-9093-515fea07faaf" providerId="ADAL" clId="{3D61FD74-8E91-4FA7-A615-C7B8B3BCB965}" dt="2024-03-05T15:07:34.296" v="45" actId="1076"/>
        <pc:sldMkLst>
          <pc:docMk/>
          <pc:sldMk cId="2844886500" sldId="5612"/>
        </pc:sldMkLst>
        <pc:picChg chg="add del">
          <ac:chgData name="Philip Ehlers" userId="4fd2640c-ca70-4caa-9093-515fea07faaf" providerId="ADAL" clId="{3D61FD74-8E91-4FA7-A615-C7B8B3BCB965}" dt="2024-02-21T17:30:51.442" v="38" actId="478"/>
          <ac:picMkLst>
            <pc:docMk/>
            <pc:sldMk cId="2844886500" sldId="5612"/>
            <ac:picMk id="10" creationId="{8EF94313-4EB8-0435-6C7D-8F7A599FF7E8}"/>
          </ac:picMkLst>
        </pc:picChg>
        <pc:picChg chg="add del mod">
          <ac:chgData name="Philip Ehlers" userId="4fd2640c-ca70-4caa-9093-515fea07faaf" providerId="ADAL" clId="{3D61FD74-8E91-4FA7-A615-C7B8B3BCB965}" dt="2024-02-21T17:30:50.177" v="37" actId="478"/>
          <ac:picMkLst>
            <pc:docMk/>
            <pc:sldMk cId="2844886500" sldId="5612"/>
            <ac:picMk id="32" creationId="{F4493CD8-62D4-85F8-4F05-B05688C94F33}"/>
          </ac:picMkLst>
        </pc:picChg>
        <pc:picChg chg="add mod">
          <ac:chgData name="Philip Ehlers" userId="4fd2640c-ca70-4caa-9093-515fea07faaf" providerId="ADAL" clId="{3D61FD74-8E91-4FA7-A615-C7B8B3BCB965}" dt="2024-03-05T15:07:34.296" v="45" actId="1076"/>
          <ac:picMkLst>
            <pc:docMk/>
            <pc:sldMk cId="2844886500" sldId="5612"/>
            <ac:picMk id="2050" creationId="{C4D1CB13-036C-E83A-3955-59FE5334743E}"/>
          </ac:picMkLst>
        </pc:picChg>
      </pc:sldChg>
      <pc:sldChg chg="addSp delSp modSp mod">
        <pc:chgData name="Philip Ehlers" userId="4fd2640c-ca70-4caa-9093-515fea07faaf" providerId="ADAL" clId="{3D61FD74-8E91-4FA7-A615-C7B8B3BCB965}" dt="2024-03-05T15:05:31.875" v="43" actId="478"/>
        <pc:sldMkLst>
          <pc:docMk/>
          <pc:sldMk cId="847096907" sldId="5613"/>
        </pc:sldMkLst>
        <pc:spChg chg="add del mod">
          <ac:chgData name="Philip Ehlers" userId="4fd2640c-ca70-4caa-9093-515fea07faaf" providerId="ADAL" clId="{3D61FD74-8E91-4FA7-A615-C7B8B3BCB965}" dt="2024-03-05T15:05:31.875" v="43" actId="478"/>
          <ac:spMkLst>
            <pc:docMk/>
            <pc:sldMk cId="847096907" sldId="5613"/>
            <ac:spMk id="7" creationId="{B35EC927-07A6-4DD0-412A-4C023A64990C}"/>
          </ac:spMkLst>
        </pc:spChg>
      </pc:sldChg>
      <pc:sldChg chg="modSp add mod">
        <pc:chgData name="Philip Ehlers" userId="4fd2640c-ca70-4caa-9093-515fea07faaf" providerId="ADAL" clId="{3D61FD74-8E91-4FA7-A615-C7B8B3BCB965}" dt="2024-02-21T17:34:12.932" v="41" actId="1076"/>
        <pc:sldMkLst>
          <pc:docMk/>
          <pc:sldMk cId="640505491" sldId="5614"/>
        </pc:sldMkLst>
        <pc:picChg chg="mod">
          <ac:chgData name="Philip Ehlers" userId="4fd2640c-ca70-4caa-9093-515fea07faaf" providerId="ADAL" clId="{3D61FD74-8E91-4FA7-A615-C7B8B3BCB965}" dt="2024-02-21T17:34:12.932" v="41" actId="1076"/>
          <ac:picMkLst>
            <pc:docMk/>
            <pc:sldMk cId="640505491" sldId="5614"/>
            <ac:picMk id="10" creationId="{71D7AFF3-58FA-3341-8483-273CA5D2C0FF}"/>
          </ac:picMkLst>
        </pc:picChg>
        <pc:picChg chg="mod">
          <ac:chgData name="Philip Ehlers" userId="4fd2640c-ca70-4caa-9093-515fea07faaf" providerId="ADAL" clId="{3D61FD74-8E91-4FA7-A615-C7B8B3BCB965}" dt="2024-02-21T17:34:05.116" v="39" actId="14100"/>
          <ac:picMkLst>
            <pc:docMk/>
            <pc:sldMk cId="640505491" sldId="5614"/>
            <ac:picMk id="32" creationId="{64427F02-16C3-C778-B9AE-EDF083C5741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r>
              <a:rPr lang="de-DE"/>
              <a:t>Text der Kopfzeile</a:t>
            </a:r>
          </a:p>
        </p:txBody>
      </p:sp>
      <p:sp>
        <p:nvSpPr>
          <p:cNvPr id="3" name="Datumsplatzhalter 2"/>
          <p:cNvSpPr>
            <a:spLocks noGrp="1"/>
          </p:cNvSpPr>
          <p:nvPr>
            <p:ph type="dt" sz="quarter" idx="1"/>
          </p:nvPr>
        </p:nvSpPr>
        <p:spPr>
          <a:xfrm>
            <a:off x="3850445" y="1"/>
            <a:ext cx="2945659" cy="496332"/>
          </a:xfrm>
          <a:prstGeom prst="rect">
            <a:avLst/>
          </a:prstGeom>
        </p:spPr>
        <p:txBody>
          <a:bodyPr vert="horz" lIns="91432" tIns="45716" rIns="91432" bIns="45716" rtlCol="0"/>
          <a:lstStyle>
            <a:lvl1pPr algn="r">
              <a:defRPr sz="1200"/>
            </a:lvl1pPr>
          </a:lstStyle>
          <a:p>
            <a:fld id="{479014F1-9E12-4B6E-9C7D-5791D88CEEC3}" type="datetime1">
              <a:rPr lang="de-DE" smtClean="0"/>
              <a:t>04.06.2026</a:t>
            </a:fld>
            <a:endParaRPr lang="de-DE"/>
          </a:p>
        </p:txBody>
      </p:sp>
      <p:sp>
        <p:nvSpPr>
          <p:cNvPr id="4" name="Fußzeilenplatzhalter 3"/>
          <p:cNvSpPr>
            <a:spLocks noGrp="1"/>
          </p:cNvSpPr>
          <p:nvPr>
            <p:ph type="ftr" sz="quarter" idx="2"/>
          </p:nvPr>
        </p:nvSpPr>
        <p:spPr>
          <a:xfrm>
            <a:off x="1" y="9428584"/>
            <a:ext cx="2945659" cy="496332"/>
          </a:xfrm>
          <a:prstGeom prst="rect">
            <a:avLst/>
          </a:prstGeom>
        </p:spPr>
        <p:txBody>
          <a:bodyPr vert="horz" lIns="91432" tIns="45716" rIns="91432" bIns="45716" rtlCol="0" anchor="b"/>
          <a:lstStyle>
            <a:lvl1pPr algn="l">
              <a:defRPr sz="1200"/>
            </a:lvl1pPr>
          </a:lstStyle>
          <a:p>
            <a:r>
              <a:rPr lang="de-DE"/>
              <a:t>Text der Fußzeile</a:t>
            </a:r>
          </a:p>
        </p:txBody>
      </p:sp>
      <p:sp>
        <p:nvSpPr>
          <p:cNvPr id="5" name="Foliennummernplatzhalter 4"/>
          <p:cNvSpPr>
            <a:spLocks noGrp="1"/>
          </p:cNvSpPr>
          <p:nvPr>
            <p:ph type="sldNum" sz="quarter" idx="3"/>
          </p:nvPr>
        </p:nvSpPr>
        <p:spPr>
          <a:xfrm>
            <a:off x="3850445" y="9428584"/>
            <a:ext cx="2945659" cy="496332"/>
          </a:xfrm>
          <a:prstGeom prst="rect">
            <a:avLst/>
          </a:prstGeom>
        </p:spPr>
        <p:txBody>
          <a:bodyPr vert="horz" lIns="91432" tIns="45716" rIns="91432" bIns="45716" rtlCol="0" anchor="b"/>
          <a:lstStyle>
            <a:lvl1pPr algn="r">
              <a:defRPr sz="1200"/>
            </a:lvl1pPr>
          </a:lstStyle>
          <a:p>
            <a:fld id="{D584D4DD-0EAA-4244-BC03-ECEA8EDC466D}" type="slidenum">
              <a:rPr lang="de-DE" smtClean="0"/>
              <a:t>‹#›</a:t>
            </a:fld>
            <a:endParaRPr lang="de-DE"/>
          </a:p>
        </p:txBody>
      </p:sp>
    </p:spTree>
    <p:extLst>
      <p:ext uri="{BB962C8B-B14F-4D97-AF65-F5344CB8AC3E}">
        <p14:creationId xmlns:p14="http://schemas.microsoft.com/office/powerpoint/2010/main" val="298779154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liennummernplatzhalter 6"/>
          <p:cNvSpPr>
            <a:spLocks noGrp="1"/>
          </p:cNvSpPr>
          <p:nvPr>
            <p:ph type="sldNum" sz="quarter" idx="5"/>
          </p:nvPr>
        </p:nvSpPr>
        <p:spPr>
          <a:xfrm>
            <a:off x="2972211" y="9428584"/>
            <a:ext cx="853252" cy="496332"/>
          </a:xfrm>
          <a:prstGeom prst="rect">
            <a:avLst/>
          </a:prstGeom>
        </p:spPr>
        <p:txBody>
          <a:bodyPr vert="horz" lIns="91432" tIns="45716" rIns="91432" bIns="45716" rtlCol="0" anchor="b"/>
          <a:lstStyle>
            <a:lvl1pPr algn="ctr">
              <a:defRPr sz="1200">
                <a:solidFill>
                  <a:schemeClr val="bg2"/>
                </a:solidFill>
              </a:defRPr>
            </a:lvl1pPr>
          </a:lstStyle>
          <a:p>
            <a:fld id="{B280112D-8454-448C-8A04-1F3237E367D5}" type="slidenum">
              <a:rPr lang="de-DE" smtClean="0"/>
              <a:pPr/>
              <a:t>‹#›</a:t>
            </a:fld>
            <a:endParaRPr lang="de-DE"/>
          </a:p>
        </p:txBody>
      </p:sp>
      <p:sp>
        <p:nvSpPr>
          <p:cNvPr id="3" name="Datumsplatzhalter 2"/>
          <p:cNvSpPr>
            <a:spLocks noGrp="1"/>
          </p:cNvSpPr>
          <p:nvPr>
            <p:ph type="dt" idx="1"/>
          </p:nvPr>
        </p:nvSpPr>
        <p:spPr>
          <a:xfrm>
            <a:off x="3850445" y="9430306"/>
            <a:ext cx="2945659" cy="496332"/>
          </a:xfrm>
          <a:prstGeom prst="rect">
            <a:avLst/>
          </a:prstGeom>
        </p:spPr>
        <p:txBody>
          <a:bodyPr vert="horz" lIns="91432" tIns="45716" rIns="179985" bIns="45716" rtlCol="0" anchor="b"/>
          <a:lstStyle>
            <a:lvl1pPr algn="r">
              <a:defRPr sz="1000">
                <a:solidFill>
                  <a:schemeClr val="bg2"/>
                </a:solidFill>
              </a:defRPr>
            </a:lvl1pPr>
          </a:lstStyle>
          <a:p>
            <a:fld id="{2580E220-EDF6-4D26-8ABA-677BA55902A8}" type="datetime1">
              <a:rPr lang="de-DE" smtClean="0"/>
              <a:pPr/>
              <a:t>04.06.2026</a:t>
            </a:fld>
            <a:endParaRPr lang="de-DE"/>
          </a:p>
        </p:txBody>
      </p:sp>
      <p:sp>
        <p:nvSpPr>
          <p:cNvPr id="4" name="Folienbildplatzhalter 3"/>
          <p:cNvSpPr>
            <a:spLocks noGrp="1" noRot="1" noChangeAspect="1"/>
          </p:cNvSpPr>
          <p:nvPr>
            <p:ph type="sldImg" idx="2"/>
          </p:nvPr>
        </p:nvSpPr>
        <p:spPr>
          <a:xfrm>
            <a:off x="44" y="0"/>
            <a:ext cx="6796059" cy="3823379"/>
          </a:xfrm>
          <a:prstGeom prst="rect">
            <a:avLst/>
          </a:prstGeom>
          <a:noFill/>
          <a:ln w="6350">
            <a:solidFill>
              <a:schemeClr val="tx2"/>
            </a:solidFill>
          </a:ln>
        </p:spPr>
        <p:txBody>
          <a:bodyPr vert="horz" lIns="91432" tIns="45716" rIns="91432" bIns="45716" rtlCol="0" anchor="ctr"/>
          <a:lstStyle/>
          <a:p>
            <a:endParaRPr lang="de-DE"/>
          </a:p>
        </p:txBody>
      </p:sp>
      <p:sp>
        <p:nvSpPr>
          <p:cNvPr id="6" name="Fußzeilenplatzhalter 5"/>
          <p:cNvSpPr>
            <a:spLocks noGrp="1"/>
          </p:cNvSpPr>
          <p:nvPr>
            <p:ph type="ftr" sz="quarter" idx="4"/>
          </p:nvPr>
        </p:nvSpPr>
        <p:spPr>
          <a:xfrm>
            <a:off x="1" y="9428584"/>
            <a:ext cx="2945659" cy="496332"/>
          </a:xfrm>
          <a:prstGeom prst="rect">
            <a:avLst/>
          </a:prstGeom>
        </p:spPr>
        <p:txBody>
          <a:bodyPr vert="horz" lIns="179985" tIns="45716" rIns="91432" bIns="45716" rtlCol="0" anchor="b"/>
          <a:lstStyle>
            <a:lvl1pPr algn="l">
              <a:defRPr sz="1000">
                <a:solidFill>
                  <a:schemeClr val="bg2"/>
                </a:solidFill>
              </a:defRPr>
            </a:lvl1pPr>
          </a:lstStyle>
          <a:p>
            <a:r>
              <a:rPr lang="de-DE"/>
              <a:t>Text der Fußzeile</a:t>
            </a:r>
          </a:p>
        </p:txBody>
      </p:sp>
      <p:cxnSp>
        <p:nvCxnSpPr>
          <p:cNvPr id="9" name="Gerader Verbinder 8"/>
          <p:cNvCxnSpPr/>
          <p:nvPr/>
        </p:nvCxnSpPr>
        <p:spPr>
          <a:xfrm>
            <a:off x="1" y="9430306"/>
            <a:ext cx="679767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Notizenplatzhalter 4"/>
          <p:cNvSpPr>
            <a:spLocks noGrp="1"/>
          </p:cNvSpPr>
          <p:nvPr>
            <p:ph type="body" sz="quarter" idx="3"/>
          </p:nvPr>
        </p:nvSpPr>
        <p:spPr>
          <a:xfrm>
            <a:off x="1" y="3823379"/>
            <a:ext cx="6796102" cy="5606927"/>
          </a:xfrm>
          <a:prstGeom prst="rect">
            <a:avLst/>
          </a:prstGeom>
        </p:spPr>
        <p:txBody>
          <a:bodyPr vert="horz" lIns="252000" tIns="190784" rIns="179985" bIns="45716"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620462188"/>
      </p:ext>
    </p:extLst>
  </p:cSld>
  <p:clrMap bg1="lt1" tx1="dk1" bg2="lt2" tx2="dk2" accent1="accent1" accent2="accent2" accent3="accent3" accent4="accent4" accent5="accent5" accent6="accent6" hlink="hlink" folHlink="folHlink"/>
  <p:hf/>
  <p:notesStyle>
    <a:lvl1pPr marL="180000" indent="-180000" algn="l" defTabSz="914400" rtl="0" eaLnBrk="1" latinLnBrk="0" hangingPunct="1">
      <a:buFont typeface="Wingdings" panose="05000000000000000000" pitchFamily="2" charset="2"/>
      <a:buChar char="§"/>
      <a:defRPr sz="1200" kern="1200">
        <a:solidFill>
          <a:schemeClr val="tx1"/>
        </a:solidFill>
        <a:latin typeface="+mn-lt"/>
        <a:ea typeface="+mn-ea"/>
        <a:cs typeface="+mn-cs"/>
      </a:defRPr>
    </a:lvl1pPr>
    <a:lvl2pPr marL="378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2pPr>
    <a:lvl3pPr marL="576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3pPr>
    <a:lvl4pPr marL="774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4pPr>
    <a:lvl5pPr marL="972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80112D-8454-448C-8A04-1F3237E367D5}" type="slidenum">
              <a:rPr lang="de-DE" smtClean="0"/>
              <a:pPr/>
              <a:t>2</a:t>
            </a:fld>
            <a:endParaRPr lang="de-DE" dirty="0"/>
          </a:p>
        </p:txBody>
      </p:sp>
      <p:sp>
        <p:nvSpPr>
          <p:cNvPr id="5" name="Date Placeholder 4"/>
          <p:cNvSpPr>
            <a:spLocks noGrp="1"/>
          </p:cNvSpPr>
          <p:nvPr>
            <p:ph type="dt" idx="1"/>
          </p:nvPr>
        </p:nvSpPr>
        <p:spPr/>
        <p:txBody>
          <a:bodyPr/>
          <a:lstStyle/>
          <a:p>
            <a:fld id="{2580E220-EDF6-4D26-8ABA-677BA55902A8}" type="datetime1">
              <a:rPr lang="de-DE" smtClean="0"/>
              <a:pPr/>
              <a:t>04.06.2026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367762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80112D-8454-448C-8A04-1F3237E367D5}" type="slidenum">
              <a:rPr lang="de-DE" smtClean="0"/>
              <a:pPr/>
              <a:t>4</a:t>
            </a:fld>
            <a:endParaRPr lang="de-DE" dirty="0"/>
          </a:p>
        </p:txBody>
      </p:sp>
      <p:sp>
        <p:nvSpPr>
          <p:cNvPr id="5" name="Date Placeholder 4"/>
          <p:cNvSpPr>
            <a:spLocks noGrp="1"/>
          </p:cNvSpPr>
          <p:nvPr>
            <p:ph type="dt" idx="1"/>
          </p:nvPr>
        </p:nvSpPr>
        <p:spPr/>
        <p:txBody>
          <a:bodyPr/>
          <a:lstStyle/>
          <a:p>
            <a:fld id="{2580E220-EDF6-4D26-8ABA-677BA55902A8}" type="datetime1">
              <a:rPr lang="de-DE" smtClean="0"/>
              <a:pPr/>
              <a:t>04.06.2026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4248465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80112D-8454-448C-8A04-1F3237E367D5}" type="slidenum">
              <a:rPr lang="de-DE" smtClean="0"/>
              <a:pPr/>
              <a:t>5</a:t>
            </a:fld>
            <a:endParaRPr lang="de-DE" dirty="0"/>
          </a:p>
        </p:txBody>
      </p:sp>
      <p:sp>
        <p:nvSpPr>
          <p:cNvPr id="5" name="Date Placeholder 4"/>
          <p:cNvSpPr>
            <a:spLocks noGrp="1"/>
          </p:cNvSpPr>
          <p:nvPr>
            <p:ph type="dt" idx="1"/>
          </p:nvPr>
        </p:nvSpPr>
        <p:spPr/>
        <p:txBody>
          <a:bodyPr/>
          <a:lstStyle/>
          <a:p>
            <a:fld id="{2580E220-EDF6-4D26-8ABA-677BA55902A8}" type="datetime1">
              <a:rPr lang="de-DE" smtClean="0"/>
              <a:pPr/>
              <a:t>04.06.2026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593963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280112D-8454-448C-8A04-1F3237E367D5}" type="slidenum">
              <a:rPr lang="de-DE" smtClean="0"/>
              <a:pPr/>
              <a:t>6</a:t>
            </a:fld>
            <a:endParaRPr lang="de-DE" dirty="0"/>
          </a:p>
        </p:txBody>
      </p:sp>
      <p:sp>
        <p:nvSpPr>
          <p:cNvPr id="5" name="Date Placeholder 4"/>
          <p:cNvSpPr>
            <a:spLocks noGrp="1"/>
          </p:cNvSpPr>
          <p:nvPr>
            <p:ph type="dt" idx="1"/>
          </p:nvPr>
        </p:nvSpPr>
        <p:spPr/>
        <p:txBody>
          <a:bodyPr/>
          <a:lstStyle/>
          <a:p>
            <a:fld id="{2580E220-EDF6-4D26-8ABA-677BA55902A8}" type="datetime1">
              <a:rPr lang="de-DE" smtClean="0"/>
              <a:pPr/>
              <a:t>04.06.2026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545264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pPr algn="l"/>
            <a:r>
              <a:rPr lang="en-US" b="1" i="0" dirty="0">
                <a:solidFill>
                  <a:srgbClr val="000000"/>
                </a:solidFill>
                <a:effectLst/>
                <a:highlight>
                  <a:srgbClr val="FFFFFF"/>
                </a:highlight>
                <a:latin typeface="Arial" panose="020B0604020202020204" pitchFamily="34" charset="0"/>
              </a:rPr>
              <a:t>QoS level 0</a:t>
            </a:r>
            <a:endParaRPr lang="en-US" b="0" i="0" dirty="0">
              <a:solidFill>
                <a:srgbClr val="000000"/>
              </a:solidFill>
              <a:effectLst/>
              <a:highlight>
                <a:srgbClr val="FFFFFF"/>
              </a:highlight>
              <a:latin typeface="Arial" panose="020B0604020202020204" pitchFamily="34" charset="0"/>
            </a:endParaRPr>
          </a:p>
          <a:p>
            <a:pPr algn="l"/>
            <a:r>
              <a:rPr lang="en-US" b="0" i="0" dirty="0">
                <a:solidFill>
                  <a:srgbClr val="000000"/>
                </a:solidFill>
                <a:effectLst/>
                <a:highlight>
                  <a:srgbClr val="FFFFFF"/>
                </a:highlight>
                <a:latin typeface="Arial" panose="020B0604020202020204" pitchFamily="34" charset="0"/>
              </a:rPr>
              <a:t>At this QoS level the receiver does not acknowledge receipt. The message is not sent a second time.</a:t>
            </a:r>
          </a:p>
          <a:p>
            <a:pPr algn="l"/>
            <a:endParaRPr lang="en-US" b="1" i="0" dirty="0">
              <a:solidFill>
                <a:srgbClr val="000000"/>
              </a:solidFill>
              <a:effectLst/>
              <a:highlight>
                <a:srgbClr val="FFFFFF"/>
              </a:highlight>
              <a:latin typeface="Arial" panose="020B0604020202020204" pitchFamily="34" charset="0"/>
            </a:endParaRPr>
          </a:p>
          <a:p>
            <a:pPr algn="l"/>
            <a:r>
              <a:rPr lang="en-US" b="1" i="0" dirty="0">
                <a:solidFill>
                  <a:srgbClr val="000000"/>
                </a:solidFill>
                <a:effectLst/>
                <a:highlight>
                  <a:srgbClr val="FFFFFF"/>
                </a:highlight>
                <a:latin typeface="Arial" panose="020B0604020202020204" pitchFamily="34" charset="0"/>
              </a:rPr>
              <a:t>QoS level 1</a:t>
            </a:r>
            <a:endParaRPr lang="en-US" b="0" i="0" dirty="0">
              <a:solidFill>
                <a:srgbClr val="000000"/>
              </a:solidFill>
              <a:effectLst/>
              <a:highlight>
                <a:srgbClr val="FFFFFF"/>
              </a:highlight>
              <a:latin typeface="Arial" panose="020B0604020202020204" pitchFamily="34" charset="0"/>
            </a:endParaRPr>
          </a:p>
          <a:p>
            <a:pPr algn="l"/>
            <a:r>
              <a:rPr lang="en-US" b="0" i="0" dirty="0">
                <a:solidFill>
                  <a:srgbClr val="000000"/>
                </a:solidFill>
                <a:effectLst/>
                <a:highlight>
                  <a:srgbClr val="FFFFFF"/>
                </a:highlight>
                <a:latin typeface="Arial" panose="020B0604020202020204" pitchFamily="34" charset="0"/>
              </a:rPr>
              <a:t>At this QoS level the system guarantees that the message arrives at the receiver at least once, although the message may arrive more than once. The sender stores the message internally until it has received an acknowledgment from the receiver in the form of a PUBACK message. If the PUBACK message fails to arrive within a certain time, the message is resent.</a:t>
            </a:r>
          </a:p>
          <a:p>
            <a:pPr algn="l"/>
            <a:endParaRPr lang="en-US" b="1" i="0" dirty="0">
              <a:solidFill>
                <a:srgbClr val="000000"/>
              </a:solidFill>
              <a:effectLst/>
              <a:highlight>
                <a:srgbClr val="FFFFFF"/>
              </a:highlight>
              <a:latin typeface="Arial" panose="020B0604020202020204" pitchFamily="34" charset="0"/>
            </a:endParaRPr>
          </a:p>
          <a:p>
            <a:pPr algn="l"/>
            <a:r>
              <a:rPr lang="en-US" b="1" i="0" dirty="0">
                <a:solidFill>
                  <a:srgbClr val="000000"/>
                </a:solidFill>
                <a:effectLst/>
                <a:highlight>
                  <a:srgbClr val="FFFFFF"/>
                </a:highlight>
                <a:latin typeface="Arial" panose="020B0604020202020204" pitchFamily="34" charset="0"/>
              </a:rPr>
              <a:t>QoS level 2</a:t>
            </a:r>
            <a:endParaRPr lang="en-US" b="0" i="0" dirty="0">
              <a:solidFill>
                <a:srgbClr val="000000"/>
              </a:solidFill>
              <a:effectLst/>
              <a:highlight>
                <a:srgbClr val="FFFFFF"/>
              </a:highlight>
              <a:latin typeface="Arial" panose="020B0604020202020204" pitchFamily="34" charset="0"/>
            </a:endParaRPr>
          </a:p>
          <a:p>
            <a:pPr algn="l"/>
            <a:r>
              <a:rPr lang="en-US" b="0" i="0" dirty="0">
                <a:solidFill>
                  <a:srgbClr val="000000"/>
                </a:solidFill>
                <a:effectLst/>
                <a:highlight>
                  <a:srgbClr val="FFFFFF"/>
                </a:highlight>
                <a:latin typeface="Arial" panose="020B0604020202020204" pitchFamily="34" charset="0"/>
              </a:rPr>
              <a:t>At this QoS level the system guarantees that the message arrives at the receiver no more than once. On the MQTT side this is realized through a handshake mechanism. QoS level 2 is the most secure level (from a message transfer perspective), but also the slowest. When a receiver receives a message with QoS level 2, it acknowledges the message with a PUBREC. The sender of the message remembers it internally until it has received a PUBCOMP. This additional handshake (compared with QoS 1) is important for avoiding duplicate transfer of the message. Once the sender of the message receives a PUBREC, it can discard the initial publish information, since it knows that the message was received once by the receiver. In other words, it remembers the PUBREC internally and sends a PUBREL. Once the receiver has received a PUBREL, it can discard the previously remembered states and respond with a PUBCOMP, and vice versa. Whenever a packet is lost, the respective communication device is responsible for resending the last message after a certain time.</a:t>
            </a:r>
          </a:p>
          <a:p>
            <a:pPr algn="l"/>
            <a:endParaRPr lang="en-US" b="0" i="0" dirty="0">
              <a:solidFill>
                <a:srgbClr val="000000"/>
              </a:solidFill>
              <a:effectLst/>
              <a:highlight>
                <a:srgbClr val="FFFFFF"/>
              </a:highligh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B280112D-8454-448C-8A04-1F3237E367D5}" type="slidenum">
              <a:rPr lang="de-DE" smtClean="0"/>
              <a:pPr/>
              <a:t>7</a:t>
            </a:fld>
            <a:endParaRPr lang="de-DE" dirty="0"/>
          </a:p>
        </p:txBody>
      </p:sp>
      <p:sp>
        <p:nvSpPr>
          <p:cNvPr id="5" name="Date Placeholder 4"/>
          <p:cNvSpPr>
            <a:spLocks noGrp="1"/>
          </p:cNvSpPr>
          <p:nvPr>
            <p:ph type="dt" idx="1"/>
          </p:nvPr>
        </p:nvSpPr>
        <p:spPr/>
        <p:txBody>
          <a:bodyPr/>
          <a:lstStyle/>
          <a:p>
            <a:fld id="{2580E220-EDF6-4D26-8ABA-677BA55902A8}" type="datetime1">
              <a:rPr lang="de-DE" smtClean="0"/>
              <a:pPr/>
              <a:t>04.06.2026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456497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80112D-8454-448C-8A04-1F3237E367D5}" type="slidenum">
              <a:rPr lang="de-DE" smtClean="0"/>
              <a:pPr/>
              <a:t>8</a:t>
            </a:fld>
            <a:endParaRPr lang="de-DE" dirty="0"/>
          </a:p>
        </p:txBody>
      </p:sp>
      <p:sp>
        <p:nvSpPr>
          <p:cNvPr id="5" name="Date Placeholder 4"/>
          <p:cNvSpPr>
            <a:spLocks noGrp="1"/>
          </p:cNvSpPr>
          <p:nvPr>
            <p:ph type="dt" idx="1"/>
          </p:nvPr>
        </p:nvSpPr>
        <p:spPr/>
        <p:txBody>
          <a:bodyPr/>
          <a:lstStyle/>
          <a:p>
            <a:fld id="{2580E220-EDF6-4D26-8ABA-677BA55902A8}" type="datetime1">
              <a:rPr lang="de-DE" smtClean="0"/>
              <a:pPr/>
              <a:t>04.06.2026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284675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80112D-8454-448C-8A04-1F3237E367D5}" type="slidenum">
              <a:rPr lang="de-DE" smtClean="0"/>
              <a:pPr/>
              <a:t>9</a:t>
            </a:fld>
            <a:endParaRPr lang="de-DE" dirty="0"/>
          </a:p>
        </p:txBody>
      </p:sp>
      <p:sp>
        <p:nvSpPr>
          <p:cNvPr id="5" name="Date Placeholder 4"/>
          <p:cNvSpPr>
            <a:spLocks noGrp="1"/>
          </p:cNvSpPr>
          <p:nvPr>
            <p:ph type="dt" idx="1"/>
          </p:nvPr>
        </p:nvSpPr>
        <p:spPr/>
        <p:txBody>
          <a:bodyPr/>
          <a:lstStyle/>
          <a:p>
            <a:fld id="{2580E220-EDF6-4D26-8ABA-677BA55902A8}" type="datetime1">
              <a:rPr lang="de-DE" smtClean="0"/>
              <a:pPr/>
              <a:t>04.06.2026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3099866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Enterprise Resource Planning, content management system, point of sale</a:t>
            </a:r>
          </a:p>
        </p:txBody>
      </p:sp>
      <p:sp>
        <p:nvSpPr>
          <p:cNvPr id="4" name="Slide Number Placeholder 3"/>
          <p:cNvSpPr>
            <a:spLocks noGrp="1"/>
          </p:cNvSpPr>
          <p:nvPr>
            <p:ph type="sldNum" sz="quarter" idx="5"/>
          </p:nvPr>
        </p:nvSpPr>
        <p:spPr/>
        <p:txBody>
          <a:bodyPr/>
          <a:lstStyle/>
          <a:p>
            <a:fld id="{B280112D-8454-448C-8A04-1F3237E367D5}" type="slidenum">
              <a:rPr lang="de-DE" smtClean="0"/>
              <a:pPr/>
              <a:t>11</a:t>
            </a:fld>
            <a:endParaRPr lang="de-DE" dirty="0"/>
          </a:p>
        </p:txBody>
      </p:sp>
      <p:sp>
        <p:nvSpPr>
          <p:cNvPr id="5" name="Date Placeholder 4"/>
          <p:cNvSpPr>
            <a:spLocks noGrp="1"/>
          </p:cNvSpPr>
          <p:nvPr>
            <p:ph type="dt" idx="1"/>
          </p:nvPr>
        </p:nvSpPr>
        <p:spPr/>
        <p:txBody>
          <a:bodyPr/>
          <a:lstStyle/>
          <a:p>
            <a:fld id="{2580E220-EDF6-4D26-8ABA-677BA55902A8}" type="datetime1">
              <a:rPr lang="de-DE" smtClean="0"/>
              <a:pPr/>
              <a:t>04.06.2026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3195108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b="0" i="0" dirty="0">
                <a:solidFill>
                  <a:srgbClr val="3B4045"/>
                </a:solidFill>
                <a:effectLst/>
                <a:highlight>
                  <a:srgbClr val="FFFFFF"/>
                </a:highlight>
                <a:latin typeface="-apple-system"/>
              </a:rPr>
              <a:t>The POST method is used to request that the origin server accept the entity enclosed in the request as a new subordinate of the resource identified by the Request-URI in the Request-Line.</a:t>
            </a:r>
          </a:p>
          <a:p>
            <a:r>
              <a:rPr lang="en-US" b="0" i="0" dirty="0">
                <a:solidFill>
                  <a:srgbClr val="3B4045"/>
                </a:solidFill>
                <a:effectLst/>
                <a:highlight>
                  <a:srgbClr val="FFFFFF"/>
                </a:highlight>
                <a:latin typeface="-apple-system"/>
              </a:rPr>
              <a:t>The PUT method requests that the enclosed entity be stored under the supplied Request-URI. If the Request-URI refers to an already existing resource, the enclosed entity SHOULD be considered as a modified version of the one residing on the origin server. If the Request-URI does not point to an existing resource, and that URI is capable of being defined as a new resource by the requesting user agent, the origin server can create the resource with that URI.</a:t>
            </a:r>
            <a:endParaRPr lang="en-US" dirty="0"/>
          </a:p>
        </p:txBody>
      </p:sp>
      <p:sp>
        <p:nvSpPr>
          <p:cNvPr id="4" name="Slide Number Placeholder 3"/>
          <p:cNvSpPr>
            <a:spLocks noGrp="1"/>
          </p:cNvSpPr>
          <p:nvPr>
            <p:ph type="sldNum" sz="quarter" idx="5"/>
          </p:nvPr>
        </p:nvSpPr>
        <p:spPr/>
        <p:txBody>
          <a:bodyPr/>
          <a:lstStyle/>
          <a:p>
            <a:fld id="{B280112D-8454-448C-8A04-1F3237E367D5}" type="slidenum">
              <a:rPr lang="de-DE" smtClean="0"/>
              <a:pPr/>
              <a:t>12</a:t>
            </a:fld>
            <a:endParaRPr lang="de-DE" dirty="0"/>
          </a:p>
        </p:txBody>
      </p:sp>
      <p:sp>
        <p:nvSpPr>
          <p:cNvPr id="5" name="Date Placeholder 4"/>
          <p:cNvSpPr>
            <a:spLocks noGrp="1"/>
          </p:cNvSpPr>
          <p:nvPr>
            <p:ph type="dt" idx="1"/>
          </p:nvPr>
        </p:nvSpPr>
        <p:spPr/>
        <p:txBody>
          <a:bodyPr/>
          <a:lstStyle/>
          <a:p>
            <a:fld id="{2580E220-EDF6-4D26-8ABA-677BA55902A8}" type="datetime1">
              <a:rPr lang="de-DE" smtClean="0"/>
              <a:pPr/>
              <a:t>04.06.2026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287183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80112D-8454-448C-8A04-1F3237E367D5}" type="slidenum">
              <a:rPr lang="de-DE" smtClean="0"/>
              <a:pPr/>
              <a:t>13</a:t>
            </a:fld>
            <a:endParaRPr lang="de-DE" dirty="0"/>
          </a:p>
        </p:txBody>
      </p:sp>
      <p:sp>
        <p:nvSpPr>
          <p:cNvPr id="5" name="Date Placeholder 4"/>
          <p:cNvSpPr>
            <a:spLocks noGrp="1"/>
          </p:cNvSpPr>
          <p:nvPr>
            <p:ph type="dt" idx="1"/>
          </p:nvPr>
        </p:nvSpPr>
        <p:spPr/>
        <p:txBody>
          <a:bodyPr/>
          <a:lstStyle/>
          <a:p>
            <a:fld id="{2580E220-EDF6-4D26-8ABA-677BA55902A8}" type="datetime1">
              <a:rPr lang="de-DE" smtClean="0"/>
              <a:pPr/>
              <a:t>04.06.2026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949826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80112D-8454-448C-8A04-1F3237E367D5}" type="slidenum">
              <a:rPr lang="de-DE" smtClean="0"/>
              <a:pPr/>
              <a:t>15</a:t>
            </a:fld>
            <a:endParaRPr lang="de-DE" dirty="0"/>
          </a:p>
        </p:txBody>
      </p:sp>
      <p:sp>
        <p:nvSpPr>
          <p:cNvPr id="5" name="Date Placeholder 4"/>
          <p:cNvSpPr>
            <a:spLocks noGrp="1"/>
          </p:cNvSpPr>
          <p:nvPr>
            <p:ph type="dt" idx="1"/>
          </p:nvPr>
        </p:nvSpPr>
        <p:spPr/>
        <p:txBody>
          <a:bodyPr/>
          <a:lstStyle/>
          <a:p>
            <a:fld id="{2580E220-EDF6-4D26-8ABA-677BA55902A8}" type="datetime1">
              <a:rPr lang="de-DE" smtClean="0"/>
              <a:pPr/>
              <a:t>04.06.2026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9300147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bg bwMode="gray">
      <p:bgRef idx="1001">
        <a:schemeClr val="bg1"/>
      </p:bgRef>
    </p:bg>
    <p:spTree>
      <p:nvGrpSpPr>
        <p:cNvPr id="1" name=""/>
        <p:cNvGrpSpPr/>
        <p:nvPr/>
      </p:nvGrpSpPr>
      <p:grpSpPr>
        <a:xfrm>
          <a:off x="0" y="0"/>
          <a:ext cx="0" cy="0"/>
          <a:chOff x="0" y="0"/>
          <a:chExt cx="0" cy="0"/>
        </a:xfrm>
      </p:grpSpPr>
      <p:sp>
        <p:nvSpPr>
          <p:cNvPr id="6"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pic>
        <p:nvPicPr>
          <p:cNvPr id="3" name="Grafik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0800"/>
            <a:ext cx="12202668" cy="5769864"/>
          </a:xfrm>
          <a:prstGeom prst="rect">
            <a:avLst/>
          </a:prstGeom>
        </p:spPr>
      </p:pic>
    </p:spTree>
    <p:extLst>
      <p:ext uri="{BB962C8B-B14F-4D97-AF65-F5344CB8AC3E}">
        <p14:creationId xmlns:p14="http://schemas.microsoft.com/office/powerpoint/2010/main" val="19049749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0800"/>
            <a:ext cx="12202668" cy="5769864"/>
          </a:xfrm>
          <a:prstGeom prst="rect">
            <a:avLst/>
          </a:prstGeom>
        </p:spPr>
      </p:pic>
      <p:sp>
        <p:nvSpPr>
          <p:cNvPr id="6"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5" name="Textplatzhalter 6"/>
          <p:cNvSpPr>
            <a:spLocks noGrp="1"/>
          </p:cNvSpPr>
          <p:nvPr>
            <p:ph type="body" sz="quarter" idx="10" hasCustomPrompt="1"/>
          </p:nvPr>
        </p:nvSpPr>
        <p:spPr bwMode="gray">
          <a:xfrm>
            <a:off x="-3" y="1090800"/>
            <a:ext cx="6096000" cy="5767200"/>
          </a:xfrm>
          <a:solidFill>
            <a:srgbClr val="FFFFFF">
              <a:alpha val="69804"/>
            </a:srgbClr>
          </a:solidFill>
        </p:spPr>
        <p:txBody>
          <a:bodyPr tIns="180000"/>
          <a:lstStyle>
            <a:lvl1pPr marL="0" indent="0">
              <a:buNone/>
              <a:defRPr baseline="0"/>
            </a:lvl1pPr>
          </a:lstStyle>
          <a:p>
            <a:pPr lvl="0"/>
            <a:r>
              <a:rPr lang="de-DE"/>
              <a:t>Speaker Name</a:t>
            </a:r>
            <a:br>
              <a:rPr lang="de-DE"/>
            </a:br>
            <a:r>
              <a:rPr lang="de-DE"/>
              <a:t>Department</a:t>
            </a:r>
          </a:p>
        </p:txBody>
      </p:sp>
    </p:spTree>
    <p:extLst>
      <p:ext uri="{BB962C8B-B14F-4D97-AF65-F5344CB8AC3E}">
        <p14:creationId xmlns:p14="http://schemas.microsoft.com/office/powerpoint/2010/main" val="14323425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5" name="Rechteck 4"/>
          <p:cNvSpPr/>
          <p:nvPr userDrawn="1"/>
        </p:nvSpPr>
        <p:spPr bwMode="ltGray">
          <a:xfrm>
            <a:off x="0" y="0"/>
            <a:ext cx="6096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4" name="Titel 4"/>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7" name="Subtitle 2"/>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0" indent="0" algn="l">
              <a:lnSpc>
                <a:spcPct val="100000"/>
              </a:lnSpc>
              <a:spcBef>
                <a:spcPts val="0"/>
              </a:spcBef>
              <a:buNone/>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a:t>Speaker Name </a:t>
            </a:r>
            <a:br>
              <a:rPr lang="en-US" noProof="0"/>
            </a:br>
            <a:r>
              <a:rPr lang="en-US" noProof="0"/>
              <a:t>Department</a:t>
            </a:r>
          </a:p>
        </p:txBody>
      </p:sp>
      <p:pic>
        <p:nvPicPr>
          <p:cNvPr id="2" name="Grafik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4800" y="0"/>
            <a:ext cx="6094476" cy="6858000"/>
          </a:xfrm>
          <a:prstGeom prst="rect">
            <a:avLst/>
          </a:prstGeom>
        </p:spPr>
      </p:pic>
      <p:pic>
        <p:nvPicPr>
          <p:cNvPr id="8" name="Grafik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spTree>
    <p:extLst>
      <p:ext uri="{BB962C8B-B14F-4D97-AF65-F5344CB8AC3E}">
        <p14:creationId xmlns:p14="http://schemas.microsoft.com/office/powerpoint/2010/main" val="17625922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noProof="0"/>
              <a:t>Click to add contents</a:t>
            </a:r>
            <a:endParaRPr lang="de-DE"/>
          </a:p>
        </p:txBody>
      </p:sp>
      <p:sp>
        <p:nvSpPr>
          <p:cNvPr id="3" name="Fußzeilenplatzhalter 2"/>
          <p:cNvSpPr>
            <a:spLocks noGrp="1"/>
          </p:cNvSpPr>
          <p:nvPr>
            <p:ph type="ftr" sz="quarter" idx="10"/>
          </p:nvPr>
        </p:nvSpPr>
        <p:spPr bwMode="gray"/>
        <p:txBody>
          <a:bodyPr/>
          <a:lstStyle/>
          <a:p>
            <a:endParaRPr lang="de-DE"/>
          </a:p>
        </p:txBody>
      </p:sp>
      <p:sp>
        <p:nvSpPr>
          <p:cNvPr id="4" name="Foliennummernplatzhalter 3"/>
          <p:cNvSpPr>
            <a:spLocks noGrp="1"/>
          </p:cNvSpPr>
          <p:nvPr>
            <p:ph type="sldNum" sz="quarter" idx="11"/>
          </p:nvPr>
        </p:nvSpPr>
        <p:spPr bwMode="gray"/>
        <p:txBody>
          <a:bodyPr/>
          <a:lstStyle/>
          <a:p>
            <a:fld id="{A930EF64-91C9-4EBD-82F9-3643AB15A28C}" type="slidenum">
              <a:rPr lang="de-DE" smtClean="0"/>
              <a:pPr/>
              <a:t>‹#›</a:t>
            </a:fld>
            <a:endParaRPr lang="de-DE"/>
          </a:p>
        </p:txBody>
      </p:sp>
      <p:sp>
        <p:nvSpPr>
          <p:cNvPr id="5" name="Textplatzhalter 5"/>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Tree>
    <p:extLst>
      <p:ext uri="{BB962C8B-B14F-4D97-AF65-F5344CB8AC3E}">
        <p14:creationId xmlns:p14="http://schemas.microsoft.com/office/powerpoint/2010/main" val="1651048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8" name="Textplatzhalter 5"/>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6"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11" name="Fußzeilenplatzhalter 4"/>
          <p:cNvSpPr>
            <a:spLocks noGrp="1"/>
          </p:cNvSpPr>
          <p:nvPr>
            <p:ph type="ftr" sz="quarter" idx="3"/>
          </p:nvPr>
        </p:nvSpPr>
        <p:spPr bwMode="gray">
          <a:xfrm>
            <a:off x="767408" y="6416676"/>
            <a:ext cx="4640201" cy="441325"/>
          </a:xfrm>
          <a:prstGeom prst="rect">
            <a:avLst/>
          </a:prstGeom>
        </p:spPr>
        <p:txBody>
          <a:bodyPr vert="horz" lIns="90000" tIns="36000" rIns="91440" bIns="36000" rtlCol="0" anchor="ctr"/>
          <a:lstStyle>
            <a:lvl1pPr algn="l">
              <a:defRPr sz="1100">
                <a:solidFill>
                  <a:schemeClr val="accent1"/>
                </a:solidFill>
                <a:latin typeface="Arial" pitchFamily="34" charset="0"/>
                <a:cs typeface="Arial" pitchFamily="34" charset="0"/>
              </a:defRPr>
            </a:lvl1pPr>
          </a:lstStyle>
          <a:p>
            <a:endParaRPr lang="de-DE"/>
          </a:p>
        </p:txBody>
      </p:sp>
      <p:sp>
        <p:nvSpPr>
          <p:cNvPr id="13" name="Foliennummernplatzhalter 5"/>
          <p:cNvSpPr>
            <a:spLocks noGrp="1"/>
          </p:cNvSpPr>
          <p:nvPr>
            <p:ph type="sldNum" sz="quarter" idx="4"/>
          </p:nvPr>
        </p:nvSpPr>
        <p:spPr bwMode="gray">
          <a:xfrm>
            <a:off x="2200" y="6416676"/>
            <a:ext cx="765208" cy="441325"/>
          </a:xfrm>
          <a:prstGeom prst="rect">
            <a:avLst/>
          </a:prstGeom>
        </p:spPr>
        <p:txBody>
          <a:bodyPr vert="horz" lIns="234000" tIns="45720" rIns="3600" bIns="45720" rtlCol="0" anchor="ctr"/>
          <a:lstStyle>
            <a:lvl1pPr algn="l">
              <a:defRPr sz="1100">
                <a:solidFill>
                  <a:schemeClr val="accent1"/>
                </a:solidFill>
                <a:latin typeface="Arial" pitchFamily="34" charset="0"/>
                <a:cs typeface="Arial" pitchFamily="34" charset="0"/>
              </a:defRPr>
            </a:lvl1pPr>
          </a:lstStyle>
          <a:p>
            <a:fld id="{A930EF64-91C9-4EBD-82F9-3643AB15A28C}" type="slidenum">
              <a:rPr lang="de-DE" smtClean="0"/>
              <a:pPr/>
              <a:t>‹#›</a:t>
            </a:fld>
            <a:endParaRPr lang="de-DE"/>
          </a:p>
        </p:txBody>
      </p:sp>
    </p:spTree>
    <p:extLst>
      <p:ext uri="{BB962C8B-B14F-4D97-AF65-F5344CB8AC3E}">
        <p14:creationId xmlns:p14="http://schemas.microsoft.com/office/powerpoint/2010/main" val="2527220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13" name="Bildplatzhalter 12"/>
          <p:cNvSpPr>
            <a:spLocks noGrp="1"/>
          </p:cNvSpPr>
          <p:nvPr>
            <p:ph type="pic" sz="quarter" idx="16" hasCustomPrompt="1"/>
          </p:nvPr>
        </p:nvSpPr>
        <p:spPr bwMode="gray">
          <a:xfrm>
            <a:off x="8125883" y="3978684"/>
            <a:ext cx="4066117"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Bildplatzhalter 3"/>
          <p:cNvSpPr>
            <a:spLocks noGrp="1"/>
          </p:cNvSpPr>
          <p:nvPr>
            <p:ph type="pic" sz="quarter" idx="14" hasCustomPrompt="1"/>
          </p:nvPr>
        </p:nvSpPr>
        <p:spPr bwMode="gray">
          <a:xfrm>
            <a:off x="8125883" y="1090799"/>
            <a:ext cx="4066116"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platzhalter 5"/>
          <p:cNvSpPr>
            <a:spLocks noGrp="1"/>
          </p:cNvSpPr>
          <p:nvPr>
            <p:ph type="body" sz="quarter" idx="15" hasCustomPrompt="1"/>
          </p:nvPr>
        </p:nvSpPr>
        <p:spPr bwMode="gray">
          <a:xfrm>
            <a:off x="3" y="1090799"/>
            <a:ext cx="8113181"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9" name="Fußzeilenplatzhalter 4"/>
          <p:cNvSpPr>
            <a:spLocks noGrp="1"/>
          </p:cNvSpPr>
          <p:nvPr>
            <p:ph type="ftr" sz="quarter" idx="3"/>
          </p:nvPr>
        </p:nvSpPr>
        <p:spPr bwMode="gray">
          <a:xfrm>
            <a:off x="767408" y="6416676"/>
            <a:ext cx="4640201" cy="441325"/>
          </a:xfrm>
          <a:prstGeom prst="rect">
            <a:avLst/>
          </a:prstGeom>
        </p:spPr>
        <p:txBody>
          <a:bodyPr vert="horz" lIns="90000" tIns="36000" rIns="91440" bIns="36000" rtlCol="0" anchor="ctr"/>
          <a:lstStyle>
            <a:lvl1pPr algn="l">
              <a:defRPr sz="1100">
                <a:solidFill>
                  <a:schemeClr val="accent1"/>
                </a:solidFill>
                <a:latin typeface="Arial" pitchFamily="34" charset="0"/>
                <a:cs typeface="Arial" pitchFamily="34" charset="0"/>
              </a:defRPr>
            </a:lvl1pPr>
          </a:lstStyle>
          <a:p>
            <a:endParaRPr lang="de-DE"/>
          </a:p>
        </p:txBody>
      </p:sp>
      <p:sp>
        <p:nvSpPr>
          <p:cNvPr id="10" name="Foliennummernplatzhalter 5"/>
          <p:cNvSpPr>
            <a:spLocks noGrp="1"/>
          </p:cNvSpPr>
          <p:nvPr>
            <p:ph type="sldNum" sz="quarter" idx="4"/>
          </p:nvPr>
        </p:nvSpPr>
        <p:spPr bwMode="gray">
          <a:xfrm>
            <a:off x="2200" y="6416676"/>
            <a:ext cx="765208" cy="441325"/>
          </a:xfrm>
          <a:prstGeom prst="rect">
            <a:avLst/>
          </a:prstGeom>
        </p:spPr>
        <p:txBody>
          <a:bodyPr vert="horz" lIns="234000" tIns="45720" rIns="3600" bIns="45720" rtlCol="0" anchor="ctr"/>
          <a:lstStyle>
            <a:lvl1pPr algn="l">
              <a:defRPr sz="1100">
                <a:solidFill>
                  <a:schemeClr val="accent1"/>
                </a:solidFill>
                <a:latin typeface="Arial" pitchFamily="34" charset="0"/>
                <a:cs typeface="Arial" pitchFamily="34" charset="0"/>
              </a:defRPr>
            </a:lvl1pPr>
          </a:lstStyle>
          <a:p>
            <a:fld id="{A930EF64-91C9-4EBD-82F9-3643AB15A28C}" type="slidenum">
              <a:rPr lang="de-DE" smtClean="0"/>
              <a:pPr/>
              <a:t>‹#›</a:t>
            </a:fld>
            <a:endParaRPr lang="de-DE"/>
          </a:p>
        </p:txBody>
      </p:sp>
    </p:spTree>
    <p:extLst>
      <p:ext uri="{BB962C8B-B14F-4D97-AF65-F5344CB8AC3E}">
        <p14:creationId xmlns:p14="http://schemas.microsoft.com/office/powerpoint/2010/main" val="239533410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6" name="Textplatzhalter 5"/>
          <p:cNvSpPr>
            <a:spLocks noGrp="1"/>
          </p:cNvSpPr>
          <p:nvPr>
            <p:ph type="body" sz="quarter" idx="15" hasCustomPrompt="1"/>
          </p:nvPr>
        </p:nvSpPr>
        <p:spPr bwMode="gray">
          <a:xfrm>
            <a:off x="3" y="1090800"/>
            <a:ext cx="6095997"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8" name="Fußzeilenplatzhalter 4"/>
          <p:cNvSpPr>
            <a:spLocks noGrp="1"/>
          </p:cNvSpPr>
          <p:nvPr>
            <p:ph type="ftr" sz="quarter" idx="3"/>
          </p:nvPr>
        </p:nvSpPr>
        <p:spPr bwMode="gray">
          <a:xfrm>
            <a:off x="767408" y="6416676"/>
            <a:ext cx="4640201" cy="441325"/>
          </a:xfrm>
          <a:prstGeom prst="rect">
            <a:avLst/>
          </a:prstGeom>
        </p:spPr>
        <p:txBody>
          <a:bodyPr vert="horz" lIns="90000" tIns="36000" rIns="91440" bIns="36000" rtlCol="0" anchor="ctr"/>
          <a:lstStyle>
            <a:lvl1pPr algn="l">
              <a:defRPr sz="1100">
                <a:solidFill>
                  <a:schemeClr val="accent1"/>
                </a:solidFill>
                <a:latin typeface="Arial" pitchFamily="34" charset="0"/>
                <a:cs typeface="Arial" pitchFamily="34" charset="0"/>
              </a:defRPr>
            </a:lvl1pPr>
          </a:lstStyle>
          <a:p>
            <a:endParaRPr lang="de-DE"/>
          </a:p>
        </p:txBody>
      </p:sp>
      <p:sp>
        <p:nvSpPr>
          <p:cNvPr id="9" name="Foliennummernplatzhalter 5"/>
          <p:cNvSpPr>
            <a:spLocks noGrp="1"/>
          </p:cNvSpPr>
          <p:nvPr>
            <p:ph type="sldNum" sz="quarter" idx="4"/>
          </p:nvPr>
        </p:nvSpPr>
        <p:spPr bwMode="gray">
          <a:xfrm>
            <a:off x="2200" y="6416676"/>
            <a:ext cx="765208" cy="441325"/>
          </a:xfrm>
          <a:prstGeom prst="rect">
            <a:avLst/>
          </a:prstGeom>
        </p:spPr>
        <p:txBody>
          <a:bodyPr vert="horz" lIns="234000" tIns="45720" rIns="3600" bIns="45720" rtlCol="0" anchor="ctr"/>
          <a:lstStyle>
            <a:lvl1pPr algn="l">
              <a:defRPr sz="1100">
                <a:solidFill>
                  <a:schemeClr val="accent1"/>
                </a:solidFill>
                <a:latin typeface="Arial" pitchFamily="34" charset="0"/>
                <a:cs typeface="Arial" pitchFamily="34" charset="0"/>
              </a:defRPr>
            </a:lvl1pPr>
          </a:lstStyle>
          <a:p>
            <a:fld id="{A930EF64-91C9-4EBD-82F9-3643AB15A28C}" type="slidenum">
              <a:rPr lang="de-DE" smtClean="0"/>
              <a:pPr/>
              <a:t>‹#›</a:t>
            </a:fld>
            <a:endParaRPr lang="de-DE"/>
          </a:p>
        </p:txBody>
      </p:sp>
      <p:sp>
        <p:nvSpPr>
          <p:cNvPr id="4" name="Bildplatzhalter 3"/>
          <p:cNvSpPr>
            <a:spLocks noGrp="1"/>
          </p:cNvSpPr>
          <p:nvPr>
            <p:ph type="pic" sz="quarter" idx="14" hasCustomPrompt="1"/>
          </p:nvPr>
        </p:nvSpPr>
        <p:spPr bwMode="gray">
          <a:xfrm>
            <a:off x="6096000" y="1090800"/>
            <a:ext cx="60960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Tree>
    <p:extLst>
      <p:ext uri="{BB962C8B-B14F-4D97-AF65-F5344CB8AC3E}">
        <p14:creationId xmlns:p14="http://schemas.microsoft.com/office/powerpoint/2010/main" val="2845138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4" name="Bildplatzhalter 3"/>
          <p:cNvSpPr>
            <a:spLocks noGrp="1"/>
          </p:cNvSpPr>
          <p:nvPr>
            <p:ph type="pic" sz="quarter" idx="14" hasCustomPrompt="1"/>
          </p:nvPr>
        </p:nvSpPr>
        <p:spPr bwMode="gray">
          <a:xfrm>
            <a:off x="6096000" y="1090800"/>
            <a:ext cx="6096000" cy="4321414"/>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platzhalter 5"/>
          <p:cNvSpPr>
            <a:spLocks noGrp="1"/>
          </p:cNvSpPr>
          <p:nvPr>
            <p:ph type="body" sz="quarter" idx="15" hasCustomPrompt="1"/>
          </p:nvPr>
        </p:nvSpPr>
        <p:spPr bwMode="gray">
          <a:xfrm>
            <a:off x="3" y="1090799"/>
            <a:ext cx="609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8" name="Fußzeilenplatzhalter 4"/>
          <p:cNvSpPr>
            <a:spLocks noGrp="1"/>
          </p:cNvSpPr>
          <p:nvPr>
            <p:ph type="ftr" sz="quarter" idx="3"/>
          </p:nvPr>
        </p:nvSpPr>
        <p:spPr bwMode="gray">
          <a:xfrm>
            <a:off x="767408" y="6416676"/>
            <a:ext cx="4640201" cy="441325"/>
          </a:xfrm>
          <a:prstGeom prst="rect">
            <a:avLst/>
          </a:prstGeom>
        </p:spPr>
        <p:txBody>
          <a:bodyPr vert="horz" lIns="90000" tIns="36000" rIns="91440" bIns="36000" rtlCol="0" anchor="ctr"/>
          <a:lstStyle>
            <a:lvl1pPr algn="l">
              <a:defRPr sz="1100">
                <a:solidFill>
                  <a:schemeClr val="accent1"/>
                </a:solidFill>
                <a:latin typeface="Arial" pitchFamily="34" charset="0"/>
                <a:cs typeface="Arial" pitchFamily="34" charset="0"/>
              </a:defRPr>
            </a:lvl1pPr>
          </a:lstStyle>
          <a:p>
            <a:endParaRPr lang="de-DE"/>
          </a:p>
        </p:txBody>
      </p:sp>
      <p:sp>
        <p:nvSpPr>
          <p:cNvPr id="9" name="Foliennummernplatzhalter 5"/>
          <p:cNvSpPr>
            <a:spLocks noGrp="1"/>
          </p:cNvSpPr>
          <p:nvPr>
            <p:ph type="sldNum" sz="quarter" idx="4"/>
          </p:nvPr>
        </p:nvSpPr>
        <p:spPr bwMode="gray">
          <a:xfrm>
            <a:off x="2200" y="6416676"/>
            <a:ext cx="765208" cy="441325"/>
          </a:xfrm>
          <a:prstGeom prst="rect">
            <a:avLst/>
          </a:prstGeom>
        </p:spPr>
        <p:txBody>
          <a:bodyPr vert="horz" lIns="234000" tIns="45720" rIns="3600" bIns="45720" rtlCol="0" anchor="ctr"/>
          <a:lstStyle>
            <a:lvl1pPr algn="l">
              <a:defRPr sz="1100">
                <a:solidFill>
                  <a:schemeClr val="accent1"/>
                </a:solidFill>
                <a:latin typeface="Arial" pitchFamily="34" charset="0"/>
                <a:cs typeface="Arial" pitchFamily="34" charset="0"/>
              </a:defRPr>
            </a:lvl1pPr>
          </a:lstStyle>
          <a:p>
            <a:fld id="{A930EF64-91C9-4EBD-82F9-3643AB15A28C}" type="slidenum">
              <a:rPr lang="de-DE" smtClean="0"/>
              <a:pPr/>
              <a:t>‹#›</a:t>
            </a:fld>
            <a:endParaRPr lang="de-DE"/>
          </a:p>
        </p:txBody>
      </p:sp>
    </p:spTree>
    <p:extLst>
      <p:ext uri="{BB962C8B-B14F-4D97-AF65-F5344CB8AC3E}">
        <p14:creationId xmlns:p14="http://schemas.microsoft.com/office/powerpoint/2010/main" val="1586413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13" name="Bildplatzhalter 12"/>
          <p:cNvSpPr>
            <a:spLocks noGrp="1"/>
          </p:cNvSpPr>
          <p:nvPr>
            <p:ph type="pic" sz="quarter" idx="16" hasCustomPrompt="1"/>
          </p:nvPr>
        </p:nvSpPr>
        <p:spPr bwMode="gray">
          <a:xfrm>
            <a:off x="6096000" y="3978000"/>
            <a:ext cx="60960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Bildplatzhalter 3"/>
          <p:cNvSpPr>
            <a:spLocks noGrp="1"/>
          </p:cNvSpPr>
          <p:nvPr>
            <p:ph type="pic" sz="quarter" idx="14" hasCustomPrompt="1"/>
          </p:nvPr>
        </p:nvSpPr>
        <p:spPr bwMode="gray">
          <a:xfrm>
            <a:off x="6096000" y="1090799"/>
            <a:ext cx="60960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platzhalter 5"/>
          <p:cNvSpPr>
            <a:spLocks noGrp="1"/>
          </p:cNvSpPr>
          <p:nvPr>
            <p:ph type="body" sz="quarter" idx="15" hasCustomPrompt="1"/>
          </p:nvPr>
        </p:nvSpPr>
        <p:spPr bwMode="gray">
          <a:xfrm>
            <a:off x="3" y="1090799"/>
            <a:ext cx="609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4" name="Titelplatzhalter 1"/>
          <p:cNvSpPr>
            <a:spLocks noGrp="1"/>
          </p:cNvSpPr>
          <p:nvPr>
            <p:ph type="title" hasCustomPrompt="1"/>
          </p:nvPr>
        </p:nvSpPr>
        <p:spPr>
          <a:xfrm>
            <a:off x="0" y="450001"/>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8" name="Fußzeilenplatzhalter 4"/>
          <p:cNvSpPr>
            <a:spLocks noGrp="1"/>
          </p:cNvSpPr>
          <p:nvPr>
            <p:ph type="ftr" sz="quarter" idx="3"/>
          </p:nvPr>
        </p:nvSpPr>
        <p:spPr bwMode="gray">
          <a:xfrm>
            <a:off x="767408" y="6416676"/>
            <a:ext cx="4640201" cy="441325"/>
          </a:xfrm>
          <a:prstGeom prst="rect">
            <a:avLst/>
          </a:prstGeom>
        </p:spPr>
        <p:txBody>
          <a:bodyPr vert="horz" lIns="90000" tIns="36000" rIns="91440" bIns="36000" rtlCol="0" anchor="ctr"/>
          <a:lstStyle>
            <a:lvl1pPr algn="l">
              <a:defRPr sz="1100">
                <a:solidFill>
                  <a:schemeClr val="accent1"/>
                </a:solidFill>
                <a:latin typeface="Arial" pitchFamily="34" charset="0"/>
                <a:cs typeface="Arial" pitchFamily="34" charset="0"/>
              </a:defRPr>
            </a:lvl1pPr>
          </a:lstStyle>
          <a:p>
            <a:endParaRPr lang="de-DE"/>
          </a:p>
        </p:txBody>
      </p:sp>
      <p:sp>
        <p:nvSpPr>
          <p:cNvPr id="10" name="Foliennummernplatzhalter 5"/>
          <p:cNvSpPr>
            <a:spLocks noGrp="1"/>
          </p:cNvSpPr>
          <p:nvPr>
            <p:ph type="sldNum" sz="quarter" idx="4"/>
          </p:nvPr>
        </p:nvSpPr>
        <p:spPr bwMode="gray">
          <a:xfrm>
            <a:off x="2200" y="6416676"/>
            <a:ext cx="765208" cy="441325"/>
          </a:xfrm>
          <a:prstGeom prst="rect">
            <a:avLst/>
          </a:prstGeom>
        </p:spPr>
        <p:txBody>
          <a:bodyPr vert="horz" lIns="234000" tIns="45720" rIns="3600" bIns="45720" rtlCol="0" anchor="ctr"/>
          <a:lstStyle>
            <a:lvl1pPr algn="l">
              <a:defRPr sz="1100">
                <a:solidFill>
                  <a:schemeClr val="accent1"/>
                </a:solidFill>
                <a:latin typeface="Arial" pitchFamily="34" charset="0"/>
                <a:cs typeface="Arial" pitchFamily="34" charset="0"/>
              </a:defRPr>
            </a:lvl1pPr>
          </a:lstStyle>
          <a:p>
            <a:fld id="{A930EF64-91C9-4EBD-82F9-3643AB15A28C}" type="slidenum">
              <a:rPr lang="de-DE" smtClean="0"/>
              <a:pPr/>
              <a:t>‹#›</a:t>
            </a:fld>
            <a:endParaRPr lang="de-DE"/>
          </a:p>
        </p:txBody>
      </p:sp>
    </p:spTree>
    <p:extLst>
      <p:ext uri="{BB962C8B-B14F-4D97-AF65-F5344CB8AC3E}">
        <p14:creationId xmlns:p14="http://schemas.microsoft.com/office/powerpoint/2010/main" val="280518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4" name="Bildplatzhalter 3"/>
          <p:cNvSpPr>
            <a:spLocks noGrp="1"/>
          </p:cNvSpPr>
          <p:nvPr>
            <p:ph type="pic" sz="quarter" idx="14" hasCustomPrompt="1"/>
          </p:nvPr>
        </p:nvSpPr>
        <p:spPr bwMode="gray">
          <a:xfrm>
            <a:off x="6096000" y="1090800"/>
            <a:ext cx="6096000" cy="28800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platzhalter 5"/>
          <p:cNvSpPr>
            <a:spLocks noGrp="1"/>
          </p:cNvSpPr>
          <p:nvPr>
            <p:ph type="body" sz="quarter" idx="15" hasCustomPrompt="1"/>
          </p:nvPr>
        </p:nvSpPr>
        <p:spPr bwMode="gray">
          <a:xfrm>
            <a:off x="3" y="1090799"/>
            <a:ext cx="609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8" name="Fußzeilenplatzhalter 4"/>
          <p:cNvSpPr>
            <a:spLocks noGrp="1"/>
          </p:cNvSpPr>
          <p:nvPr>
            <p:ph type="ftr" sz="quarter" idx="3"/>
          </p:nvPr>
        </p:nvSpPr>
        <p:spPr bwMode="gray">
          <a:xfrm>
            <a:off x="767408" y="6416676"/>
            <a:ext cx="4640201" cy="441325"/>
          </a:xfrm>
          <a:prstGeom prst="rect">
            <a:avLst/>
          </a:prstGeom>
        </p:spPr>
        <p:txBody>
          <a:bodyPr vert="horz" lIns="90000" tIns="36000" rIns="91440" bIns="36000" rtlCol="0" anchor="ctr"/>
          <a:lstStyle>
            <a:lvl1pPr algn="l">
              <a:defRPr sz="1100">
                <a:solidFill>
                  <a:schemeClr val="accent1"/>
                </a:solidFill>
                <a:latin typeface="Arial" pitchFamily="34" charset="0"/>
                <a:cs typeface="Arial" pitchFamily="34" charset="0"/>
              </a:defRPr>
            </a:lvl1pPr>
          </a:lstStyle>
          <a:p>
            <a:endParaRPr lang="de-DE"/>
          </a:p>
        </p:txBody>
      </p:sp>
      <p:sp>
        <p:nvSpPr>
          <p:cNvPr id="9" name="Foliennummernplatzhalter 5"/>
          <p:cNvSpPr>
            <a:spLocks noGrp="1"/>
          </p:cNvSpPr>
          <p:nvPr>
            <p:ph type="sldNum" sz="quarter" idx="4"/>
          </p:nvPr>
        </p:nvSpPr>
        <p:spPr bwMode="gray">
          <a:xfrm>
            <a:off x="2200" y="6416676"/>
            <a:ext cx="765208" cy="441325"/>
          </a:xfrm>
          <a:prstGeom prst="rect">
            <a:avLst/>
          </a:prstGeom>
        </p:spPr>
        <p:txBody>
          <a:bodyPr vert="horz" lIns="234000" tIns="45720" rIns="3600" bIns="45720" rtlCol="0" anchor="ctr"/>
          <a:lstStyle>
            <a:lvl1pPr algn="l">
              <a:defRPr sz="1100">
                <a:solidFill>
                  <a:schemeClr val="accent1"/>
                </a:solidFill>
                <a:latin typeface="Arial" pitchFamily="34" charset="0"/>
                <a:cs typeface="Arial" pitchFamily="34" charset="0"/>
              </a:defRPr>
            </a:lvl1pPr>
          </a:lstStyle>
          <a:p>
            <a:fld id="{A930EF64-91C9-4EBD-82F9-3643AB15A28C}" type="slidenum">
              <a:rPr lang="de-DE" smtClean="0"/>
              <a:pPr/>
              <a:t>‹#›</a:t>
            </a:fld>
            <a:endParaRPr lang="de-DE"/>
          </a:p>
        </p:txBody>
      </p:sp>
      <p:sp>
        <p:nvSpPr>
          <p:cNvPr id="3" name="Bildplatzhalter 2"/>
          <p:cNvSpPr>
            <a:spLocks noGrp="1"/>
          </p:cNvSpPr>
          <p:nvPr>
            <p:ph type="pic" sz="quarter" idx="16" hasCustomPrompt="1"/>
          </p:nvPr>
        </p:nvSpPr>
        <p:spPr bwMode="gray">
          <a:xfrm>
            <a:off x="6096000" y="3978000"/>
            <a:ext cx="3048000" cy="2880000"/>
          </a:xfr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0" name="Bildplatzhalter 9"/>
          <p:cNvSpPr>
            <a:spLocks noGrp="1"/>
          </p:cNvSpPr>
          <p:nvPr>
            <p:ph type="pic" sz="quarter" idx="17" hasCustomPrompt="1"/>
          </p:nvPr>
        </p:nvSpPr>
        <p:spPr bwMode="gray">
          <a:xfrm>
            <a:off x="9144000" y="3978000"/>
            <a:ext cx="3048000" cy="2880000"/>
          </a:xfr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p:txBody>
      </p:sp>
    </p:spTree>
    <p:extLst>
      <p:ext uri="{BB962C8B-B14F-4D97-AF65-F5344CB8AC3E}">
        <p14:creationId xmlns:p14="http://schemas.microsoft.com/office/powerpoint/2010/main" val="147806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6" name="Textplatzhalter 5"/>
          <p:cNvSpPr>
            <a:spLocks noGrp="1"/>
          </p:cNvSpPr>
          <p:nvPr>
            <p:ph type="body" sz="quarter" idx="15" hasCustomPrompt="1"/>
          </p:nvPr>
        </p:nvSpPr>
        <p:spPr bwMode="gray">
          <a:xfrm>
            <a:off x="1" y="1090800"/>
            <a:ext cx="8114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3" name="Bildplatzhalter 12"/>
          <p:cNvSpPr>
            <a:spLocks noGrp="1"/>
          </p:cNvSpPr>
          <p:nvPr>
            <p:ph type="pic" sz="quarter" idx="16" hasCustomPrompt="1"/>
          </p:nvPr>
        </p:nvSpPr>
        <p:spPr bwMode="gray">
          <a:xfrm>
            <a:off x="8134800" y="4935600"/>
            <a:ext cx="4057200" cy="19224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9" name="Bildplatzhalter 12"/>
          <p:cNvSpPr>
            <a:spLocks noGrp="1"/>
          </p:cNvSpPr>
          <p:nvPr>
            <p:ph type="pic" sz="quarter" idx="17" hasCustomPrompt="1"/>
          </p:nvPr>
        </p:nvSpPr>
        <p:spPr bwMode="gray">
          <a:xfrm>
            <a:off x="8134800" y="3013200"/>
            <a:ext cx="4057200" cy="19224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11" name="Bildplatzhalter 12"/>
          <p:cNvSpPr>
            <a:spLocks noGrp="1"/>
          </p:cNvSpPr>
          <p:nvPr>
            <p:ph type="pic" sz="quarter" idx="18" hasCustomPrompt="1"/>
          </p:nvPr>
        </p:nvSpPr>
        <p:spPr bwMode="gray">
          <a:xfrm>
            <a:off x="8134800" y="1090800"/>
            <a:ext cx="4057200" cy="19224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10"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12" name="Fußzeilenplatzhalter 4"/>
          <p:cNvSpPr>
            <a:spLocks noGrp="1"/>
          </p:cNvSpPr>
          <p:nvPr>
            <p:ph type="ftr" sz="quarter" idx="3"/>
          </p:nvPr>
        </p:nvSpPr>
        <p:spPr bwMode="gray">
          <a:xfrm>
            <a:off x="767408" y="6416676"/>
            <a:ext cx="4640201" cy="441325"/>
          </a:xfrm>
          <a:prstGeom prst="rect">
            <a:avLst/>
          </a:prstGeom>
        </p:spPr>
        <p:txBody>
          <a:bodyPr vert="horz" lIns="90000" tIns="36000" rIns="91440" bIns="36000" rtlCol="0" anchor="ctr"/>
          <a:lstStyle>
            <a:lvl1pPr algn="l">
              <a:defRPr sz="1100">
                <a:solidFill>
                  <a:schemeClr val="accent1"/>
                </a:solidFill>
                <a:latin typeface="Arial" pitchFamily="34" charset="0"/>
                <a:cs typeface="Arial" pitchFamily="34" charset="0"/>
              </a:defRPr>
            </a:lvl1pPr>
          </a:lstStyle>
          <a:p>
            <a:endParaRPr lang="de-DE"/>
          </a:p>
        </p:txBody>
      </p:sp>
      <p:sp>
        <p:nvSpPr>
          <p:cNvPr id="14" name="Foliennummernplatzhalter 5"/>
          <p:cNvSpPr>
            <a:spLocks noGrp="1"/>
          </p:cNvSpPr>
          <p:nvPr>
            <p:ph type="sldNum" sz="quarter" idx="4"/>
          </p:nvPr>
        </p:nvSpPr>
        <p:spPr bwMode="gray">
          <a:xfrm>
            <a:off x="2200" y="6416676"/>
            <a:ext cx="765208" cy="441325"/>
          </a:xfrm>
          <a:prstGeom prst="rect">
            <a:avLst/>
          </a:prstGeom>
        </p:spPr>
        <p:txBody>
          <a:bodyPr vert="horz" lIns="234000" tIns="45720" rIns="3600" bIns="45720" rtlCol="0" anchor="ctr"/>
          <a:lstStyle>
            <a:lvl1pPr algn="l">
              <a:defRPr sz="1100">
                <a:solidFill>
                  <a:schemeClr val="accent1"/>
                </a:solidFill>
                <a:latin typeface="Arial" pitchFamily="34" charset="0"/>
                <a:cs typeface="Arial" pitchFamily="34" charset="0"/>
              </a:defRPr>
            </a:lvl1pPr>
          </a:lstStyle>
          <a:p>
            <a:fld id="{A930EF64-91C9-4EBD-82F9-3643AB15A28C}" type="slidenum">
              <a:rPr lang="de-DE" smtClean="0"/>
              <a:pPr/>
              <a:t>‹#›</a:t>
            </a:fld>
            <a:endParaRPr lang="de-DE"/>
          </a:p>
        </p:txBody>
      </p:sp>
    </p:spTree>
    <p:extLst>
      <p:ext uri="{BB962C8B-B14F-4D97-AF65-F5344CB8AC3E}">
        <p14:creationId xmlns:p14="http://schemas.microsoft.com/office/powerpoint/2010/main" val="2735155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10" name="Bildplatzhalter 6"/>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685143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10" name="Bildplatzhalter 6"/>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platzhalter 5"/>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baseline="0"/>
            </a:lvl1pPr>
          </a:lstStyle>
          <a:p>
            <a:pPr lvl="0"/>
            <a:r>
              <a:rPr lang="en-US" noProof="0"/>
              <a:t>Click to edit text</a:t>
            </a:r>
          </a:p>
        </p:txBody>
      </p:sp>
      <p:sp>
        <p:nvSpPr>
          <p:cNvPr id="7"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97367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10" name="Bildplatzhalter 6"/>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platzhalter 5"/>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sz="1800" baseline="0"/>
            </a:lvl1pPr>
          </a:lstStyle>
          <a:p>
            <a:pPr lvl="0"/>
            <a:r>
              <a:rPr lang="en-US" noProof="0"/>
              <a:t>Click to edit text</a:t>
            </a:r>
          </a:p>
        </p:txBody>
      </p:sp>
      <p:sp>
        <p:nvSpPr>
          <p:cNvPr id="7"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5" name="Bildplatzhalter 12"/>
          <p:cNvSpPr>
            <a:spLocks noGrp="1"/>
          </p:cNvSpPr>
          <p:nvPr>
            <p:ph type="pic" sz="quarter" idx="16" hasCustomPrompt="1"/>
          </p:nvPr>
        </p:nvSpPr>
        <p:spPr bwMode="gray">
          <a:xfrm>
            <a:off x="10155767" y="5418424"/>
            <a:ext cx="2036232" cy="14400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8" name="Bildplatzhalter 12"/>
          <p:cNvSpPr>
            <a:spLocks noGrp="1"/>
          </p:cNvSpPr>
          <p:nvPr>
            <p:ph type="pic" sz="quarter" idx="17" hasCustomPrompt="1"/>
          </p:nvPr>
        </p:nvSpPr>
        <p:spPr bwMode="gray">
          <a:xfrm>
            <a:off x="8138585" y="5418424"/>
            <a:ext cx="2025649" cy="14400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9" name="Bildplatzhalter 12"/>
          <p:cNvSpPr>
            <a:spLocks noGrp="1"/>
          </p:cNvSpPr>
          <p:nvPr>
            <p:ph type="pic" sz="quarter" idx="18" hasCustomPrompt="1"/>
          </p:nvPr>
        </p:nvSpPr>
        <p:spPr bwMode="gray">
          <a:xfrm>
            <a:off x="6112933" y="5418424"/>
            <a:ext cx="2029883" cy="14400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Tree>
    <p:extLst>
      <p:ext uri="{BB962C8B-B14F-4D97-AF65-F5344CB8AC3E}">
        <p14:creationId xmlns:p14="http://schemas.microsoft.com/office/powerpoint/2010/main" val="383884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10" name="Bildplatzhalter 6"/>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1" name="Textplatzhalter 10"/>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de-DE"/>
              <a:t>Click </a:t>
            </a:r>
            <a:r>
              <a:rPr lang="de-DE" err="1"/>
              <a:t>here</a:t>
            </a:r>
            <a:r>
              <a:rPr lang="de-DE"/>
              <a:t> </a:t>
            </a:r>
            <a:r>
              <a:rPr lang="de-DE" err="1"/>
              <a:t>to</a:t>
            </a:r>
            <a:r>
              <a:rPr lang="de-DE"/>
              <a:t> </a:t>
            </a:r>
            <a:r>
              <a:rPr lang="de-DE" err="1"/>
              <a:t>edit</a:t>
            </a:r>
            <a:r>
              <a:rPr lang="de-DE"/>
              <a:t> </a:t>
            </a:r>
            <a:r>
              <a:rPr lang="de-DE" err="1"/>
              <a:t>source</a:t>
            </a:r>
            <a:endParaRPr lang="de-DE"/>
          </a:p>
        </p:txBody>
      </p:sp>
      <p:sp>
        <p:nvSpPr>
          <p:cNvPr id="7"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5116482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6" name="Textplatzhalter 5"/>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13" name="Bildplatzhalter 12"/>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5"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1857753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vert="horz" wrap="square" lIns="450000" tIns="144000" rIns="90000" bIns="144000" rtlCol="0" anchor="b" anchorCtr="0">
            <a:spAutoFit/>
          </a:bodyPr>
          <a:lstStyle>
            <a:lvl1pPr>
              <a:defRPr lang="de-DE" dirty="0"/>
            </a:lvl1pPr>
          </a:lstStyle>
          <a:p>
            <a:pPr lvl="0"/>
            <a:r>
              <a:rPr lang="en-US" noProof="0"/>
              <a:t>Click to add title</a:t>
            </a:r>
            <a:endParaRPr lang="de-DE"/>
          </a:p>
        </p:txBody>
      </p:sp>
      <p:sp>
        <p:nvSpPr>
          <p:cNvPr id="5" name="Bildplatzhalter 3"/>
          <p:cNvSpPr>
            <a:spLocks noGrp="1"/>
          </p:cNvSpPr>
          <p:nvPr>
            <p:ph type="pic" sz="quarter" idx="10" hasCustomPrompt="1"/>
          </p:nvPr>
        </p:nvSpPr>
        <p:spPr bwMode="gray">
          <a:xfrm>
            <a:off x="0" y="1090800"/>
            <a:ext cx="60960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7" name="Bildplatzhalter 5"/>
          <p:cNvSpPr>
            <a:spLocks noGrp="1"/>
          </p:cNvSpPr>
          <p:nvPr>
            <p:ph type="pic" sz="quarter" idx="11" hasCustomPrompt="1"/>
          </p:nvPr>
        </p:nvSpPr>
        <p:spPr bwMode="gray">
          <a:xfrm>
            <a:off x="6094800" y="1090800"/>
            <a:ext cx="60960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Tree>
    <p:extLst>
      <p:ext uri="{BB962C8B-B14F-4D97-AF65-F5344CB8AC3E}">
        <p14:creationId xmlns:p14="http://schemas.microsoft.com/office/powerpoint/2010/main" val="34541835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vert="horz" wrap="square" lIns="450000" tIns="144000" rIns="90000" bIns="144000" rtlCol="0" anchor="b" anchorCtr="0">
            <a:spAutoFit/>
          </a:bodyPr>
          <a:lstStyle>
            <a:lvl1pPr>
              <a:defRPr lang="de-DE" dirty="0"/>
            </a:lvl1pPr>
          </a:lstStyle>
          <a:p>
            <a:pPr lvl="0"/>
            <a:r>
              <a:rPr lang="en-US" noProof="0"/>
              <a:t>Click to add title</a:t>
            </a:r>
            <a:endParaRPr lang="de-DE"/>
          </a:p>
        </p:txBody>
      </p:sp>
      <p:sp>
        <p:nvSpPr>
          <p:cNvPr id="7" name="Bildplatzhalter 3"/>
          <p:cNvSpPr>
            <a:spLocks noGrp="1"/>
          </p:cNvSpPr>
          <p:nvPr>
            <p:ph type="pic" sz="quarter" idx="10" hasCustomPrompt="1"/>
          </p:nvPr>
        </p:nvSpPr>
        <p:spPr bwMode="gray">
          <a:xfrm>
            <a:off x="0" y="1090800"/>
            <a:ext cx="60960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9" name="Bildplatzhalter 5"/>
          <p:cNvSpPr>
            <a:spLocks noGrp="1"/>
          </p:cNvSpPr>
          <p:nvPr>
            <p:ph type="pic" sz="quarter" idx="11" hasCustomPrompt="1"/>
          </p:nvPr>
        </p:nvSpPr>
        <p:spPr bwMode="gray">
          <a:xfrm>
            <a:off x="6094800" y="1090800"/>
            <a:ext cx="60960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0" name="Bildplatzhalter 4"/>
          <p:cNvSpPr>
            <a:spLocks noGrp="1"/>
          </p:cNvSpPr>
          <p:nvPr>
            <p:ph type="pic" sz="quarter" idx="12" hasCustomPrompt="1"/>
          </p:nvPr>
        </p:nvSpPr>
        <p:spPr bwMode="gray">
          <a:xfrm>
            <a:off x="0" y="3978000"/>
            <a:ext cx="60960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1" name="Bildplatzhalter 7"/>
          <p:cNvSpPr>
            <a:spLocks noGrp="1"/>
          </p:cNvSpPr>
          <p:nvPr>
            <p:ph type="pic" sz="quarter" idx="13" hasCustomPrompt="1"/>
          </p:nvPr>
        </p:nvSpPr>
        <p:spPr bwMode="gray">
          <a:xfrm>
            <a:off x="6094800" y="3978000"/>
            <a:ext cx="60960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Tree>
    <p:extLst>
      <p:ext uri="{BB962C8B-B14F-4D97-AF65-F5344CB8AC3E}">
        <p14:creationId xmlns:p14="http://schemas.microsoft.com/office/powerpoint/2010/main" val="39181446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vert="horz" wrap="square" lIns="450000" tIns="144000" rIns="90000" bIns="144000" rtlCol="0" anchor="b" anchorCtr="0">
            <a:spAutoFit/>
          </a:bodyPr>
          <a:lstStyle>
            <a:lvl1pPr>
              <a:defRPr lang="de-DE" dirty="0"/>
            </a:lvl1pPr>
          </a:lstStyle>
          <a:p>
            <a:pPr lvl="0"/>
            <a:r>
              <a:rPr lang="en-US" noProof="0"/>
              <a:t>Click to add title</a:t>
            </a:r>
            <a:endParaRPr lang="de-DE"/>
          </a:p>
        </p:txBody>
      </p:sp>
      <p:sp>
        <p:nvSpPr>
          <p:cNvPr id="10" name="Bildplatzhalter 7"/>
          <p:cNvSpPr>
            <a:spLocks noGrp="1"/>
          </p:cNvSpPr>
          <p:nvPr>
            <p:ph type="pic" sz="quarter" idx="15" hasCustomPrompt="1"/>
          </p:nvPr>
        </p:nvSpPr>
        <p:spPr bwMode="gray">
          <a:xfrm>
            <a:off x="8126400" y="39780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1" name="Bildplatzhalter 4"/>
          <p:cNvSpPr>
            <a:spLocks noGrp="1"/>
          </p:cNvSpPr>
          <p:nvPr>
            <p:ph type="pic" sz="quarter" idx="12" hasCustomPrompt="1"/>
          </p:nvPr>
        </p:nvSpPr>
        <p:spPr bwMode="gray">
          <a:xfrm>
            <a:off x="0" y="39780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2" name="Bildplatzhalter 3"/>
          <p:cNvSpPr>
            <a:spLocks noGrp="1"/>
          </p:cNvSpPr>
          <p:nvPr>
            <p:ph type="pic" sz="quarter" idx="10" hasCustomPrompt="1"/>
          </p:nvPr>
        </p:nvSpPr>
        <p:spPr bwMode="gray">
          <a:xfrm>
            <a:off x="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3" name="Bildplatzhalter 5"/>
          <p:cNvSpPr>
            <a:spLocks noGrp="1"/>
          </p:cNvSpPr>
          <p:nvPr>
            <p:ph type="pic" sz="quarter" idx="11" hasCustomPrompt="1"/>
          </p:nvPr>
        </p:nvSpPr>
        <p:spPr bwMode="gray">
          <a:xfrm>
            <a:off x="81264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4" name="Bildplatzhalter 7"/>
          <p:cNvSpPr>
            <a:spLocks noGrp="1"/>
          </p:cNvSpPr>
          <p:nvPr>
            <p:ph type="pic" sz="quarter" idx="13" hasCustomPrompt="1"/>
          </p:nvPr>
        </p:nvSpPr>
        <p:spPr bwMode="gray">
          <a:xfrm>
            <a:off x="4063200" y="39780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5" name="Bildplatzhalter 5"/>
          <p:cNvSpPr>
            <a:spLocks noGrp="1"/>
          </p:cNvSpPr>
          <p:nvPr>
            <p:ph type="pic" sz="quarter" idx="14" hasCustomPrompt="1"/>
          </p:nvPr>
        </p:nvSpPr>
        <p:spPr bwMode="gray">
          <a:xfrm>
            <a:off x="4063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Tree>
    <p:extLst>
      <p:ext uri="{BB962C8B-B14F-4D97-AF65-F5344CB8AC3E}">
        <p14:creationId xmlns:p14="http://schemas.microsoft.com/office/powerpoint/2010/main" val="33713630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6"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12" name="Bildplatzhalter 2"/>
          <p:cNvSpPr>
            <a:spLocks noGrp="1"/>
          </p:cNvSpPr>
          <p:nvPr>
            <p:ph type="pic" sz="quarter" idx="10" hasCustomPrompt="1"/>
          </p:nvPr>
        </p:nvSpPr>
        <p:spPr bwMode="gray">
          <a:xfrm>
            <a:off x="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3" name="Bildplatzhalter 23"/>
          <p:cNvSpPr>
            <a:spLocks noGrp="1"/>
          </p:cNvSpPr>
          <p:nvPr>
            <p:ph type="pic" sz="quarter" idx="11" hasCustomPrompt="1"/>
          </p:nvPr>
        </p:nvSpPr>
        <p:spPr bwMode="gray">
          <a:xfrm>
            <a:off x="0" y="30132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4" name="Bildplatzhalter 25"/>
          <p:cNvSpPr>
            <a:spLocks noGrp="1"/>
          </p:cNvSpPr>
          <p:nvPr>
            <p:ph type="pic" sz="quarter" idx="12" hasCustomPrompt="1"/>
          </p:nvPr>
        </p:nvSpPr>
        <p:spPr bwMode="gray">
          <a:xfrm>
            <a:off x="0" y="49356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5" name="Bildplatzhalter 27"/>
          <p:cNvSpPr>
            <a:spLocks noGrp="1"/>
          </p:cNvSpPr>
          <p:nvPr>
            <p:ph type="pic" sz="quarter" idx="13" hasCustomPrompt="1"/>
          </p:nvPr>
        </p:nvSpPr>
        <p:spPr bwMode="gray">
          <a:xfrm>
            <a:off x="40656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6" name="Bildplatzhalter 29"/>
          <p:cNvSpPr>
            <a:spLocks noGrp="1"/>
          </p:cNvSpPr>
          <p:nvPr>
            <p:ph type="pic" sz="quarter" idx="14" hasCustomPrompt="1"/>
          </p:nvPr>
        </p:nvSpPr>
        <p:spPr bwMode="gray">
          <a:xfrm>
            <a:off x="4065600" y="3013200"/>
            <a:ext cx="4065600" cy="19224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7" name="Bildplatzhalter 31"/>
          <p:cNvSpPr>
            <a:spLocks noGrp="1"/>
          </p:cNvSpPr>
          <p:nvPr>
            <p:ph type="pic" sz="quarter" idx="15" hasCustomPrompt="1"/>
          </p:nvPr>
        </p:nvSpPr>
        <p:spPr bwMode="gray">
          <a:xfrm>
            <a:off x="4065600" y="49356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8" name="Bildplatzhalter 33"/>
          <p:cNvSpPr>
            <a:spLocks noGrp="1"/>
          </p:cNvSpPr>
          <p:nvPr>
            <p:ph type="pic" sz="quarter" idx="16" hasCustomPrompt="1"/>
          </p:nvPr>
        </p:nvSpPr>
        <p:spPr bwMode="gray">
          <a:xfrm>
            <a:off x="81264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19" name="Bildplatzhalter 35"/>
          <p:cNvSpPr>
            <a:spLocks noGrp="1"/>
          </p:cNvSpPr>
          <p:nvPr>
            <p:ph type="pic" sz="quarter" idx="17" hasCustomPrompt="1"/>
          </p:nvPr>
        </p:nvSpPr>
        <p:spPr bwMode="gray">
          <a:xfrm>
            <a:off x="8126400" y="30132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
        <p:nvSpPr>
          <p:cNvPr id="20" name="Bildplatzhalter 37"/>
          <p:cNvSpPr>
            <a:spLocks noGrp="1"/>
          </p:cNvSpPr>
          <p:nvPr>
            <p:ph type="pic" sz="quarter" idx="18" hasCustomPrompt="1"/>
          </p:nvPr>
        </p:nvSpPr>
        <p:spPr bwMode="gray">
          <a:xfrm>
            <a:off x="8126400" y="49356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de-DE"/>
          </a:p>
        </p:txBody>
      </p:sp>
    </p:spTree>
    <p:extLst>
      <p:ext uri="{BB962C8B-B14F-4D97-AF65-F5344CB8AC3E}">
        <p14:creationId xmlns:p14="http://schemas.microsoft.com/office/powerpoint/2010/main" val="29354380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Rechteck 1"/>
          <p:cNvSpPr/>
          <p:nvPr userDrawn="1"/>
        </p:nvSpPr>
        <p:spPr>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a:solidFill>
                <a:schemeClr val="bg1"/>
              </a:solidFill>
              <a:latin typeface="Arial" pitchFamily="34" charset="0"/>
              <a:cs typeface="Arial" pitchFamily="34" charset="0"/>
            </a:endParaRPr>
          </a:p>
        </p:txBody>
      </p:sp>
      <p:sp>
        <p:nvSpPr>
          <p:cNvPr id="3" name="Medienplatzhalter 2"/>
          <p:cNvSpPr>
            <a:spLocks noGrp="1"/>
          </p:cNvSpPr>
          <p:nvPr>
            <p:ph type="media" sz="quarter" idx="17" hasCustomPrompt="1"/>
          </p:nvPr>
        </p:nvSpPr>
        <p:spPr bwMode="gray">
          <a:xfrm>
            <a:off x="-1" y="0"/>
            <a:ext cx="12201600" cy="6856226"/>
          </a:xfrm>
          <a:prstGeom prst="rect">
            <a:avLst/>
          </a:prstGeom>
        </p:spPr>
        <p:txBody>
          <a:bodyPr/>
          <a:lstStyle>
            <a:lvl1pPr marL="0" indent="0">
              <a:buNone/>
              <a:defRPr>
                <a:solidFill>
                  <a:schemeClr val="bg1"/>
                </a:solidFill>
              </a:defRPr>
            </a:lvl1pPr>
          </a:lstStyle>
          <a:p>
            <a:r>
              <a:rPr lang="en-US" noProof="0"/>
              <a:t>Click on symbol to add v</a:t>
            </a:r>
            <a:r>
              <a:rPr lang="de-DE" err="1"/>
              <a:t>ideo</a:t>
            </a:r>
            <a:r>
              <a:rPr lang="de-DE"/>
              <a:t> in 16:9 </a:t>
            </a:r>
            <a:r>
              <a:rPr lang="de-DE" err="1"/>
              <a:t>format</a:t>
            </a:r>
            <a:endParaRPr lang="de-DE"/>
          </a:p>
        </p:txBody>
      </p:sp>
    </p:spTree>
    <p:extLst>
      <p:ext uri="{BB962C8B-B14F-4D97-AF65-F5344CB8AC3E}">
        <p14:creationId xmlns:p14="http://schemas.microsoft.com/office/powerpoint/2010/main" val="2105187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9" name="Diagrammplatzhalter 8"/>
          <p:cNvSpPr>
            <a:spLocks noGrp="1"/>
          </p:cNvSpPr>
          <p:nvPr>
            <p:ph type="chart" sz="quarter" idx="13" hasCustomPrompt="1"/>
          </p:nvPr>
        </p:nvSpPr>
        <p:spPr bwMode="gray">
          <a:xfrm>
            <a:off x="335361" y="1484313"/>
            <a:ext cx="11521279" cy="4969529"/>
          </a:xfrm>
          <a:prstGeom prst="rect">
            <a:avLst/>
          </a:prstGeom>
          <a:ln>
            <a:noFill/>
            <a:miter lim="800000"/>
          </a:ln>
        </p:spPr>
        <p:txBody>
          <a:bodyPr/>
          <a:lstStyle>
            <a:lvl1pPr marL="0" indent="0">
              <a:buNone/>
              <a:defRPr/>
            </a:lvl1pPr>
          </a:lstStyle>
          <a:p>
            <a:r>
              <a:rPr lang="en-US" noProof="0"/>
              <a:t>Click on symbol to add diagram/chart</a:t>
            </a:r>
          </a:p>
        </p:txBody>
      </p:sp>
      <p:sp>
        <p:nvSpPr>
          <p:cNvPr id="6"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
        <p:nvSpPr>
          <p:cNvPr id="2" name="Fußzeilenplatzhalter 1"/>
          <p:cNvSpPr>
            <a:spLocks noGrp="1"/>
          </p:cNvSpPr>
          <p:nvPr>
            <p:ph type="ftr" sz="quarter" idx="14"/>
          </p:nvPr>
        </p:nvSpPr>
        <p:spPr/>
        <p:txBody>
          <a:bodyPr/>
          <a:lstStyle/>
          <a:p>
            <a:endParaRPr lang="de-DE"/>
          </a:p>
        </p:txBody>
      </p:sp>
      <p:sp>
        <p:nvSpPr>
          <p:cNvPr id="3" name="Foliennummernplatzhalter 2"/>
          <p:cNvSpPr>
            <a:spLocks noGrp="1"/>
          </p:cNvSpPr>
          <p:nvPr>
            <p:ph type="sldNum" sz="quarter" idx="15"/>
          </p:nvPr>
        </p:nvSpPr>
        <p:spPr/>
        <p:txBody>
          <a:bodyPr/>
          <a:lstStyle/>
          <a:p>
            <a:fld id="{A930EF64-91C9-4EBD-82F9-3643AB15A28C}" type="slidenum">
              <a:rPr lang="de-DE" smtClean="0"/>
              <a:pPr/>
              <a:t>‹#›</a:t>
            </a:fld>
            <a:endParaRPr lang="de-DE"/>
          </a:p>
        </p:txBody>
      </p:sp>
    </p:spTree>
    <p:extLst>
      <p:ext uri="{BB962C8B-B14F-4D97-AF65-F5344CB8AC3E}">
        <p14:creationId xmlns:p14="http://schemas.microsoft.com/office/powerpoint/2010/main" val="31885754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6" name="Titelplatzhalter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marL="0" lvl="0"/>
            <a:r>
              <a:rPr lang="en-US" noProof="0"/>
              <a:t>Click to add title</a:t>
            </a:r>
          </a:p>
        </p:txBody>
      </p:sp>
    </p:spTree>
    <p:extLst>
      <p:ext uri="{BB962C8B-B14F-4D97-AF65-F5344CB8AC3E}">
        <p14:creationId xmlns:p14="http://schemas.microsoft.com/office/powerpoint/2010/main" val="1276786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6" name="Rectangle 4"/>
          <p:cNvSpPr>
            <a:spLocks noChangeArrowheads="1"/>
          </p:cNvSpPr>
          <p:nvPr userDrawn="1"/>
        </p:nvSpPr>
        <p:spPr bwMode="auto">
          <a:xfrm>
            <a:off x="6096001" y="1090800"/>
            <a:ext cx="5941484"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de-DE" sz="1600"/>
              <a:t>Phone:	+49 5246 963-0  </a:t>
            </a:r>
          </a:p>
          <a:p>
            <a:pPr>
              <a:buFont typeface="Wingdings" panose="05000000000000000000" pitchFamily="2" charset="2"/>
              <a:buNone/>
            </a:pPr>
            <a:r>
              <a:rPr lang="en-US" altLang="de-DE" sz="1600"/>
              <a:t>Fax:	+49 5246 963-198</a:t>
            </a:r>
          </a:p>
          <a:p>
            <a:pPr>
              <a:buFont typeface="Wingdings" panose="05000000000000000000" pitchFamily="2" charset="2"/>
              <a:buNone/>
            </a:pPr>
            <a:r>
              <a:rPr lang="en-US" altLang="de-DE" sz="1600"/>
              <a:t>E-Mail:	info@beckhoff.com </a:t>
            </a:r>
          </a:p>
          <a:p>
            <a:pPr>
              <a:buFont typeface="Wingdings" panose="05000000000000000000" pitchFamily="2" charset="2"/>
              <a:buNone/>
            </a:pPr>
            <a:r>
              <a:rPr lang="en-US" altLang="de-DE" sz="1600"/>
              <a:t>Web:	www.beckhoff.com </a:t>
            </a:r>
            <a:r>
              <a:rPr lang="en-US" altLang="de-DE" sz="1600" b="1"/>
              <a:t> </a:t>
            </a:r>
          </a:p>
        </p:txBody>
      </p:sp>
      <p:sp>
        <p:nvSpPr>
          <p:cNvPr id="7" name="Text Box 5"/>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de-DE"/>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a:t>© Beckhoff Automation GmbH &amp; Co. KG</a:t>
            </a:r>
            <a:endParaRPr lang="de-DE"/>
          </a:p>
          <a:p>
            <a:pPr lvl="0"/>
            <a:endParaRPr lang="en-US" altLang="de-DE"/>
          </a:p>
          <a:p>
            <a:pPr lvl="0"/>
            <a:r>
              <a:rPr lang="en-US" altLang="de-DE"/>
              <a:t>All images are protected by copyright. The use and transfer to third parties is not permitted.</a:t>
            </a:r>
          </a:p>
          <a:p>
            <a:pPr lvl="0"/>
            <a:endParaRPr lang="en-US" altLang="de-DE"/>
          </a:p>
          <a:p>
            <a:pPr lvl="0"/>
            <a:r>
              <a:rPr lang="en-US" altLang="de-DE"/>
              <a:t>Beckhoff</a:t>
            </a:r>
            <a:r>
              <a:rPr lang="en-US" altLang="de-DE" baseline="30000"/>
              <a:t>®</a:t>
            </a:r>
            <a:r>
              <a:rPr lang="en-US" altLang="de-DE"/>
              <a:t>, TwinCAT</a:t>
            </a:r>
            <a:r>
              <a:rPr lang="en-US" altLang="de-DE" baseline="30000"/>
              <a:t>®</a:t>
            </a:r>
            <a:r>
              <a:rPr lang="en-US" altLang="de-DE"/>
              <a:t>, EtherCAT</a:t>
            </a:r>
            <a:r>
              <a:rPr lang="en-US" altLang="de-DE" baseline="30000"/>
              <a:t>®</a:t>
            </a:r>
            <a:r>
              <a:rPr lang="en-US" altLang="de-DE"/>
              <a:t>, EtherCAT P</a:t>
            </a:r>
            <a:r>
              <a:rPr lang="en-US" altLang="de-DE" baseline="30000"/>
              <a:t>®</a:t>
            </a:r>
            <a:r>
              <a:rPr lang="en-US" altLang="de-DE"/>
              <a:t>, Safety over EtherCAT</a:t>
            </a:r>
            <a:r>
              <a:rPr lang="en-US" altLang="de-DE" baseline="30000"/>
              <a:t>®</a:t>
            </a:r>
            <a:r>
              <a:rPr lang="en-US" altLang="de-DE"/>
              <a:t>, </a:t>
            </a:r>
            <a:r>
              <a:rPr lang="en-US" altLang="de-DE" err="1"/>
              <a:t>TwinSAFE</a:t>
            </a:r>
            <a:r>
              <a:rPr lang="en-US" altLang="de-DE" baseline="30000"/>
              <a:t>®</a:t>
            </a:r>
            <a:r>
              <a:rPr lang="en-US" altLang="de-DE"/>
              <a:t>, XFC</a:t>
            </a:r>
            <a:r>
              <a:rPr lang="en-US" altLang="de-DE" baseline="30000"/>
              <a:t>®</a:t>
            </a:r>
            <a:r>
              <a:rPr lang="en-US" altLang="de-DE"/>
              <a:t> and XTS</a:t>
            </a:r>
            <a:r>
              <a:rPr lang="en-US" altLang="de-DE" baseline="30000"/>
              <a:t>®</a:t>
            </a:r>
            <a:r>
              <a:rPr lang="en-US" altLang="de-DE"/>
              <a:t> are registered trademarks of and licensed by Beckhoff Automation GmbH. Other designations used in this presentation may be trademarks whose use by third parties for their own purposes could violate the rights of the owners.</a:t>
            </a:r>
          </a:p>
          <a:p>
            <a:pPr lvl="0"/>
            <a:endParaRPr lang="en-US" altLang="de-DE"/>
          </a:p>
          <a:p>
            <a:pPr lvl="0"/>
            <a:r>
              <a:rPr lang="en-US" altLang="de-DE"/>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9" name="Textfeld 8"/>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de-DE" sz="1600"/>
              <a:t>Beckhoff Automation GmbH &amp; Co. KG </a:t>
            </a:r>
            <a:br>
              <a:rPr lang="en-US" altLang="de-DE" sz="1600"/>
            </a:br>
            <a:r>
              <a:rPr lang="en-US" altLang="de-DE" sz="1600" b="0"/>
              <a:t>Headquarters </a:t>
            </a:r>
            <a:br>
              <a:rPr lang="en-US" altLang="de-DE" sz="1600" b="0"/>
            </a:br>
            <a:r>
              <a:rPr lang="en-US" altLang="de-DE" sz="1600" b="0"/>
              <a:t>Huelshorstweg 20 </a:t>
            </a:r>
            <a:br>
              <a:rPr lang="en-US" altLang="de-DE" sz="1600" b="0"/>
            </a:br>
            <a:r>
              <a:rPr lang="en-US" altLang="de-DE" sz="1600" b="0"/>
              <a:t>33415 Verl </a:t>
            </a:r>
            <a:br>
              <a:rPr lang="en-US" altLang="de-DE" sz="1600" b="0"/>
            </a:br>
            <a:r>
              <a:rPr lang="en-US" altLang="de-DE" sz="1600" b="0"/>
              <a:t>Germany </a:t>
            </a:r>
          </a:p>
        </p:txBody>
      </p:sp>
      <p:sp>
        <p:nvSpPr>
          <p:cNvPr id="11" name="Textfeld 10"/>
          <p:cNvSpPr txBox="1"/>
          <p:nvPr userDrawn="1"/>
        </p:nvSpPr>
        <p:spPr>
          <a:xfrm>
            <a:off x="-1" y="450787"/>
            <a:ext cx="10137600" cy="629367"/>
          </a:xfrm>
          <a:prstGeom prst="rect">
            <a:avLst/>
          </a:prstGeom>
        </p:spPr>
        <p:txBody>
          <a:bodyPr vert="horz" wrap="square" lIns="450000" tIns="144000" rIns="90000" bIns="144000" rtlCol="0" anchor="b" anchorCtr="0">
            <a:spAutoFit/>
          </a:bodyPr>
          <a:lstStyle>
            <a:defPPr>
              <a:defRPr lang="de-DE"/>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a:t>Contact</a:t>
            </a:r>
          </a:p>
        </p:txBody>
      </p:sp>
      <p:sp>
        <p:nvSpPr>
          <p:cNvPr id="12" name="Textplatzhalter 4"/>
          <p:cNvSpPr>
            <a:spLocks noGrp="1"/>
          </p:cNvSpPr>
          <p:nvPr>
            <p:ph type="body" sz="quarter" idx="11" hasCustomPrompt="1"/>
          </p:nvPr>
        </p:nvSpPr>
        <p:spPr>
          <a:xfrm>
            <a:off x="3255495" y="4206349"/>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a:t>MM/YYYY</a:t>
            </a:r>
          </a:p>
        </p:txBody>
      </p:sp>
    </p:spTree>
    <p:extLst>
      <p:ext uri="{BB962C8B-B14F-4D97-AF65-F5344CB8AC3E}">
        <p14:creationId xmlns:p14="http://schemas.microsoft.com/office/powerpoint/2010/main" val="38510568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7" name="Text Box 5"/>
          <p:cNvSpPr txBox="1">
            <a:spLocks noChangeArrowheads="1"/>
          </p:cNvSpPr>
          <p:nvPr userDrawn="1"/>
        </p:nvSpPr>
        <p:spPr bwMode="auto">
          <a:xfrm>
            <a:off x="0" y="4186655"/>
            <a:ext cx="101376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sz="1200"/>
              <a:t>© Beckhoff Automation GmbH &amp; Co. KG</a:t>
            </a:r>
          </a:p>
          <a:p>
            <a:endParaRPr lang="de-DE" altLang="de-DE" sz="1200"/>
          </a:p>
          <a:p>
            <a:pPr>
              <a:buFont typeface="Wingdings" panose="05000000000000000000" pitchFamily="2" charset="2"/>
              <a:buNone/>
            </a:pPr>
            <a:r>
              <a:rPr lang="de-DE" altLang="de-DE" sz="1200"/>
              <a:t>Alle Bilder sind urheberrechtlich geschützt. Die Weitergabe und Nutzung durch Dritte ist nicht gestattet.</a:t>
            </a:r>
          </a:p>
          <a:p>
            <a:pPr>
              <a:buFont typeface="Wingdings" panose="05000000000000000000" pitchFamily="2" charset="2"/>
              <a:buNone/>
            </a:pPr>
            <a:endParaRPr lang="de-DE" altLang="de-DE" sz="1200"/>
          </a:p>
          <a:p>
            <a:pPr>
              <a:buFont typeface="Wingdings" panose="05000000000000000000" pitchFamily="2" charset="2"/>
              <a:buNone/>
            </a:pPr>
            <a:r>
              <a:rPr lang="de-DE" sz="1200"/>
              <a:t>Beckhoff</a:t>
            </a:r>
            <a:r>
              <a:rPr lang="de-DE" sz="1200" baseline="30000"/>
              <a:t>®</a:t>
            </a:r>
            <a:r>
              <a:rPr lang="de-DE" sz="1200"/>
              <a:t>, TwinCAT</a:t>
            </a:r>
            <a:r>
              <a:rPr lang="de-DE" sz="1200" baseline="30000"/>
              <a:t>®</a:t>
            </a:r>
            <a:r>
              <a:rPr lang="de-DE" sz="1200"/>
              <a:t>, EtherCAT</a:t>
            </a:r>
            <a:r>
              <a:rPr lang="de-DE" sz="1200" baseline="30000"/>
              <a:t>®</a:t>
            </a:r>
            <a:r>
              <a:rPr lang="de-DE" sz="1200"/>
              <a:t>, EtherCAT P</a:t>
            </a:r>
            <a:r>
              <a:rPr lang="de-DE" sz="1200" baseline="30000"/>
              <a:t>®</a:t>
            </a:r>
            <a:r>
              <a:rPr lang="de-DE" sz="1200"/>
              <a:t>, Safety over EtherCAT</a:t>
            </a:r>
            <a:r>
              <a:rPr lang="de-DE" sz="1200" baseline="30000"/>
              <a:t>®</a:t>
            </a:r>
            <a:r>
              <a:rPr lang="de-DE" sz="1200"/>
              <a:t>, TwinSAFE</a:t>
            </a:r>
            <a:r>
              <a:rPr lang="de-DE" sz="1200" baseline="30000"/>
              <a:t>®</a:t>
            </a:r>
            <a:r>
              <a:rPr lang="de-DE" sz="1200"/>
              <a:t>, XFC</a:t>
            </a:r>
            <a:r>
              <a:rPr lang="de-DE" sz="1200" baseline="30000"/>
              <a:t>®</a:t>
            </a:r>
            <a:r>
              <a:rPr lang="de-DE" sz="1200"/>
              <a:t> und XTS</a:t>
            </a:r>
            <a:r>
              <a:rPr lang="de-DE" sz="1200" baseline="30000"/>
              <a:t>®</a:t>
            </a:r>
            <a:r>
              <a:rPr lang="de-DE" sz="1200"/>
              <a:t> sind eingetragene und lizenzierte Marken der Beckhoff Automation GmbH. </a:t>
            </a:r>
            <a:r>
              <a:rPr lang="de-DE" altLang="de-DE" sz="1200"/>
              <a:t>Die Verwendung anderer in dieser Präsentation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a:p>
          <a:p>
            <a:pPr>
              <a:buFont typeface="Wingdings" panose="05000000000000000000" pitchFamily="2" charset="2"/>
              <a:buNone/>
            </a:pPr>
            <a:r>
              <a:rPr lang="de-DE" altLang="de-DE" sz="1200"/>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6" name="Rectangle 4"/>
          <p:cNvSpPr>
            <a:spLocks noChangeArrowheads="1"/>
          </p:cNvSpPr>
          <p:nvPr userDrawn="1"/>
        </p:nvSpPr>
        <p:spPr bwMode="auto">
          <a:xfrm>
            <a:off x="6096001" y="1090800"/>
            <a:ext cx="5941484"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a:t>Telefon:	+49 5246 963-0  </a:t>
            </a:r>
          </a:p>
          <a:p>
            <a:pPr>
              <a:buFont typeface="Wingdings" panose="05000000000000000000" pitchFamily="2" charset="2"/>
              <a:buNone/>
            </a:pPr>
            <a:r>
              <a:rPr lang="de-DE" altLang="de-DE" sz="1600"/>
              <a:t>Fax:	+49 5246 963-198</a:t>
            </a:r>
          </a:p>
          <a:p>
            <a:pPr>
              <a:buFont typeface="Wingdings" panose="05000000000000000000" pitchFamily="2" charset="2"/>
              <a:buNone/>
            </a:pPr>
            <a:r>
              <a:rPr lang="de-DE" altLang="de-DE" sz="1600"/>
              <a:t>E-Mail:	info@beckhoff.de</a:t>
            </a:r>
          </a:p>
          <a:p>
            <a:pPr>
              <a:buFont typeface="Wingdings" panose="05000000000000000000" pitchFamily="2" charset="2"/>
              <a:buNone/>
            </a:pPr>
            <a:r>
              <a:rPr lang="de-DE" altLang="de-DE" sz="1600"/>
              <a:t>Web:	www.beckhoff.de</a:t>
            </a:r>
            <a:r>
              <a:rPr lang="de-DE" altLang="de-DE" sz="1600" b="1"/>
              <a:t> </a:t>
            </a:r>
          </a:p>
        </p:txBody>
      </p:sp>
      <p:sp>
        <p:nvSpPr>
          <p:cNvPr id="9" name="Textfeld 8"/>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en-US" altLang="de-DE" sz="1600"/>
              <a:t>Beckhoff Automation GmbH &amp; Co. KG </a:t>
            </a:r>
            <a:br>
              <a:rPr lang="en-US" altLang="de-DE" sz="1600"/>
            </a:br>
            <a:r>
              <a:rPr lang="de-DE" altLang="de-DE" sz="1600" b="0">
                <a:solidFill>
                  <a:srgbClr val="000000"/>
                </a:solidFill>
                <a:latin typeface="Arial"/>
                <a:cs typeface="+mn-cs"/>
              </a:rPr>
              <a:t>Unternehmenszentrale</a:t>
            </a:r>
          </a:p>
          <a:p>
            <a:pPr marL="0" lvl="0" indent="0">
              <a:spcBef>
                <a:spcPts val="0"/>
              </a:spcBef>
              <a:buNone/>
            </a:pPr>
            <a:r>
              <a:rPr lang="de-DE" altLang="de-DE" sz="1600" b="0">
                <a:solidFill>
                  <a:srgbClr val="000000"/>
                </a:solidFill>
                <a:latin typeface="Arial"/>
                <a:cs typeface="+mn-cs"/>
              </a:rPr>
              <a:t>Hülshorstweg 20</a:t>
            </a:r>
          </a:p>
          <a:p>
            <a:pPr marL="0" lvl="0" indent="0">
              <a:spcBef>
                <a:spcPts val="0"/>
              </a:spcBef>
              <a:buNone/>
            </a:pPr>
            <a:r>
              <a:rPr lang="de-DE" altLang="de-DE" sz="1600" b="0">
                <a:solidFill>
                  <a:srgbClr val="000000"/>
                </a:solidFill>
                <a:latin typeface="Arial"/>
                <a:cs typeface="+mn-cs"/>
              </a:rPr>
              <a:t>33415 Verl</a:t>
            </a:r>
          </a:p>
          <a:p>
            <a:pPr marL="0" lvl="0" indent="0">
              <a:spcBef>
                <a:spcPts val="0"/>
              </a:spcBef>
              <a:buNone/>
            </a:pPr>
            <a:r>
              <a:rPr lang="de-DE" altLang="de-DE" sz="1600" b="0">
                <a:solidFill>
                  <a:srgbClr val="000000"/>
                </a:solidFill>
                <a:latin typeface="Arial"/>
                <a:cs typeface="+mn-cs"/>
              </a:rPr>
              <a:t>Deutschland</a:t>
            </a:r>
          </a:p>
          <a:p>
            <a:pPr lvl="0"/>
            <a:endParaRPr lang="en-US" altLang="de-DE" sz="1600" b="0"/>
          </a:p>
        </p:txBody>
      </p:sp>
      <p:sp>
        <p:nvSpPr>
          <p:cNvPr id="11" name="Textfeld 10"/>
          <p:cNvSpPr txBox="1"/>
          <p:nvPr userDrawn="1"/>
        </p:nvSpPr>
        <p:spPr>
          <a:xfrm>
            <a:off x="-1" y="450787"/>
            <a:ext cx="10137600" cy="629367"/>
          </a:xfrm>
          <a:prstGeom prst="rect">
            <a:avLst/>
          </a:prstGeom>
        </p:spPr>
        <p:txBody>
          <a:bodyPr vert="horz" wrap="square" lIns="450000" tIns="144000" rIns="90000" bIns="144000" rtlCol="0" anchor="b"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a:t>Kontakt </a:t>
            </a:r>
          </a:p>
        </p:txBody>
      </p:sp>
      <p:sp>
        <p:nvSpPr>
          <p:cNvPr id="8" name="Textplatzhalter 4"/>
          <p:cNvSpPr>
            <a:spLocks noGrp="1"/>
          </p:cNvSpPr>
          <p:nvPr>
            <p:ph type="body" sz="quarter" idx="11" hasCustomPrompt="1"/>
          </p:nvPr>
        </p:nvSpPr>
        <p:spPr>
          <a:xfrm>
            <a:off x="3255495" y="4206349"/>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a:t>MM/YYYY</a:t>
            </a:r>
          </a:p>
        </p:txBody>
      </p:sp>
    </p:spTree>
    <p:extLst>
      <p:ext uri="{BB962C8B-B14F-4D97-AF65-F5344CB8AC3E}">
        <p14:creationId xmlns:p14="http://schemas.microsoft.com/office/powerpoint/2010/main" val="33859228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4" name="Title">
            <a:extLst>
              <a:ext uri="{FF2B5EF4-FFF2-40B4-BE49-F238E27FC236}">
                <a16:creationId xmlns:a16="http://schemas.microsoft.com/office/drawing/2014/main" id="{9030D639-0DC9-4081-8A98-1A8F8593892C}"/>
              </a:ext>
            </a:extLst>
          </p:cNvPr>
          <p:cNvSpPr>
            <a:spLocks noGrp="1"/>
          </p:cNvSpPr>
          <p:nvPr>
            <p:ph type="title"/>
          </p:nvPr>
        </p:nvSpPr>
        <p:spPr/>
        <p:txBody>
          <a:bodyPr/>
          <a:lstStyle/>
          <a:p>
            <a:r>
              <a:rPr lang="de-DE" noProof="0"/>
              <a:t>Mastertitelformat bearbeiten</a:t>
            </a:r>
            <a:endParaRPr lang="en-US" noProof="0"/>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t="10" b="10"/>
          <a:stretch>
            <a:fillRect/>
          </a:stretch>
        </p:blipFill>
        <p:spPr bwMode="gray">
          <a:xfrm>
            <a:off x="0" y="1090613"/>
            <a:ext cx="12199938" cy="5767387"/>
          </a:xfrm>
          <a:prstGeom prst="rect">
            <a:avLst/>
          </a:prstGeom>
        </p:spPr>
      </p:pic>
    </p:spTree>
    <p:extLst>
      <p:ext uri="{BB962C8B-B14F-4D97-AF65-F5344CB8AC3E}">
        <p14:creationId xmlns:p14="http://schemas.microsoft.com/office/powerpoint/2010/main" val="1904974950"/>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p:txBody>
          <a:bodyPr/>
          <a:lstStyle/>
          <a:p>
            <a:fld id="{A930EF64-91C9-4EBD-82F9-3643AB15A28C}" type="slidenum">
              <a:rPr lang="en-US" noProof="0" smtClean="0"/>
              <a:pPr/>
              <a:t>‹#›</a:t>
            </a:fld>
            <a:endParaRPr lang="en-US" noProof="0"/>
          </a:p>
        </p:txBody>
      </p:sp>
      <p:pic>
        <p:nvPicPr>
          <p:cNvPr id="7" name="Bildplatzhalter 4">
            <a:extLst>
              <a:ext uri="{FF2B5EF4-FFF2-40B4-BE49-F238E27FC236}">
                <a16:creationId xmlns:a16="http://schemas.microsoft.com/office/drawing/2014/main" id="{7F7E3B65-0AB7-4975-9B5F-2DC6FD749BC3}"/>
              </a:ext>
            </a:extLst>
          </p:cNvPr>
          <p:cNvPicPr>
            <a:picLocks noChangeAspect="1"/>
          </p:cNvPicPr>
          <p:nvPr userDrawn="1"/>
        </p:nvPicPr>
        <p:blipFill>
          <a:blip r:embed="rId2"/>
          <a:srcRect t="10" b="10"/>
          <a:stretch>
            <a:fillRect/>
          </a:stretch>
        </p:blipFill>
        <p:spPr bwMode="gray">
          <a:xfrm>
            <a:off x="0" y="1090613"/>
            <a:ext cx="12199938" cy="5767387"/>
          </a:xfrm>
          <a:prstGeom prst="rect">
            <a:avLst/>
          </a:prstGeom>
        </p:spPr>
      </p:pic>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solidFill>
            <a:schemeClr val="bg1">
              <a:alpha val="75000"/>
            </a:schemeClr>
          </a:solid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p:nvPr>
        </p:nvSpPr>
        <p:spPr/>
        <p:txBody>
          <a:bodyPr/>
          <a:lstStyle/>
          <a:p>
            <a:r>
              <a:rPr lang="de-DE" noProof="0"/>
              <a:t>Mastertitelformat bearbeiten</a:t>
            </a:r>
            <a:endParaRPr lang="en-US" noProof="0"/>
          </a:p>
        </p:txBody>
      </p:sp>
    </p:spTree>
    <p:extLst>
      <p:ext uri="{BB962C8B-B14F-4D97-AF65-F5344CB8AC3E}">
        <p14:creationId xmlns:p14="http://schemas.microsoft.com/office/powerpoint/2010/main" val="143234255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a:t>Speaker Name </a:t>
            </a:r>
            <a:br>
              <a:rPr lang="en-US" noProof="0"/>
            </a:br>
            <a:r>
              <a:rPr lang="en-US" noProof="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DC54ACFE-5BF1-41ED-8695-26F17FF498C1}"/>
              </a:ext>
            </a:extLst>
          </p:cNvPr>
          <p:cNvPicPr>
            <a:picLocks noChangeAspect="1"/>
          </p:cNvPicPr>
          <p:nvPr userDrawn="1"/>
        </p:nvPicPr>
        <p:blipFill rotWithShape="1">
          <a:blip r:embed="rId3"/>
          <a:srcRect l="7934" r="7934"/>
          <a:stretch/>
        </p:blipFill>
        <p:spPr>
          <a:xfrm>
            <a:off x="6098400" y="0"/>
            <a:ext cx="6094475" cy="6858000"/>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176259228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for Speaker – Version 3">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C4DB5B76-F41A-4B9A-92CC-7CBE8C6EF1E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871D1B19-4FC7-4864-9AAF-3307DBABF0D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a:t>Speaker Name </a:t>
            </a:r>
            <a:br>
              <a:rPr lang="en-US" noProof="0"/>
            </a:br>
            <a:r>
              <a:rPr lang="en-US" noProof="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41FE4FCD-3091-4AF3-93F5-D428D9B9B6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8400" y="0"/>
            <a:ext cx="6094475" cy="6857999"/>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26520522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6510481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5272207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8136000" y="3981600"/>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8136000" y="1090799"/>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39533410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451382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4321414"/>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5864130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799"/>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4" name="Title"/>
          <p:cNvSpPr>
            <a:spLocks noGrp="1"/>
          </p:cNvSpPr>
          <p:nvPr>
            <p:ph type="title" hasCustomPrompt="1"/>
          </p:nvPr>
        </p:nvSpPr>
        <p:spPr>
          <a:xfrm>
            <a:off x="0" y="450001"/>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051853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3045600" cy="2883600"/>
          </a:xfr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p:txBody>
      </p:sp>
      <p:sp>
        <p:nvSpPr>
          <p:cNvPr id="3" name="Picture Placeholder 2"/>
          <p:cNvSpPr>
            <a:spLocks noGrp="1"/>
          </p:cNvSpPr>
          <p:nvPr>
            <p:ph type="pic" sz="quarter" idx="16" hasCustomPrompt="1"/>
          </p:nvPr>
        </p:nvSpPr>
        <p:spPr bwMode="gray">
          <a:xfrm>
            <a:off x="6098400" y="3981600"/>
            <a:ext cx="3045600" cy="2883600"/>
          </a:xfr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78065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0"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7351559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6851439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baseline="0"/>
            </a:lvl1pPr>
          </a:lstStyle>
          <a:p>
            <a:pPr lvl="0"/>
            <a:r>
              <a:rPr lang="en-US" noProof="0"/>
              <a:t>Click to edit text</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973679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0" name="Picture Placeholder 1"/>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sz="1800" baseline="0"/>
            </a:lvl1pPr>
            <a:lvl2pPr marL="360362" indent="0">
              <a:buNone/>
              <a:defRPr/>
            </a:lvl2pPr>
          </a:lstStyle>
          <a:p>
            <a:pPr lvl="0"/>
            <a:r>
              <a:rPr lang="en-US" noProof="0"/>
              <a:t>Click to edit text </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838844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5116482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5" name="Title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18577539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4541835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9181446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1" name="Picture Placeholder 3"/>
          <p:cNvSpPr>
            <a:spLocks noGrp="1"/>
          </p:cNvSpPr>
          <p:nvPr>
            <p:ph type="pic" sz="quarter" idx="12" hasCustomPrompt="1"/>
          </p:nvPr>
        </p:nvSpPr>
        <p:spPr bwMode="gray">
          <a:xfrm>
            <a:off x="81360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p:cNvSpPr>
            <a:spLocks noGrp="1"/>
          </p:cNvSpPr>
          <p:nvPr>
            <p:ph type="pic" sz="quarter" idx="10" hasCustomPrompt="1"/>
          </p:nvPr>
        </p:nvSpPr>
        <p:spPr bwMode="gray">
          <a:xfrm>
            <a:off x="-7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3713630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3020400"/>
            <a:ext cx="4065600" cy="19224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3"/>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44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p:cNvSpPr>
            <a:spLocks noGrp="1"/>
          </p:cNvSpPr>
          <p:nvPr>
            <p:ph type="pic" sz="quarter" idx="10" hasCustomPrompt="1"/>
          </p:nvPr>
        </p:nvSpPr>
        <p:spPr bwMode="gray">
          <a:xfrm>
            <a:off x="-72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9354380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a:t>Click on symbol to add v</a:t>
            </a:r>
            <a:r>
              <a:rPr lang="en-US" err="1"/>
              <a:t>ideo</a:t>
            </a:r>
            <a:r>
              <a:rPr lang="en-US"/>
              <a:t> in 16:9 </a:t>
            </a:r>
            <a:r>
              <a:rPr lang="en-US" err="1"/>
              <a:t>format</a:t>
            </a:r>
            <a:endParaRPr lang="en-US"/>
          </a:p>
        </p:txBody>
      </p:sp>
    </p:spTree>
    <p:extLst>
      <p:ext uri="{BB962C8B-B14F-4D97-AF65-F5344CB8AC3E}">
        <p14:creationId xmlns:p14="http://schemas.microsoft.com/office/powerpoint/2010/main" val="2105187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318857549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6722247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marL="0" lvl="0"/>
            <a:r>
              <a:rPr lang="en-US" noProof="0"/>
              <a:t>Click to add title</a:t>
            </a:r>
          </a:p>
        </p:txBody>
      </p:sp>
    </p:spTree>
    <p:extLst>
      <p:ext uri="{BB962C8B-B14F-4D97-AF65-F5344CB8AC3E}">
        <p14:creationId xmlns:p14="http://schemas.microsoft.com/office/powerpoint/2010/main" val="12767865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a:t>© Beckhoff Automation GmbH &amp; Co. KG</a:t>
            </a:r>
          </a:p>
          <a:p>
            <a:pPr lvl="0"/>
            <a:endParaRPr lang="en-US" altLang="en-US" noProof="0"/>
          </a:p>
          <a:p>
            <a:pPr lvl="0"/>
            <a:r>
              <a:rPr lang="en-US" altLang="en-US" noProof="0"/>
              <a:t>All images are protected by copyright. The use and transfer to third parties is not permitted.</a:t>
            </a:r>
          </a:p>
          <a:p>
            <a:pPr lvl="0"/>
            <a:endParaRPr lang="en-US" altLang="en-US" noProof="0"/>
          </a:p>
          <a:p>
            <a:pPr lvl="0"/>
            <a:r>
              <a:rPr lang="en-US" altLang="en-US" noProof="0"/>
              <a:t>Beckhoff</a:t>
            </a:r>
            <a:r>
              <a:rPr lang="en-US" altLang="en-US" baseline="30000" noProof="0"/>
              <a:t>®</a:t>
            </a:r>
            <a:r>
              <a:rPr lang="en-US" altLang="en-US" noProof="0"/>
              <a:t>, </a:t>
            </a:r>
            <a:r>
              <a:rPr lang="en-US" altLang="en-US" noProof="0" err="1"/>
              <a:t>TwinCAT</a:t>
            </a:r>
            <a:r>
              <a:rPr lang="en-US" altLang="en-US" baseline="30000" noProof="0"/>
              <a:t>®</a:t>
            </a:r>
            <a:r>
              <a:rPr lang="en-US" altLang="en-US" noProof="0"/>
              <a:t>, </a:t>
            </a:r>
            <a:r>
              <a:rPr lang="en-US" altLang="en-US" noProof="0" err="1"/>
              <a:t>TwinCAT</a:t>
            </a:r>
            <a:r>
              <a:rPr lang="en-US" altLang="en-US" noProof="0"/>
              <a:t>/BSD</a:t>
            </a:r>
            <a:r>
              <a:rPr lang="en-US" altLang="en-US" baseline="30000" noProof="0"/>
              <a:t>®</a:t>
            </a:r>
            <a:r>
              <a:rPr lang="en-US" altLang="en-US" noProof="0"/>
              <a:t>, TC/BSD</a:t>
            </a:r>
            <a:r>
              <a:rPr lang="en-US" altLang="en-US" baseline="30000" noProof="0"/>
              <a:t>®</a:t>
            </a:r>
            <a:r>
              <a:rPr lang="en-US" altLang="en-US" noProof="0"/>
              <a:t>, </a:t>
            </a:r>
            <a:r>
              <a:rPr lang="en-US" altLang="en-US" noProof="0" err="1"/>
              <a:t>EtherCAT</a:t>
            </a:r>
            <a:r>
              <a:rPr lang="en-US" altLang="en-US" baseline="30000" noProof="0"/>
              <a:t>®</a:t>
            </a:r>
            <a:r>
              <a:rPr lang="en-US" altLang="en-US" noProof="0"/>
              <a:t>, </a:t>
            </a:r>
            <a:r>
              <a:rPr lang="en-US" altLang="en-US" noProof="0" err="1"/>
              <a:t>EtherCAT</a:t>
            </a:r>
            <a:r>
              <a:rPr lang="en-US" altLang="en-US" noProof="0"/>
              <a:t> G</a:t>
            </a:r>
            <a:r>
              <a:rPr lang="en-US" altLang="en-US" baseline="30000" noProof="0"/>
              <a:t>®</a:t>
            </a:r>
            <a:r>
              <a:rPr lang="en-US" altLang="en-US" noProof="0"/>
              <a:t>, </a:t>
            </a:r>
            <a:r>
              <a:rPr lang="en-US" altLang="en-US" noProof="0" err="1"/>
              <a:t>EtherCAT</a:t>
            </a:r>
            <a:r>
              <a:rPr lang="en-US" altLang="en-US" noProof="0"/>
              <a:t> G10</a:t>
            </a:r>
            <a:r>
              <a:rPr lang="en-US" altLang="en-US" baseline="30000" noProof="0"/>
              <a:t>®</a:t>
            </a:r>
            <a:r>
              <a:rPr lang="en-US" altLang="en-US" noProof="0"/>
              <a:t>, </a:t>
            </a:r>
            <a:r>
              <a:rPr lang="en-US" altLang="en-US" noProof="0" err="1"/>
              <a:t>EtherCAT</a:t>
            </a:r>
            <a:r>
              <a:rPr lang="en-US" altLang="en-US" noProof="0"/>
              <a:t> P</a:t>
            </a:r>
            <a:r>
              <a:rPr lang="en-US" altLang="en-US" baseline="30000" noProof="0"/>
              <a:t>®</a:t>
            </a:r>
            <a:r>
              <a:rPr lang="en-US" altLang="en-US" noProof="0"/>
              <a:t>, Safety over </a:t>
            </a:r>
            <a:r>
              <a:rPr lang="en-US" altLang="en-US" noProof="0" err="1"/>
              <a:t>EtherCAT</a:t>
            </a:r>
            <a:r>
              <a:rPr lang="en-US" altLang="en-US" baseline="30000" noProof="0"/>
              <a:t>®</a:t>
            </a:r>
            <a:r>
              <a:rPr lang="en-US" altLang="en-US" noProof="0"/>
              <a:t>, </a:t>
            </a:r>
            <a:r>
              <a:rPr lang="en-US" altLang="en-US" noProof="0" err="1"/>
              <a:t>TwinSAFE</a:t>
            </a:r>
            <a:r>
              <a:rPr lang="en-US" altLang="en-US" baseline="30000" noProof="0"/>
              <a:t>®</a:t>
            </a:r>
            <a:r>
              <a:rPr lang="en-US" altLang="en-US" noProof="0"/>
              <a:t>, XFC</a:t>
            </a:r>
            <a:r>
              <a:rPr lang="en-US" altLang="en-US" baseline="30000" noProof="0"/>
              <a:t>®</a:t>
            </a:r>
            <a:r>
              <a:rPr lang="en-US" altLang="en-US" noProof="0"/>
              <a:t>, XTS</a:t>
            </a:r>
            <a:r>
              <a:rPr lang="en-US" altLang="en-US" baseline="30000" noProof="0"/>
              <a:t>®</a:t>
            </a:r>
            <a:r>
              <a:rPr lang="en-US" altLang="en-US" noProof="0"/>
              <a:t> and </a:t>
            </a:r>
            <a:r>
              <a:rPr lang="en-US" altLang="en-US" noProof="0" err="1"/>
              <a:t>XPlanar</a:t>
            </a:r>
            <a:r>
              <a:rPr lang="en-US" altLang="en-US" baseline="30000" noProof="0"/>
              <a:t>®</a:t>
            </a:r>
            <a:r>
              <a:rPr lang="en-US" altLang="en-US" noProof="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a:p>
          <a:p>
            <a:pPr lvl="0"/>
            <a:r>
              <a:rPr lang="en-US" altLang="en-US" noProof="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a:t>Phone:	+49 5246 963-0  </a:t>
            </a:r>
          </a:p>
          <a:p>
            <a:pPr>
              <a:buFont typeface="Wingdings" panose="05000000000000000000" pitchFamily="2" charset="2"/>
              <a:buNone/>
            </a:pPr>
            <a:r>
              <a:rPr lang="en-US" altLang="en-US" sz="1600" noProof="0"/>
              <a:t>E-mail:	info@beckhoff.com </a:t>
            </a:r>
          </a:p>
          <a:p>
            <a:pPr>
              <a:buFont typeface="Wingdings" panose="05000000000000000000" pitchFamily="2" charset="2"/>
              <a:buNone/>
            </a:pPr>
            <a:r>
              <a:rPr lang="en-US" altLang="en-US" sz="1600" noProof="0"/>
              <a:t>Web:	www.beckhoff.com </a:t>
            </a:r>
            <a:r>
              <a:rPr lang="en-US" altLang="en-US" sz="1600" b="1" noProof="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a:t>Beckhoff Automation GmbH &amp; Co. KG </a:t>
            </a:r>
            <a:br>
              <a:rPr lang="en-US" altLang="en-US" sz="1600" noProof="0"/>
            </a:br>
            <a:r>
              <a:rPr lang="en-US" altLang="en-US" sz="1600" b="0" noProof="0"/>
              <a:t>Headquarters </a:t>
            </a:r>
            <a:br>
              <a:rPr lang="en-US" altLang="en-US" sz="1600" b="0" noProof="0"/>
            </a:br>
            <a:r>
              <a:rPr lang="en-US" altLang="en-US" sz="1600" b="0" noProof="0"/>
              <a:t>Huelshorstweg 20 </a:t>
            </a:r>
            <a:br>
              <a:rPr lang="en-US" altLang="en-US" sz="1600" b="0" noProof="0"/>
            </a:br>
            <a:r>
              <a:rPr lang="en-US" altLang="en-US" sz="1600" b="0" noProof="0"/>
              <a:t>33415 Verl </a:t>
            </a:r>
            <a:br>
              <a:rPr lang="en-US" altLang="en-US" sz="1600" b="0" noProof="0"/>
            </a:br>
            <a:r>
              <a:rPr lang="en-US" altLang="en-US" sz="1600" b="0" noProof="0"/>
              <a:t>Germany </a:t>
            </a:r>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a:t>Contact</a:t>
            </a:r>
          </a:p>
        </p:txBody>
      </p:sp>
    </p:spTree>
    <p:extLst>
      <p:ext uri="{BB962C8B-B14F-4D97-AF65-F5344CB8AC3E}">
        <p14:creationId xmlns:p14="http://schemas.microsoft.com/office/powerpoint/2010/main" val="38510568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37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a:latin typeface="+mj-lt"/>
              </a:rPr>
              <a:t>© Beckhoff Automation GmbH &amp; Co. KG</a:t>
            </a:r>
          </a:p>
          <a:p>
            <a:endParaRPr lang="de-DE" altLang="de-DE" sz="1200" noProof="0">
              <a:latin typeface="+mj-lt"/>
            </a:endParaRPr>
          </a:p>
          <a:p>
            <a:pPr>
              <a:buFont typeface="Wingdings" panose="05000000000000000000" pitchFamily="2" charset="2"/>
              <a:buNone/>
            </a:pPr>
            <a:r>
              <a:rPr lang="de-DE" altLang="de-DE" sz="1200" noProof="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a:latin typeface="+mj-lt"/>
            </a:endParaRPr>
          </a:p>
          <a:p>
            <a:pPr>
              <a:buFont typeface="Wingdings" panose="05000000000000000000" pitchFamily="2" charset="2"/>
              <a:buNone/>
            </a:pPr>
            <a:r>
              <a:rPr lang="de-DE" sz="1200" b="0" i="0">
                <a:solidFill>
                  <a:srgbClr val="111111"/>
                </a:solidFill>
                <a:effectLst/>
                <a:latin typeface="+mj-lt"/>
              </a:rPr>
              <a:t>Beckhoff</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TwinCAT</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TwinCAT</a:t>
            </a:r>
            <a:r>
              <a:rPr lang="de-DE" sz="1200" b="0" i="0">
                <a:solidFill>
                  <a:srgbClr val="111111"/>
                </a:solidFill>
                <a:effectLst/>
                <a:latin typeface="+mj-lt"/>
              </a:rPr>
              <a:t>/BSD</a:t>
            </a:r>
            <a:r>
              <a:rPr lang="de-DE" sz="1200" b="0" i="0" baseline="30000">
                <a:solidFill>
                  <a:srgbClr val="111111"/>
                </a:solidFill>
                <a:effectLst/>
                <a:latin typeface="+mj-lt"/>
              </a:rPr>
              <a:t>®</a:t>
            </a:r>
            <a:r>
              <a:rPr lang="de-DE" sz="1200" b="0" i="0">
                <a:solidFill>
                  <a:srgbClr val="111111"/>
                </a:solidFill>
                <a:effectLst/>
                <a:latin typeface="+mj-lt"/>
              </a:rPr>
              <a:t>, TC/BSD</a:t>
            </a:r>
            <a:r>
              <a:rPr lang="de-DE" sz="1200" b="0" i="0" baseline="30000">
                <a:solidFill>
                  <a:srgbClr val="111111"/>
                </a:solidFill>
                <a:effectLst/>
                <a:latin typeface="+mj-lt"/>
              </a:rPr>
              <a:t>®</a:t>
            </a:r>
            <a:r>
              <a:rPr lang="de-DE" sz="1200" b="0" i="0">
                <a:solidFill>
                  <a:srgbClr val="111111"/>
                </a:solidFill>
                <a:effectLst/>
                <a:latin typeface="+mj-lt"/>
              </a:rPr>
              <a:t>, EtherCAT</a:t>
            </a:r>
            <a:r>
              <a:rPr lang="de-DE" sz="1200" b="0" i="0" baseline="30000">
                <a:solidFill>
                  <a:srgbClr val="111111"/>
                </a:solidFill>
                <a:effectLst/>
                <a:latin typeface="+mj-lt"/>
              </a:rPr>
              <a:t>®</a:t>
            </a:r>
            <a:r>
              <a:rPr lang="de-DE" sz="1200" b="0" i="0">
                <a:solidFill>
                  <a:srgbClr val="111111"/>
                </a:solidFill>
                <a:effectLst/>
                <a:latin typeface="+mj-lt"/>
              </a:rPr>
              <a:t>, EtherCAT G</a:t>
            </a:r>
            <a:r>
              <a:rPr lang="de-DE" sz="1200" b="0" i="0" baseline="30000">
                <a:solidFill>
                  <a:srgbClr val="111111"/>
                </a:solidFill>
                <a:effectLst/>
                <a:latin typeface="+mj-lt"/>
              </a:rPr>
              <a:t>®</a:t>
            </a:r>
            <a:r>
              <a:rPr lang="de-DE" sz="1200" b="0" i="0">
                <a:solidFill>
                  <a:srgbClr val="111111"/>
                </a:solidFill>
                <a:effectLst/>
                <a:latin typeface="+mj-lt"/>
              </a:rPr>
              <a:t>, EtherCAT G10</a:t>
            </a:r>
            <a:r>
              <a:rPr lang="de-DE" sz="1200" b="0" i="0" baseline="30000">
                <a:solidFill>
                  <a:srgbClr val="111111"/>
                </a:solidFill>
                <a:effectLst/>
                <a:latin typeface="+mj-lt"/>
              </a:rPr>
              <a:t>®</a:t>
            </a:r>
            <a:r>
              <a:rPr lang="de-DE" sz="1200" b="0" i="0">
                <a:solidFill>
                  <a:srgbClr val="111111"/>
                </a:solidFill>
                <a:effectLst/>
                <a:latin typeface="+mj-lt"/>
              </a:rPr>
              <a:t>, EtherCAT P</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Safety</a:t>
            </a:r>
            <a:r>
              <a:rPr lang="de-DE" sz="1200" b="0" i="0">
                <a:solidFill>
                  <a:srgbClr val="111111"/>
                </a:solidFill>
                <a:effectLst/>
                <a:latin typeface="+mj-lt"/>
              </a:rPr>
              <a:t> </a:t>
            </a:r>
            <a:r>
              <a:rPr lang="de-DE" sz="1200" b="0" i="0" err="1">
                <a:solidFill>
                  <a:srgbClr val="111111"/>
                </a:solidFill>
                <a:effectLst/>
                <a:latin typeface="+mj-lt"/>
              </a:rPr>
              <a:t>over</a:t>
            </a:r>
            <a:r>
              <a:rPr lang="de-DE" sz="1200" b="0" i="0">
                <a:solidFill>
                  <a:srgbClr val="111111"/>
                </a:solidFill>
                <a:effectLst/>
                <a:latin typeface="+mj-lt"/>
              </a:rPr>
              <a:t> EtherCAT</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TwinSAFE</a:t>
            </a:r>
            <a:r>
              <a:rPr lang="de-DE" sz="1200" b="0" i="0" baseline="30000">
                <a:solidFill>
                  <a:srgbClr val="111111"/>
                </a:solidFill>
                <a:effectLst/>
                <a:latin typeface="+mj-lt"/>
              </a:rPr>
              <a:t>®</a:t>
            </a:r>
            <a:r>
              <a:rPr lang="de-DE" sz="1200" b="0" i="0">
                <a:solidFill>
                  <a:srgbClr val="111111"/>
                </a:solidFill>
                <a:effectLst/>
                <a:latin typeface="+mj-lt"/>
              </a:rPr>
              <a:t>, XFC</a:t>
            </a:r>
            <a:r>
              <a:rPr lang="de-DE" sz="1200" b="0" i="0" baseline="30000">
                <a:solidFill>
                  <a:srgbClr val="111111"/>
                </a:solidFill>
                <a:effectLst/>
                <a:latin typeface="+mj-lt"/>
              </a:rPr>
              <a:t>®</a:t>
            </a:r>
            <a:r>
              <a:rPr lang="de-DE" sz="1200" b="0" i="0">
                <a:solidFill>
                  <a:srgbClr val="111111"/>
                </a:solidFill>
                <a:effectLst/>
                <a:latin typeface="+mj-lt"/>
              </a:rPr>
              <a:t>, XTS</a:t>
            </a:r>
            <a:r>
              <a:rPr lang="de-DE" sz="1200" b="0" i="0" baseline="30000">
                <a:solidFill>
                  <a:srgbClr val="111111"/>
                </a:solidFill>
                <a:effectLst/>
                <a:latin typeface="+mj-lt"/>
              </a:rPr>
              <a:t>®</a:t>
            </a:r>
            <a:r>
              <a:rPr lang="de-DE" sz="1200" b="0" i="0">
                <a:solidFill>
                  <a:srgbClr val="111111"/>
                </a:solidFill>
                <a:effectLst/>
                <a:latin typeface="+mj-lt"/>
              </a:rPr>
              <a:t> und </a:t>
            </a:r>
            <a:r>
              <a:rPr lang="de-DE" sz="1200" b="0" i="0" err="1">
                <a:solidFill>
                  <a:srgbClr val="111111"/>
                </a:solidFill>
                <a:effectLst/>
                <a:latin typeface="+mj-lt"/>
              </a:rPr>
              <a:t>XPlanar</a:t>
            </a:r>
            <a:r>
              <a:rPr lang="de-DE" sz="1200" b="0" i="0" baseline="30000">
                <a:solidFill>
                  <a:srgbClr val="111111"/>
                </a:solidFill>
                <a:effectLst/>
                <a:latin typeface="+mj-lt"/>
              </a:rPr>
              <a:t>®</a:t>
            </a:r>
            <a:r>
              <a:rPr lang="de-DE" sz="1200" b="0" i="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a:latin typeface="+mj-lt"/>
            </a:endParaRPr>
          </a:p>
          <a:p>
            <a:pPr>
              <a:buFont typeface="Wingdings" panose="05000000000000000000" pitchFamily="2" charset="2"/>
              <a:buNone/>
            </a:pPr>
            <a:r>
              <a:rPr lang="de-DE" altLang="de-DE" sz="1200" noProof="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a:t>Telefon:	+49 5246 963-0  </a:t>
            </a:r>
          </a:p>
          <a:p>
            <a:pPr>
              <a:buFont typeface="Wingdings" panose="05000000000000000000" pitchFamily="2" charset="2"/>
              <a:buNone/>
            </a:pPr>
            <a:r>
              <a:rPr lang="de-DE" altLang="de-DE" sz="1600" noProof="0"/>
              <a:t>E-Mail:	info@beckhoff.de</a:t>
            </a:r>
          </a:p>
          <a:p>
            <a:pPr>
              <a:buFont typeface="Wingdings" panose="05000000000000000000" pitchFamily="2" charset="2"/>
              <a:buNone/>
            </a:pPr>
            <a:r>
              <a:rPr lang="de-DE" altLang="de-DE" sz="1600" noProof="0"/>
              <a:t>Web:	www.beckhoff.de</a:t>
            </a:r>
            <a:r>
              <a:rPr lang="de-DE" altLang="de-DE" sz="1600" b="1" noProof="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a:t>Beckhoff Automation GmbH &amp; Co. KG </a:t>
            </a:r>
            <a:br>
              <a:rPr lang="de-DE" altLang="de-DE" sz="1600" noProof="0"/>
            </a:br>
            <a:r>
              <a:rPr lang="de-DE" altLang="de-DE" sz="1600" b="0" noProof="0">
                <a:solidFill>
                  <a:srgbClr val="000000"/>
                </a:solidFill>
                <a:latin typeface="Arial"/>
                <a:cs typeface="+mn-cs"/>
              </a:rPr>
              <a:t>Unternehmenszentrale</a:t>
            </a:r>
          </a:p>
          <a:p>
            <a:pPr marL="0" lvl="0" indent="0">
              <a:spcBef>
                <a:spcPts val="0"/>
              </a:spcBef>
              <a:buNone/>
            </a:pPr>
            <a:r>
              <a:rPr lang="de-DE" altLang="de-DE" sz="1600" b="0" noProof="0">
                <a:solidFill>
                  <a:srgbClr val="000000"/>
                </a:solidFill>
                <a:latin typeface="Arial"/>
                <a:cs typeface="+mn-cs"/>
              </a:rPr>
              <a:t>Hülshorstweg 20</a:t>
            </a:r>
          </a:p>
          <a:p>
            <a:pPr marL="0" lvl="0" indent="0">
              <a:spcBef>
                <a:spcPts val="0"/>
              </a:spcBef>
              <a:buNone/>
            </a:pPr>
            <a:r>
              <a:rPr lang="de-DE" altLang="de-DE" sz="1600" b="0" noProof="0">
                <a:solidFill>
                  <a:srgbClr val="000000"/>
                </a:solidFill>
                <a:latin typeface="Arial"/>
                <a:cs typeface="+mn-cs"/>
              </a:rPr>
              <a:t>33415 Verl</a:t>
            </a:r>
          </a:p>
          <a:p>
            <a:pPr marL="0" lvl="0" indent="0">
              <a:spcBef>
                <a:spcPts val="0"/>
              </a:spcBef>
              <a:buNone/>
            </a:pPr>
            <a:r>
              <a:rPr lang="de-DE" altLang="de-DE" sz="1600" b="0" noProof="0">
                <a:solidFill>
                  <a:srgbClr val="000000"/>
                </a:solidFill>
                <a:latin typeface="Arial"/>
                <a:cs typeface="+mn-cs"/>
              </a:rPr>
              <a:t>Deutschland</a:t>
            </a:r>
          </a:p>
          <a:p>
            <a:pPr lvl="0"/>
            <a:endParaRPr lang="de-DE" altLang="de-DE" sz="1600" b="0" noProof="0"/>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a:t>Kontakt </a:t>
            </a:r>
          </a:p>
        </p:txBody>
      </p:sp>
    </p:spTree>
    <p:extLst>
      <p:ext uri="{BB962C8B-B14F-4D97-AF65-F5344CB8AC3E}">
        <p14:creationId xmlns:p14="http://schemas.microsoft.com/office/powerpoint/2010/main" val="33859228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a:t>© Beckhoff Automation </a:t>
            </a:r>
          </a:p>
          <a:p>
            <a:pPr lvl="0"/>
            <a:endParaRPr lang="en-US" altLang="en-US" noProof="0"/>
          </a:p>
          <a:p>
            <a:pPr lvl="0"/>
            <a:r>
              <a:rPr lang="en-US" altLang="en-US" noProof="0"/>
              <a:t>All images are protected by copyright. The use and transfer to third parties is not permitted.</a:t>
            </a:r>
          </a:p>
          <a:p>
            <a:pPr lvl="0"/>
            <a:endParaRPr lang="en-US" altLang="en-US" noProof="0"/>
          </a:p>
          <a:p>
            <a:pPr lvl="0"/>
            <a:r>
              <a:rPr lang="en-US" altLang="en-US" noProof="0"/>
              <a:t>Beckhoff</a:t>
            </a:r>
            <a:r>
              <a:rPr lang="en-US" altLang="en-US" baseline="30000" noProof="0"/>
              <a:t>®</a:t>
            </a:r>
            <a:r>
              <a:rPr lang="en-US" altLang="en-US" noProof="0"/>
              <a:t>, </a:t>
            </a:r>
            <a:r>
              <a:rPr lang="en-US" altLang="en-US" noProof="0" err="1"/>
              <a:t>TwinCAT</a:t>
            </a:r>
            <a:r>
              <a:rPr lang="en-US" altLang="en-US" baseline="30000" noProof="0"/>
              <a:t>®</a:t>
            </a:r>
            <a:r>
              <a:rPr lang="en-US" altLang="en-US" noProof="0"/>
              <a:t>, </a:t>
            </a:r>
            <a:r>
              <a:rPr lang="en-US" altLang="en-US" noProof="0" err="1"/>
              <a:t>TwinCAT</a:t>
            </a:r>
            <a:r>
              <a:rPr lang="en-US" altLang="en-US" noProof="0"/>
              <a:t>/BSD</a:t>
            </a:r>
            <a:r>
              <a:rPr lang="en-US" altLang="en-US" baseline="30000" noProof="0"/>
              <a:t>®</a:t>
            </a:r>
            <a:r>
              <a:rPr lang="en-US" altLang="en-US" noProof="0"/>
              <a:t>, TC/BSD</a:t>
            </a:r>
            <a:r>
              <a:rPr lang="en-US" altLang="en-US" baseline="30000" noProof="0"/>
              <a:t>®</a:t>
            </a:r>
            <a:r>
              <a:rPr lang="en-US" altLang="en-US" noProof="0"/>
              <a:t>, </a:t>
            </a:r>
            <a:r>
              <a:rPr lang="en-US" altLang="en-US" noProof="0" err="1"/>
              <a:t>EtherCAT</a:t>
            </a:r>
            <a:r>
              <a:rPr lang="en-US" altLang="en-US" baseline="30000" noProof="0"/>
              <a:t>®</a:t>
            </a:r>
            <a:r>
              <a:rPr lang="en-US" altLang="en-US" noProof="0"/>
              <a:t>, </a:t>
            </a:r>
            <a:r>
              <a:rPr lang="en-US" altLang="en-US" noProof="0" err="1"/>
              <a:t>EtherCAT</a:t>
            </a:r>
            <a:r>
              <a:rPr lang="en-US" altLang="en-US" noProof="0"/>
              <a:t> G</a:t>
            </a:r>
            <a:r>
              <a:rPr lang="en-US" altLang="en-US" baseline="30000" noProof="0"/>
              <a:t>®</a:t>
            </a:r>
            <a:r>
              <a:rPr lang="en-US" altLang="en-US" noProof="0"/>
              <a:t>, </a:t>
            </a:r>
            <a:r>
              <a:rPr lang="en-US" altLang="en-US" noProof="0" err="1"/>
              <a:t>EtherCAT</a:t>
            </a:r>
            <a:r>
              <a:rPr lang="en-US" altLang="en-US" noProof="0"/>
              <a:t> G10</a:t>
            </a:r>
            <a:r>
              <a:rPr lang="en-US" altLang="en-US" baseline="30000" noProof="0"/>
              <a:t>®</a:t>
            </a:r>
            <a:r>
              <a:rPr lang="en-US" altLang="en-US" noProof="0"/>
              <a:t>, </a:t>
            </a:r>
            <a:r>
              <a:rPr lang="en-US" altLang="en-US" noProof="0" err="1"/>
              <a:t>EtherCAT</a:t>
            </a:r>
            <a:r>
              <a:rPr lang="en-US" altLang="en-US" noProof="0"/>
              <a:t> P</a:t>
            </a:r>
            <a:r>
              <a:rPr lang="en-US" altLang="en-US" baseline="30000" noProof="0"/>
              <a:t>®</a:t>
            </a:r>
            <a:r>
              <a:rPr lang="en-US" altLang="en-US" noProof="0"/>
              <a:t>, Safety over </a:t>
            </a:r>
            <a:r>
              <a:rPr lang="en-US" altLang="en-US" noProof="0" err="1"/>
              <a:t>EtherCAT</a:t>
            </a:r>
            <a:r>
              <a:rPr lang="en-US" altLang="en-US" baseline="30000" noProof="0"/>
              <a:t>®</a:t>
            </a:r>
            <a:r>
              <a:rPr lang="en-US" altLang="en-US" noProof="0"/>
              <a:t>, </a:t>
            </a:r>
            <a:r>
              <a:rPr lang="en-US" altLang="en-US" noProof="0" err="1"/>
              <a:t>TwinSAFE</a:t>
            </a:r>
            <a:r>
              <a:rPr lang="en-US" altLang="en-US" baseline="30000" noProof="0"/>
              <a:t>®</a:t>
            </a:r>
            <a:r>
              <a:rPr lang="en-US" altLang="en-US" noProof="0"/>
              <a:t>, XFC</a:t>
            </a:r>
            <a:r>
              <a:rPr lang="en-US" altLang="en-US" baseline="30000" noProof="0"/>
              <a:t>®</a:t>
            </a:r>
            <a:r>
              <a:rPr lang="en-US" altLang="en-US" noProof="0"/>
              <a:t>, XTS</a:t>
            </a:r>
            <a:r>
              <a:rPr lang="en-US" altLang="en-US" baseline="30000" noProof="0"/>
              <a:t>®</a:t>
            </a:r>
            <a:r>
              <a:rPr lang="en-US" altLang="en-US" noProof="0"/>
              <a:t> and </a:t>
            </a:r>
            <a:r>
              <a:rPr lang="en-US" altLang="en-US" noProof="0" err="1"/>
              <a:t>XPlanar</a:t>
            </a:r>
            <a:r>
              <a:rPr lang="en-US" altLang="en-US" baseline="30000" noProof="0"/>
              <a:t>®</a:t>
            </a:r>
            <a:r>
              <a:rPr lang="en-US" altLang="en-US" noProof="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a:p>
          <a:p>
            <a:pPr lvl="0"/>
            <a:r>
              <a:rPr lang="en-US" altLang="en-US" noProof="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a:t>Click to add title</a:t>
            </a:r>
          </a:p>
        </p:txBody>
      </p:sp>
    </p:spTree>
    <p:extLst>
      <p:ext uri="{BB962C8B-B14F-4D97-AF65-F5344CB8AC3E}">
        <p14:creationId xmlns:p14="http://schemas.microsoft.com/office/powerpoint/2010/main" val="32207065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4" name="Title">
            <a:extLst>
              <a:ext uri="{FF2B5EF4-FFF2-40B4-BE49-F238E27FC236}">
                <a16:creationId xmlns:a16="http://schemas.microsoft.com/office/drawing/2014/main" id="{9030D639-0DC9-4081-8A98-1A8F8593892C}"/>
              </a:ext>
            </a:extLst>
          </p:cNvPr>
          <p:cNvSpPr>
            <a:spLocks noGrp="1"/>
          </p:cNvSpPr>
          <p:nvPr>
            <p:ph type="title"/>
          </p:nvPr>
        </p:nvSpPr>
        <p:spPr/>
        <p:txBody>
          <a:bodyPr/>
          <a:lstStyle/>
          <a:p>
            <a:r>
              <a:rPr lang="en-US" noProof="0"/>
              <a:t>Click to edit Master title style</a:t>
            </a:r>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t="10" b="10"/>
          <a:stretch>
            <a:fillRect/>
          </a:stretch>
        </p:blipFill>
        <p:spPr bwMode="gray">
          <a:xfrm>
            <a:off x="0" y="1090613"/>
            <a:ext cx="12199938" cy="5767387"/>
          </a:xfrm>
          <a:prstGeom prst="rect">
            <a:avLst/>
          </a:prstGeom>
        </p:spPr>
      </p:pic>
    </p:spTree>
    <p:extLst>
      <p:ext uri="{BB962C8B-B14F-4D97-AF65-F5344CB8AC3E}">
        <p14:creationId xmlns:p14="http://schemas.microsoft.com/office/powerpoint/2010/main" val="2330237401"/>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p:txBody>
          <a:bodyPr/>
          <a:lstStyle/>
          <a:p>
            <a:fld id="{A930EF64-91C9-4EBD-82F9-3643AB15A28C}" type="slidenum">
              <a:rPr lang="en-US" noProof="0" smtClean="0"/>
              <a:pPr/>
              <a:t>‹#›</a:t>
            </a:fld>
            <a:endParaRPr lang="en-US" noProof="0"/>
          </a:p>
        </p:txBody>
      </p:sp>
      <p:pic>
        <p:nvPicPr>
          <p:cNvPr id="7" name="Bildplatzhalter 4">
            <a:extLst>
              <a:ext uri="{FF2B5EF4-FFF2-40B4-BE49-F238E27FC236}">
                <a16:creationId xmlns:a16="http://schemas.microsoft.com/office/drawing/2014/main" id="{7F7E3B65-0AB7-4975-9B5F-2DC6FD749BC3}"/>
              </a:ext>
            </a:extLst>
          </p:cNvPr>
          <p:cNvPicPr>
            <a:picLocks noChangeAspect="1"/>
          </p:cNvPicPr>
          <p:nvPr userDrawn="1"/>
        </p:nvPicPr>
        <p:blipFill>
          <a:blip r:embed="rId2"/>
          <a:srcRect t="10" b="10"/>
          <a:stretch>
            <a:fillRect/>
          </a:stretch>
        </p:blipFill>
        <p:spPr bwMode="gray">
          <a:xfrm>
            <a:off x="0" y="1090613"/>
            <a:ext cx="12199938" cy="5767387"/>
          </a:xfrm>
          <a:prstGeom prst="rect">
            <a:avLst/>
          </a:prstGeom>
        </p:spPr>
      </p:pic>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solidFill>
            <a:schemeClr val="bg1">
              <a:alpha val="75000"/>
            </a:schemeClr>
          </a:solid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104424774"/>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DC54ACFE-5BF1-41ED-8695-26F17FF498C1}"/>
              </a:ext>
            </a:extLst>
          </p:cNvPr>
          <p:cNvPicPr>
            <a:picLocks noChangeAspect="1"/>
          </p:cNvPicPr>
          <p:nvPr userDrawn="1"/>
        </p:nvPicPr>
        <p:blipFill rotWithShape="1">
          <a:blip r:embed="rId3"/>
          <a:srcRect l="7934" r="7934"/>
          <a:stretch/>
        </p:blipFill>
        <p:spPr>
          <a:xfrm>
            <a:off x="6098400" y="0"/>
            <a:ext cx="6094475" cy="6858000"/>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2965391210"/>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for Speaker – Version 3">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C4DB5B76-F41A-4B9A-92CC-7CBE8C6EF1EF}"/>
              </a:ext>
            </a:extLst>
          </p:cNvPr>
          <p:cNvSpPr>
            <a:spLocks noGrp="1"/>
          </p:cNvSpPr>
          <p:nvPr>
            <p:ph type="ftr" sz="quarter" idx="10"/>
          </p:nvPr>
        </p:nvSpPr>
        <p:spPr/>
        <p:txBody>
          <a:bodyPr/>
          <a:lstStyle/>
          <a:p>
            <a:r>
              <a:rPr lang="en-US" noProof="0" dirty="0"/>
              <a:t>Footer text</a:t>
            </a:r>
          </a:p>
        </p:txBody>
      </p:sp>
      <p:sp>
        <p:nvSpPr>
          <p:cNvPr id="6" name="Slide Number Placeholder">
            <a:extLst>
              <a:ext uri="{FF2B5EF4-FFF2-40B4-BE49-F238E27FC236}">
                <a16:creationId xmlns:a16="http://schemas.microsoft.com/office/drawing/2014/main" id="{871D1B19-4FC7-4864-9AAF-3307DBABF0DF}"/>
              </a:ext>
            </a:extLst>
          </p:cNvPr>
          <p:cNvSpPr>
            <a:spLocks noGrp="1"/>
          </p:cNvSpPr>
          <p:nvPr>
            <p:ph type="sldNum" sz="quarter" idx="11"/>
          </p:nvPr>
        </p:nvSpPr>
        <p:spPr/>
        <p:txBody>
          <a:bodyPr/>
          <a:lstStyle/>
          <a:p>
            <a:fld id="{A930EF64-91C9-4EBD-82F9-3643AB15A28C}" type="slidenum">
              <a:rPr lang="en-US" noProof="0" smtClean="0"/>
              <a:pPr/>
              <a:t>‹#›</a:t>
            </a:fld>
            <a:endParaRPr lang="en-US" noProof="0" dirty="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a:defRPr lang="en-US" noProof="0" dirty="0"/>
            </a:lvl1pPr>
          </a:lstStyle>
          <a:p>
            <a:pPr lvl="0"/>
            <a:r>
              <a:rPr lang="en-US" noProof="0" dirty="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41FE4FCD-3091-4AF3-93F5-D428D9B9B6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8400" y="0"/>
            <a:ext cx="6094475" cy="6857999"/>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1738874064"/>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281591456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43296235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8136000" y="3981600"/>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8136000" y="1090799"/>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580841219"/>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77020013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4321414"/>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07930195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799"/>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4" name="Title"/>
          <p:cNvSpPr>
            <a:spLocks noGrp="1"/>
          </p:cNvSpPr>
          <p:nvPr>
            <p:ph type="title" hasCustomPrompt="1"/>
          </p:nvPr>
        </p:nvSpPr>
        <p:spPr>
          <a:xfrm>
            <a:off x="0" y="450001"/>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8365329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3045600" cy="2883600"/>
          </a:xfr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p:txBody>
      </p:sp>
      <p:sp>
        <p:nvSpPr>
          <p:cNvPr id="3" name="Picture Placeholder 2"/>
          <p:cNvSpPr>
            <a:spLocks noGrp="1"/>
          </p:cNvSpPr>
          <p:nvPr>
            <p:ph type="pic" sz="quarter" idx="16" hasCustomPrompt="1"/>
          </p:nvPr>
        </p:nvSpPr>
        <p:spPr bwMode="gray">
          <a:xfrm>
            <a:off x="6098400" y="3981600"/>
            <a:ext cx="3045600" cy="2883600"/>
          </a:xfrm>
          <a:ln w="6350">
            <a:solidFill>
              <a:schemeClr val="bg1">
                <a:lumMod val="95000"/>
              </a:schemeClr>
            </a:solidFill>
            <a:miter lim="800000"/>
          </a:ln>
        </p:spPr>
        <p:txBody>
          <a:bodyPr/>
          <a:lstStyle>
            <a:lvl1pPr marL="0" indent="0">
              <a:buNone/>
              <a:defRPr/>
            </a:lvl1pPr>
          </a:lstStyle>
          <a:p>
            <a:r>
              <a:rPr lang="en-US" noProof="0" dirty="0"/>
              <a:t>Click on symbol to add picture</a:t>
            </a:r>
          </a:p>
        </p:txBody>
      </p:sp>
      <p:sp>
        <p:nvSpPr>
          <p:cNvPr id="4" name="Picture Placeholder 1"/>
          <p:cNvSpPr>
            <a:spLocks noGrp="1"/>
          </p:cNvSpPr>
          <p:nvPr>
            <p:ph type="pic" sz="quarter" idx="14"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05863012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0"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98184881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5478274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baseline="0"/>
            </a:lvl1pPr>
          </a:lstStyle>
          <a:p>
            <a:pPr lvl="0"/>
            <a:r>
              <a:rPr lang="en-US" noProof="0"/>
              <a:t>Click to edit text</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339427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0" name="Picture Placeholder 1"/>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sz="1800" baseline="0"/>
            </a:lvl1pPr>
            <a:lvl2pPr marL="360362" indent="0">
              <a:buNone/>
              <a:defRPr/>
            </a:lvl2pPr>
          </a:lstStyle>
          <a:p>
            <a:pPr lvl="0"/>
            <a:r>
              <a:rPr lang="en-US" noProof="0" dirty="0"/>
              <a:t>Click to edit text </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70548120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04491808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5" name="Title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3838715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27470615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2720853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1" name="Picture Placeholder 3"/>
          <p:cNvSpPr>
            <a:spLocks noGrp="1"/>
          </p:cNvSpPr>
          <p:nvPr>
            <p:ph type="pic" sz="quarter" idx="12" hasCustomPrompt="1"/>
          </p:nvPr>
        </p:nvSpPr>
        <p:spPr bwMode="gray">
          <a:xfrm>
            <a:off x="81360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280495541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3020400"/>
            <a:ext cx="4065600" cy="19224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4" name="Picture Placeholder 3"/>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3" name="Picture Placeholder 2"/>
          <p:cNvSpPr>
            <a:spLocks noGrp="1"/>
          </p:cNvSpPr>
          <p:nvPr>
            <p:ph type="pic" sz="quarter" idx="11" hasCustomPrompt="1"/>
          </p:nvPr>
        </p:nvSpPr>
        <p:spPr bwMode="gray">
          <a:xfrm>
            <a:off x="40644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3342280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dirty="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dirty="0"/>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dirty="0"/>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dirty="0"/>
              <a:t>Click on symbol to add v</a:t>
            </a:r>
            <a:r>
              <a:rPr lang="en-US" dirty="0" err="1"/>
              <a:t>ideo</a:t>
            </a:r>
            <a:r>
              <a:rPr lang="en-US" dirty="0"/>
              <a:t> in 16:9 </a:t>
            </a:r>
            <a:r>
              <a:rPr lang="en-US" dirty="0" err="1"/>
              <a:t>format</a:t>
            </a:r>
            <a:endParaRPr lang="en-US" dirty="0"/>
          </a:p>
        </p:txBody>
      </p:sp>
    </p:spTree>
    <p:extLst>
      <p:ext uri="{BB962C8B-B14F-4D97-AF65-F5344CB8AC3E}">
        <p14:creationId xmlns:p14="http://schemas.microsoft.com/office/powerpoint/2010/main" val="351266508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75928306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55265101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marL="0" lvl="0"/>
            <a:r>
              <a:rPr lang="en-US" noProof="0"/>
              <a:t>Click to add title</a:t>
            </a:r>
          </a:p>
        </p:txBody>
      </p:sp>
    </p:spTree>
    <p:extLst>
      <p:ext uri="{BB962C8B-B14F-4D97-AF65-F5344CB8AC3E}">
        <p14:creationId xmlns:p14="http://schemas.microsoft.com/office/powerpoint/2010/main" val="254900889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Empty silver-blue ">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pic>
        <p:nvPicPr>
          <p:cNvPr id="2" name="Picture 2">
            <a:extLst>
              <a:ext uri="{FF2B5EF4-FFF2-40B4-BE49-F238E27FC236}">
                <a16:creationId xmlns:a16="http://schemas.microsoft.com/office/drawing/2014/main" id="{3BC4754F-FBBF-564A-F9F1-0EB0D45DFDA2}"/>
              </a:ext>
            </a:extLst>
          </p:cNvPr>
          <p:cNvPicPr>
            <a:picLocks noChangeAspect="1"/>
          </p:cNvPicPr>
          <p:nvPr userDrawn="1"/>
        </p:nvPicPr>
        <p:blipFill>
          <a:blip r:embed="rId2"/>
          <a:stretch>
            <a:fillRect/>
          </a:stretch>
        </p:blipFill>
        <p:spPr>
          <a:xfrm>
            <a:off x="0" y="1089024"/>
            <a:ext cx="12192000" cy="5768975"/>
          </a:xfrm>
          <a:prstGeom prst="rect">
            <a:avLst/>
          </a:prstGeom>
          <a:ln w="6350">
            <a:solidFill>
              <a:schemeClr val="bg1">
                <a:lumMod val="95000"/>
              </a:schemeClr>
            </a:solidFill>
          </a:ln>
        </p:spPr>
      </p:pic>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solidFill>
                  <a:schemeClr val="bg1"/>
                </a:solidFill>
              </a:defRPr>
            </a:lvl1pPr>
          </a:lstStyle>
          <a:p>
            <a:pPr marL="0" lvl="0"/>
            <a:r>
              <a:rPr lang="en-US" noProof="0" dirty="0"/>
              <a:t>Click to add title</a:t>
            </a:r>
          </a:p>
        </p:txBody>
      </p:sp>
    </p:spTree>
    <p:extLst>
      <p:ext uri="{BB962C8B-B14F-4D97-AF65-F5344CB8AC3E}">
        <p14:creationId xmlns:p14="http://schemas.microsoft.com/office/powerpoint/2010/main" val="235733195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dirty="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dirty="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GmbH &amp; Co. KG</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dirty="0"/>
              <a:t>Phone:	+49 5246 963-0  </a:t>
            </a:r>
          </a:p>
          <a:p>
            <a:pPr>
              <a:buFont typeface="Wingdings" panose="05000000000000000000" pitchFamily="2" charset="2"/>
              <a:buNone/>
            </a:pPr>
            <a:r>
              <a:rPr lang="en-US" altLang="en-US" sz="1600" noProof="0" dirty="0"/>
              <a:t>E-mail:	info@beckhoff.com </a:t>
            </a:r>
          </a:p>
          <a:p>
            <a:pPr>
              <a:buFont typeface="Wingdings" panose="05000000000000000000" pitchFamily="2" charset="2"/>
              <a:buNone/>
            </a:pPr>
            <a:r>
              <a:rPr lang="en-US" altLang="en-US" sz="1600" noProof="0" dirty="0"/>
              <a:t>Web:	www.beckhoff.com </a:t>
            </a:r>
            <a:r>
              <a:rPr lang="en-US" altLang="en-US" sz="1600" b="1" noProof="0" dirty="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dirty="0"/>
              <a:t>Beckhoff Automation GmbH &amp; Co. KG </a:t>
            </a:r>
            <a:br>
              <a:rPr lang="en-US" altLang="en-US" sz="1600" noProof="0" dirty="0"/>
            </a:br>
            <a:r>
              <a:rPr lang="en-US" altLang="en-US" sz="1600" b="0" noProof="0" dirty="0"/>
              <a:t>Headquarters </a:t>
            </a:r>
            <a:br>
              <a:rPr lang="en-US" altLang="en-US" sz="1600" b="0" noProof="0" dirty="0"/>
            </a:br>
            <a:r>
              <a:rPr lang="en-US" altLang="en-US" sz="1600" b="0" noProof="0" dirty="0"/>
              <a:t>Huelshorstweg 20 </a:t>
            </a:r>
            <a:br>
              <a:rPr lang="en-US" altLang="en-US" sz="1600" b="0" noProof="0" dirty="0"/>
            </a:br>
            <a:r>
              <a:rPr lang="en-US" altLang="en-US" sz="1600" b="0" noProof="0" dirty="0"/>
              <a:t>33415 Verl </a:t>
            </a:r>
            <a:br>
              <a:rPr lang="en-US" altLang="en-US" sz="1600" b="0" noProof="0" dirty="0"/>
            </a:br>
            <a:r>
              <a:rPr lang="en-US" altLang="en-US" sz="1600" b="0" noProof="0" dirty="0"/>
              <a:t>Germany </a:t>
            </a:r>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dirty="0"/>
              <a:t>Contact</a:t>
            </a:r>
          </a:p>
        </p:txBody>
      </p:sp>
    </p:spTree>
    <p:extLst>
      <p:ext uri="{BB962C8B-B14F-4D97-AF65-F5344CB8AC3E}">
        <p14:creationId xmlns:p14="http://schemas.microsoft.com/office/powerpoint/2010/main" val="272663166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53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dirty="0">
                <a:latin typeface="+mj-lt"/>
              </a:rPr>
              <a:t>© Beckhoff Automation GmbH &amp; Co. KG</a:t>
            </a:r>
          </a:p>
          <a:p>
            <a:endParaRPr lang="de-DE" altLang="de-DE" sz="1200" noProof="0" dirty="0">
              <a:latin typeface="+mj-lt"/>
            </a:endParaRPr>
          </a:p>
          <a:p>
            <a:pPr>
              <a:buFont typeface="Wingdings" panose="05000000000000000000" pitchFamily="2" charset="2"/>
              <a:buNone/>
            </a:pPr>
            <a:r>
              <a:rPr lang="de-DE" altLang="de-DE" sz="1200" noProof="0" dirty="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sz="1200" b="0" i="0" dirty="0">
                <a:solidFill>
                  <a:srgbClr val="111111"/>
                </a:solidFill>
                <a:effectLst/>
                <a:latin typeface="+mj-lt"/>
              </a:rPr>
              <a:t>Beckhoff</a:t>
            </a:r>
            <a:r>
              <a:rPr lang="de-DE" sz="1200" b="0" i="0" baseline="30000" dirty="0">
                <a:solidFill>
                  <a:srgbClr val="111111"/>
                </a:solidFill>
                <a:effectLst/>
                <a:latin typeface="+mj-lt"/>
              </a:rPr>
              <a:t>®</a:t>
            </a:r>
            <a:r>
              <a:rPr lang="de-DE" sz="1200" b="0" i="0" dirty="0">
                <a:solidFill>
                  <a:srgbClr val="111111"/>
                </a:solidFill>
                <a:effectLst/>
                <a:latin typeface="+mj-lt"/>
              </a:rPr>
              <a:t>, TwinCAT</a:t>
            </a:r>
            <a:r>
              <a:rPr lang="de-DE" sz="1200" b="0" i="0" baseline="30000" dirty="0">
                <a:solidFill>
                  <a:srgbClr val="111111"/>
                </a:solidFill>
                <a:effectLst/>
                <a:latin typeface="+mj-lt"/>
              </a:rPr>
              <a:t>®</a:t>
            </a:r>
            <a:r>
              <a:rPr lang="de-DE" sz="1200" b="0" i="0" dirty="0">
                <a:solidFill>
                  <a:srgbClr val="111111"/>
                </a:solidFill>
                <a:effectLst/>
                <a:latin typeface="+mj-lt"/>
              </a:rPr>
              <a:t>, TwinCAT/BSD</a:t>
            </a:r>
            <a:r>
              <a:rPr lang="de-DE" sz="1200" b="0" i="0" baseline="30000" dirty="0">
                <a:solidFill>
                  <a:srgbClr val="111111"/>
                </a:solidFill>
                <a:effectLst/>
                <a:latin typeface="+mj-lt"/>
              </a:rPr>
              <a:t>®</a:t>
            </a:r>
            <a:r>
              <a:rPr lang="de-DE" sz="1200" b="0" i="0" dirty="0">
                <a:solidFill>
                  <a:srgbClr val="111111"/>
                </a:solidFill>
                <a:effectLst/>
                <a:latin typeface="+mj-lt"/>
              </a:rPr>
              <a:t>, TC/BSD</a:t>
            </a:r>
            <a:r>
              <a:rPr lang="de-DE" sz="1200" b="0" i="0" baseline="30000" dirty="0">
                <a:solidFill>
                  <a:srgbClr val="111111"/>
                </a:solidFill>
                <a:effectLst/>
                <a:latin typeface="+mj-lt"/>
              </a:rPr>
              <a:t>®</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EtherCAT G</a:t>
            </a:r>
            <a:r>
              <a:rPr lang="de-DE" sz="1200" b="0" i="0" baseline="30000" dirty="0">
                <a:solidFill>
                  <a:srgbClr val="111111"/>
                </a:solidFill>
                <a:effectLst/>
                <a:latin typeface="+mj-lt"/>
              </a:rPr>
              <a:t>®</a:t>
            </a:r>
            <a:r>
              <a:rPr lang="de-DE" sz="1200" b="0" i="0" dirty="0">
                <a:solidFill>
                  <a:srgbClr val="111111"/>
                </a:solidFill>
                <a:effectLst/>
                <a:latin typeface="+mj-lt"/>
              </a:rPr>
              <a:t>, EtherCAT G10</a:t>
            </a:r>
            <a:r>
              <a:rPr lang="de-DE" sz="1200" b="0" i="0" baseline="30000" dirty="0">
                <a:solidFill>
                  <a:srgbClr val="111111"/>
                </a:solidFill>
                <a:effectLst/>
                <a:latin typeface="+mj-lt"/>
              </a:rPr>
              <a:t>®</a:t>
            </a:r>
            <a:r>
              <a:rPr lang="de-DE" sz="1200" b="0" i="0" dirty="0">
                <a:solidFill>
                  <a:srgbClr val="111111"/>
                </a:solidFill>
                <a:effectLst/>
                <a:latin typeface="+mj-lt"/>
              </a:rPr>
              <a:t>, EtherCAT P</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Safety</a:t>
            </a:r>
            <a:r>
              <a:rPr lang="de-DE" sz="1200" b="0" i="0" dirty="0">
                <a:solidFill>
                  <a:srgbClr val="111111"/>
                </a:solidFill>
                <a:effectLst/>
                <a:latin typeface="+mj-lt"/>
              </a:rPr>
              <a:t> </a:t>
            </a:r>
            <a:r>
              <a:rPr lang="de-DE" sz="1200" b="0" i="0" dirty="0" err="1">
                <a:solidFill>
                  <a:srgbClr val="111111"/>
                </a:solidFill>
                <a:effectLst/>
                <a:latin typeface="+mj-lt"/>
              </a:rPr>
              <a:t>over</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TwinSAFE</a:t>
            </a:r>
            <a:r>
              <a:rPr lang="de-DE" sz="1200" b="0" i="0" baseline="30000" dirty="0">
                <a:solidFill>
                  <a:srgbClr val="111111"/>
                </a:solidFill>
                <a:effectLst/>
                <a:latin typeface="+mj-lt"/>
              </a:rPr>
              <a:t>®</a:t>
            </a:r>
            <a:r>
              <a:rPr lang="de-DE" sz="1200" b="0" i="0" dirty="0">
                <a:solidFill>
                  <a:srgbClr val="111111"/>
                </a:solidFill>
                <a:effectLst/>
                <a:latin typeface="+mj-lt"/>
              </a:rPr>
              <a:t>, XFC</a:t>
            </a:r>
            <a:r>
              <a:rPr lang="de-DE" sz="1200" b="0" i="0" baseline="30000" dirty="0">
                <a:solidFill>
                  <a:srgbClr val="111111"/>
                </a:solidFill>
                <a:effectLst/>
                <a:latin typeface="+mj-lt"/>
              </a:rPr>
              <a:t>®</a:t>
            </a:r>
            <a:r>
              <a:rPr lang="de-DE" sz="1200" b="0" i="0" dirty="0">
                <a:solidFill>
                  <a:srgbClr val="111111"/>
                </a:solidFill>
                <a:effectLst/>
                <a:latin typeface="+mj-lt"/>
              </a:rPr>
              <a:t>, XTS</a:t>
            </a:r>
            <a:r>
              <a:rPr lang="de-DE" sz="1200" b="0" i="0" baseline="30000" dirty="0">
                <a:solidFill>
                  <a:srgbClr val="111111"/>
                </a:solidFill>
                <a:effectLst/>
                <a:latin typeface="+mj-lt"/>
              </a:rPr>
              <a:t>®</a:t>
            </a:r>
            <a:r>
              <a:rPr lang="de-DE" sz="1200" b="0" i="0" dirty="0">
                <a:solidFill>
                  <a:srgbClr val="111111"/>
                </a:solidFill>
                <a:effectLst/>
                <a:latin typeface="+mj-lt"/>
              </a:rPr>
              <a:t> und </a:t>
            </a:r>
            <a:r>
              <a:rPr lang="de-DE" sz="1200" b="0" i="0" dirty="0" err="1">
                <a:solidFill>
                  <a:srgbClr val="111111"/>
                </a:solidFill>
                <a:effectLst/>
                <a:latin typeface="+mj-lt"/>
              </a:rPr>
              <a:t>XPlanar</a:t>
            </a:r>
            <a:r>
              <a:rPr lang="de-DE" sz="1200" b="0" i="0" baseline="30000" dirty="0">
                <a:solidFill>
                  <a:srgbClr val="111111"/>
                </a:solidFill>
                <a:effectLst/>
                <a:latin typeface="+mj-lt"/>
              </a:rPr>
              <a:t>®</a:t>
            </a:r>
            <a:r>
              <a:rPr lang="de-DE" sz="1200" b="0" i="0" dirty="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altLang="de-DE" sz="1200" noProof="0" dirty="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dirty="0"/>
              <a:t>Telefon:	+49 5246 963-0  </a:t>
            </a:r>
          </a:p>
          <a:p>
            <a:pPr>
              <a:buFont typeface="Wingdings" panose="05000000000000000000" pitchFamily="2" charset="2"/>
              <a:buNone/>
            </a:pPr>
            <a:r>
              <a:rPr lang="de-DE" altLang="de-DE" sz="1600" noProof="0" dirty="0"/>
              <a:t>E-Mail:	info@beckhoff.com</a:t>
            </a:r>
          </a:p>
          <a:p>
            <a:pPr>
              <a:buFont typeface="Wingdings" panose="05000000000000000000" pitchFamily="2" charset="2"/>
              <a:buNone/>
            </a:pPr>
            <a:r>
              <a:rPr lang="de-DE" altLang="de-DE" sz="1600" noProof="0" dirty="0"/>
              <a:t>Web:	www.beckhoff.com</a:t>
            </a:r>
            <a:r>
              <a:rPr lang="de-DE" altLang="de-DE" sz="1600" b="1" noProof="0" dirty="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dirty="0"/>
              <a:t>Beckhoff Automation GmbH &amp; Co. KG </a:t>
            </a:r>
            <a:br>
              <a:rPr lang="de-DE" altLang="de-DE" sz="1600" noProof="0" dirty="0"/>
            </a:br>
            <a:r>
              <a:rPr lang="de-DE" altLang="de-DE" sz="1600" b="0" noProof="0" dirty="0">
                <a:solidFill>
                  <a:srgbClr val="000000"/>
                </a:solidFill>
                <a:latin typeface="Arial"/>
                <a:cs typeface="+mn-cs"/>
              </a:rPr>
              <a:t>Unternehmenszentrale</a:t>
            </a:r>
          </a:p>
          <a:p>
            <a:pPr marL="0" lvl="0" indent="0">
              <a:spcBef>
                <a:spcPts val="0"/>
              </a:spcBef>
              <a:buNone/>
            </a:pPr>
            <a:r>
              <a:rPr lang="de-DE" altLang="de-DE" sz="1600" b="0" noProof="0" dirty="0">
                <a:solidFill>
                  <a:srgbClr val="000000"/>
                </a:solidFill>
                <a:latin typeface="Arial"/>
                <a:cs typeface="+mn-cs"/>
              </a:rPr>
              <a:t>Hülshorstweg 20</a:t>
            </a:r>
          </a:p>
          <a:p>
            <a:pPr marL="0" lvl="0" indent="0">
              <a:spcBef>
                <a:spcPts val="0"/>
              </a:spcBef>
              <a:buNone/>
            </a:pPr>
            <a:r>
              <a:rPr lang="de-DE" altLang="de-DE" sz="1600" b="0" noProof="0" dirty="0">
                <a:solidFill>
                  <a:srgbClr val="000000"/>
                </a:solidFill>
                <a:latin typeface="Arial"/>
                <a:cs typeface="+mn-cs"/>
              </a:rPr>
              <a:t>33415 Verl</a:t>
            </a:r>
          </a:p>
          <a:p>
            <a:pPr marL="0" lvl="0" indent="0">
              <a:spcBef>
                <a:spcPts val="0"/>
              </a:spcBef>
              <a:buNone/>
            </a:pPr>
            <a:r>
              <a:rPr lang="de-DE" altLang="de-DE" sz="1600" b="0" noProof="0" dirty="0">
                <a:solidFill>
                  <a:srgbClr val="000000"/>
                </a:solidFill>
                <a:latin typeface="Arial"/>
                <a:cs typeface="+mn-cs"/>
              </a:rPr>
              <a:t>Deutschland</a:t>
            </a:r>
          </a:p>
          <a:p>
            <a:pPr lvl="0"/>
            <a:endParaRPr lang="de-DE" altLang="de-DE" sz="1600" b="0" noProof="0" dirty="0"/>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dirty="0"/>
              <a:t>Kontakt </a:t>
            </a:r>
          </a:p>
        </p:txBody>
      </p:sp>
    </p:spTree>
    <p:extLst>
      <p:ext uri="{BB962C8B-B14F-4D97-AF65-F5344CB8AC3E}">
        <p14:creationId xmlns:p14="http://schemas.microsoft.com/office/powerpoint/2010/main" val="107316458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dirty="0"/>
              <a:t>Click to add title</a:t>
            </a:r>
          </a:p>
        </p:txBody>
      </p:sp>
    </p:spTree>
    <p:extLst>
      <p:ext uri="{BB962C8B-B14F-4D97-AF65-F5344CB8AC3E}">
        <p14:creationId xmlns:p14="http://schemas.microsoft.com/office/powerpoint/2010/main" val="1792532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slideLayout" Target="../slideLayouts/slideLayout51.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slideLayout" Target="../slideLayouts/slideLayout50.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29" Type="http://schemas.openxmlformats.org/officeDocument/2006/relationships/theme" Target="../theme/theme2.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28" Type="http://schemas.openxmlformats.org/officeDocument/2006/relationships/slideLayout" Target="../slideLayouts/slideLayout53.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 Id="rId27" Type="http://schemas.openxmlformats.org/officeDocument/2006/relationships/slideLayout" Target="../slideLayouts/slideLayout52.xml"/><Relationship Id="rId30"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3" Type="http://schemas.openxmlformats.org/officeDocument/2006/relationships/slideLayout" Target="../slideLayouts/slideLayout56.xml"/><Relationship Id="rId21" Type="http://schemas.openxmlformats.org/officeDocument/2006/relationships/slideLayout" Target="../slideLayouts/slideLayout74.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slideLayout" Target="../slideLayouts/slideLayout73.xml"/><Relationship Id="rId29" Type="http://schemas.openxmlformats.org/officeDocument/2006/relationships/slideLayout" Target="../slideLayouts/slideLayout82.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slideLayout" Target="../slideLayouts/slideLayout81.xml"/><Relationship Id="rId10" Type="http://schemas.openxmlformats.org/officeDocument/2006/relationships/slideLayout" Target="../slideLayouts/slideLayout63.xml"/><Relationship Id="rId19" Type="http://schemas.openxmlformats.org/officeDocument/2006/relationships/slideLayout" Target="../slideLayouts/slideLayout72.xml"/><Relationship Id="rId31" Type="http://schemas.openxmlformats.org/officeDocument/2006/relationships/image" Target="../media/image1.png"/><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 Id="rId30"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Gruppieren 3"/>
          <p:cNvGrpSpPr/>
          <p:nvPr userDrawn="1"/>
        </p:nvGrpSpPr>
        <p:grpSpPr bwMode="ltGray">
          <a:xfrm>
            <a:off x="0" y="0"/>
            <a:ext cx="12192000" cy="6862298"/>
            <a:chOff x="0" y="0"/>
            <a:chExt cx="9144000" cy="6862298"/>
          </a:xfrm>
        </p:grpSpPr>
        <p:sp>
          <p:nvSpPr>
            <p:cNvPr id="16" name="Rechteck 15"/>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Rechteck 2"/>
            <p:cNvSpPr/>
            <p:nvPr userDrawn="1"/>
          </p:nvSpPr>
          <p:spPr bwMode="ltGray">
            <a:xfrm>
              <a:off x="1" y="1086504"/>
              <a:ext cx="9143999" cy="57757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a:solidFill>
                  <a:schemeClr val="bg1"/>
                </a:solidFill>
                <a:latin typeface="Arial" pitchFamily="34" charset="0"/>
                <a:cs typeface="Arial" pitchFamily="34" charset="0"/>
              </a:endParaRPr>
            </a:p>
          </p:txBody>
        </p:sp>
      </p:grpSp>
      <p:sp>
        <p:nvSpPr>
          <p:cNvPr id="2" name="Titelplatzhalter 1"/>
          <p:cNvSpPr>
            <a:spLocks noGrp="1"/>
          </p:cNvSpPr>
          <p:nvPr>
            <p:ph type="title"/>
          </p:nvPr>
        </p:nvSpPr>
        <p:spPr bwMode="white">
          <a:xfrm>
            <a:off x="-1" y="450787"/>
            <a:ext cx="10137600" cy="629367"/>
          </a:xfrm>
          <a:prstGeom prst="rect">
            <a:avLst/>
          </a:prstGeom>
        </p:spPr>
        <p:txBody>
          <a:bodyPr vert="horz" wrap="square" lIns="450000" tIns="144000" rIns="90000" bIns="144000" rtlCol="0" anchor="b" anchorCtr="0">
            <a:spAutoFit/>
          </a:bodyPr>
          <a:lstStyle/>
          <a:p>
            <a:r>
              <a:rPr lang="en-US" noProof="0"/>
              <a:t>Click to add title</a:t>
            </a:r>
          </a:p>
        </p:txBody>
      </p:sp>
      <p:sp>
        <p:nvSpPr>
          <p:cNvPr id="18" name="Textplatzhalter 2"/>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19" name="Fußzeilenplatzhalter 4"/>
          <p:cNvSpPr>
            <a:spLocks noGrp="1"/>
          </p:cNvSpPr>
          <p:nvPr>
            <p:ph type="ftr" sz="quarter" idx="3"/>
          </p:nvPr>
        </p:nvSpPr>
        <p:spPr bwMode="gray">
          <a:xfrm>
            <a:off x="767408" y="6416676"/>
            <a:ext cx="4640201" cy="441325"/>
          </a:xfrm>
          <a:prstGeom prst="rect">
            <a:avLst/>
          </a:prstGeom>
        </p:spPr>
        <p:txBody>
          <a:bodyPr vert="horz" lIns="90000" tIns="36000" rIns="91440" bIns="36000" rtlCol="0" anchor="ctr"/>
          <a:lstStyle>
            <a:lvl1pPr algn="l">
              <a:defRPr sz="1100">
                <a:solidFill>
                  <a:schemeClr val="accent1"/>
                </a:solidFill>
                <a:latin typeface="Arial" pitchFamily="34" charset="0"/>
                <a:cs typeface="Arial" pitchFamily="34" charset="0"/>
              </a:defRPr>
            </a:lvl1pPr>
          </a:lstStyle>
          <a:p>
            <a:endParaRPr lang="de-DE"/>
          </a:p>
        </p:txBody>
      </p:sp>
      <p:sp>
        <p:nvSpPr>
          <p:cNvPr id="20" name="Foliennummernplatzhalter 5"/>
          <p:cNvSpPr>
            <a:spLocks noGrp="1"/>
          </p:cNvSpPr>
          <p:nvPr>
            <p:ph type="sldNum" sz="quarter" idx="4"/>
          </p:nvPr>
        </p:nvSpPr>
        <p:spPr bwMode="gray">
          <a:xfrm>
            <a:off x="2200" y="6416676"/>
            <a:ext cx="765208" cy="441325"/>
          </a:xfrm>
          <a:prstGeom prst="rect">
            <a:avLst/>
          </a:prstGeom>
        </p:spPr>
        <p:txBody>
          <a:bodyPr vert="horz" lIns="234000" tIns="45720" rIns="3600" bIns="45720" rtlCol="0" anchor="ctr"/>
          <a:lstStyle>
            <a:lvl1pPr algn="l">
              <a:defRPr sz="1100">
                <a:solidFill>
                  <a:schemeClr val="accent1"/>
                </a:solidFill>
                <a:latin typeface="Arial" pitchFamily="34" charset="0"/>
                <a:cs typeface="Arial" pitchFamily="34" charset="0"/>
              </a:defRPr>
            </a:lvl1pPr>
          </a:lstStyle>
          <a:p>
            <a:fld id="{A930EF64-91C9-4EBD-82F9-3643AB15A28C}" type="slidenum">
              <a:rPr lang="de-DE" smtClean="0"/>
              <a:pPr/>
              <a:t>‹#›</a:t>
            </a:fld>
            <a:endParaRPr lang="de-DE"/>
          </a:p>
        </p:txBody>
      </p:sp>
      <p:pic>
        <p:nvPicPr>
          <p:cNvPr id="10" name="Grafik 9"/>
          <p:cNvPicPr>
            <a:picLocks noChangeAspect="1"/>
          </p:cNvPicPr>
          <p:nvPr userDrawn="1"/>
        </p:nvPicPr>
        <p:blipFill>
          <a:blip r:embed="rId27">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980308538"/>
      </p:ext>
    </p:extLst>
  </p:cSld>
  <p:clrMap bg1="lt1" tx1="dk1" bg2="lt2" tx2="dk2" accent1="accent1" accent2="accent2" accent3="accent3" accent4="accent4" accent5="accent5" accent6="accent6" hlink="hlink" folHlink="folHlink"/>
  <p:sldLayoutIdLst>
    <p:sldLayoutId id="2147483736" r:id="rId1"/>
    <p:sldLayoutId id="2147483796" r:id="rId2"/>
    <p:sldLayoutId id="2147483795" r:id="rId3"/>
    <p:sldLayoutId id="2147483798" r:id="rId4"/>
    <p:sldLayoutId id="2147483713" r:id="rId5"/>
    <p:sldLayoutId id="2147483714" r:id="rId6"/>
    <p:sldLayoutId id="2147483717" r:id="rId7"/>
    <p:sldLayoutId id="2147483800" r:id="rId8"/>
    <p:sldLayoutId id="2147483715" r:id="rId9"/>
    <p:sldLayoutId id="2147483716" r:id="rId10"/>
    <p:sldLayoutId id="2147483720" r:id="rId11"/>
    <p:sldLayoutId id="2147483813" r:id="rId12"/>
    <p:sldLayoutId id="2147483814" r:id="rId13"/>
    <p:sldLayoutId id="2147483825" r:id="rId14"/>
    <p:sldLayoutId id="2147483816" r:id="rId15"/>
    <p:sldLayoutId id="2147483815" r:id="rId16"/>
    <p:sldLayoutId id="2147483820" r:id="rId17"/>
    <p:sldLayoutId id="2147483821" r:id="rId18"/>
    <p:sldLayoutId id="2147483822" r:id="rId19"/>
    <p:sldLayoutId id="2147483819" r:id="rId20"/>
    <p:sldLayoutId id="2147483817" r:id="rId21"/>
    <p:sldLayoutId id="2147483818" r:id="rId22"/>
    <p:sldLayoutId id="2147483824" r:id="rId23"/>
    <p:sldLayoutId id="2147483826" r:id="rId24"/>
    <p:sldLayoutId id="2147483827" r:id="rId25"/>
  </p:sldLayoutIdLst>
  <p:hf sldNum="0" hdr="0" ftr="0" dt="0"/>
  <p:txStyles>
    <p:titleStyle>
      <a:lvl1pPr algn="l" defTabSz="914400" rtl="0" eaLnBrk="1" latinLnBrk="0" hangingPunct="1">
        <a:spcBef>
          <a:spcPct val="0"/>
        </a:spcBef>
        <a:buNone/>
        <a:defRPr sz="2200" b="1" kern="1200" baseline="0">
          <a:solidFill>
            <a:schemeClr val="bg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pos="686" userDrawn="1">
          <p15:clr>
            <a:srgbClr val="F26B43"/>
          </p15:clr>
        </p15:guide>
        <p15:guide id="7" orient="horz" pos="1593" userDrawn="1">
          <p15:clr>
            <a:srgbClr val="F26B43"/>
          </p15:clr>
        </p15:guide>
        <p15:guide id="8" orient="horz" pos="2500" userDrawn="1">
          <p15:clr>
            <a:srgbClr val="F26B43"/>
          </p15:clr>
        </p15:guide>
        <p15:guide id="9" orient="horz" pos="340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1086504"/>
              <a:ext cx="9143999" cy="57757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2" name="Title"/>
          <p:cNvSpPr>
            <a:spLocks noGrp="1"/>
          </p:cNvSpPr>
          <p:nvPr>
            <p:ph type="title"/>
          </p:nvPr>
        </p:nvSpPr>
        <p:spPr bwMode="white">
          <a:xfrm>
            <a:off x="-1" y="450787"/>
            <a:ext cx="10137600" cy="629367"/>
          </a:xfrm>
          <a:prstGeom prst="rect">
            <a:avLst/>
          </a:prstGeom>
        </p:spPr>
        <p:txBody>
          <a:bodyPr vert="horz" wrap="square" lIns="450000" tIns="144000" rIns="90000" bIns="144000" rtlCol="0" anchor="b" anchorCtr="0">
            <a:spAutoFit/>
          </a:bodyPr>
          <a:lstStyle/>
          <a:p>
            <a:r>
              <a:rPr lang="en-US" noProof="0"/>
              <a:t>Click to add title</a:t>
            </a:r>
          </a:p>
        </p:txBody>
      </p:sp>
      <p:pic>
        <p:nvPicPr>
          <p:cNvPr id="10" name="Logo"/>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980308538"/>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28"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4" r:id="rId14"/>
    <p:sldLayoutId id="2147483845" r:id="rId15"/>
    <p:sldLayoutId id="2147483846" r:id="rId16"/>
    <p:sldLayoutId id="2147483847" r:id="rId17"/>
    <p:sldLayoutId id="2147483848" r:id="rId18"/>
    <p:sldLayoutId id="2147483849" r:id="rId19"/>
    <p:sldLayoutId id="2147483850" r:id="rId20"/>
    <p:sldLayoutId id="2147483851" r:id="rId21"/>
    <p:sldLayoutId id="2147483852" r:id="rId22"/>
    <p:sldLayoutId id="2147483853" r:id="rId23"/>
    <p:sldLayoutId id="2147483829" r:id="rId24"/>
    <p:sldLayoutId id="2147483854" r:id="rId25"/>
    <p:sldLayoutId id="2147483855" r:id="rId26"/>
    <p:sldLayoutId id="2147483856" r:id="rId27"/>
    <p:sldLayoutId id="2147483830" r:id="rId28"/>
  </p:sldLayoutIdLst>
  <p:hf sldNum="0" hdr="0" ftr="0" dt="0"/>
  <p:txStyles>
    <p:titleStyle>
      <a:lvl1pPr algn="l" defTabSz="914400" rtl="0" eaLnBrk="1" latinLnBrk="0" hangingPunct="1">
        <a:spcBef>
          <a:spcPct val="0"/>
        </a:spcBef>
        <a:buNone/>
        <a:defRPr sz="2200" b="1" kern="1200" baseline="0">
          <a:solidFill>
            <a:schemeClr val="bg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pos="686" userDrawn="1">
          <p15:clr>
            <a:srgbClr val="F26B43"/>
          </p15:clr>
        </p15:guide>
        <p15:guide id="7" orient="horz" pos="1593" userDrawn="1">
          <p15:clr>
            <a:srgbClr val="F26B43"/>
          </p15:clr>
        </p15:guide>
        <p15:guide id="8" orient="horz" pos="2500" userDrawn="1">
          <p15:clr>
            <a:srgbClr val="F26B43"/>
          </p15:clr>
        </p15:guide>
        <p15:guide id="9" orient="horz" pos="340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1086504"/>
              <a:ext cx="9143999" cy="57757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2" name="Title"/>
          <p:cNvSpPr>
            <a:spLocks noGrp="1"/>
          </p:cNvSpPr>
          <p:nvPr>
            <p:ph type="title"/>
          </p:nvPr>
        </p:nvSpPr>
        <p:spPr bwMode="white">
          <a:xfrm>
            <a:off x="-1" y="450787"/>
            <a:ext cx="10137600" cy="629367"/>
          </a:xfrm>
          <a:prstGeom prst="rect">
            <a:avLst/>
          </a:prstGeom>
        </p:spPr>
        <p:txBody>
          <a:bodyPr vert="horz" wrap="square" lIns="450000" tIns="144000" rIns="90000" bIns="144000" rtlCol="0" anchor="b" anchorCtr="0">
            <a:spAutoFit/>
          </a:bodyPr>
          <a:lstStyle/>
          <a:p>
            <a:r>
              <a:rPr lang="en-US" noProof="0"/>
              <a:t>Click to add title</a:t>
            </a:r>
          </a:p>
        </p:txBody>
      </p:sp>
      <p:pic>
        <p:nvPicPr>
          <p:cNvPr id="10" name="Logo"/>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2848272633"/>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69" r:id="rId12"/>
    <p:sldLayoutId id="2147483870" r:id="rId13"/>
    <p:sldLayoutId id="2147483871" r:id="rId14"/>
    <p:sldLayoutId id="2147483872" r:id="rId15"/>
    <p:sldLayoutId id="2147483873" r:id="rId16"/>
    <p:sldLayoutId id="2147483874" r:id="rId17"/>
    <p:sldLayoutId id="2147483875" r:id="rId18"/>
    <p:sldLayoutId id="2147483876" r:id="rId19"/>
    <p:sldLayoutId id="2147483877" r:id="rId20"/>
    <p:sldLayoutId id="2147483878" r:id="rId21"/>
    <p:sldLayoutId id="2147483879" r:id="rId22"/>
    <p:sldLayoutId id="2147483880" r:id="rId23"/>
    <p:sldLayoutId id="2147483881" r:id="rId24"/>
    <p:sldLayoutId id="2147483882" r:id="rId25"/>
    <p:sldLayoutId id="2147483883" r:id="rId26"/>
    <p:sldLayoutId id="2147483884" r:id="rId27"/>
    <p:sldLayoutId id="2147483885" r:id="rId28"/>
    <p:sldLayoutId id="2147483886" r:id="rId29"/>
  </p:sldLayoutIdLst>
  <p:hf sldNum="0" hdr="0" ftr="0" dt="0"/>
  <p:txStyles>
    <p:titleStyle>
      <a:lvl1pPr algn="l" defTabSz="914400" rtl="0" eaLnBrk="1" latinLnBrk="0" hangingPunct="1">
        <a:spcBef>
          <a:spcPct val="0"/>
        </a:spcBef>
        <a:buNone/>
        <a:defRPr sz="2200" b="1" kern="1200" baseline="0">
          <a:solidFill>
            <a:schemeClr val="bg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5124">
          <p15:clr>
            <a:srgbClr val="F26B43"/>
          </p15:clr>
        </p15:guide>
        <p15:guide id="3" pos="6396">
          <p15:clr>
            <a:srgbClr val="F26B43"/>
          </p15:clr>
        </p15:guide>
        <p15:guide id="4" pos="2556">
          <p15:clr>
            <a:srgbClr val="F26B43"/>
          </p15:clr>
        </p15:guide>
        <p15:guide id="5" pos="1284">
          <p15:clr>
            <a:srgbClr val="F26B43"/>
          </p15:clr>
        </p15:guide>
        <p15:guide id="6" orient="horz" pos="686">
          <p15:clr>
            <a:srgbClr val="F26B43"/>
          </p15:clr>
        </p15:guide>
        <p15:guide id="7" orient="horz" pos="1593">
          <p15:clr>
            <a:srgbClr val="F26B43"/>
          </p15:clr>
        </p15:guide>
        <p15:guide id="8" orient="horz" pos="2500">
          <p15:clr>
            <a:srgbClr val="F26B43"/>
          </p15:clr>
        </p15:guide>
        <p15:guide id="9" orient="horz" pos="340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9" Type="http://schemas.openxmlformats.org/officeDocument/2006/relationships/image" Target="../media/image41.png"/><Relationship Id="rId21" Type="http://schemas.openxmlformats.org/officeDocument/2006/relationships/image" Target="../media/image26.jpeg"/><Relationship Id="rId34" Type="http://schemas.openxmlformats.org/officeDocument/2006/relationships/image" Target="../media/image37.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jpeg"/><Relationship Id="rId33" Type="http://schemas.microsoft.com/office/2007/relationships/hdphoto" Target="../media/hdphoto2.wdp"/><Relationship Id="rId38" Type="http://schemas.openxmlformats.org/officeDocument/2006/relationships/image" Target="../media/image40.jpeg"/><Relationship Id="rId2" Type="http://schemas.openxmlformats.org/officeDocument/2006/relationships/slideLayout" Target="../slideLayouts/slideLayout50.xml"/><Relationship Id="rId16" Type="http://schemas.openxmlformats.org/officeDocument/2006/relationships/image" Target="../media/image21.png"/><Relationship Id="rId20" Type="http://schemas.openxmlformats.org/officeDocument/2006/relationships/image" Target="../media/image25.jpeg"/><Relationship Id="rId29" Type="http://schemas.microsoft.com/office/2007/relationships/hdphoto" Target="../media/hdphoto1.wdp"/><Relationship Id="rId1" Type="http://schemas.openxmlformats.org/officeDocument/2006/relationships/tags" Target="../tags/tag2.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6.png"/><Relationship Id="rId37" Type="http://schemas.microsoft.com/office/2007/relationships/hdphoto" Target="../media/hdphoto3.wdp"/><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39.png"/><Relationship Id="rId10" Type="http://schemas.openxmlformats.org/officeDocument/2006/relationships/image" Target="../media/image15.png"/><Relationship Id="rId19" Type="http://schemas.openxmlformats.org/officeDocument/2006/relationships/image" Target="../media/image24.png"/><Relationship Id="rId31" Type="http://schemas.openxmlformats.org/officeDocument/2006/relationships/image" Target="../media/image3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jpeg"/><Relationship Id="rId30" Type="http://schemas.openxmlformats.org/officeDocument/2006/relationships/image" Target="../media/image34.png"/><Relationship Id="rId35" Type="http://schemas.openxmlformats.org/officeDocument/2006/relationships/image" Target="../media/image38.png"/><Relationship Id="rId8" Type="http://schemas.openxmlformats.org/officeDocument/2006/relationships/image" Target="../media/image1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jpg"/><Relationship Id="rId3" Type="http://schemas.openxmlformats.org/officeDocument/2006/relationships/image" Target="../media/image43.png"/><Relationship Id="rId21" Type="http://schemas.openxmlformats.org/officeDocument/2006/relationships/image" Target="../media/image61.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image" Target="../media/image42.png"/><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6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23" Type="http://schemas.openxmlformats.org/officeDocument/2006/relationships/image" Target="../media/image63.png"/><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jpg"/><Relationship Id="rId22" Type="http://schemas.openxmlformats.org/officeDocument/2006/relationships/image" Target="../media/image6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4.svg"/><Relationship Id="rId7" Type="http://schemas.openxmlformats.org/officeDocument/2006/relationships/image" Target="../media/image68.svg"/><Relationship Id="rId2" Type="http://schemas.openxmlformats.org/officeDocument/2006/relationships/notesSlide" Target="../notesSlides/notesSlide3.xml"/><Relationship Id="rId1" Type="http://schemas.openxmlformats.org/officeDocument/2006/relationships/slideLayout" Target="../slideLayouts/slideLayout34.xml"/><Relationship Id="rId6" Type="http://schemas.openxmlformats.org/officeDocument/2006/relationships/image" Target="../media/image67.svg"/><Relationship Id="rId5" Type="http://schemas.openxmlformats.org/officeDocument/2006/relationships/image" Target="../media/image66.svg"/><Relationship Id="rId4" Type="http://schemas.openxmlformats.org/officeDocument/2006/relationships/image" Target="../media/image65.svg"/></Relationships>
</file>

<file path=ppt/slides/_rels/slide6.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65.svg"/><Relationship Id="rId7" Type="http://schemas.openxmlformats.org/officeDocument/2006/relationships/image" Target="../media/image68.svg"/><Relationship Id="rId2" Type="http://schemas.openxmlformats.org/officeDocument/2006/relationships/notesSlide" Target="../notesSlides/notesSlide4.xml"/><Relationship Id="rId1" Type="http://schemas.openxmlformats.org/officeDocument/2006/relationships/slideLayout" Target="../slideLayouts/slideLayout34.xml"/><Relationship Id="rId6" Type="http://schemas.openxmlformats.org/officeDocument/2006/relationships/image" Target="../media/image67.svg"/><Relationship Id="rId5" Type="http://schemas.openxmlformats.org/officeDocument/2006/relationships/image" Target="../media/image70.svg"/><Relationship Id="rId4" Type="http://schemas.openxmlformats.org/officeDocument/2006/relationships/image" Target="../media/image66.svg"/><Relationship Id="rId9" Type="http://schemas.openxmlformats.org/officeDocument/2006/relationships/image" Target="../media/image69.svg"/></Relationships>
</file>

<file path=ppt/slides/_rels/slide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xml"/><Relationship Id="rId1" Type="http://schemas.openxmlformats.org/officeDocument/2006/relationships/slideLayout" Target="../slideLayouts/slideLayout34.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8.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68.svg"/><Relationship Id="rId3" Type="http://schemas.openxmlformats.org/officeDocument/2006/relationships/image" Target="../media/image75.svg"/><Relationship Id="rId7" Type="http://schemas.openxmlformats.org/officeDocument/2006/relationships/image" Target="../media/image65.svg"/><Relationship Id="rId12" Type="http://schemas.openxmlformats.org/officeDocument/2006/relationships/image" Target="../media/image82.svg"/><Relationship Id="rId2" Type="http://schemas.openxmlformats.org/officeDocument/2006/relationships/notesSlide" Target="../notesSlides/notesSlide6.xml"/><Relationship Id="rId1" Type="http://schemas.openxmlformats.org/officeDocument/2006/relationships/slideLayout" Target="../slideLayouts/slideLayout34.xml"/><Relationship Id="rId6" Type="http://schemas.openxmlformats.org/officeDocument/2006/relationships/image" Target="../media/image70.svg"/><Relationship Id="rId11" Type="http://schemas.openxmlformats.org/officeDocument/2006/relationships/image" Target="../media/image81.svg"/><Relationship Id="rId5" Type="http://schemas.openxmlformats.org/officeDocument/2006/relationships/image" Target="../media/image77.svg"/><Relationship Id="rId10" Type="http://schemas.openxmlformats.org/officeDocument/2006/relationships/image" Target="../media/image80.svg"/><Relationship Id="rId4" Type="http://schemas.openxmlformats.org/officeDocument/2006/relationships/image" Target="../media/image76.svg"/><Relationship Id="rId9" Type="http://schemas.openxmlformats.org/officeDocument/2006/relationships/image" Target="../media/image79.svg"/><Relationship Id="rId14" Type="http://schemas.openxmlformats.org/officeDocument/2006/relationships/image" Target="../media/image83.sv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andedolph/NEM_2026_Connectivity" TargetMode="External"/><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image" Target="../media/image84.png"/><Relationship Id="rId16" Type="http://schemas.openxmlformats.org/officeDocument/2006/relationships/image" Target="../media/image97.png"/><Relationship Id="rId1" Type="http://schemas.openxmlformats.org/officeDocument/2006/relationships/slideLayout" Target="../slideLayouts/slideLayout3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59.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31.xml"/><Relationship Id="rId5" Type="http://schemas.openxmlformats.org/officeDocument/2006/relationships/image" Target="../media/image101.png"/><Relationship Id="rId4" Type="http://schemas.openxmlformats.org/officeDocument/2006/relationships/image" Target="../media/image100.png"/></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Beckhoff/TF6760_Samples" TargetMode="External"/><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image" Target="../media/image59.pn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image" Target="../media/image97.png"/><Relationship Id="rId1" Type="http://schemas.openxmlformats.org/officeDocument/2006/relationships/slideLayout" Target="../slideLayouts/slideLayout3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102.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s>
</file>

<file path=ppt/slides/_rels/slide17.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image" Target="../media/image59.pn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image" Target="../media/image97.png"/><Relationship Id="rId1" Type="http://schemas.openxmlformats.org/officeDocument/2006/relationships/slideLayout" Target="../slideLayouts/slideLayout3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102.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s>
</file>

<file path=ppt/slides/_rels/slide1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image" Target="../media/image97.png"/><Relationship Id="rId1" Type="http://schemas.openxmlformats.org/officeDocument/2006/relationships/slideLayout" Target="../slideLayouts/slideLayout31.xml"/><Relationship Id="rId6" Type="http://schemas.openxmlformats.org/officeDocument/2006/relationships/image" Target="../media/image107.png"/><Relationship Id="rId5" Type="http://schemas.openxmlformats.org/officeDocument/2006/relationships/image" Target="../media/image106.png"/><Relationship Id="rId10" Type="http://schemas.openxmlformats.org/officeDocument/2006/relationships/image" Target="../media/image111.png"/><Relationship Id="rId4" Type="http://schemas.openxmlformats.org/officeDocument/2006/relationships/image" Target="../media/image105.png"/><Relationship Id="rId9" Type="http://schemas.openxmlformats.org/officeDocument/2006/relationships/image" Target="../media/image1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0E82A6D-513D-594E-896B-3C20D81C2E96}"/>
              </a:ext>
            </a:extLst>
          </p:cNvPr>
          <p:cNvSpPr/>
          <p:nvPr/>
        </p:nvSpPr>
        <p:spPr>
          <a:xfrm>
            <a:off x="6096000" y="0"/>
            <a:ext cx="6096000" cy="6858000"/>
          </a:xfrm>
          <a:prstGeom prst="rect">
            <a:avLst/>
          </a:prstGeom>
          <a:solidFill>
            <a:srgbClr val="B0BCCA"/>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4" name="Title 3">
            <a:extLst>
              <a:ext uri="{FF2B5EF4-FFF2-40B4-BE49-F238E27FC236}">
                <a16:creationId xmlns:a16="http://schemas.microsoft.com/office/drawing/2014/main" id="{BF4E1CCD-ECD7-4A46-AB61-C5F02F70D912}"/>
              </a:ext>
            </a:extLst>
          </p:cNvPr>
          <p:cNvSpPr>
            <a:spLocks noGrp="1"/>
          </p:cNvSpPr>
          <p:nvPr>
            <p:ph type="title"/>
          </p:nvPr>
        </p:nvSpPr>
        <p:spPr/>
        <p:txBody>
          <a:bodyPr/>
          <a:lstStyle/>
          <a:p>
            <a:r>
              <a:rPr lang="de-DE" dirty="0">
                <a:latin typeface="Arial"/>
                <a:cs typeface="Arial"/>
              </a:rPr>
              <a:t>Automation Communication Protocols</a:t>
            </a:r>
            <a:endParaRPr lang="en-US" noProof="0" dirty="0"/>
          </a:p>
        </p:txBody>
      </p:sp>
      <p:sp>
        <p:nvSpPr>
          <p:cNvPr id="5" name="Subtitle 4">
            <a:extLst>
              <a:ext uri="{FF2B5EF4-FFF2-40B4-BE49-F238E27FC236}">
                <a16:creationId xmlns:a16="http://schemas.microsoft.com/office/drawing/2014/main" id="{397FBD1E-3435-66A1-38C7-3DC61E4747A8}"/>
              </a:ext>
            </a:extLst>
          </p:cNvPr>
          <p:cNvSpPr>
            <a:spLocks noGrp="1"/>
          </p:cNvSpPr>
          <p:nvPr>
            <p:ph type="subTitle" idx="1"/>
          </p:nvPr>
        </p:nvSpPr>
        <p:spPr>
          <a:xfrm>
            <a:off x="-677" y="4546800"/>
            <a:ext cx="6096677" cy="858866"/>
          </a:xfrm>
        </p:spPr>
        <p:txBody>
          <a:bodyPr/>
          <a:lstStyle/>
          <a:p>
            <a:r>
              <a:rPr lang="en-US" dirty="0"/>
              <a:t>Alyssa Dedolph</a:t>
            </a:r>
          </a:p>
          <a:p>
            <a:r>
              <a:rPr lang="en-US" dirty="0"/>
              <a:t>Advanced Applications Group</a:t>
            </a:r>
          </a:p>
        </p:txBody>
      </p:sp>
      <p:pic>
        <p:nvPicPr>
          <p:cNvPr id="8" name="Picture 10">
            <a:extLst>
              <a:ext uri="{FF2B5EF4-FFF2-40B4-BE49-F238E27FC236}">
                <a16:creationId xmlns:a16="http://schemas.microsoft.com/office/drawing/2014/main" id="{E5A21F1F-46FD-4F13-0BFC-EA9F71965DF0}"/>
              </a:ext>
            </a:extLst>
          </p:cNvPr>
          <p:cNvPicPr>
            <a:picLocks noChangeAspect="1"/>
          </p:cNvPicPr>
          <p:nvPr/>
        </p:nvPicPr>
        <p:blipFill>
          <a:blip r:embed="rId2"/>
          <a:stretch>
            <a:fillRect/>
          </a:stretch>
        </p:blipFill>
        <p:spPr>
          <a:xfrm>
            <a:off x="4857260" y="937457"/>
            <a:ext cx="8439691" cy="5207563"/>
          </a:xfrm>
          <a:prstGeom prst="rect">
            <a:avLst/>
          </a:prstGeom>
        </p:spPr>
      </p:pic>
    </p:spTree>
    <p:extLst>
      <p:ext uri="{BB962C8B-B14F-4D97-AF65-F5344CB8AC3E}">
        <p14:creationId xmlns:p14="http://schemas.microsoft.com/office/powerpoint/2010/main" val="4289524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5D313CB-2C45-4576-805E-BD7457F25FC2}"/>
              </a:ext>
            </a:extLst>
          </p:cNvPr>
          <p:cNvGrpSpPr/>
          <p:nvPr/>
        </p:nvGrpSpPr>
        <p:grpSpPr>
          <a:xfrm>
            <a:off x="450001" y="2276872"/>
            <a:ext cx="11281620" cy="3386854"/>
            <a:chOff x="450001" y="2317768"/>
            <a:chExt cx="11281620" cy="3386854"/>
          </a:xfrm>
        </p:grpSpPr>
        <p:grpSp>
          <p:nvGrpSpPr>
            <p:cNvPr id="19" name="Gruppieren 18"/>
            <p:cNvGrpSpPr/>
            <p:nvPr/>
          </p:nvGrpSpPr>
          <p:grpSpPr>
            <a:xfrm>
              <a:off x="450001" y="2317768"/>
              <a:ext cx="11281620" cy="3386854"/>
              <a:chOff x="5440650" y="2700000"/>
              <a:chExt cx="1267146" cy="2558100"/>
            </a:xfrm>
          </p:grpSpPr>
          <p:sp>
            <p:nvSpPr>
              <p:cNvPr id="20" name="AutoShape 26"/>
              <p:cNvSpPr>
                <a:spLocks noChangeArrowheads="1"/>
              </p:cNvSpPr>
              <p:nvPr/>
            </p:nvSpPr>
            <p:spPr bwMode="auto">
              <a:xfrm>
                <a:off x="5447796" y="2700000"/>
                <a:ext cx="1260000" cy="2520000"/>
              </a:xfrm>
              <a:prstGeom prst="roundRect">
                <a:avLst>
                  <a:gd name="adj" fmla="val 3045"/>
                </a:avLst>
              </a:prstGeom>
              <a:gradFill>
                <a:gsLst>
                  <a:gs pos="50000">
                    <a:srgbClr val="C2D481">
                      <a:lumMod val="70000"/>
                      <a:lumOff val="30000"/>
                    </a:srgbClr>
                  </a:gs>
                  <a:gs pos="0">
                    <a:srgbClr val="C2D481">
                      <a:lumMod val="50000"/>
                    </a:srgbClr>
                  </a:gs>
                  <a:gs pos="100000">
                    <a:srgbClr val="C2D481">
                      <a:lumMod val="50000"/>
                    </a:srgbClr>
                  </a:gs>
                </a:gsLst>
                <a:lin ang="0" scaled="1"/>
              </a:gradFill>
              <a:ln>
                <a:noFill/>
              </a:ln>
              <a:effectLst/>
            </p:spPr>
            <p:txBody>
              <a:bodyPr wrap="square" anchor="t" anchorCtr="0">
                <a:noAutofit/>
              </a:bodyPr>
              <a:lstStyle>
                <a:lvl1pPr>
                  <a:spcBef>
                    <a:spcPct val="5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1pPr>
                <a:lvl2pPr marL="742950" indent="-285750">
                  <a:spcBef>
                    <a:spcPct val="25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2pPr>
                <a:lvl3pPr marL="1143000" indent="-228600">
                  <a:spcBef>
                    <a:spcPct val="25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de-DE" sz="1400" dirty="0"/>
                  <a:t>194/212/229</a:t>
                </a:r>
              </a:p>
            </p:txBody>
          </p:sp>
          <p:sp>
            <p:nvSpPr>
              <p:cNvPr id="21" name="AutoShape 26"/>
              <p:cNvSpPr>
                <a:spLocks noChangeArrowheads="1"/>
              </p:cNvSpPr>
              <p:nvPr/>
            </p:nvSpPr>
            <p:spPr bwMode="auto">
              <a:xfrm>
                <a:off x="5440650" y="2738100"/>
                <a:ext cx="1260765" cy="2520000"/>
              </a:xfrm>
              <a:prstGeom prst="roundRect">
                <a:avLst>
                  <a:gd name="adj" fmla="val 3045"/>
                </a:avLst>
              </a:prstGeom>
              <a:solidFill>
                <a:srgbClr val="C2D481"/>
              </a:solidFill>
              <a:ln>
                <a:noFill/>
              </a:ln>
              <a:effectLst/>
            </p:spPr>
            <p:txBody>
              <a:bodyPr wrap="square" anchor="t" anchorCtr="0">
                <a:noAutofit/>
              </a:bodyPr>
              <a:lstStyle>
                <a:lvl1pPr>
                  <a:spcBef>
                    <a:spcPct val="5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1pPr>
                <a:lvl2pPr marL="742950" indent="-285750">
                  <a:spcBef>
                    <a:spcPct val="25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2pPr>
                <a:lvl3pPr marL="1143000" indent="-228600">
                  <a:spcBef>
                    <a:spcPct val="25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de-DE" sz="1400" dirty="0"/>
              </a:p>
            </p:txBody>
          </p:sp>
        </p:grpSp>
        <p:sp>
          <p:nvSpPr>
            <p:cNvPr id="121" name="Textfeld 217">
              <a:extLst>
                <a:ext uri="{FF2B5EF4-FFF2-40B4-BE49-F238E27FC236}">
                  <a16:creationId xmlns:a16="http://schemas.microsoft.com/office/drawing/2014/main" id="{B4BB0B93-FAFA-4A33-9140-BD6A7FF16E72}"/>
                </a:ext>
              </a:extLst>
            </p:cNvPr>
            <p:cNvSpPr txBox="1"/>
            <p:nvPr/>
          </p:nvSpPr>
          <p:spPr>
            <a:xfrm>
              <a:off x="544177" y="2441911"/>
              <a:ext cx="1418124" cy="249008"/>
            </a:xfrm>
            <a:prstGeom prst="rect">
              <a:avLst/>
            </a:prstGeom>
            <a:noFill/>
          </p:spPr>
          <p:txBody>
            <a:bodyPr wrap="square" lIns="36000" tIns="18000" rtlCol="0">
              <a:spAutoFit/>
            </a:bodyPr>
            <a:lstStyle/>
            <a:p>
              <a:r>
                <a:rPr lang="en-US" sz="1200" b="1" dirty="0"/>
                <a:t>PC Hardware</a:t>
              </a:r>
            </a:p>
          </p:txBody>
        </p:sp>
      </p:grpSp>
      <p:sp>
        <p:nvSpPr>
          <p:cNvPr id="15" name="AutoShape 42"/>
          <p:cNvSpPr>
            <a:spLocks noChangeArrowheads="1"/>
          </p:cNvSpPr>
          <p:nvPr/>
        </p:nvSpPr>
        <p:spPr bwMode="auto">
          <a:xfrm>
            <a:off x="576838" y="3497497"/>
            <a:ext cx="10942067" cy="1712373"/>
          </a:xfrm>
          <a:prstGeom prst="roundRect">
            <a:avLst>
              <a:gd name="adj" fmla="val 3086"/>
            </a:avLst>
          </a:prstGeom>
          <a:solidFill>
            <a:srgbClr val="9AB72D"/>
          </a:solidFill>
          <a:ln>
            <a:noFill/>
          </a:ln>
        </p:spPr>
        <p:txBody>
          <a:bodyPr wrap="none" lIns="36000" tIns="18000" anchor="t" anchorCtr="0">
            <a:noAutofit/>
          </a:bodyPr>
          <a:lstStyle>
            <a:lvl1pPr>
              <a:spcBef>
                <a:spcPct val="5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1pPr>
            <a:lvl2pPr marL="742950" indent="-285750">
              <a:spcBef>
                <a:spcPct val="25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2pPr>
            <a:lvl3pPr marL="1143000" indent="-228600">
              <a:spcBef>
                <a:spcPct val="25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de-DE" sz="1400" b="1" dirty="0">
              <a:ea typeface="ヒラギノ角ゴ Pro W3" pitchFamily="1" charset="-128"/>
            </a:endParaRPr>
          </a:p>
        </p:txBody>
      </p:sp>
      <p:sp>
        <p:nvSpPr>
          <p:cNvPr id="3" name="Rechteck 2"/>
          <p:cNvSpPr>
            <a:spLocks/>
          </p:cNvSpPr>
          <p:nvPr/>
        </p:nvSpPr>
        <p:spPr>
          <a:xfrm>
            <a:off x="544177" y="5342615"/>
            <a:ext cx="10942067" cy="1390078"/>
          </a:xfrm>
          <a:prstGeom prst="rect">
            <a:avLst/>
          </a:prstGeom>
          <a:solidFill>
            <a:schemeClr val="bg1"/>
          </a:solid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234000" rtlCol="0" anchor="ctr"/>
          <a:lstStyle/>
          <a:p>
            <a:pPr algn="ctr"/>
            <a:endParaRPr lang="en-US" sz="1600" dirty="0">
              <a:solidFill>
                <a:schemeClr val="bg1"/>
              </a:solidFill>
              <a:latin typeface="Arial" pitchFamily="34" charset="0"/>
              <a:cs typeface="Arial" pitchFamily="34" charset="0"/>
            </a:endParaRPr>
          </a:p>
        </p:txBody>
      </p:sp>
      <p:sp>
        <p:nvSpPr>
          <p:cNvPr id="22" name="Textfeld 21"/>
          <p:cNvSpPr txBox="1"/>
          <p:nvPr/>
        </p:nvSpPr>
        <p:spPr>
          <a:xfrm>
            <a:off x="679018" y="3503545"/>
            <a:ext cx="5641437" cy="249008"/>
          </a:xfrm>
          <a:prstGeom prst="rect">
            <a:avLst/>
          </a:prstGeom>
          <a:noFill/>
        </p:spPr>
        <p:txBody>
          <a:bodyPr wrap="square" lIns="36000" tIns="18000" rtlCol="0">
            <a:spAutoFit/>
          </a:bodyPr>
          <a:lstStyle/>
          <a:p>
            <a:r>
              <a:rPr lang="en-US" sz="1200" dirty="0"/>
              <a:t>TwinCAT 3</a:t>
            </a:r>
          </a:p>
        </p:txBody>
      </p:sp>
      <p:grpSp>
        <p:nvGrpSpPr>
          <p:cNvPr id="26" name="Connectivity"/>
          <p:cNvGrpSpPr/>
          <p:nvPr/>
        </p:nvGrpSpPr>
        <p:grpSpPr>
          <a:xfrm>
            <a:off x="704378" y="3858968"/>
            <a:ext cx="930734" cy="1188000"/>
            <a:chOff x="4713900" y="1277106"/>
            <a:chExt cx="4549857" cy="1065293"/>
          </a:xfrm>
        </p:grpSpPr>
        <p:sp>
          <p:nvSpPr>
            <p:cNvPr id="27" name="AutoShape 38"/>
            <p:cNvSpPr>
              <a:spLocks noChangeArrowheads="1"/>
            </p:cNvSpPr>
            <p:nvPr/>
          </p:nvSpPr>
          <p:spPr bwMode="auto">
            <a:xfrm>
              <a:off x="4943760" y="1277106"/>
              <a:ext cx="4319997" cy="1045050"/>
            </a:xfrm>
            <a:prstGeom prst="roundRect">
              <a:avLst>
                <a:gd name="adj" fmla="val 16667"/>
              </a:avLst>
            </a:prstGeom>
            <a:gradFill>
              <a:gsLst>
                <a:gs pos="50000">
                  <a:srgbClr val="992A6C">
                    <a:lumMod val="70000"/>
                    <a:lumOff val="30000"/>
                  </a:srgbClr>
                </a:gs>
                <a:gs pos="0">
                  <a:srgbClr val="992A6C">
                    <a:lumMod val="50000"/>
                  </a:srgbClr>
                </a:gs>
                <a:gs pos="100000">
                  <a:srgbClr val="992A6C">
                    <a:lumMod val="50000"/>
                  </a:srgbClr>
                </a:gs>
              </a:gsLst>
              <a:lin ang="0" scaled="1"/>
            </a:gradFill>
            <a:ln>
              <a:noFill/>
            </a:ln>
            <a:effectLst/>
          </p:spPr>
          <p:txBody>
            <a:bodyPr wrap="square" anchor="t" anchorCtr="0">
              <a:noAutofit/>
            </a:bodyPr>
            <a:lstStyle/>
            <a:p>
              <a:pPr>
                <a:spcBef>
                  <a:spcPct val="0"/>
                </a:spcBef>
              </a:pPr>
              <a:r>
                <a:rPr lang="en-US" altLang="de-DE" sz="1050" b="1" dirty="0">
                  <a:latin typeface="Arial" panose="020B0604020202020204" pitchFamily="34" charset="0"/>
                  <a:cs typeface="Arial" panose="020B0604020202020204" pitchFamily="34" charset="0"/>
                </a:rPr>
                <a:t>153/42/108</a:t>
              </a:r>
            </a:p>
          </p:txBody>
        </p:sp>
        <p:sp>
          <p:nvSpPr>
            <p:cNvPr id="28" name="AutoShape 38"/>
            <p:cNvSpPr>
              <a:spLocks noChangeArrowheads="1"/>
            </p:cNvSpPr>
            <p:nvPr/>
          </p:nvSpPr>
          <p:spPr bwMode="auto">
            <a:xfrm>
              <a:off x="4713900" y="1297349"/>
              <a:ext cx="4319997" cy="1045050"/>
            </a:xfrm>
            <a:prstGeom prst="roundRect">
              <a:avLst>
                <a:gd name="adj" fmla="val 16667"/>
              </a:avLst>
            </a:prstGeom>
            <a:solidFill>
              <a:srgbClr val="992A6C"/>
            </a:solidFill>
            <a:ln>
              <a:noFill/>
            </a:ln>
            <a:effectLst/>
          </p:spPr>
          <p:txBody>
            <a:bodyPr wrap="square" lIns="36000" tIns="18000" rIns="0" bIns="0" anchor="t" anchorCtr="0">
              <a:noAutofit/>
            </a:bodyPr>
            <a:lstStyle/>
            <a:p>
              <a:pPr>
                <a:spcBef>
                  <a:spcPct val="0"/>
                </a:spcBef>
              </a:pPr>
              <a:r>
                <a:rPr lang="en-US" altLang="de-DE" sz="1050" dirty="0">
                  <a:solidFill>
                    <a:schemeClr val="bg1"/>
                  </a:solidFill>
                  <a:latin typeface="Arial" panose="020B0604020202020204" pitchFamily="34" charset="0"/>
                  <a:cs typeface="Arial" panose="020B0604020202020204" pitchFamily="34" charset="0"/>
                </a:rPr>
                <a:t>Connectivity</a:t>
              </a:r>
            </a:p>
          </p:txBody>
        </p:sp>
      </p:grpSp>
      <p:grpSp>
        <p:nvGrpSpPr>
          <p:cNvPr id="33" name="Gruppieren 32"/>
          <p:cNvGrpSpPr/>
          <p:nvPr/>
        </p:nvGrpSpPr>
        <p:grpSpPr>
          <a:xfrm>
            <a:off x="1680958" y="3858968"/>
            <a:ext cx="930734" cy="1188000"/>
            <a:chOff x="4713900" y="1277106"/>
            <a:chExt cx="4549857" cy="1065293"/>
          </a:xfrm>
        </p:grpSpPr>
        <p:sp>
          <p:nvSpPr>
            <p:cNvPr id="34" name="AutoShape 38"/>
            <p:cNvSpPr>
              <a:spLocks noChangeArrowheads="1"/>
            </p:cNvSpPr>
            <p:nvPr/>
          </p:nvSpPr>
          <p:spPr bwMode="auto">
            <a:xfrm>
              <a:off x="4943760" y="1277106"/>
              <a:ext cx="4319997" cy="1045050"/>
            </a:xfrm>
            <a:prstGeom prst="roundRect">
              <a:avLst>
                <a:gd name="adj" fmla="val 16667"/>
              </a:avLst>
            </a:prstGeom>
            <a:gradFill>
              <a:gsLst>
                <a:gs pos="50000">
                  <a:srgbClr val="C2D481"/>
                </a:gs>
                <a:gs pos="0">
                  <a:srgbClr val="728431"/>
                </a:gs>
                <a:gs pos="100000">
                  <a:srgbClr val="728431"/>
                </a:gs>
              </a:gsLst>
              <a:lin ang="0" scaled="1"/>
            </a:gradFill>
            <a:ln>
              <a:noFill/>
            </a:ln>
            <a:effectLst/>
          </p:spPr>
          <p:txBody>
            <a:bodyPr wrap="square" anchor="t" anchorCtr="0">
              <a:noAutofit/>
            </a:bodyPr>
            <a:lstStyle/>
            <a:p>
              <a:pPr>
                <a:spcBef>
                  <a:spcPct val="0"/>
                </a:spcBef>
              </a:pPr>
              <a:r>
                <a:rPr lang="en-US" altLang="de-DE" sz="1050" b="1" dirty="0">
                  <a:latin typeface="Arial" panose="020B0604020202020204" pitchFamily="34" charset="0"/>
                  <a:cs typeface="Arial" panose="020B0604020202020204" pitchFamily="34" charset="0"/>
                </a:rPr>
                <a:t>153/42/108</a:t>
              </a:r>
            </a:p>
          </p:txBody>
        </p:sp>
        <p:sp>
          <p:nvSpPr>
            <p:cNvPr id="35" name="AutoShape 38"/>
            <p:cNvSpPr>
              <a:spLocks noChangeArrowheads="1"/>
            </p:cNvSpPr>
            <p:nvPr/>
          </p:nvSpPr>
          <p:spPr bwMode="auto">
            <a:xfrm>
              <a:off x="4713900" y="1297349"/>
              <a:ext cx="4319997" cy="1045050"/>
            </a:xfrm>
            <a:prstGeom prst="roundRect">
              <a:avLst>
                <a:gd name="adj" fmla="val 16667"/>
              </a:avLst>
            </a:prstGeom>
            <a:solidFill>
              <a:srgbClr val="C2D481"/>
            </a:solidFill>
            <a:ln>
              <a:noFill/>
            </a:ln>
            <a:effectLst/>
          </p:spPr>
          <p:txBody>
            <a:bodyPr wrap="square" lIns="36000" tIns="18000" rIns="0" bIns="0" anchor="t" anchorCtr="0">
              <a:noAutofit/>
            </a:bodyPr>
            <a:lstStyle/>
            <a:p>
              <a:pPr>
                <a:spcBef>
                  <a:spcPct val="0"/>
                </a:spcBef>
              </a:pPr>
              <a:r>
                <a:rPr lang="en-US" altLang="de-DE" sz="1050" dirty="0">
                  <a:latin typeface="Arial" panose="020B0604020202020204" pitchFamily="34" charset="0"/>
                  <a:cs typeface="Arial" panose="020B0604020202020204" pitchFamily="34" charset="0"/>
                </a:rPr>
                <a:t>PLC</a:t>
              </a:r>
            </a:p>
          </p:txBody>
        </p:sp>
      </p:grpSp>
      <p:grpSp>
        <p:nvGrpSpPr>
          <p:cNvPr id="61" name="Gruppieren 60"/>
          <p:cNvGrpSpPr/>
          <p:nvPr/>
        </p:nvGrpSpPr>
        <p:grpSpPr>
          <a:xfrm>
            <a:off x="2657537" y="3858968"/>
            <a:ext cx="930734" cy="1188000"/>
            <a:chOff x="4713900" y="1277106"/>
            <a:chExt cx="4549857" cy="1065293"/>
          </a:xfrm>
        </p:grpSpPr>
        <p:sp>
          <p:nvSpPr>
            <p:cNvPr id="62" name="AutoShape 38"/>
            <p:cNvSpPr>
              <a:spLocks noChangeArrowheads="1"/>
            </p:cNvSpPr>
            <p:nvPr/>
          </p:nvSpPr>
          <p:spPr bwMode="auto">
            <a:xfrm>
              <a:off x="4943760" y="1277106"/>
              <a:ext cx="4319997" cy="1045050"/>
            </a:xfrm>
            <a:prstGeom prst="roundRect">
              <a:avLst>
                <a:gd name="adj" fmla="val 16667"/>
              </a:avLst>
            </a:prstGeom>
            <a:gradFill>
              <a:gsLst>
                <a:gs pos="50000">
                  <a:srgbClr val="F6CF38"/>
                </a:gs>
                <a:gs pos="0">
                  <a:srgbClr val="BF9809"/>
                </a:gs>
                <a:gs pos="100000">
                  <a:srgbClr val="BF9809"/>
                </a:gs>
              </a:gsLst>
              <a:lin ang="0" scaled="1"/>
            </a:gradFill>
            <a:ln>
              <a:noFill/>
            </a:ln>
            <a:effectLst/>
          </p:spPr>
          <p:txBody>
            <a:bodyPr wrap="square" anchor="t" anchorCtr="0">
              <a:noAutofit/>
            </a:bodyPr>
            <a:lstStyle/>
            <a:p>
              <a:pPr>
                <a:spcBef>
                  <a:spcPct val="0"/>
                </a:spcBef>
              </a:pPr>
              <a:r>
                <a:rPr lang="en-US" altLang="de-DE" sz="1050" b="1" dirty="0">
                  <a:latin typeface="Arial" panose="020B0604020202020204" pitchFamily="34" charset="0"/>
                  <a:cs typeface="Arial" panose="020B0604020202020204" pitchFamily="34" charset="0"/>
                </a:rPr>
                <a:t>153/42/108</a:t>
              </a:r>
            </a:p>
          </p:txBody>
        </p:sp>
        <p:sp>
          <p:nvSpPr>
            <p:cNvPr id="63" name="AutoShape 38"/>
            <p:cNvSpPr>
              <a:spLocks noChangeArrowheads="1"/>
            </p:cNvSpPr>
            <p:nvPr/>
          </p:nvSpPr>
          <p:spPr bwMode="auto">
            <a:xfrm>
              <a:off x="4713900" y="1297349"/>
              <a:ext cx="4319997" cy="1045050"/>
            </a:xfrm>
            <a:prstGeom prst="roundRect">
              <a:avLst>
                <a:gd name="adj" fmla="val 16667"/>
              </a:avLst>
            </a:prstGeom>
            <a:solidFill>
              <a:srgbClr val="F6CF38"/>
            </a:solidFill>
            <a:ln>
              <a:noFill/>
            </a:ln>
            <a:effectLst/>
          </p:spPr>
          <p:txBody>
            <a:bodyPr wrap="square" lIns="36000" tIns="18000" rIns="0" bIns="0" anchor="t" anchorCtr="0">
              <a:noAutofit/>
            </a:bodyPr>
            <a:lstStyle/>
            <a:p>
              <a:pPr>
                <a:spcBef>
                  <a:spcPct val="0"/>
                </a:spcBef>
              </a:pPr>
              <a:r>
                <a:rPr lang="en-US" altLang="de-DE" sz="1050" dirty="0">
                  <a:latin typeface="Arial" panose="020B0604020202020204" pitchFamily="34" charset="0"/>
                  <a:cs typeface="Arial" panose="020B0604020202020204" pitchFamily="34" charset="0"/>
                </a:rPr>
                <a:t>PLC</a:t>
              </a:r>
            </a:p>
            <a:p>
              <a:pPr>
                <a:spcBef>
                  <a:spcPct val="0"/>
                </a:spcBef>
              </a:pPr>
              <a:r>
                <a:rPr lang="en-US" altLang="de-DE" sz="1050" dirty="0">
                  <a:latin typeface="Arial" panose="020B0604020202020204" pitchFamily="34" charset="0"/>
                  <a:cs typeface="Arial" panose="020B0604020202020204" pitchFamily="34" charset="0"/>
                </a:rPr>
                <a:t>Safety</a:t>
              </a:r>
            </a:p>
          </p:txBody>
        </p:sp>
      </p:grpSp>
      <p:grpSp>
        <p:nvGrpSpPr>
          <p:cNvPr id="64" name="Gruppieren 63"/>
          <p:cNvGrpSpPr/>
          <p:nvPr/>
        </p:nvGrpSpPr>
        <p:grpSpPr>
          <a:xfrm>
            <a:off x="3634117" y="3858968"/>
            <a:ext cx="930734" cy="1188000"/>
            <a:chOff x="4713900" y="1277106"/>
            <a:chExt cx="4549857" cy="1065293"/>
          </a:xfrm>
        </p:grpSpPr>
        <p:sp>
          <p:nvSpPr>
            <p:cNvPr id="65" name="AutoShape 38"/>
            <p:cNvSpPr>
              <a:spLocks noChangeArrowheads="1"/>
            </p:cNvSpPr>
            <p:nvPr/>
          </p:nvSpPr>
          <p:spPr bwMode="auto">
            <a:xfrm>
              <a:off x="4943760" y="1277106"/>
              <a:ext cx="4319997" cy="1045050"/>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66"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Motion</a:t>
              </a:r>
            </a:p>
          </p:txBody>
        </p:sp>
      </p:grpSp>
      <p:grpSp>
        <p:nvGrpSpPr>
          <p:cNvPr id="73" name="Gruppieren 72"/>
          <p:cNvGrpSpPr/>
          <p:nvPr/>
        </p:nvGrpSpPr>
        <p:grpSpPr>
          <a:xfrm>
            <a:off x="6563856" y="3858968"/>
            <a:ext cx="930734" cy="1188000"/>
            <a:chOff x="4713900" y="1277106"/>
            <a:chExt cx="4549857" cy="1065293"/>
          </a:xfrm>
        </p:grpSpPr>
        <p:sp>
          <p:nvSpPr>
            <p:cNvPr id="74" name="AutoShape 38"/>
            <p:cNvSpPr>
              <a:spLocks noChangeArrowheads="1"/>
            </p:cNvSpPr>
            <p:nvPr/>
          </p:nvSpPr>
          <p:spPr bwMode="auto">
            <a:xfrm>
              <a:off x="4943760" y="1277106"/>
              <a:ext cx="4319997" cy="1045050"/>
            </a:xfrm>
            <a:prstGeom prst="roundRect">
              <a:avLst>
                <a:gd name="adj" fmla="val 16667"/>
              </a:avLst>
            </a:prstGeom>
            <a:gradFill>
              <a:gsLst>
                <a:gs pos="50000">
                  <a:srgbClr val="C2D481"/>
                </a:gs>
                <a:gs pos="0">
                  <a:srgbClr val="728431"/>
                </a:gs>
                <a:gs pos="100000">
                  <a:srgbClr val="728431"/>
                </a:gs>
              </a:gsLst>
              <a:lin ang="0" scaled="1"/>
            </a:gradFill>
            <a:ln>
              <a:noFill/>
            </a:ln>
            <a:effectLst/>
          </p:spPr>
          <p:txBody>
            <a:bodyPr wrap="square" anchor="t" anchorCtr="0">
              <a:noAutofit/>
            </a:bodyPr>
            <a:lstStyle/>
            <a:p>
              <a:pPr>
                <a:spcBef>
                  <a:spcPct val="0"/>
                </a:spcBef>
              </a:pPr>
              <a:r>
                <a:rPr lang="en-US" altLang="de-DE" sz="1050" b="1" dirty="0">
                  <a:latin typeface="Arial" panose="020B0604020202020204" pitchFamily="34" charset="0"/>
                  <a:cs typeface="Arial" panose="020B0604020202020204" pitchFamily="34" charset="0"/>
                </a:rPr>
                <a:t>153/42/108</a:t>
              </a:r>
            </a:p>
          </p:txBody>
        </p:sp>
        <p:sp>
          <p:nvSpPr>
            <p:cNvPr id="75" name="AutoShape 38"/>
            <p:cNvSpPr>
              <a:spLocks noChangeArrowheads="1"/>
            </p:cNvSpPr>
            <p:nvPr/>
          </p:nvSpPr>
          <p:spPr bwMode="auto">
            <a:xfrm>
              <a:off x="4713900" y="1297349"/>
              <a:ext cx="4319997" cy="1045050"/>
            </a:xfrm>
            <a:prstGeom prst="roundRect">
              <a:avLst>
                <a:gd name="adj" fmla="val 16667"/>
              </a:avLst>
            </a:prstGeom>
            <a:solidFill>
              <a:srgbClr val="C2D481"/>
            </a:solidFill>
            <a:ln>
              <a:noFill/>
            </a:ln>
            <a:effectLst/>
          </p:spPr>
          <p:txBody>
            <a:bodyPr wrap="square" lIns="36000" tIns="18000" rIns="0" bIns="0" anchor="t" anchorCtr="0">
              <a:noAutofit/>
            </a:bodyPr>
            <a:lstStyle/>
            <a:p>
              <a:pPr>
                <a:spcBef>
                  <a:spcPct val="0"/>
                </a:spcBef>
              </a:pPr>
              <a:r>
                <a:rPr lang="en-US" altLang="de-DE" sz="1050" dirty="0">
                  <a:latin typeface="Arial" panose="020B0604020202020204" pitchFamily="34" charset="0"/>
                  <a:cs typeface="Arial" panose="020B0604020202020204" pitchFamily="34" charset="0"/>
                </a:rPr>
                <a:t>CCAT</a:t>
              </a:r>
            </a:p>
            <a:p>
              <a:pPr>
                <a:spcBef>
                  <a:spcPct val="0"/>
                </a:spcBef>
              </a:pPr>
              <a:r>
                <a:rPr lang="en-US" altLang="de-DE" sz="1050" dirty="0">
                  <a:latin typeface="Arial" panose="020B0604020202020204" pitchFamily="34" charset="0"/>
                  <a:cs typeface="Arial" panose="020B0604020202020204" pitchFamily="34" charset="0"/>
                </a:rPr>
                <a:t>Modules</a:t>
              </a:r>
            </a:p>
          </p:txBody>
        </p:sp>
      </p:grpSp>
      <p:grpSp>
        <p:nvGrpSpPr>
          <p:cNvPr id="76" name="Gruppieren 75"/>
          <p:cNvGrpSpPr/>
          <p:nvPr/>
        </p:nvGrpSpPr>
        <p:grpSpPr>
          <a:xfrm>
            <a:off x="7540435" y="3858968"/>
            <a:ext cx="930734" cy="1188000"/>
            <a:chOff x="4713900" y="1277106"/>
            <a:chExt cx="4549857" cy="1065293"/>
          </a:xfrm>
        </p:grpSpPr>
        <p:sp>
          <p:nvSpPr>
            <p:cNvPr id="77" name="AutoShape 38"/>
            <p:cNvSpPr>
              <a:spLocks noChangeArrowheads="1"/>
            </p:cNvSpPr>
            <p:nvPr/>
          </p:nvSpPr>
          <p:spPr bwMode="auto">
            <a:xfrm>
              <a:off x="4943760" y="1277106"/>
              <a:ext cx="4319997" cy="1045050"/>
            </a:xfrm>
            <a:prstGeom prst="roundRect">
              <a:avLst>
                <a:gd name="adj" fmla="val 16667"/>
              </a:avLst>
            </a:prstGeom>
            <a:gradFill>
              <a:gsLst>
                <a:gs pos="50000">
                  <a:srgbClr val="2B7A83"/>
                </a:gs>
                <a:gs pos="0">
                  <a:srgbClr val="19464B"/>
                </a:gs>
                <a:gs pos="100000">
                  <a:srgbClr val="19464B"/>
                </a:gs>
              </a:gsLst>
              <a:lin ang="0" scaled="1"/>
            </a:gradFill>
            <a:ln>
              <a:noFill/>
            </a:ln>
            <a:effectLst/>
          </p:spPr>
          <p:txBody>
            <a:bodyPr wrap="square" anchor="t" anchorCtr="0">
              <a:noAutofit/>
            </a:bodyPr>
            <a:lstStyle/>
            <a:p>
              <a:pPr>
                <a:spcBef>
                  <a:spcPct val="0"/>
                </a:spcBef>
              </a:pPr>
              <a:r>
                <a:rPr lang="en-US" altLang="de-DE" sz="1050" b="1" dirty="0">
                  <a:latin typeface="Arial" panose="020B0604020202020204" pitchFamily="34" charset="0"/>
                  <a:cs typeface="Arial" panose="020B0604020202020204" pitchFamily="34" charset="0"/>
                </a:rPr>
                <a:t>153/42/108</a:t>
              </a:r>
            </a:p>
          </p:txBody>
        </p:sp>
        <p:sp>
          <p:nvSpPr>
            <p:cNvPr id="78" name="AutoShape 38"/>
            <p:cNvSpPr>
              <a:spLocks noChangeArrowheads="1"/>
            </p:cNvSpPr>
            <p:nvPr/>
          </p:nvSpPr>
          <p:spPr bwMode="auto">
            <a:xfrm>
              <a:off x="4713900" y="1297349"/>
              <a:ext cx="4319997" cy="1045050"/>
            </a:xfrm>
            <a:prstGeom prst="roundRect">
              <a:avLst>
                <a:gd name="adj" fmla="val 16667"/>
              </a:avLst>
            </a:prstGeom>
            <a:solidFill>
              <a:srgbClr val="2B7A83"/>
            </a:solidFill>
            <a:ln>
              <a:noFill/>
            </a:ln>
            <a:effectLst/>
          </p:spPr>
          <p:txBody>
            <a:bodyPr wrap="square" lIns="36000" tIns="18000" rIns="0" bIns="0" anchor="t" anchorCtr="0">
              <a:noAutofit/>
            </a:bodyPr>
            <a:lstStyle/>
            <a:p>
              <a:pPr>
                <a:spcBef>
                  <a:spcPct val="0"/>
                </a:spcBef>
              </a:pPr>
              <a:r>
                <a:rPr lang="en-US" sz="1050" dirty="0">
                  <a:solidFill>
                    <a:schemeClr val="bg1"/>
                  </a:solidFill>
                </a:rPr>
                <a:t>Simulink</a:t>
              </a:r>
              <a:r>
                <a:rPr lang="en-US" sz="1050" baseline="30000" dirty="0">
                  <a:solidFill>
                    <a:schemeClr val="bg1"/>
                  </a:solidFill>
                </a:rPr>
                <a:t>®</a:t>
              </a:r>
              <a:endParaRPr lang="en-US" sz="1050" dirty="0">
                <a:solidFill>
                  <a:schemeClr val="bg1"/>
                </a:solidFill>
                <a:latin typeface="Arial" panose="020B0604020202020204" pitchFamily="34" charset="0"/>
                <a:cs typeface="Arial" panose="020B0604020202020204" pitchFamily="34" charset="0"/>
              </a:endParaRPr>
            </a:p>
            <a:p>
              <a:pPr>
                <a:spcBef>
                  <a:spcPct val="0"/>
                </a:spcBef>
              </a:pPr>
              <a:r>
                <a:rPr lang="en-US" sz="1050" dirty="0">
                  <a:solidFill>
                    <a:schemeClr val="bg1"/>
                  </a:solidFill>
                  <a:latin typeface="Arial" panose="020B0604020202020204" pitchFamily="34" charset="0"/>
                  <a:cs typeface="Arial" panose="020B0604020202020204" pitchFamily="34" charset="0"/>
                </a:rPr>
                <a:t>Module</a:t>
              </a:r>
              <a:endParaRPr lang="en-US" sz="1050" dirty="0">
                <a:solidFill>
                  <a:schemeClr val="bg1"/>
                </a:solidFill>
              </a:endParaRPr>
            </a:p>
          </p:txBody>
        </p:sp>
      </p:grpSp>
      <p:grpSp>
        <p:nvGrpSpPr>
          <p:cNvPr id="79" name="Gruppieren 78"/>
          <p:cNvGrpSpPr/>
          <p:nvPr/>
        </p:nvGrpSpPr>
        <p:grpSpPr>
          <a:xfrm>
            <a:off x="8537703" y="3858968"/>
            <a:ext cx="910044" cy="1183712"/>
            <a:chOff x="4943760" y="1277106"/>
            <a:chExt cx="4319997" cy="1061448"/>
          </a:xfrm>
        </p:grpSpPr>
        <p:sp>
          <p:nvSpPr>
            <p:cNvPr id="80" name="AutoShape 38"/>
            <p:cNvSpPr>
              <a:spLocks noChangeArrowheads="1"/>
            </p:cNvSpPr>
            <p:nvPr/>
          </p:nvSpPr>
          <p:spPr bwMode="auto">
            <a:xfrm>
              <a:off x="4943760" y="1277106"/>
              <a:ext cx="4319997" cy="1045050"/>
            </a:xfrm>
            <a:prstGeom prst="roundRect">
              <a:avLst>
                <a:gd name="adj" fmla="val 16667"/>
              </a:avLst>
            </a:prstGeom>
            <a:gradFill>
              <a:gsLst>
                <a:gs pos="50000">
                  <a:schemeClr val="accent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Arial" panose="020B0604020202020204" pitchFamily="34" charset="0"/>
                  <a:cs typeface="Arial" panose="020B0604020202020204" pitchFamily="34" charset="0"/>
                </a:rPr>
                <a:t>153/42/108</a:t>
              </a:r>
            </a:p>
          </p:txBody>
        </p:sp>
        <p:sp>
          <p:nvSpPr>
            <p:cNvPr id="81" name="AutoShape 38"/>
            <p:cNvSpPr>
              <a:spLocks noChangeArrowheads="1"/>
            </p:cNvSpPr>
            <p:nvPr/>
          </p:nvSpPr>
          <p:spPr bwMode="auto">
            <a:xfrm>
              <a:off x="4943761" y="1293504"/>
              <a:ext cx="4118295" cy="1045050"/>
            </a:xfrm>
            <a:prstGeom prst="roundRect">
              <a:avLst>
                <a:gd name="adj" fmla="val 16667"/>
              </a:avLst>
            </a:prstGeom>
            <a:solidFill>
              <a:schemeClr val="accent2"/>
            </a:solidFill>
            <a:ln>
              <a:noFill/>
            </a:ln>
            <a:effectLst/>
          </p:spPr>
          <p:txBody>
            <a:bodyPr wrap="none" lIns="0" tIns="18000" rIns="0" bIns="0" anchor="t" anchorCtr="0">
              <a:noAutofit/>
            </a:bodyPr>
            <a:lstStyle/>
            <a:p>
              <a:pPr>
                <a:spcBef>
                  <a:spcPct val="0"/>
                </a:spcBef>
              </a:pPr>
              <a:r>
                <a:rPr lang="en-US" altLang="de-DE" sz="1050" dirty="0">
                  <a:solidFill>
                    <a:schemeClr val="bg1"/>
                  </a:solidFill>
                  <a:latin typeface="Arial" panose="020B0604020202020204" pitchFamily="34" charset="0"/>
                  <a:cs typeface="Arial" panose="020B0604020202020204" pitchFamily="34" charset="0"/>
                </a:rPr>
                <a:t>Measurement </a:t>
              </a:r>
            </a:p>
            <a:p>
              <a:pPr>
                <a:spcBef>
                  <a:spcPct val="0"/>
                </a:spcBef>
              </a:pPr>
              <a:r>
                <a:rPr lang="en-US" altLang="de-DE" sz="1050" dirty="0">
                  <a:solidFill>
                    <a:schemeClr val="bg1"/>
                  </a:solidFill>
                  <a:latin typeface="Arial" panose="020B0604020202020204" pitchFamily="34" charset="0"/>
                  <a:cs typeface="Arial" panose="020B0604020202020204" pitchFamily="34" charset="0"/>
                </a:rPr>
                <a:t>and Analytics</a:t>
              </a:r>
            </a:p>
          </p:txBody>
        </p:sp>
      </p:grpSp>
      <p:grpSp>
        <p:nvGrpSpPr>
          <p:cNvPr id="82" name="Gruppieren 81"/>
          <p:cNvGrpSpPr/>
          <p:nvPr/>
        </p:nvGrpSpPr>
        <p:grpSpPr>
          <a:xfrm>
            <a:off x="9493594" y="3858968"/>
            <a:ext cx="930734" cy="1188000"/>
            <a:chOff x="4713900" y="1277106"/>
            <a:chExt cx="4549857" cy="1065293"/>
          </a:xfrm>
        </p:grpSpPr>
        <p:sp>
          <p:nvSpPr>
            <p:cNvPr id="83" name="AutoShape 38"/>
            <p:cNvSpPr>
              <a:spLocks noChangeArrowheads="1"/>
            </p:cNvSpPr>
            <p:nvPr/>
          </p:nvSpPr>
          <p:spPr bwMode="auto">
            <a:xfrm>
              <a:off x="4943760" y="1277106"/>
              <a:ext cx="4319997" cy="1045050"/>
            </a:xfrm>
            <a:prstGeom prst="roundRect">
              <a:avLst>
                <a:gd name="adj" fmla="val 16667"/>
              </a:avLst>
            </a:prstGeom>
            <a:gradFill>
              <a:gsLst>
                <a:gs pos="50000">
                  <a:srgbClr val="C9252C"/>
                </a:gs>
                <a:gs pos="0">
                  <a:srgbClr val="8E1A20"/>
                </a:gs>
                <a:gs pos="100000">
                  <a:srgbClr val="8E1A20"/>
                </a:gs>
              </a:gsLst>
              <a:lin ang="0" scaled="1"/>
            </a:gradFill>
            <a:ln>
              <a:noFill/>
            </a:ln>
            <a:effectLst/>
          </p:spPr>
          <p:txBody>
            <a:bodyPr wrap="square" anchor="t" anchorCtr="0">
              <a:noAutofit/>
            </a:bodyPr>
            <a:lstStyle/>
            <a:p>
              <a:pPr>
                <a:spcBef>
                  <a:spcPct val="0"/>
                </a:spcBef>
              </a:pPr>
              <a:r>
                <a:rPr lang="en-US" altLang="de-DE" sz="1050" b="1" dirty="0">
                  <a:latin typeface="Arial" panose="020B0604020202020204" pitchFamily="34" charset="0"/>
                  <a:cs typeface="Arial" panose="020B0604020202020204" pitchFamily="34" charset="0"/>
                </a:rPr>
                <a:t>153/42/108</a:t>
              </a:r>
            </a:p>
          </p:txBody>
        </p:sp>
        <p:sp>
          <p:nvSpPr>
            <p:cNvPr id="84" name="AutoShape 38"/>
            <p:cNvSpPr>
              <a:spLocks noChangeArrowheads="1"/>
            </p:cNvSpPr>
            <p:nvPr/>
          </p:nvSpPr>
          <p:spPr bwMode="auto">
            <a:xfrm>
              <a:off x="4713900" y="1297349"/>
              <a:ext cx="4319997" cy="1045050"/>
            </a:xfrm>
            <a:prstGeom prst="roundRect">
              <a:avLst>
                <a:gd name="adj" fmla="val 16667"/>
              </a:avLst>
            </a:prstGeom>
            <a:solidFill>
              <a:srgbClr val="C9252C"/>
            </a:solidFill>
            <a:ln>
              <a:noFill/>
            </a:ln>
            <a:effectLst/>
          </p:spPr>
          <p:txBody>
            <a:bodyPr wrap="square" lIns="36000" tIns="18000" rIns="0" bIns="0" anchor="t" anchorCtr="0">
              <a:noAutofit/>
            </a:bodyPr>
            <a:lstStyle/>
            <a:p>
              <a:pPr>
                <a:spcBef>
                  <a:spcPct val="0"/>
                </a:spcBef>
              </a:pPr>
              <a:r>
                <a:rPr lang="en-US" altLang="de-DE" sz="1050" dirty="0">
                  <a:solidFill>
                    <a:schemeClr val="bg1"/>
                  </a:solidFill>
                  <a:latin typeface="Arial" panose="020B0604020202020204" pitchFamily="34" charset="0"/>
                  <a:cs typeface="Arial" panose="020B0604020202020204" pitchFamily="34" charset="0"/>
                </a:rPr>
                <a:t>Vision Runtime</a:t>
              </a:r>
            </a:p>
          </p:txBody>
        </p:sp>
      </p:grpSp>
      <p:grpSp>
        <p:nvGrpSpPr>
          <p:cNvPr id="85" name="Gruppieren 84"/>
          <p:cNvGrpSpPr/>
          <p:nvPr/>
        </p:nvGrpSpPr>
        <p:grpSpPr>
          <a:xfrm>
            <a:off x="10470169" y="3858968"/>
            <a:ext cx="930734" cy="1188000"/>
            <a:chOff x="4713900" y="1277106"/>
            <a:chExt cx="4549857" cy="1065293"/>
          </a:xfrm>
        </p:grpSpPr>
        <p:sp>
          <p:nvSpPr>
            <p:cNvPr id="86" name="AutoShape 38"/>
            <p:cNvSpPr>
              <a:spLocks noChangeArrowheads="1"/>
            </p:cNvSpPr>
            <p:nvPr/>
          </p:nvSpPr>
          <p:spPr bwMode="auto">
            <a:xfrm>
              <a:off x="4943760" y="1277106"/>
              <a:ext cx="4319997" cy="1045050"/>
            </a:xfrm>
            <a:prstGeom prst="roundRect">
              <a:avLst>
                <a:gd name="adj" fmla="val 16667"/>
              </a:avLst>
            </a:prstGeom>
            <a:gradFill>
              <a:gsLst>
                <a:gs pos="50000">
                  <a:srgbClr val="0083CA"/>
                </a:gs>
                <a:gs pos="0">
                  <a:srgbClr val="004E7A"/>
                </a:gs>
                <a:gs pos="100000">
                  <a:srgbClr val="004E7A"/>
                </a:gs>
              </a:gsLst>
              <a:lin ang="0" scaled="1"/>
            </a:gradFill>
            <a:ln>
              <a:noFill/>
            </a:ln>
            <a:effectLst/>
          </p:spPr>
          <p:txBody>
            <a:bodyPr wrap="square" anchor="t" anchorCtr="0">
              <a:noAutofit/>
            </a:bodyPr>
            <a:lstStyle/>
            <a:p>
              <a:pPr>
                <a:spcBef>
                  <a:spcPct val="0"/>
                </a:spcBef>
              </a:pPr>
              <a:r>
                <a:rPr lang="en-US" altLang="de-DE" sz="1050" b="1" dirty="0">
                  <a:latin typeface="Arial" panose="020B0604020202020204" pitchFamily="34" charset="0"/>
                  <a:cs typeface="Arial" panose="020B0604020202020204" pitchFamily="34" charset="0"/>
                </a:rPr>
                <a:t>153/42/108</a:t>
              </a:r>
            </a:p>
          </p:txBody>
        </p:sp>
        <p:sp>
          <p:nvSpPr>
            <p:cNvPr id="87" name="AutoShape 38"/>
            <p:cNvSpPr>
              <a:spLocks noChangeArrowheads="1"/>
            </p:cNvSpPr>
            <p:nvPr/>
          </p:nvSpPr>
          <p:spPr bwMode="auto">
            <a:xfrm>
              <a:off x="4713900" y="1297349"/>
              <a:ext cx="4319997" cy="1045050"/>
            </a:xfrm>
            <a:prstGeom prst="roundRect">
              <a:avLst>
                <a:gd name="adj" fmla="val 16667"/>
              </a:avLst>
            </a:prstGeom>
            <a:solidFill>
              <a:srgbClr val="0083CA"/>
            </a:solidFill>
            <a:ln>
              <a:noFill/>
            </a:ln>
            <a:effectLst/>
          </p:spPr>
          <p:txBody>
            <a:bodyPr wrap="square" lIns="36000" tIns="18000" rIns="0" bIns="0" anchor="t" anchorCtr="0">
              <a:noAutofit/>
            </a:bodyPr>
            <a:lstStyle/>
            <a:p>
              <a:pPr>
                <a:spcBef>
                  <a:spcPct val="0"/>
                </a:spcBef>
              </a:pPr>
              <a:r>
                <a:rPr lang="en-US" altLang="de-DE" sz="1050" dirty="0">
                  <a:solidFill>
                    <a:schemeClr val="bg1"/>
                  </a:solidFill>
                  <a:latin typeface="Arial" panose="020B0604020202020204" pitchFamily="34" charset="0"/>
                  <a:cs typeface="Arial" panose="020B0604020202020204" pitchFamily="34" charset="0"/>
                </a:rPr>
                <a:t>HMI</a:t>
              </a:r>
            </a:p>
          </p:txBody>
        </p:sp>
      </p:grpSp>
      <p:grpSp>
        <p:nvGrpSpPr>
          <p:cNvPr id="90" name="Gruppieren 89"/>
          <p:cNvGrpSpPr/>
          <p:nvPr/>
        </p:nvGrpSpPr>
        <p:grpSpPr>
          <a:xfrm>
            <a:off x="4610696" y="3858968"/>
            <a:ext cx="930734" cy="1188000"/>
            <a:chOff x="4713900" y="1277106"/>
            <a:chExt cx="4549857" cy="1065293"/>
          </a:xfrm>
        </p:grpSpPr>
        <p:sp>
          <p:nvSpPr>
            <p:cNvPr id="91" name="AutoShape 38"/>
            <p:cNvSpPr>
              <a:spLocks noChangeArrowheads="1"/>
            </p:cNvSpPr>
            <p:nvPr/>
          </p:nvSpPr>
          <p:spPr bwMode="auto">
            <a:xfrm>
              <a:off x="4943760" y="1277106"/>
              <a:ext cx="4319997" cy="1045050"/>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92"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CNC</a:t>
              </a:r>
            </a:p>
          </p:txBody>
        </p:sp>
      </p:grpSp>
      <p:grpSp>
        <p:nvGrpSpPr>
          <p:cNvPr id="93" name="Gruppieren 92"/>
          <p:cNvGrpSpPr/>
          <p:nvPr/>
        </p:nvGrpSpPr>
        <p:grpSpPr>
          <a:xfrm>
            <a:off x="5587276" y="3858968"/>
            <a:ext cx="930734" cy="1188000"/>
            <a:chOff x="4713900" y="1277106"/>
            <a:chExt cx="4549857" cy="1065293"/>
          </a:xfrm>
        </p:grpSpPr>
        <p:sp>
          <p:nvSpPr>
            <p:cNvPr id="94" name="AutoShape 38"/>
            <p:cNvSpPr>
              <a:spLocks noChangeArrowheads="1"/>
            </p:cNvSpPr>
            <p:nvPr/>
          </p:nvSpPr>
          <p:spPr bwMode="auto">
            <a:xfrm>
              <a:off x="4943760" y="1277106"/>
              <a:ext cx="4319997" cy="1045050"/>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95"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Robotics Motion</a:t>
              </a:r>
            </a:p>
          </p:txBody>
        </p:sp>
      </p:grpSp>
      <p:grpSp>
        <p:nvGrpSpPr>
          <p:cNvPr id="172" name="Gruppieren 171"/>
          <p:cNvGrpSpPr/>
          <p:nvPr/>
        </p:nvGrpSpPr>
        <p:grpSpPr>
          <a:xfrm>
            <a:off x="631693" y="2751686"/>
            <a:ext cx="1379702" cy="586011"/>
            <a:chOff x="4713900" y="1258590"/>
            <a:chExt cx="4451450" cy="1083809"/>
          </a:xfrm>
        </p:grpSpPr>
        <p:sp>
          <p:nvSpPr>
            <p:cNvPr id="173"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174"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IoT Communication</a:t>
              </a:r>
            </a:p>
            <a:p>
              <a:pPr>
                <a:spcBef>
                  <a:spcPct val="0"/>
                </a:spcBef>
              </a:pPr>
              <a:r>
                <a:rPr lang="en-US" altLang="de-DE" sz="1050" dirty="0">
                  <a:latin typeface="+mj-lt"/>
                  <a:cs typeface="Arial" panose="020B0604020202020204" pitchFamily="34" charset="0"/>
                </a:rPr>
                <a:t>HTTPs</a:t>
              </a:r>
            </a:p>
            <a:p>
              <a:pPr>
                <a:spcBef>
                  <a:spcPct val="0"/>
                </a:spcBef>
              </a:pPr>
              <a:r>
                <a:rPr lang="en-US" altLang="de-DE" sz="1050" dirty="0">
                  <a:latin typeface="+mj-lt"/>
                  <a:cs typeface="Arial" panose="020B0604020202020204" pitchFamily="34" charset="0"/>
                </a:rPr>
                <a:t>MQTT</a:t>
              </a:r>
            </a:p>
            <a:p>
              <a:pPr>
                <a:spcBef>
                  <a:spcPct val="0"/>
                </a:spcBef>
              </a:pPr>
              <a:endParaRPr lang="en-US" altLang="de-DE" sz="1050" dirty="0">
                <a:latin typeface="+mj-lt"/>
                <a:cs typeface="Arial" panose="020B0604020202020204" pitchFamily="34" charset="0"/>
              </a:endParaRPr>
            </a:p>
          </p:txBody>
        </p:sp>
      </p:grpSp>
      <p:grpSp>
        <p:nvGrpSpPr>
          <p:cNvPr id="175" name="Gruppieren 174"/>
          <p:cNvGrpSpPr/>
          <p:nvPr/>
        </p:nvGrpSpPr>
        <p:grpSpPr>
          <a:xfrm>
            <a:off x="2226099" y="2751686"/>
            <a:ext cx="1379702" cy="586011"/>
            <a:chOff x="4713900" y="1258590"/>
            <a:chExt cx="4451450" cy="1083809"/>
          </a:xfrm>
        </p:grpSpPr>
        <p:sp>
          <p:nvSpPr>
            <p:cNvPr id="176"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177"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Database Connection</a:t>
              </a:r>
            </a:p>
          </p:txBody>
        </p:sp>
      </p:grpSp>
      <p:grpSp>
        <p:nvGrpSpPr>
          <p:cNvPr id="178" name="Gruppieren 177"/>
          <p:cNvGrpSpPr/>
          <p:nvPr/>
        </p:nvGrpSpPr>
        <p:grpSpPr>
          <a:xfrm>
            <a:off x="3820506" y="2751686"/>
            <a:ext cx="1379702" cy="586011"/>
            <a:chOff x="4713900" y="1258590"/>
            <a:chExt cx="4451450" cy="1083809"/>
          </a:xfrm>
        </p:grpSpPr>
        <p:sp>
          <p:nvSpPr>
            <p:cNvPr id="179"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180"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TCP/IP</a:t>
              </a:r>
            </a:p>
          </p:txBody>
        </p:sp>
      </p:grpSp>
      <p:grpSp>
        <p:nvGrpSpPr>
          <p:cNvPr id="181" name="Gruppieren 180"/>
          <p:cNvGrpSpPr/>
          <p:nvPr/>
        </p:nvGrpSpPr>
        <p:grpSpPr>
          <a:xfrm>
            <a:off x="5414912" y="2751686"/>
            <a:ext cx="1379702" cy="586011"/>
            <a:chOff x="4713900" y="1258590"/>
            <a:chExt cx="4451450" cy="1083809"/>
          </a:xfrm>
        </p:grpSpPr>
        <p:sp>
          <p:nvSpPr>
            <p:cNvPr id="182"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Arial" panose="020B0604020202020204" pitchFamily="34" charset="0"/>
                  <a:cs typeface="Arial" panose="020B0604020202020204" pitchFamily="34" charset="0"/>
                </a:rPr>
                <a:t>153/42/108</a:t>
              </a:r>
            </a:p>
          </p:txBody>
        </p:sp>
        <p:sp>
          <p:nvSpPr>
            <p:cNvPr id="183"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endParaRPr lang="en-US" altLang="de-DE" sz="1050" dirty="0">
                <a:solidFill>
                  <a:schemeClr val="bg1"/>
                </a:solidFill>
                <a:latin typeface="Arial" panose="020B0604020202020204" pitchFamily="34" charset="0"/>
                <a:cs typeface="Arial" panose="020B0604020202020204" pitchFamily="34" charset="0"/>
              </a:endParaRPr>
            </a:p>
          </p:txBody>
        </p:sp>
      </p:grpSp>
      <p:grpSp>
        <p:nvGrpSpPr>
          <p:cNvPr id="184" name="Gruppieren 183"/>
          <p:cNvGrpSpPr/>
          <p:nvPr/>
        </p:nvGrpSpPr>
        <p:grpSpPr>
          <a:xfrm>
            <a:off x="7009318" y="2751686"/>
            <a:ext cx="1379702" cy="586011"/>
            <a:chOff x="4713900" y="1258590"/>
            <a:chExt cx="4451450" cy="1083809"/>
          </a:xfrm>
        </p:grpSpPr>
        <p:sp>
          <p:nvSpPr>
            <p:cNvPr id="185"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186"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ADS</a:t>
              </a:r>
            </a:p>
          </p:txBody>
        </p:sp>
      </p:grpSp>
      <p:grpSp>
        <p:nvGrpSpPr>
          <p:cNvPr id="187" name="Gruppieren 186"/>
          <p:cNvGrpSpPr/>
          <p:nvPr/>
        </p:nvGrpSpPr>
        <p:grpSpPr>
          <a:xfrm>
            <a:off x="8603724" y="2751686"/>
            <a:ext cx="1379702" cy="586011"/>
            <a:chOff x="4713900" y="1258590"/>
            <a:chExt cx="4451450" cy="1083809"/>
          </a:xfrm>
        </p:grpSpPr>
        <p:sp>
          <p:nvSpPr>
            <p:cNvPr id="188"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189"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err="1">
                  <a:latin typeface="+mj-lt"/>
                  <a:cs typeface="Arial" panose="020B0604020202020204" pitchFamily="34" charset="0"/>
                </a:rPr>
                <a:t>EtherCAT</a:t>
              </a:r>
              <a:r>
                <a:rPr lang="en-US" altLang="de-DE" sz="1050" dirty="0">
                  <a:latin typeface="+mj-lt"/>
                  <a:cs typeface="Arial" panose="020B0604020202020204" pitchFamily="34" charset="0"/>
                </a:rPr>
                <a:t> Automation Protocol</a:t>
              </a:r>
            </a:p>
          </p:txBody>
        </p:sp>
      </p:grpSp>
      <p:grpSp>
        <p:nvGrpSpPr>
          <p:cNvPr id="190" name="Gruppieren 189"/>
          <p:cNvGrpSpPr/>
          <p:nvPr/>
        </p:nvGrpSpPr>
        <p:grpSpPr>
          <a:xfrm>
            <a:off x="10198131" y="2751686"/>
            <a:ext cx="1379702" cy="586011"/>
            <a:chOff x="4713900" y="1258590"/>
            <a:chExt cx="4451450" cy="1083809"/>
          </a:xfrm>
        </p:grpSpPr>
        <p:sp>
          <p:nvSpPr>
            <p:cNvPr id="191"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192"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PROFINET, </a:t>
              </a:r>
              <a:r>
                <a:rPr lang="en-US" altLang="de-DE" sz="1050" dirty="0" err="1">
                  <a:latin typeface="+mj-lt"/>
                  <a:cs typeface="Arial" panose="020B0604020202020204" pitchFamily="34" charset="0"/>
                </a:rPr>
                <a:t>EtherNet</a:t>
              </a:r>
              <a:r>
                <a:rPr lang="en-US" altLang="de-DE" sz="1050" dirty="0">
                  <a:latin typeface="+mj-lt"/>
                  <a:cs typeface="Arial" panose="020B0604020202020204" pitchFamily="34" charset="0"/>
                </a:rPr>
                <a:t>/IP, </a:t>
              </a:r>
            </a:p>
            <a:p>
              <a:pPr>
                <a:spcBef>
                  <a:spcPct val="0"/>
                </a:spcBef>
              </a:pPr>
              <a:r>
                <a:rPr lang="en-US" altLang="de-DE" sz="1050" dirty="0">
                  <a:latin typeface="+mj-lt"/>
                  <a:cs typeface="Arial" panose="020B0604020202020204" pitchFamily="34" charset="0"/>
                </a:rPr>
                <a:t>Modbus</a:t>
              </a:r>
            </a:p>
          </p:txBody>
        </p:sp>
      </p:grpSp>
      <p:grpSp>
        <p:nvGrpSpPr>
          <p:cNvPr id="199" name="M2M"/>
          <p:cNvGrpSpPr/>
          <p:nvPr/>
        </p:nvGrpSpPr>
        <p:grpSpPr>
          <a:xfrm>
            <a:off x="3761580" y="1469014"/>
            <a:ext cx="1379702" cy="586011"/>
            <a:chOff x="4713900" y="1258590"/>
            <a:chExt cx="4451450" cy="1083809"/>
          </a:xfrm>
        </p:grpSpPr>
        <p:sp>
          <p:nvSpPr>
            <p:cNvPr id="200"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201"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M2M</a:t>
              </a:r>
            </a:p>
          </p:txBody>
        </p:sp>
      </p:grpSp>
      <p:grpSp>
        <p:nvGrpSpPr>
          <p:cNvPr id="202" name="MES"/>
          <p:cNvGrpSpPr/>
          <p:nvPr/>
        </p:nvGrpSpPr>
        <p:grpSpPr>
          <a:xfrm>
            <a:off x="5355986" y="1469014"/>
            <a:ext cx="1379702" cy="586011"/>
            <a:chOff x="4713900" y="1258590"/>
            <a:chExt cx="4451450" cy="1083809"/>
          </a:xfrm>
        </p:grpSpPr>
        <p:sp>
          <p:nvSpPr>
            <p:cNvPr id="203"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204"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MES / WES</a:t>
              </a:r>
            </a:p>
          </p:txBody>
        </p:sp>
      </p:grpSp>
      <p:grpSp>
        <p:nvGrpSpPr>
          <p:cNvPr id="205" name="HMI"/>
          <p:cNvGrpSpPr/>
          <p:nvPr/>
        </p:nvGrpSpPr>
        <p:grpSpPr>
          <a:xfrm>
            <a:off x="6950392" y="1469014"/>
            <a:ext cx="1379702" cy="586011"/>
            <a:chOff x="4713900" y="1258590"/>
            <a:chExt cx="4451450" cy="1083809"/>
          </a:xfrm>
        </p:grpSpPr>
        <p:sp>
          <p:nvSpPr>
            <p:cNvPr id="206"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207"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HMI</a:t>
              </a:r>
            </a:p>
          </p:txBody>
        </p:sp>
      </p:grpSp>
      <p:grpSp>
        <p:nvGrpSpPr>
          <p:cNvPr id="208" name="Matlab"/>
          <p:cNvGrpSpPr/>
          <p:nvPr/>
        </p:nvGrpSpPr>
        <p:grpSpPr>
          <a:xfrm>
            <a:off x="8544798" y="1469014"/>
            <a:ext cx="1379702" cy="586011"/>
            <a:chOff x="4713900" y="1258590"/>
            <a:chExt cx="4451450" cy="1083809"/>
          </a:xfrm>
        </p:grpSpPr>
        <p:sp>
          <p:nvSpPr>
            <p:cNvPr id="209"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210"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r>
                <a:rPr lang="en-US" sz="1050" dirty="0">
                  <a:latin typeface="+mj-lt"/>
                </a:rPr>
                <a:t>MATLAB</a:t>
              </a:r>
              <a:r>
                <a:rPr lang="en-US" sz="1050" baseline="30000" dirty="0">
                  <a:latin typeface="+mj-lt"/>
                </a:rPr>
                <a:t>®</a:t>
              </a:r>
              <a:endParaRPr lang="en-US" sz="1050" dirty="0">
                <a:latin typeface="+mj-lt"/>
              </a:endParaRPr>
            </a:p>
          </p:txBody>
        </p:sp>
      </p:grpSp>
      <p:grpSp>
        <p:nvGrpSpPr>
          <p:cNvPr id="211" name="Labview"/>
          <p:cNvGrpSpPr/>
          <p:nvPr/>
        </p:nvGrpSpPr>
        <p:grpSpPr>
          <a:xfrm>
            <a:off x="10139205" y="1469014"/>
            <a:ext cx="1379702" cy="586011"/>
            <a:chOff x="4713900" y="1258590"/>
            <a:chExt cx="4451450" cy="1083809"/>
          </a:xfrm>
        </p:grpSpPr>
        <p:sp>
          <p:nvSpPr>
            <p:cNvPr id="212" name="AutoShape 38"/>
            <p:cNvSpPr>
              <a:spLocks noChangeArrowheads="1"/>
            </p:cNvSpPr>
            <p:nvPr/>
          </p:nvSpPr>
          <p:spPr bwMode="auto">
            <a:xfrm>
              <a:off x="4845353" y="1258590"/>
              <a:ext cx="4319997" cy="1045052"/>
            </a:xfrm>
            <a:prstGeom prst="roundRect">
              <a:avLst>
                <a:gd name="adj" fmla="val 16667"/>
              </a:avLst>
            </a:prstGeom>
            <a:gradFill>
              <a:gsLst>
                <a:gs pos="50000">
                  <a:schemeClr val="bg2"/>
                </a:gs>
                <a:gs pos="0">
                  <a:schemeClr val="accent3"/>
                </a:gs>
                <a:gs pos="100000">
                  <a:schemeClr val="accent3"/>
                </a:gs>
              </a:gsLst>
              <a:lin ang="0" scaled="1"/>
            </a:gradFill>
            <a:ln>
              <a:noFill/>
            </a:ln>
            <a:effectLst/>
          </p:spPr>
          <p:txBody>
            <a:bodyPr wrap="square" anchor="t" anchorCtr="0">
              <a:noAutofit/>
            </a:bodyPr>
            <a:lstStyle/>
            <a:p>
              <a:pPr>
                <a:spcBef>
                  <a:spcPct val="0"/>
                </a:spcBef>
              </a:pPr>
              <a:r>
                <a:rPr lang="en-US" altLang="de-DE" sz="1050" b="1" dirty="0">
                  <a:latin typeface="+mj-lt"/>
                  <a:cs typeface="Arial" panose="020B0604020202020204" pitchFamily="34" charset="0"/>
                </a:rPr>
                <a:t>153/42/108</a:t>
              </a:r>
            </a:p>
          </p:txBody>
        </p:sp>
        <p:sp>
          <p:nvSpPr>
            <p:cNvPr id="213" name="AutoShape 38"/>
            <p:cNvSpPr>
              <a:spLocks noChangeArrowheads="1"/>
            </p:cNvSpPr>
            <p:nvPr/>
          </p:nvSpPr>
          <p:spPr bwMode="auto">
            <a:xfrm>
              <a:off x="4713900" y="1297349"/>
              <a:ext cx="4319999" cy="1045050"/>
            </a:xfrm>
            <a:prstGeom prst="roundRect">
              <a:avLst>
                <a:gd name="adj" fmla="val 16667"/>
              </a:avLst>
            </a:prstGeom>
            <a:solidFill>
              <a:schemeClr val="bg2"/>
            </a:solidFill>
            <a:ln>
              <a:noFill/>
            </a:ln>
            <a:effectLst/>
          </p:spPr>
          <p:txBody>
            <a:bodyPr wrap="square" lIns="36000" tIns="18000" rIns="0" bIns="0" anchor="t" anchorCtr="0">
              <a:noAutofit/>
            </a:bodyPr>
            <a:lstStyle/>
            <a:p>
              <a:pPr>
                <a:spcBef>
                  <a:spcPct val="0"/>
                </a:spcBef>
              </a:pPr>
              <a:r>
                <a:rPr lang="en-US" altLang="de-DE" sz="1050" dirty="0">
                  <a:latin typeface="+mj-lt"/>
                  <a:cs typeface="Arial" panose="020B0604020202020204" pitchFamily="34" charset="0"/>
                </a:rPr>
                <a:t>LabView</a:t>
              </a:r>
              <a:r>
                <a:rPr lang="en-US" sz="1050" baseline="30000" dirty="0">
                  <a:latin typeface="+mj-lt"/>
                </a:rPr>
                <a:t>®</a:t>
              </a:r>
              <a:endParaRPr lang="en-US" sz="1050" dirty="0">
                <a:latin typeface="+mj-lt"/>
              </a:endParaRPr>
            </a:p>
          </p:txBody>
        </p:sp>
      </p:grpSp>
      <p:sp>
        <p:nvSpPr>
          <p:cNvPr id="2" name="Titel 1"/>
          <p:cNvSpPr>
            <a:spLocks noGrp="1"/>
          </p:cNvSpPr>
          <p:nvPr>
            <p:ph type="title"/>
          </p:nvPr>
        </p:nvSpPr>
        <p:spPr>
          <a:xfrm>
            <a:off x="1605" y="201363"/>
            <a:ext cx="10137600" cy="906366"/>
          </a:xfrm>
        </p:spPr>
        <p:txBody>
          <a:bodyPr/>
          <a:lstStyle/>
          <a:p>
            <a:r>
              <a:rPr lang="en-US" sz="1800" b="0" dirty="0"/>
              <a:t>TwinCAT Connectivity</a:t>
            </a:r>
            <a:br>
              <a:rPr lang="en-US" dirty="0"/>
            </a:br>
            <a:r>
              <a:rPr lang="en-US" sz="2000" dirty="0"/>
              <a:t>Big Picture</a:t>
            </a:r>
          </a:p>
        </p:txBody>
      </p:sp>
      <p:pic>
        <p:nvPicPr>
          <p:cNvPr id="29" name="Connecitify Ico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2786" y="4394712"/>
            <a:ext cx="542149" cy="542149"/>
          </a:xfrm>
          <a:prstGeom prst="rect">
            <a:avLst/>
          </a:prstGeom>
        </p:spPr>
      </p:pic>
      <p:pic>
        <p:nvPicPr>
          <p:cNvPr id="36" name="Grafik 3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49875" y="4394712"/>
            <a:ext cx="542149" cy="542149"/>
          </a:xfrm>
          <a:prstGeom prst="rect">
            <a:avLst/>
          </a:prstGeom>
        </p:spPr>
      </p:pic>
      <p:pic>
        <p:nvPicPr>
          <p:cNvPr id="88" name="Grafik 8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26964" y="4394712"/>
            <a:ext cx="542149" cy="542149"/>
          </a:xfrm>
          <a:prstGeom prst="rect">
            <a:avLst/>
          </a:prstGeom>
        </p:spPr>
      </p:pic>
      <p:pic>
        <p:nvPicPr>
          <p:cNvPr id="89" name="Grafik 8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04053" y="4394712"/>
            <a:ext cx="542149" cy="542149"/>
          </a:xfrm>
          <a:prstGeom prst="rect">
            <a:avLst/>
          </a:prstGeom>
        </p:spPr>
      </p:pic>
      <p:pic>
        <p:nvPicPr>
          <p:cNvPr id="96" name="Grafik 9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81142" y="4394712"/>
            <a:ext cx="542149" cy="542149"/>
          </a:xfrm>
          <a:prstGeom prst="rect">
            <a:avLst/>
          </a:prstGeom>
        </p:spPr>
      </p:pic>
      <p:pic>
        <p:nvPicPr>
          <p:cNvPr id="97" name="Grafik 9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58231" y="4394712"/>
            <a:ext cx="542149" cy="542149"/>
          </a:xfrm>
          <a:prstGeom prst="rect">
            <a:avLst/>
          </a:prstGeom>
        </p:spPr>
      </p:pic>
      <p:pic>
        <p:nvPicPr>
          <p:cNvPr id="98" name="Grafik 9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735320" y="4394712"/>
            <a:ext cx="542149" cy="542149"/>
          </a:xfrm>
          <a:prstGeom prst="rect">
            <a:avLst/>
          </a:prstGeom>
        </p:spPr>
      </p:pic>
      <p:pic>
        <p:nvPicPr>
          <p:cNvPr id="99" name="Grafik 98"/>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712409" y="4394712"/>
            <a:ext cx="542149" cy="542149"/>
          </a:xfrm>
          <a:prstGeom prst="rect">
            <a:avLst/>
          </a:prstGeom>
        </p:spPr>
      </p:pic>
      <p:pic>
        <p:nvPicPr>
          <p:cNvPr id="100" name="Grafik 99"/>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689498" y="4394712"/>
            <a:ext cx="542149" cy="542149"/>
          </a:xfrm>
          <a:prstGeom prst="rect">
            <a:avLst/>
          </a:prstGeom>
        </p:spPr>
      </p:pic>
      <p:pic>
        <p:nvPicPr>
          <p:cNvPr id="101" name="Grafik 100"/>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666587" y="4394712"/>
            <a:ext cx="542149" cy="542149"/>
          </a:xfrm>
          <a:prstGeom prst="rect">
            <a:avLst/>
          </a:prstGeom>
        </p:spPr>
      </p:pic>
      <p:pic>
        <p:nvPicPr>
          <p:cNvPr id="102" name="Grafik 10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643676" y="4394712"/>
            <a:ext cx="542149" cy="542149"/>
          </a:xfrm>
          <a:prstGeom prst="rect">
            <a:avLst/>
          </a:prstGeom>
        </p:spPr>
      </p:pic>
      <p:pic>
        <p:nvPicPr>
          <p:cNvPr id="214" name="Grafik 213"/>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937200" y="1489970"/>
            <a:ext cx="464371" cy="570878"/>
          </a:xfrm>
          <a:prstGeom prst="rect">
            <a:avLst/>
          </a:prstGeom>
        </p:spPr>
      </p:pic>
      <p:pic>
        <p:nvPicPr>
          <p:cNvPr id="215" name="Grafik 21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240152" y="1489970"/>
            <a:ext cx="464371" cy="570878"/>
          </a:xfrm>
          <a:prstGeom prst="rect">
            <a:avLst/>
          </a:prstGeom>
        </p:spPr>
      </p:pic>
      <p:sp>
        <p:nvSpPr>
          <p:cNvPr id="216" name="Freihandform 215"/>
          <p:cNvSpPr>
            <a:spLocks noChangeAspect="1"/>
          </p:cNvSpPr>
          <p:nvPr>
            <p:custDataLst>
              <p:tags r:id="rId1"/>
            </p:custDataLst>
          </p:nvPr>
        </p:nvSpPr>
        <p:spPr>
          <a:xfrm>
            <a:off x="191344" y="1163789"/>
            <a:ext cx="1616461" cy="844871"/>
          </a:xfrm>
          <a:custGeom>
            <a:avLst/>
            <a:gdLst>
              <a:gd name="connsiteX0" fmla="*/ 187377 w 3762531"/>
              <a:gd name="connsiteY0" fmla="*/ 262328 h 2488367"/>
              <a:gd name="connsiteX1" fmla="*/ 1109272 w 3762531"/>
              <a:gd name="connsiteY1" fmla="*/ 0 h 2488367"/>
              <a:gd name="connsiteX2" fmla="*/ 3642610 w 3762531"/>
              <a:gd name="connsiteY2" fmla="*/ 239843 h 2488367"/>
              <a:gd name="connsiteX3" fmla="*/ 3762531 w 3762531"/>
              <a:gd name="connsiteY3" fmla="*/ 2488367 h 2488367"/>
              <a:gd name="connsiteX4" fmla="*/ 0 w 3762531"/>
              <a:gd name="connsiteY4" fmla="*/ 2488367 h 2488367"/>
              <a:gd name="connsiteX5" fmla="*/ 187377 w 3762531"/>
              <a:gd name="connsiteY5" fmla="*/ 262328 h 2488367"/>
              <a:gd name="connsiteX0" fmla="*/ 187377 w 3762531"/>
              <a:gd name="connsiteY0" fmla="*/ 361158 h 2587197"/>
              <a:gd name="connsiteX1" fmla="*/ 1109272 w 3762531"/>
              <a:gd name="connsiteY1" fmla="*/ 98830 h 2587197"/>
              <a:gd name="connsiteX2" fmla="*/ 3642610 w 3762531"/>
              <a:gd name="connsiteY2" fmla="*/ 338673 h 2587197"/>
              <a:gd name="connsiteX3" fmla="*/ 3762531 w 3762531"/>
              <a:gd name="connsiteY3" fmla="*/ 2587197 h 2587197"/>
              <a:gd name="connsiteX4" fmla="*/ 0 w 3762531"/>
              <a:gd name="connsiteY4" fmla="*/ 2587197 h 2587197"/>
              <a:gd name="connsiteX5" fmla="*/ 187377 w 3762531"/>
              <a:gd name="connsiteY5" fmla="*/ 361158 h 2587197"/>
              <a:gd name="connsiteX0" fmla="*/ 870238 w 4445392"/>
              <a:gd name="connsiteY0" fmla="*/ 361158 h 2587197"/>
              <a:gd name="connsiteX1" fmla="*/ 1792133 w 4445392"/>
              <a:gd name="connsiteY1" fmla="*/ 98830 h 2587197"/>
              <a:gd name="connsiteX2" fmla="*/ 4325471 w 4445392"/>
              <a:gd name="connsiteY2" fmla="*/ 338673 h 2587197"/>
              <a:gd name="connsiteX3" fmla="*/ 4445392 w 4445392"/>
              <a:gd name="connsiteY3" fmla="*/ 2587197 h 2587197"/>
              <a:gd name="connsiteX4" fmla="*/ 682861 w 4445392"/>
              <a:gd name="connsiteY4" fmla="*/ 2587197 h 2587197"/>
              <a:gd name="connsiteX5" fmla="*/ 870238 w 4445392"/>
              <a:gd name="connsiteY5" fmla="*/ 361158 h 2587197"/>
              <a:gd name="connsiteX0" fmla="*/ 1283861 w 4859015"/>
              <a:gd name="connsiteY0" fmla="*/ 361158 h 2587197"/>
              <a:gd name="connsiteX1" fmla="*/ 2205756 w 4859015"/>
              <a:gd name="connsiteY1" fmla="*/ 98830 h 2587197"/>
              <a:gd name="connsiteX2" fmla="*/ 4739094 w 4859015"/>
              <a:gd name="connsiteY2" fmla="*/ 338673 h 2587197"/>
              <a:gd name="connsiteX3" fmla="*/ 4859015 w 4859015"/>
              <a:gd name="connsiteY3" fmla="*/ 2587197 h 2587197"/>
              <a:gd name="connsiteX4" fmla="*/ 1096484 w 4859015"/>
              <a:gd name="connsiteY4" fmla="*/ 2587197 h 2587197"/>
              <a:gd name="connsiteX5" fmla="*/ 1283861 w 4859015"/>
              <a:gd name="connsiteY5" fmla="*/ 361158 h 2587197"/>
              <a:gd name="connsiteX0" fmla="*/ 1283861 w 4859015"/>
              <a:gd name="connsiteY0" fmla="*/ 413104 h 2639143"/>
              <a:gd name="connsiteX1" fmla="*/ 2205756 w 4859015"/>
              <a:gd name="connsiteY1" fmla="*/ 150776 h 2639143"/>
              <a:gd name="connsiteX2" fmla="*/ 4739094 w 4859015"/>
              <a:gd name="connsiteY2" fmla="*/ 390619 h 2639143"/>
              <a:gd name="connsiteX3" fmla="*/ 4859015 w 4859015"/>
              <a:gd name="connsiteY3" fmla="*/ 2639143 h 2639143"/>
              <a:gd name="connsiteX4" fmla="*/ 1096484 w 4859015"/>
              <a:gd name="connsiteY4" fmla="*/ 2639143 h 2639143"/>
              <a:gd name="connsiteX5" fmla="*/ 1283861 w 4859015"/>
              <a:gd name="connsiteY5" fmla="*/ 413104 h 2639143"/>
              <a:gd name="connsiteX0" fmla="*/ 1283861 w 4859015"/>
              <a:gd name="connsiteY0" fmla="*/ 639949 h 2865988"/>
              <a:gd name="connsiteX1" fmla="*/ 2205756 w 4859015"/>
              <a:gd name="connsiteY1" fmla="*/ 377621 h 2865988"/>
              <a:gd name="connsiteX2" fmla="*/ 4739094 w 4859015"/>
              <a:gd name="connsiteY2" fmla="*/ 617464 h 2865988"/>
              <a:gd name="connsiteX3" fmla="*/ 4859015 w 4859015"/>
              <a:gd name="connsiteY3" fmla="*/ 2865988 h 2865988"/>
              <a:gd name="connsiteX4" fmla="*/ 1096484 w 4859015"/>
              <a:gd name="connsiteY4" fmla="*/ 2865988 h 2865988"/>
              <a:gd name="connsiteX5" fmla="*/ 1283861 w 4859015"/>
              <a:gd name="connsiteY5" fmla="*/ 639949 h 2865988"/>
              <a:gd name="connsiteX0" fmla="*/ 1283861 w 4859015"/>
              <a:gd name="connsiteY0" fmla="*/ 805598 h 3031637"/>
              <a:gd name="connsiteX1" fmla="*/ 2205756 w 4859015"/>
              <a:gd name="connsiteY1" fmla="*/ 543270 h 3031637"/>
              <a:gd name="connsiteX2" fmla="*/ 4739094 w 4859015"/>
              <a:gd name="connsiteY2" fmla="*/ 783113 h 3031637"/>
              <a:gd name="connsiteX3" fmla="*/ 4859015 w 4859015"/>
              <a:gd name="connsiteY3" fmla="*/ 3031637 h 3031637"/>
              <a:gd name="connsiteX4" fmla="*/ 1096484 w 4859015"/>
              <a:gd name="connsiteY4" fmla="*/ 3031637 h 3031637"/>
              <a:gd name="connsiteX5" fmla="*/ 1283861 w 4859015"/>
              <a:gd name="connsiteY5" fmla="*/ 805598 h 3031637"/>
              <a:gd name="connsiteX0" fmla="*/ 1283861 w 5259884"/>
              <a:gd name="connsiteY0" fmla="*/ 805598 h 3031637"/>
              <a:gd name="connsiteX1" fmla="*/ 2205756 w 5259884"/>
              <a:gd name="connsiteY1" fmla="*/ 543270 h 3031637"/>
              <a:gd name="connsiteX2" fmla="*/ 4739094 w 5259884"/>
              <a:gd name="connsiteY2" fmla="*/ 783113 h 3031637"/>
              <a:gd name="connsiteX3" fmla="*/ 4859015 w 5259884"/>
              <a:gd name="connsiteY3" fmla="*/ 3031637 h 3031637"/>
              <a:gd name="connsiteX4" fmla="*/ 1096484 w 5259884"/>
              <a:gd name="connsiteY4" fmla="*/ 3031637 h 3031637"/>
              <a:gd name="connsiteX5" fmla="*/ 1283861 w 5259884"/>
              <a:gd name="connsiteY5" fmla="*/ 805598 h 3031637"/>
              <a:gd name="connsiteX0" fmla="*/ 1283861 w 5871218"/>
              <a:gd name="connsiteY0" fmla="*/ 805598 h 3031637"/>
              <a:gd name="connsiteX1" fmla="*/ 2205756 w 5871218"/>
              <a:gd name="connsiteY1" fmla="*/ 543270 h 3031637"/>
              <a:gd name="connsiteX2" fmla="*/ 4739094 w 5871218"/>
              <a:gd name="connsiteY2" fmla="*/ 783113 h 3031637"/>
              <a:gd name="connsiteX3" fmla="*/ 4859015 w 5871218"/>
              <a:gd name="connsiteY3" fmla="*/ 3031637 h 3031637"/>
              <a:gd name="connsiteX4" fmla="*/ 1096484 w 5871218"/>
              <a:gd name="connsiteY4" fmla="*/ 3031637 h 3031637"/>
              <a:gd name="connsiteX5" fmla="*/ 1283861 w 5871218"/>
              <a:gd name="connsiteY5" fmla="*/ 805598 h 3031637"/>
              <a:gd name="connsiteX0" fmla="*/ 1283861 w 5924778"/>
              <a:gd name="connsiteY0" fmla="*/ 805598 h 3031637"/>
              <a:gd name="connsiteX1" fmla="*/ 2205756 w 5924778"/>
              <a:gd name="connsiteY1" fmla="*/ 543270 h 3031637"/>
              <a:gd name="connsiteX2" fmla="*/ 4739094 w 5924778"/>
              <a:gd name="connsiteY2" fmla="*/ 783113 h 3031637"/>
              <a:gd name="connsiteX3" fmla="*/ 4859015 w 5924778"/>
              <a:gd name="connsiteY3" fmla="*/ 3031637 h 3031637"/>
              <a:gd name="connsiteX4" fmla="*/ 1096484 w 5924778"/>
              <a:gd name="connsiteY4" fmla="*/ 3031637 h 3031637"/>
              <a:gd name="connsiteX5" fmla="*/ 1283861 w 5924778"/>
              <a:gd name="connsiteY5" fmla="*/ 805598 h 3031637"/>
              <a:gd name="connsiteX0" fmla="*/ 1283861 w 5924778"/>
              <a:gd name="connsiteY0" fmla="*/ 816848 h 3042887"/>
              <a:gd name="connsiteX1" fmla="*/ 2205756 w 5924778"/>
              <a:gd name="connsiteY1" fmla="*/ 554520 h 3042887"/>
              <a:gd name="connsiteX2" fmla="*/ 4739094 w 5924778"/>
              <a:gd name="connsiteY2" fmla="*/ 794363 h 3042887"/>
              <a:gd name="connsiteX3" fmla="*/ 4859015 w 5924778"/>
              <a:gd name="connsiteY3" fmla="*/ 3042887 h 3042887"/>
              <a:gd name="connsiteX4" fmla="*/ 1096484 w 5924778"/>
              <a:gd name="connsiteY4" fmla="*/ 3042887 h 3042887"/>
              <a:gd name="connsiteX5" fmla="*/ 1283861 w 5924778"/>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872028"/>
              <a:gd name="connsiteY0" fmla="*/ 816848 h 3042887"/>
              <a:gd name="connsiteX1" fmla="*/ 2199965 w 5872028"/>
              <a:gd name="connsiteY1" fmla="*/ 554520 h 3042887"/>
              <a:gd name="connsiteX2" fmla="*/ 4733303 w 5872028"/>
              <a:gd name="connsiteY2" fmla="*/ 794363 h 3042887"/>
              <a:gd name="connsiteX3" fmla="*/ 4853224 w 5872028"/>
              <a:gd name="connsiteY3" fmla="*/ 3042887 h 3042887"/>
              <a:gd name="connsiteX4" fmla="*/ 1090693 w 5872028"/>
              <a:gd name="connsiteY4" fmla="*/ 3042887 h 3042887"/>
              <a:gd name="connsiteX5" fmla="*/ 1278070 w 5872028"/>
              <a:gd name="connsiteY5" fmla="*/ 816848 h 3042887"/>
              <a:gd name="connsiteX0" fmla="*/ 1278070 w 5772302"/>
              <a:gd name="connsiteY0" fmla="*/ 816848 h 3042887"/>
              <a:gd name="connsiteX1" fmla="*/ 2199965 w 5772302"/>
              <a:gd name="connsiteY1" fmla="*/ 554520 h 3042887"/>
              <a:gd name="connsiteX2" fmla="*/ 4733303 w 5772302"/>
              <a:gd name="connsiteY2" fmla="*/ 794363 h 3042887"/>
              <a:gd name="connsiteX3" fmla="*/ 4670002 w 5772302"/>
              <a:gd name="connsiteY3" fmla="*/ 3037652 h 3042887"/>
              <a:gd name="connsiteX4" fmla="*/ 1090693 w 5772302"/>
              <a:gd name="connsiteY4" fmla="*/ 3042887 h 3042887"/>
              <a:gd name="connsiteX5" fmla="*/ 1278070 w 5772302"/>
              <a:gd name="connsiteY5" fmla="*/ 816848 h 3042887"/>
              <a:gd name="connsiteX0" fmla="*/ 1278070 w 5812783"/>
              <a:gd name="connsiteY0" fmla="*/ 816848 h 3042887"/>
              <a:gd name="connsiteX1" fmla="*/ 2199965 w 5812783"/>
              <a:gd name="connsiteY1" fmla="*/ 554520 h 3042887"/>
              <a:gd name="connsiteX2" fmla="*/ 4733303 w 5812783"/>
              <a:gd name="connsiteY2" fmla="*/ 794363 h 3042887"/>
              <a:gd name="connsiteX3" fmla="*/ 4670002 w 5812783"/>
              <a:gd name="connsiteY3" fmla="*/ 3037652 h 3042887"/>
              <a:gd name="connsiteX4" fmla="*/ 1090693 w 5812783"/>
              <a:gd name="connsiteY4" fmla="*/ 3042887 h 3042887"/>
              <a:gd name="connsiteX5" fmla="*/ 1278070 w 5812783"/>
              <a:gd name="connsiteY5" fmla="*/ 816848 h 3042887"/>
              <a:gd name="connsiteX0" fmla="*/ 1278070 w 5894253"/>
              <a:gd name="connsiteY0" fmla="*/ 816848 h 3042887"/>
              <a:gd name="connsiteX1" fmla="*/ 2199965 w 5894253"/>
              <a:gd name="connsiteY1" fmla="*/ 554520 h 3042887"/>
              <a:gd name="connsiteX2" fmla="*/ 4733303 w 5894253"/>
              <a:gd name="connsiteY2" fmla="*/ 794363 h 3042887"/>
              <a:gd name="connsiteX3" fmla="*/ 4670002 w 5894253"/>
              <a:gd name="connsiteY3" fmla="*/ 3037652 h 3042887"/>
              <a:gd name="connsiteX4" fmla="*/ 1090693 w 5894253"/>
              <a:gd name="connsiteY4" fmla="*/ 3042887 h 3042887"/>
              <a:gd name="connsiteX5" fmla="*/ 1278070 w 5894253"/>
              <a:gd name="connsiteY5" fmla="*/ 816848 h 304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4253" h="3042887">
                <a:moveTo>
                  <a:pt x="1278070" y="816848"/>
                </a:moveTo>
                <a:cubicBezTo>
                  <a:pt x="1465446" y="167274"/>
                  <a:pt x="2080044" y="447091"/>
                  <a:pt x="2199965" y="554520"/>
                </a:cubicBezTo>
                <a:cubicBezTo>
                  <a:pt x="2976955" y="-384863"/>
                  <a:pt x="4353552" y="-12608"/>
                  <a:pt x="4733303" y="794363"/>
                </a:cubicBezTo>
                <a:cubicBezTo>
                  <a:pt x="6240379" y="843022"/>
                  <a:pt x="6343074" y="2920642"/>
                  <a:pt x="4670002" y="3037652"/>
                </a:cubicBezTo>
                <a:lnTo>
                  <a:pt x="1090693" y="3042887"/>
                </a:lnTo>
                <a:cubicBezTo>
                  <a:pt x="-203458" y="3035392"/>
                  <a:pt x="-583208" y="809353"/>
                  <a:pt x="1278070" y="816848"/>
                </a:cubicBezTo>
                <a:close/>
              </a:path>
            </a:pathLst>
          </a:custGeom>
          <a:gradFill>
            <a:gsLst>
              <a:gs pos="0">
                <a:schemeClr val="bg2">
                  <a:alpha val="95000"/>
                </a:schemeClr>
              </a:gs>
              <a:gs pos="60000">
                <a:schemeClr val="bg2">
                  <a:lumMod val="20000"/>
                  <a:lumOff val="80000"/>
                  <a:alpha val="75000"/>
                </a:schemeClr>
              </a:gs>
              <a:gs pos="31000">
                <a:schemeClr val="tx2">
                  <a:alpha val="85000"/>
                </a:schemeClr>
              </a:gs>
              <a:gs pos="85000">
                <a:schemeClr val="tx2">
                  <a:lumMod val="90000"/>
                  <a:alpha val="65000"/>
                </a:schemeClr>
              </a:gs>
              <a:gs pos="100000">
                <a:schemeClr val="bg2">
                  <a:alpha val="55000"/>
                </a:schemeClr>
              </a:gs>
            </a:gsLst>
            <a:lin ang="6000000" scaled="0"/>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04000" tIns="540000" rIns="91440" bIns="45720" numCol="1" spcCol="0" rtlCol="0" fromWordArt="0" anchor="t"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622300">
              <a:spcAft>
                <a:spcPct val="35000"/>
              </a:spcAft>
              <a:defRPr/>
            </a:pPr>
            <a:endParaRPr lang="en-US" sz="1400" dirty="0">
              <a:solidFill>
                <a:schemeClr val="tx1"/>
              </a:solidFill>
            </a:endParaRPr>
          </a:p>
        </p:txBody>
      </p:sp>
      <p:sp>
        <p:nvSpPr>
          <p:cNvPr id="217" name="Textfeld 216"/>
          <p:cNvSpPr txBox="1"/>
          <p:nvPr/>
        </p:nvSpPr>
        <p:spPr>
          <a:xfrm>
            <a:off x="411727" y="1462913"/>
            <a:ext cx="1269231" cy="387508"/>
          </a:xfrm>
          <a:prstGeom prst="rect">
            <a:avLst/>
          </a:prstGeom>
          <a:noFill/>
        </p:spPr>
        <p:txBody>
          <a:bodyPr wrap="square" lIns="36000" tIns="18000" rtlCol="0">
            <a:spAutoFit/>
          </a:bodyPr>
          <a:lstStyle/>
          <a:p>
            <a:r>
              <a:rPr lang="en-US" sz="1050" dirty="0"/>
              <a:t>Cloud Connectivity +  Analytics</a:t>
            </a:r>
          </a:p>
        </p:txBody>
      </p:sp>
      <p:sp>
        <p:nvSpPr>
          <p:cNvPr id="218" name="Textfeld 217"/>
          <p:cNvSpPr txBox="1"/>
          <p:nvPr/>
        </p:nvSpPr>
        <p:spPr>
          <a:xfrm>
            <a:off x="2325911" y="1231806"/>
            <a:ext cx="376087" cy="225925"/>
          </a:xfrm>
          <a:prstGeom prst="rect">
            <a:avLst/>
          </a:prstGeom>
          <a:noFill/>
        </p:spPr>
        <p:txBody>
          <a:bodyPr wrap="square" lIns="36000" tIns="18000" rtlCol="0">
            <a:spAutoFit/>
          </a:bodyPr>
          <a:lstStyle/>
          <a:p>
            <a:r>
              <a:rPr lang="en-US" sz="1050" dirty="0"/>
              <a:t>DB</a:t>
            </a:r>
          </a:p>
        </p:txBody>
      </p:sp>
      <p:sp>
        <p:nvSpPr>
          <p:cNvPr id="219" name="Textfeld 218"/>
          <p:cNvSpPr txBox="1"/>
          <p:nvPr/>
        </p:nvSpPr>
        <p:spPr>
          <a:xfrm>
            <a:off x="2992147" y="1231806"/>
            <a:ext cx="435583" cy="225925"/>
          </a:xfrm>
          <a:prstGeom prst="rect">
            <a:avLst/>
          </a:prstGeom>
          <a:noFill/>
        </p:spPr>
        <p:txBody>
          <a:bodyPr wrap="square" lIns="36000" tIns="18000" rtlCol="0">
            <a:spAutoFit/>
          </a:bodyPr>
          <a:lstStyle/>
          <a:p>
            <a:r>
              <a:rPr lang="en-US" sz="1050" dirty="0"/>
              <a:t>ERP</a:t>
            </a:r>
          </a:p>
        </p:txBody>
      </p:sp>
      <p:pic>
        <p:nvPicPr>
          <p:cNvPr id="105" name="Picture 7" descr="C:\Dokumente und Einstellungen\KnutG\Desktop\Neuer Ordner\Sercos.png">
            <a:extLst>
              <a:ext uri="{FF2B5EF4-FFF2-40B4-BE49-F238E27FC236}">
                <a16:creationId xmlns:a16="http://schemas.microsoft.com/office/drawing/2014/main" id="{B925A107-97A0-41A3-91C0-7F74A8D8A13C}"/>
              </a:ext>
            </a:extLst>
          </p:cNvPr>
          <p:cNvPicPr>
            <a:picLocks noChangeAspect="1" noChangeArrowheads="1"/>
          </p:cNvPicPr>
          <p:nvPr/>
        </p:nvPicPr>
        <p:blipFill>
          <a:blip r:embed="rId16"/>
          <a:srcRect/>
          <a:stretch>
            <a:fillRect/>
          </a:stretch>
        </p:blipFill>
        <p:spPr bwMode="auto">
          <a:xfrm>
            <a:off x="684742" y="5476336"/>
            <a:ext cx="864905" cy="253051"/>
          </a:xfrm>
          <a:prstGeom prst="rect">
            <a:avLst/>
          </a:prstGeom>
          <a:noFill/>
        </p:spPr>
      </p:pic>
      <p:pic>
        <p:nvPicPr>
          <p:cNvPr id="108" name="Picture 10" descr="C:\Dokumente und Einstellungen\KnutG\Desktop\Neuer Ordner\ethercat.png">
            <a:extLst>
              <a:ext uri="{FF2B5EF4-FFF2-40B4-BE49-F238E27FC236}">
                <a16:creationId xmlns:a16="http://schemas.microsoft.com/office/drawing/2014/main" id="{9132A99B-4B4C-47AD-AD29-DB83E589DC38}"/>
              </a:ext>
            </a:extLst>
          </p:cNvPr>
          <p:cNvPicPr>
            <a:picLocks noChangeAspect="1" noChangeArrowheads="1"/>
          </p:cNvPicPr>
          <p:nvPr/>
        </p:nvPicPr>
        <p:blipFill>
          <a:blip r:embed="rId17"/>
          <a:srcRect/>
          <a:stretch>
            <a:fillRect/>
          </a:stretch>
        </p:blipFill>
        <p:spPr bwMode="auto">
          <a:xfrm>
            <a:off x="5205573" y="5635858"/>
            <a:ext cx="1834097" cy="415537"/>
          </a:xfrm>
          <a:prstGeom prst="rect">
            <a:avLst/>
          </a:prstGeom>
          <a:ln>
            <a:noFill/>
          </a:ln>
          <a:effectLst>
            <a:outerShdw blurRad="292100" dist="139700" dir="2700000" algn="tl" rotWithShape="0">
              <a:srgbClr val="333333">
                <a:alpha val="65000"/>
              </a:srgbClr>
            </a:outerShdw>
          </a:effectLst>
        </p:spPr>
      </p:pic>
      <p:pic>
        <p:nvPicPr>
          <p:cNvPr id="109" name="Picture 11" descr="C:\Dokumente und Einstellungen\KnutG\Desktop\Neuer Ordner\canopen_logo.png">
            <a:extLst>
              <a:ext uri="{FF2B5EF4-FFF2-40B4-BE49-F238E27FC236}">
                <a16:creationId xmlns:a16="http://schemas.microsoft.com/office/drawing/2014/main" id="{FC74A1FA-FB6F-4FB3-8316-F0DFC30FBCA6}"/>
              </a:ext>
            </a:extLst>
          </p:cNvPr>
          <p:cNvPicPr>
            <a:picLocks noChangeAspect="1" noChangeArrowheads="1"/>
          </p:cNvPicPr>
          <p:nvPr/>
        </p:nvPicPr>
        <p:blipFill>
          <a:blip r:embed="rId18"/>
          <a:srcRect/>
          <a:stretch>
            <a:fillRect/>
          </a:stretch>
        </p:blipFill>
        <p:spPr bwMode="auto">
          <a:xfrm>
            <a:off x="2252477" y="5537562"/>
            <a:ext cx="904162" cy="214890"/>
          </a:xfrm>
          <a:prstGeom prst="rect">
            <a:avLst/>
          </a:prstGeom>
          <a:noFill/>
        </p:spPr>
      </p:pic>
      <p:grpSp>
        <p:nvGrpSpPr>
          <p:cNvPr id="112" name="Gruppieren 70">
            <a:extLst>
              <a:ext uri="{FF2B5EF4-FFF2-40B4-BE49-F238E27FC236}">
                <a16:creationId xmlns:a16="http://schemas.microsoft.com/office/drawing/2014/main" id="{7956897C-BD5B-4340-A2E0-E075BA159A31}"/>
              </a:ext>
            </a:extLst>
          </p:cNvPr>
          <p:cNvGrpSpPr>
            <a:grpSpLocks/>
          </p:cNvGrpSpPr>
          <p:nvPr/>
        </p:nvGrpSpPr>
        <p:grpSpPr bwMode="auto">
          <a:xfrm>
            <a:off x="9889509" y="6333593"/>
            <a:ext cx="689838" cy="353943"/>
            <a:chOff x="4995000" y="1873249"/>
            <a:chExt cx="868854" cy="353043"/>
          </a:xfrm>
        </p:grpSpPr>
        <p:sp>
          <p:nvSpPr>
            <p:cNvPr id="113" name="Textfeld 108">
              <a:extLst>
                <a:ext uri="{FF2B5EF4-FFF2-40B4-BE49-F238E27FC236}">
                  <a16:creationId xmlns:a16="http://schemas.microsoft.com/office/drawing/2014/main" id="{568B1D4C-9FDB-43B3-8B6D-42705B308FF5}"/>
                </a:ext>
              </a:extLst>
            </p:cNvPr>
            <p:cNvSpPr txBox="1"/>
            <p:nvPr/>
          </p:nvSpPr>
          <p:spPr>
            <a:xfrm>
              <a:off x="5061528" y="1873249"/>
              <a:ext cx="802326" cy="353043"/>
            </a:xfrm>
            <a:prstGeom prst="rect">
              <a:avLst/>
            </a:prstGeom>
            <a:noFill/>
          </p:spPr>
          <p:txBody>
            <a:bodyPr>
              <a:spAutoFit/>
            </a:bodyPr>
            <a:lstStyle/>
            <a:p>
              <a:pPr>
                <a:defRPr/>
              </a:pPr>
              <a:r>
                <a:rPr lang="en-US" sz="800" i="1" dirty="0">
                  <a:effectLst>
                    <a:outerShdw blurRad="38100" dist="38100" dir="2700000" algn="tl">
                      <a:srgbClr val="000000">
                        <a:alpha val="43137"/>
                      </a:srgbClr>
                    </a:outerShdw>
                  </a:effectLst>
                  <a:latin typeface="Arial" charset="0"/>
                  <a:cs typeface="Arial" charset="0"/>
                </a:rPr>
                <a:t>RS232</a:t>
              </a:r>
              <a:endParaRPr lang="en-US" sz="1100" i="1" dirty="0">
                <a:effectLst>
                  <a:outerShdw blurRad="38100" dist="38100" dir="2700000" algn="tl">
                    <a:srgbClr val="000000">
                      <a:alpha val="43137"/>
                    </a:srgbClr>
                  </a:outerShdw>
                </a:effectLst>
                <a:latin typeface="Arial" charset="0"/>
                <a:cs typeface="Arial" charset="0"/>
              </a:endParaRPr>
            </a:p>
            <a:p>
              <a:pPr>
                <a:defRPr/>
              </a:pPr>
              <a:r>
                <a:rPr lang="en-US" sz="900" i="1" dirty="0">
                  <a:effectLst>
                    <a:outerShdw blurRad="38100" dist="38100" dir="2700000" algn="tl">
                      <a:srgbClr val="000000">
                        <a:alpha val="43137"/>
                      </a:srgbClr>
                    </a:outerShdw>
                  </a:effectLst>
                  <a:latin typeface="Arial" charset="0"/>
                  <a:cs typeface="Arial" charset="0"/>
                </a:rPr>
                <a:t>RS485</a:t>
              </a:r>
            </a:p>
          </p:txBody>
        </p:sp>
        <p:cxnSp>
          <p:nvCxnSpPr>
            <p:cNvPr id="114" name="Gerade Verbindung mit Pfeil 109">
              <a:extLst>
                <a:ext uri="{FF2B5EF4-FFF2-40B4-BE49-F238E27FC236}">
                  <a16:creationId xmlns:a16="http://schemas.microsoft.com/office/drawing/2014/main" id="{D322A0FB-EBA1-489B-A83F-B0905AC0233B}"/>
                </a:ext>
              </a:extLst>
            </p:cNvPr>
            <p:cNvCxnSpPr/>
            <p:nvPr/>
          </p:nvCxnSpPr>
          <p:spPr bwMode="auto">
            <a:xfrm rot="10800000" flipH="1">
              <a:off x="4995000" y="2048180"/>
              <a:ext cx="802326" cy="1590"/>
            </a:xfrm>
            <a:prstGeom prst="straightConnector1">
              <a:avLst/>
            </a:prstGeom>
            <a:solidFill>
              <a:schemeClr val="accent1"/>
            </a:solidFill>
            <a:ln w="15875" cap="flat" cmpd="sng" algn="ctr">
              <a:solidFill>
                <a:schemeClr val="tx1"/>
              </a:solidFill>
              <a:prstDash val="solid"/>
              <a:round/>
              <a:headEnd type="stealth" w="lg" len="lg"/>
              <a:tailEnd type="stealth" w="lg" len="lg"/>
            </a:ln>
            <a:effectLst>
              <a:outerShdw blurRad="50800" dist="38100" dir="2700000" algn="tl" rotWithShape="0">
                <a:prstClr val="black">
                  <a:alpha val="40000"/>
                </a:prstClr>
              </a:outerShdw>
            </a:effectLst>
          </p:spPr>
        </p:cxnSp>
      </p:grpSp>
      <p:pic>
        <p:nvPicPr>
          <p:cNvPr id="116" name="Picture 2" descr="PROFINET - Wikipedia">
            <a:extLst>
              <a:ext uri="{FF2B5EF4-FFF2-40B4-BE49-F238E27FC236}">
                <a16:creationId xmlns:a16="http://schemas.microsoft.com/office/drawing/2014/main" id="{8CCDA1D4-A01A-40DE-B14B-686CCB81608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22461" y="5836376"/>
            <a:ext cx="684420" cy="362080"/>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36" descr="Image result for ethernet/ip logo">
            <a:extLst>
              <a:ext uri="{FF2B5EF4-FFF2-40B4-BE49-F238E27FC236}">
                <a16:creationId xmlns:a16="http://schemas.microsoft.com/office/drawing/2014/main" id="{0837999E-DEC0-4895-8556-8BC2A7116B00}"/>
              </a:ext>
            </a:extLst>
          </p:cNvPr>
          <p:cNvPicPr>
            <a:picLocks noChangeAspect="1" noChangeArrowheads="1"/>
          </p:cNvPicPr>
          <p:nvPr/>
        </p:nvPicPr>
        <p:blipFill>
          <a:blip r:embed="rId20" cstate="hqprint">
            <a:extLst>
              <a:ext uri="{28A0092B-C50C-407E-A947-70E740481C1C}">
                <a14:useLocalDpi xmlns:a14="http://schemas.microsoft.com/office/drawing/2010/main"/>
              </a:ext>
            </a:extLst>
          </a:blip>
          <a:srcRect/>
          <a:stretch>
            <a:fillRect/>
          </a:stretch>
        </p:blipFill>
        <p:spPr bwMode="auto">
          <a:xfrm>
            <a:off x="684742" y="5836376"/>
            <a:ext cx="1206442" cy="151902"/>
          </a:xfrm>
          <a:prstGeom prst="rect">
            <a:avLst/>
          </a:prstGeom>
          <a:noFill/>
          <a:extLst>
            <a:ext uri="{909E8E84-426E-40DD-AFC4-6F175D3DCCD1}">
              <a14:hiddenFill xmlns:a14="http://schemas.microsoft.com/office/drawing/2010/main">
                <a:solidFill>
                  <a:srgbClr val="FFFFFF"/>
                </a:solidFill>
              </a14:hiddenFill>
            </a:ext>
          </a:extLst>
        </p:spPr>
      </p:pic>
      <p:pic>
        <p:nvPicPr>
          <p:cNvPr id="122" name="Picture 6" descr="Image result for cc-link logo">
            <a:extLst>
              <a:ext uri="{FF2B5EF4-FFF2-40B4-BE49-F238E27FC236}">
                <a16:creationId xmlns:a16="http://schemas.microsoft.com/office/drawing/2014/main" id="{E1411DA3-49FE-4246-A8D1-393F54DB1736}"/>
              </a:ext>
            </a:extLst>
          </p:cNvPr>
          <p:cNvPicPr>
            <a:picLocks noChangeAspect="1" noChangeArrowheads="1"/>
          </p:cNvPicPr>
          <p:nvPr/>
        </p:nvPicPr>
        <p:blipFill>
          <a:blip r:embed="rId21" cstate="hqprint">
            <a:extLst>
              <a:ext uri="{28A0092B-C50C-407E-A947-70E740481C1C}">
                <a14:useLocalDpi xmlns:a14="http://schemas.microsoft.com/office/drawing/2010/main"/>
              </a:ext>
            </a:extLst>
          </a:blip>
          <a:srcRect/>
          <a:stretch>
            <a:fillRect/>
          </a:stretch>
        </p:blipFill>
        <p:spPr bwMode="auto">
          <a:xfrm>
            <a:off x="7995526" y="5445779"/>
            <a:ext cx="636987" cy="355964"/>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8" descr="Image result for dali protocol logo">
            <a:extLst>
              <a:ext uri="{FF2B5EF4-FFF2-40B4-BE49-F238E27FC236}">
                <a16:creationId xmlns:a16="http://schemas.microsoft.com/office/drawing/2014/main" id="{4C8134C3-22CA-4F9D-A138-A26ADCEDD04F}"/>
              </a:ext>
            </a:extLst>
          </p:cNvPr>
          <p:cNvPicPr>
            <a:picLocks noChangeAspect="1" noChangeArrowheads="1"/>
          </p:cNvPicPr>
          <p:nvPr/>
        </p:nvPicPr>
        <p:blipFill>
          <a:blip r:embed="rId22" cstate="hqprint">
            <a:extLst>
              <a:ext uri="{28A0092B-C50C-407E-A947-70E740481C1C}">
                <a14:useLocalDpi xmlns:a14="http://schemas.microsoft.com/office/drawing/2010/main"/>
              </a:ext>
            </a:extLst>
          </a:blip>
          <a:srcRect/>
          <a:stretch>
            <a:fillRect/>
          </a:stretch>
        </p:blipFill>
        <p:spPr bwMode="auto">
          <a:xfrm>
            <a:off x="10559341" y="5922391"/>
            <a:ext cx="869506" cy="286937"/>
          </a:xfrm>
          <a:prstGeom prst="rect">
            <a:avLst/>
          </a:prstGeom>
          <a:noFill/>
          <a:extLst>
            <a:ext uri="{909E8E84-426E-40DD-AFC4-6F175D3DCCD1}">
              <a14:hiddenFill xmlns:a14="http://schemas.microsoft.com/office/drawing/2010/main">
                <a:solidFill>
                  <a:srgbClr val="FFFFFF"/>
                </a:solidFill>
              </a14:hiddenFill>
            </a:ext>
          </a:extLst>
        </p:spPr>
      </p:pic>
      <p:pic>
        <p:nvPicPr>
          <p:cNvPr id="124" name="Picture 10" descr="Image result for SMI standard motor interfaceprotocol logo">
            <a:extLst>
              <a:ext uri="{FF2B5EF4-FFF2-40B4-BE49-F238E27FC236}">
                <a16:creationId xmlns:a16="http://schemas.microsoft.com/office/drawing/2014/main" id="{4A15C971-8547-4DE4-81C7-11018D5E55C8}"/>
              </a:ext>
            </a:extLst>
          </p:cNvPr>
          <p:cNvPicPr>
            <a:picLocks noChangeAspect="1" noChangeArrowheads="1"/>
          </p:cNvPicPr>
          <p:nvPr/>
        </p:nvPicPr>
        <p:blipFill>
          <a:blip r:embed="rId23" cstate="hqprint">
            <a:extLst>
              <a:ext uri="{28A0092B-C50C-407E-A947-70E740481C1C}">
                <a14:useLocalDpi xmlns:a14="http://schemas.microsoft.com/office/drawing/2010/main"/>
              </a:ext>
            </a:extLst>
          </a:blip>
          <a:srcRect/>
          <a:stretch>
            <a:fillRect/>
          </a:stretch>
        </p:blipFill>
        <p:spPr bwMode="auto">
          <a:xfrm>
            <a:off x="10707970" y="5466308"/>
            <a:ext cx="567054" cy="339099"/>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12" descr="Related image">
            <a:extLst>
              <a:ext uri="{FF2B5EF4-FFF2-40B4-BE49-F238E27FC236}">
                <a16:creationId xmlns:a16="http://schemas.microsoft.com/office/drawing/2014/main" id="{B1C0A707-F3C9-4332-BBCD-EB0DB617178F}"/>
              </a:ext>
            </a:extLst>
          </p:cNvPr>
          <p:cNvPicPr>
            <a:picLocks noChangeAspect="1" noChangeArrowheads="1"/>
          </p:cNvPicPr>
          <p:nvPr/>
        </p:nvPicPr>
        <p:blipFill rotWithShape="1">
          <a:blip r:embed="rId24" cstate="hqprint">
            <a:extLst>
              <a:ext uri="{28A0092B-C50C-407E-A947-70E740481C1C}">
                <a14:useLocalDpi xmlns:a14="http://schemas.microsoft.com/office/drawing/2010/main"/>
              </a:ext>
            </a:extLst>
          </a:blip>
          <a:srcRect/>
          <a:stretch/>
        </p:blipFill>
        <p:spPr bwMode="auto">
          <a:xfrm>
            <a:off x="623392" y="6052400"/>
            <a:ext cx="1257854" cy="304800"/>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16" descr="Image result for m-bus logo">
            <a:extLst>
              <a:ext uri="{FF2B5EF4-FFF2-40B4-BE49-F238E27FC236}">
                <a16:creationId xmlns:a16="http://schemas.microsoft.com/office/drawing/2014/main" id="{79EC9EAA-4C5F-48E0-83D0-3D6E3DC9742B}"/>
              </a:ext>
            </a:extLst>
          </p:cNvPr>
          <p:cNvPicPr>
            <a:picLocks noChangeAspect="1" noChangeArrowheads="1"/>
          </p:cNvPicPr>
          <p:nvPr/>
        </p:nvPicPr>
        <p:blipFill>
          <a:blip r:embed="rId25" cstate="hqprint">
            <a:extLst>
              <a:ext uri="{28A0092B-C50C-407E-A947-70E740481C1C}">
                <a14:useLocalDpi xmlns:a14="http://schemas.microsoft.com/office/drawing/2010/main"/>
              </a:ext>
            </a:extLst>
          </a:blip>
          <a:srcRect/>
          <a:stretch>
            <a:fillRect/>
          </a:stretch>
        </p:blipFill>
        <p:spPr bwMode="auto">
          <a:xfrm>
            <a:off x="9073951" y="6404118"/>
            <a:ext cx="592636" cy="185039"/>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18" descr="Image result for profibus logo">
            <a:extLst>
              <a:ext uri="{FF2B5EF4-FFF2-40B4-BE49-F238E27FC236}">
                <a16:creationId xmlns:a16="http://schemas.microsoft.com/office/drawing/2014/main" id="{87AA52EB-4937-4616-B68E-5C02F75C14C8}"/>
              </a:ext>
            </a:extLst>
          </p:cNvPr>
          <p:cNvPicPr>
            <a:picLocks noChangeAspect="1" noChangeArrowheads="1"/>
          </p:cNvPicPr>
          <p:nvPr/>
        </p:nvPicPr>
        <p:blipFill>
          <a:blip r:embed="rId26" cstate="hqprint">
            <a:extLst>
              <a:ext uri="{28A0092B-C50C-407E-A947-70E740481C1C}">
                <a14:useLocalDpi xmlns:a14="http://schemas.microsoft.com/office/drawing/2010/main"/>
              </a:ext>
            </a:extLst>
          </a:blip>
          <a:srcRect/>
          <a:stretch>
            <a:fillRect/>
          </a:stretch>
        </p:blipFill>
        <p:spPr bwMode="auto">
          <a:xfrm>
            <a:off x="2137640" y="6196416"/>
            <a:ext cx="939237" cy="496886"/>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20" descr="Image result for interbus logo">
            <a:extLst>
              <a:ext uri="{FF2B5EF4-FFF2-40B4-BE49-F238E27FC236}">
                <a16:creationId xmlns:a16="http://schemas.microsoft.com/office/drawing/2014/main" id="{5D76A621-0793-42DF-90ED-2B28FE39D004}"/>
              </a:ext>
            </a:extLst>
          </p:cNvPr>
          <p:cNvPicPr>
            <a:picLocks noChangeAspect="1" noChangeArrowheads="1"/>
          </p:cNvPicPr>
          <p:nvPr/>
        </p:nvPicPr>
        <p:blipFill>
          <a:blip r:embed="rId27" cstate="hqprint">
            <a:extLst>
              <a:ext uri="{28A0092B-C50C-407E-A947-70E740481C1C}">
                <a14:useLocalDpi xmlns:a14="http://schemas.microsoft.com/office/drawing/2010/main"/>
              </a:ext>
            </a:extLst>
          </a:blip>
          <a:srcRect/>
          <a:stretch>
            <a:fillRect/>
          </a:stretch>
        </p:blipFill>
        <p:spPr bwMode="auto">
          <a:xfrm>
            <a:off x="8102373" y="6225299"/>
            <a:ext cx="493660" cy="493660"/>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22" descr="Related image">
            <a:extLst>
              <a:ext uri="{FF2B5EF4-FFF2-40B4-BE49-F238E27FC236}">
                <a16:creationId xmlns:a16="http://schemas.microsoft.com/office/drawing/2014/main" id="{F527A5D1-EAF9-4A0A-8A87-6EE4F26743A1}"/>
              </a:ext>
            </a:extLst>
          </p:cNvPr>
          <p:cNvPicPr>
            <a:picLocks noChangeAspect="1" noChangeArrowheads="1"/>
          </p:cNvPicPr>
          <p:nvPr/>
        </p:nvPicPr>
        <p:blipFill rotWithShape="1">
          <a:blip r:embed="rId28" cstate="hqprint">
            <a:extLst>
              <a:ext uri="{BEBA8EAE-BF5A-486C-A8C5-ECC9F3942E4B}">
                <a14:imgProps xmlns:a14="http://schemas.microsoft.com/office/drawing/2010/main">
                  <a14:imgLayer r:embed="rId29">
                    <a14:imgEffect>
                      <a14:brightnessContrast bright="-40000" contrast="20000"/>
                    </a14:imgEffect>
                  </a14:imgLayer>
                </a14:imgProps>
              </a:ext>
              <a:ext uri="{28A0092B-C50C-407E-A947-70E740481C1C}">
                <a14:useLocalDpi xmlns:a14="http://schemas.microsoft.com/office/drawing/2010/main"/>
              </a:ext>
            </a:extLst>
          </a:blip>
          <a:srcRect/>
          <a:stretch/>
        </p:blipFill>
        <p:spPr bwMode="auto">
          <a:xfrm>
            <a:off x="8892213" y="5433039"/>
            <a:ext cx="1401365" cy="392836"/>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24" descr="Related image">
            <a:extLst>
              <a:ext uri="{FF2B5EF4-FFF2-40B4-BE49-F238E27FC236}">
                <a16:creationId xmlns:a16="http://schemas.microsoft.com/office/drawing/2014/main" id="{DCD22927-47D3-4DA1-A4CD-2303316283A6}"/>
              </a:ext>
            </a:extLst>
          </p:cNvPr>
          <p:cNvPicPr>
            <a:picLocks noChangeAspect="1" noChangeArrowheads="1"/>
          </p:cNvPicPr>
          <p:nvPr/>
        </p:nvPicPr>
        <p:blipFill rotWithShape="1">
          <a:blip r:embed="rId30" cstate="hqprint">
            <a:extLst>
              <a:ext uri="{28A0092B-C50C-407E-A947-70E740481C1C}">
                <a14:useLocalDpi xmlns:a14="http://schemas.microsoft.com/office/drawing/2010/main"/>
              </a:ext>
            </a:extLst>
          </a:blip>
          <a:srcRect t="25598" b="32296"/>
          <a:stretch/>
        </p:blipFill>
        <p:spPr bwMode="auto">
          <a:xfrm>
            <a:off x="10756005" y="6387371"/>
            <a:ext cx="519019" cy="218534"/>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133">
            <a:extLst>
              <a:ext uri="{FF2B5EF4-FFF2-40B4-BE49-F238E27FC236}">
                <a16:creationId xmlns:a16="http://schemas.microsoft.com/office/drawing/2014/main" id="{257E2708-8683-4773-B7AF-AF55BC0A12D5}"/>
              </a:ext>
            </a:extLst>
          </p:cNvPr>
          <p:cNvPicPr>
            <a:picLocks noChangeAspect="1"/>
          </p:cNvPicPr>
          <p:nvPr/>
        </p:nvPicPr>
        <p:blipFill>
          <a:blip r:embed="rId31">
            <a:clrChange>
              <a:clrFrom>
                <a:srgbClr val="BCD5E0"/>
              </a:clrFrom>
              <a:clrTo>
                <a:srgbClr val="BCD5E0">
                  <a:alpha val="0"/>
                </a:srgbClr>
              </a:clrTo>
            </a:clrChange>
            <a:biLevel thresh="75000"/>
          </a:blip>
          <a:stretch>
            <a:fillRect/>
          </a:stretch>
        </p:blipFill>
        <p:spPr>
          <a:xfrm>
            <a:off x="622742" y="6399974"/>
            <a:ext cx="1275939" cy="318985"/>
          </a:xfrm>
          <a:prstGeom prst="rect">
            <a:avLst/>
          </a:prstGeom>
        </p:spPr>
      </p:pic>
      <p:pic>
        <p:nvPicPr>
          <p:cNvPr id="135" name="Picture 26" descr="Image result for bacnet logo">
            <a:extLst>
              <a:ext uri="{FF2B5EF4-FFF2-40B4-BE49-F238E27FC236}">
                <a16:creationId xmlns:a16="http://schemas.microsoft.com/office/drawing/2014/main" id="{6F7E18C2-426F-42B8-961F-7789BBD7481E}"/>
              </a:ext>
            </a:extLst>
          </p:cNvPr>
          <p:cNvPicPr>
            <a:picLocks noChangeAspect="1" noChangeArrowheads="1"/>
          </p:cNvPicPr>
          <p:nvPr/>
        </p:nvPicPr>
        <p:blipFill>
          <a:blip r:embed="rId32" cstate="hqprint">
            <a:extLst>
              <a:ext uri="{BEBA8EAE-BF5A-486C-A8C5-ECC9F3942E4B}">
                <a14:imgProps xmlns:a14="http://schemas.microsoft.com/office/drawing/2010/main">
                  <a14:imgLayer r:embed="rId33">
                    <a14:imgEffect>
                      <a14:brightnessContrast bright="-40000" contrast="-20000"/>
                    </a14:imgEffect>
                  </a14:imgLayer>
                </a14:imgProps>
              </a:ext>
              <a:ext uri="{28A0092B-C50C-407E-A947-70E740481C1C}">
                <a14:useLocalDpi xmlns:a14="http://schemas.microsoft.com/office/drawing/2010/main"/>
              </a:ext>
            </a:extLst>
          </a:blip>
          <a:srcRect/>
          <a:stretch>
            <a:fillRect/>
          </a:stretch>
        </p:blipFill>
        <p:spPr bwMode="auto">
          <a:xfrm>
            <a:off x="9214277" y="5953150"/>
            <a:ext cx="1060219" cy="215700"/>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32" descr="Image result for modbus logo">
            <a:extLst>
              <a:ext uri="{FF2B5EF4-FFF2-40B4-BE49-F238E27FC236}">
                <a16:creationId xmlns:a16="http://schemas.microsoft.com/office/drawing/2014/main" id="{9427A916-0FB4-4588-ABD9-820A5824BA35}"/>
              </a:ext>
            </a:extLst>
          </p:cNvPr>
          <p:cNvPicPr>
            <a:picLocks noChangeAspect="1" noChangeArrowheads="1"/>
          </p:cNvPicPr>
          <p:nvPr/>
        </p:nvPicPr>
        <p:blipFill>
          <a:blip r:embed="rId34" cstate="hqprint">
            <a:extLst>
              <a:ext uri="{28A0092B-C50C-407E-A947-70E740481C1C}">
                <a14:useLocalDpi xmlns:a14="http://schemas.microsoft.com/office/drawing/2010/main"/>
              </a:ext>
            </a:extLst>
          </a:blip>
          <a:srcRect/>
          <a:stretch>
            <a:fillRect/>
          </a:stretch>
        </p:blipFill>
        <p:spPr bwMode="auto">
          <a:xfrm>
            <a:off x="3214594" y="6340432"/>
            <a:ext cx="1045677" cy="332901"/>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34" descr="Image result for ENOCEANp logo">
            <a:extLst>
              <a:ext uri="{FF2B5EF4-FFF2-40B4-BE49-F238E27FC236}">
                <a16:creationId xmlns:a16="http://schemas.microsoft.com/office/drawing/2014/main" id="{C1409691-9EDE-4CF8-8EB3-04F6FED3004D}"/>
              </a:ext>
            </a:extLst>
          </p:cNvPr>
          <p:cNvPicPr>
            <a:picLocks noChangeAspect="1" noChangeArrowheads="1"/>
          </p:cNvPicPr>
          <p:nvPr/>
        </p:nvPicPr>
        <p:blipFill>
          <a:blip r:embed="rId35" cstate="hqprint">
            <a:extLst>
              <a:ext uri="{28A0092B-C50C-407E-A947-70E740481C1C}">
                <a14:useLocalDpi xmlns:a14="http://schemas.microsoft.com/office/drawing/2010/main"/>
              </a:ext>
            </a:extLst>
          </a:blip>
          <a:srcRect/>
          <a:stretch>
            <a:fillRect/>
          </a:stretch>
        </p:blipFill>
        <p:spPr bwMode="auto">
          <a:xfrm>
            <a:off x="8072937" y="5910332"/>
            <a:ext cx="727960" cy="284185"/>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40" descr="Image result for as-interface logo">
            <a:extLst>
              <a:ext uri="{FF2B5EF4-FFF2-40B4-BE49-F238E27FC236}">
                <a16:creationId xmlns:a16="http://schemas.microsoft.com/office/drawing/2014/main" id="{5020F6B7-5F92-4769-93BE-483F8AEA21B7}"/>
              </a:ext>
            </a:extLst>
          </p:cNvPr>
          <p:cNvPicPr>
            <a:picLocks noChangeAspect="1" noChangeArrowheads="1"/>
          </p:cNvPicPr>
          <p:nvPr/>
        </p:nvPicPr>
        <p:blipFill>
          <a:blip r:embed="rId36" cstate="hqprint">
            <a:extLst>
              <a:ext uri="{BEBA8EAE-BF5A-486C-A8C5-ECC9F3942E4B}">
                <a14:imgProps xmlns:a14="http://schemas.microsoft.com/office/drawing/2010/main">
                  <a14:imgLayer r:embed="rId37">
                    <a14:imgEffect>
                      <a14:brightnessContrast bright="-61000" contrast="-40000"/>
                    </a14:imgEffect>
                  </a14:imgLayer>
                </a14:imgProps>
              </a:ext>
              <a:ext uri="{28A0092B-C50C-407E-A947-70E740481C1C}">
                <a14:useLocalDpi xmlns:a14="http://schemas.microsoft.com/office/drawing/2010/main"/>
              </a:ext>
            </a:extLst>
          </a:blip>
          <a:srcRect/>
          <a:stretch>
            <a:fillRect/>
          </a:stretch>
        </p:blipFill>
        <p:spPr bwMode="auto">
          <a:xfrm>
            <a:off x="3334758" y="5422018"/>
            <a:ext cx="679237" cy="374912"/>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42" descr="Image result for io-link logo">
            <a:extLst>
              <a:ext uri="{FF2B5EF4-FFF2-40B4-BE49-F238E27FC236}">
                <a16:creationId xmlns:a16="http://schemas.microsoft.com/office/drawing/2014/main" id="{EFFF811F-8893-45B4-A9C7-DCB2DCCFC61C}"/>
              </a:ext>
            </a:extLst>
          </p:cNvPr>
          <p:cNvPicPr>
            <a:picLocks noChangeAspect="1" noChangeArrowheads="1"/>
          </p:cNvPicPr>
          <p:nvPr/>
        </p:nvPicPr>
        <p:blipFill rotWithShape="1">
          <a:blip r:embed="rId38" cstate="hqprint">
            <a:extLst>
              <a:ext uri="{28A0092B-C50C-407E-A947-70E740481C1C}">
                <a14:useLocalDpi xmlns:a14="http://schemas.microsoft.com/office/drawing/2010/main"/>
              </a:ext>
            </a:extLst>
          </a:blip>
          <a:srcRect/>
          <a:stretch/>
        </p:blipFill>
        <p:spPr bwMode="auto">
          <a:xfrm>
            <a:off x="3208222" y="5962367"/>
            <a:ext cx="1053972" cy="243585"/>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2" descr="Image result for opc ua">
            <a:extLst>
              <a:ext uri="{FF2B5EF4-FFF2-40B4-BE49-F238E27FC236}">
                <a16:creationId xmlns:a16="http://schemas.microsoft.com/office/drawing/2014/main" id="{3BECB3A7-322B-43E3-9C8E-DA8C4377CF73}"/>
              </a:ext>
            </a:extLst>
          </p:cNvPr>
          <p:cNvPicPr>
            <a:picLocks noChangeAspect="1" noChangeArrowheads="1"/>
          </p:cNvPicPr>
          <p:nvPr/>
        </p:nvPicPr>
        <p:blipFill>
          <a:blip r:embed="rId39" cstate="hqprint">
            <a:extLst>
              <a:ext uri="{28A0092B-C50C-407E-A947-70E740481C1C}">
                <a14:useLocalDpi xmlns:a14="http://schemas.microsoft.com/office/drawing/2010/main"/>
              </a:ext>
            </a:extLst>
          </a:blip>
          <a:srcRect/>
          <a:stretch>
            <a:fillRect/>
          </a:stretch>
        </p:blipFill>
        <p:spPr bwMode="auto">
          <a:xfrm>
            <a:off x="5505553" y="2880599"/>
            <a:ext cx="830304" cy="153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1882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a:xfrm>
            <a:off x="2" y="1090799"/>
            <a:ext cx="7844832" cy="5331600"/>
          </a:xfrm>
        </p:spPr>
        <p:txBody>
          <a:bodyPr vert="horz" lIns="450000" tIns="190800" rIns="91440" bIns="45720" rtlCol="0">
            <a:noAutofit/>
          </a:bodyPr>
          <a:lstStyle/>
          <a:p>
            <a:r>
              <a:rPr lang="de-DE" sz="2000" dirty="0"/>
              <a:t>Easy </a:t>
            </a:r>
            <a:r>
              <a:rPr lang="de-DE" sz="2000" dirty="0" err="1"/>
              <a:t>integration</a:t>
            </a:r>
            <a:r>
              <a:rPr lang="de-DE" sz="2000" dirty="0"/>
              <a:t> </a:t>
            </a:r>
            <a:r>
              <a:rPr lang="de-DE" sz="2000" dirty="0" err="1"/>
              <a:t>of</a:t>
            </a:r>
            <a:r>
              <a:rPr lang="de-DE" sz="2000" dirty="0"/>
              <a:t> IoT </a:t>
            </a:r>
            <a:r>
              <a:rPr lang="de-DE" sz="2000" dirty="0" err="1"/>
              <a:t>communication</a:t>
            </a:r>
            <a:r>
              <a:rPr lang="de-DE" sz="2000" dirty="0"/>
              <a:t> </a:t>
            </a:r>
            <a:r>
              <a:rPr lang="de-DE" sz="2000" dirty="0" err="1"/>
              <a:t>protocols</a:t>
            </a:r>
            <a:endParaRPr lang="de-DE" sz="2000" dirty="0"/>
          </a:p>
          <a:p>
            <a:r>
              <a:rPr lang="de-DE" sz="2000" dirty="0"/>
              <a:t>Multiple </a:t>
            </a:r>
            <a:r>
              <a:rPr lang="de-DE" sz="2000" dirty="0" err="1"/>
              <a:t>protocols</a:t>
            </a:r>
            <a:r>
              <a:rPr lang="de-DE" sz="2000" dirty="0"/>
              <a:t> </a:t>
            </a:r>
            <a:r>
              <a:rPr lang="de-DE" sz="2000" dirty="0" err="1"/>
              <a:t>available</a:t>
            </a:r>
            <a:r>
              <a:rPr lang="de-DE" sz="2000" dirty="0"/>
              <a:t>: MQTT, HTTPS, OPC UA Pub/Sub, </a:t>
            </a:r>
            <a:r>
              <a:rPr lang="de-DE" sz="2000" dirty="0" err="1"/>
              <a:t>WebSockets</a:t>
            </a:r>
            <a:r>
              <a:rPr lang="de-DE" sz="2000" dirty="0"/>
              <a:t>, OCPP</a:t>
            </a:r>
          </a:p>
          <a:p>
            <a:r>
              <a:rPr lang="de-DE" sz="2000" dirty="0"/>
              <a:t>Smartphone App </a:t>
            </a:r>
            <a:r>
              <a:rPr lang="de-DE" sz="2000" dirty="0" err="1"/>
              <a:t>available</a:t>
            </a:r>
            <a:r>
              <a:rPr lang="de-DE" sz="2000" dirty="0"/>
              <a:t> </a:t>
            </a:r>
            <a:r>
              <a:rPr lang="de-DE" sz="2000" dirty="0" err="1"/>
              <a:t>for</a:t>
            </a:r>
            <a:r>
              <a:rPr lang="de-DE" sz="2000" dirty="0"/>
              <a:t> Android and iOS</a:t>
            </a:r>
          </a:p>
        </p:txBody>
      </p:sp>
      <p:sp>
        <p:nvSpPr>
          <p:cNvPr id="21" name="Freihandform 24"/>
          <p:cNvSpPr>
            <a:spLocks noChangeAspect="1"/>
          </p:cNvSpPr>
          <p:nvPr/>
        </p:nvSpPr>
        <p:spPr>
          <a:xfrm>
            <a:off x="8061503" y="1193610"/>
            <a:ext cx="4046882" cy="2089189"/>
          </a:xfrm>
          <a:custGeom>
            <a:avLst/>
            <a:gdLst>
              <a:gd name="connsiteX0" fmla="*/ 187377 w 3762531"/>
              <a:gd name="connsiteY0" fmla="*/ 262328 h 2488367"/>
              <a:gd name="connsiteX1" fmla="*/ 1109272 w 3762531"/>
              <a:gd name="connsiteY1" fmla="*/ 0 h 2488367"/>
              <a:gd name="connsiteX2" fmla="*/ 3642610 w 3762531"/>
              <a:gd name="connsiteY2" fmla="*/ 239843 h 2488367"/>
              <a:gd name="connsiteX3" fmla="*/ 3762531 w 3762531"/>
              <a:gd name="connsiteY3" fmla="*/ 2488367 h 2488367"/>
              <a:gd name="connsiteX4" fmla="*/ 0 w 3762531"/>
              <a:gd name="connsiteY4" fmla="*/ 2488367 h 2488367"/>
              <a:gd name="connsiteX5" fmla="*/ 187377 w 3762531"/>
              <a:gd name="connsiteY5" fmla="*/ 262328 h 2488367"/>
              <a:gd name="connsiteX0" fmla="*/ 187377 w 3762531"/>
              <a:gd name="connsiteY0" fmla="*/ 361158 h 2587197"/>
              <a:gd name="connsiteX1" fmla="*/ 1109272 w 3762531"/>
              <a:gd name="connsiteY1" fmla="*/ 98830 h 2587197"/>
              <a:gd name="connsiteX2" fmla="*/ 3642610 w 3762531"/>
              <a:gd name="connsiteY2" fmla="*/ 338673 h 2587197"/>
              <a:gd name="connsiteX3" fmla="*/ 3762531 w 3762531"/>
              <a:gd name="connsiteY3" fmla="*/ 2587197 h 2587197"/>
              <a:gd name="connsiteX4" fmla="*/ 0 w 3762531"/>
              <a:gd name="connsiteY4" fmla="*/ 2587197 h 2587197"/>
              <a:gd name="connsiteX5" fmla="*/ 187377 w 3762531"/>
              <a:gd name="connsiteY5" fmla="*/ 361158 h 2587197"/>
              <a:gd name="connsiteX0" fmla="*/ 870238 w 4445392"/>
              <a:gd name="connsiteY0" fmla="*/ 361158 h 2587197"/>
              <a:gd name="connsiteX1" fmla="*/ 1792133 w 4445392"/>
              <a:gd name="connsiteY1" fmla="*/ 98830 h 2587197"/>
              <a:gd name="connsiteX2" fmla="*/ 4325471 w 4445392"/>
              <a:gd name="connsiteY2" fmla="*/ 338673 h 2587197"/>
              <a:gd name="connsiteX3" fmla="*/ 4445392 w 4445392"/>
              <a:gd name="connsiteY3" fmla="*/ 2587197 h 2587197"/>
              <a:gd name="connsiteX4" fmla="*/ 682861 w 4445392"/>
              <a:gd name="connsiteY4" fmla="*/ 2587197 h 2587197"/>
              <a:gd name="connsiteX5" fmla="*/ 870238 w 4445392"/>
              <a:gd name="connsiteY5" fmla="*/ 361158 h 2587197"/>
              <a:gd name="connsiteX0" fmla="*/ 1283861 w 4859015"/>
              <a:gd name="connsiteY0" fmla="*/ 361158 h 2587197"/>
              <a:gd name="connsiteX1" fmla="*/ 2205756 w 4859015"/>
              <a:gd name="connsiteY1" fmla="*/ 98830 h 2587197"/>
              <a:gd name="connsiteX2" fmla="*/ 4739094 w 4859015"/>
              <a:gd name="connsiteY2" fmla="*/ 338673 h 2587197"/>
              <a:gd name="connsiteX3" fmla="*/ 4859015 w 4859015"/>
              <a:gd name="connsiteY3" fmla="*/ 2587197 h 2587197"/>
              <a:gd name="connsiteX4" fmla="*/ 1096484 w 4859015"/>
              <a:gd name="connsiteY4" fmla="*/ 2587197 h 2587197"/>
              <a:gd name="connsiteX5" fmla="*/ 1283861 w 4859015"/>
              <a:gd name="connsiteY5" fmla="*/ 361158 h 2587197"/>
              <a:gd name="connsiteX0" fmla="*/ 1283861 w 4859015"/>
              <a:gd name="connsiteY0" fmla="*/ 413104 h 2639143"/>
              <a:gd name="connsiteX1" fmla="*/ 2205756 w 4859015"/>
              <a:gd name="connsiteY1" fmla="*/ 150776 h 2639143"/>
              <a:gd name="connsiteX2" fmla="*/ 4739094 w 4859015"/>
              <a:gd name="connsiteY2" fmla="*/ 390619 h 2639143"/>
              <a:gd name="connsiteX3" fmla="*/ 4859015 w 4859015"/>
              <a:gd name="connsiteY3" fmla="*/ 2639143 h 2639143"/>
              <a:gd name="connsiteX4" fmla="*/ 1096484 w 4859015"/>
              <a:gd name="connsiteY4" fmla="*/ 2639143 h 2639143"/>
              <a:gd name="connsiteX5" fmla="*/ 1283861 w 4859015"/>
              <a:gd name="connsiteY5" fmla="*/ 413104 h 2639143"/>
              <a:gd name="connsiteX0" fmla="*/ 1283861 w 4859015"/>
              <a:gd name="connsiteY0" fmla="*/ 639949 h 2865988"/>
              <a:gd name="connsiteX1" fmla="*/ 2205756 w 4859015"/>
              <a:gd name="connsiteY1" fmla="*/ 377621 h 2865988"/>
              <a:gd name="connsiteX2" fmla="*/ 4739094 w 4859015"/>
              <a:gd name="connsiteY2" fmla="*/ 617464 h 2865988"/>
              <a:gd name="connsiteX3" fmla="*/ 4859015 w 4859015"/>
              <a:gd name="connsiteY3" fmla="*/ 2865988 h 2865988"/>
              <a:gd name="connsiteX4" fmla="*/ 1096484 w 4859015"/>
              <a:gd name="connsiteY4" fmla="*/ 2865988 h 2865988"/>
              <a:gd name="connsiteX5" fmla="*/ 1283861 w 4859015"/>
              <a:gd name="connsiteY5" fmla="*/ 639949 h 2865988"/>
              <a:gd name="connsiteX0" fmla="*/ 1283861 w 4859015"/>
              <a:gd name="connsiteY0" fmla="*/ 805598 h 3031637"/>
              <a:gd name="connsiteX1" fmla="*/ 2205756 w 4859015"/>
              <a:gd name="connsiteY1" fmla="*/ 543270 h 3031637"/>
              <a:gd name="connsiteX2" fmla="*/ 4739094 w 4859015"/>
              <a:gd name="connsiteY2" fmla="*/ 783113 h 3031637"/>
              <a:gd name="connsiteX3" fmla="*/ 4859015 w 4859015"/>
              <a:gd name="connsiteY3" fmla="*/ 3031637 h 3031637"/>
              <a:gd name="connsiteX4" fmla="*/ 1096484 w 4859015"/>
              <a:gd name="connsiteY4" fmla="*/ 3031637 h 3031637"/>
              <a:gd name="connsiteX5" fmla="*/ 1283861 w 4859015"/>
              <a:gd name="connsiteY5" fmla="*/ 805598 h 3031637"/>
              <a:gd name="connsiteX0" fmla="*/ 1283861 w 5259884"/>
              <a:gd name="connsiteY0" fmla="*/ 805598 h 3031637"/>
              <a:gd name="connsiteX1" fmla="*/ 2205756 w 5259884"/>
              <a:gd name="connsiteY1" fmla="*/ 543270 h 3031637"/>
              <a:gd name="connsiteX2" fmla="*/ 4739094 w 5259884"/>
              <a:gd name="connsiteY2" fmla="*/ 783113 h 3031637"/>
              <a:gd name="connsiteX3" fmla="*/ 4859015 w 5259884"/>
              <a:gd name="connsiteY3" fmla="*/ 3031637 h 3031637"/>
              <a:gd name="connsiteX4" fmla="*/ 1096484 w 5259884"/>
              <a:gd name="connsiteY4" fmla="*/ 3031637 h 3031637"/>
              <a:gd name="connsiteX5" fmla="*/ 1283861 w 5259884"/>
              <a:gd name="connsiteY5" fmla="*/ 805598 h 3031637"/>
              <a:gd name="connsiteX0" fmla="*/ 1283861 w 5871218"/>
              <a:gd name="connsiteY0" fmla="*/ 805598 h 3031637"/>
              <a:gd name="connsiteX1" fmla="*/ 2205756 w 5871218"/>
              <a:gd name="connsiteY1" fmla="*/ 543270 h 3031637"/>
              <a:gd name="connsiteX2" fmla="*/ 4739094 w 5871218"/>
              <a:gd name="connsiteY2" fmla="*/ 783113 h 3031637"/>
              <a:gd name="connsiteX3" fmla="*/ 4859015 w 5871218"/>
              <a:gd name="connsiteY3" fmla="*/ 3031637 h 3031637"/>
              <a:gd name="connsiteX4" fmla="*/ 1096484 w 5871218"/>
              <a:gd name="connsiteY4" fmla="*/ 3031637 h 3031637"/>
              <a:gd name="connsiteX5" fmla="*/ 1283861 w 5871218"/>
              <a:gd name="connsiteY5" fmla="*/ 805598 h 3031637"/>
              <a:gd name="connsiteX0" fmla="*/ 1283861 w 5924778"/>
              <a:gd name="connsiteY0" fmla="*/ 805598 h 3031637"/>
              <a:gd name="connsiteX1" fmla="*/ 2205756 w 5924778"/>
              <a:gd name="connsiteY1" fmla="*/ 543270 h 3031637"/>
              <a:gd name="connsiteX2" fmla="*/ 4739094 w 5924778"/>
              <a:gd name="connsiteY2" fmla="*/ 783113 h 3031637"/>
              <a:gd name="connsiteX3" fmla="*/ 4859015 w 5924778"/>
              <a:gd name="connsiteY3" fmla="*/ 3031637 h 3031637"/>
              <a:gd name="connsiteX4" fmla="*/ 1096484 w 5924778"/>
              <a:gd name="connsiteY4" fmla="*/ 3031637 h 3031637"/>
              <a:gd name="connsiteX5" fmla="*/ 1283861 w 5924778"/>
              <a:gd name="connsiteY5" fmla="*/ 805598 h 3031637"/>
              <a:gd name="connsiteX0" fmla="*/ 1283861 w 5924778"/>
              <a:gd name="connsiteY0" fmla="*/ 816848 h 3042887"/>
              <a:gd name="connsiteX1" fmla="*/ 2205756 w 5924778"/>
              <a:gd name="connsiteY1" fmla="*/ 554520 h 3042887"/>
              <a:gd name="connsiteX2" fmla="*/ 4739094 w 5924778"/>
              <a:gd name="connsiteY2" fmla="*/ 794363 h 3042887"/>
              <a:gd name="connsiteX3" fmla="*/ 4859015 w 5924778"/>
              <a:gd name="connsiteY3" fmla="*/ 3042887 h 3042887"/>
              <a:gd name="connsiteX4" fmla="*/ 1096484 w 5924778"/>
              <a:gd name="connsiteY4" fmla="*/ 3042887 h 3042887"/>
              <a:gd name="connsiteX5" fmla="*/ 1283861 w 5924778"/>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872028"/>
              <a:gd name="connsiteY0" fmla="*/ 816848 h 3042887"/>
              <a:gd name="connsiteX1" fmla="*/ 2199965 w 5872028"/>
              <a:gd name="connsiteY1" fmla="*/ 554520 h 3042887"/>
              <a:gd name="connsiteX2" fmla="*/ 4733303 w 5872028"/>
              <a:gd name="connsiteY2" fmla="*/ 794363 h 3042887"/>
              <a:gd name="connsiteX3" fmla="*/ 4853224 w 5872028"/>
              <a:gd name="connsiteY3" fmla="*/ 3042887 h 3042887"/>
              <a:gd name="connsiteX4" fmla="*/ 1090693 w 5872028"/>
              <a:gd name="connsiteY4" fmla="*/ 3042887 h 3042887"/>
              <a:gd name="connsiteX5" fmla="*/ 1278070 w 5872028"/>
              <a:gd name="connsiteY5" fmla="*/ 816848 h 3042887"/>
              <a:gd name="connsiteX0" fmla="*/ 1278070 w 5772302"/>
              <a:gd name="connsiteY0" fmla="*/ 816848 h 3042887"/>
              <a:gd name="connsiteX1" fmla="*/ 2199965 w 5772302"/>
              <a:gd name="connsiteY1" fmla="*/ 554520 h 3042887"/>
              <a:gd name="connsiteX2" fmla="*/ 4733303 w 5772302"/>
              <a:gd name="connsiteY2" fmla="*/ 794363 h 3042887"/>
              <a:gd name="connsiteX3" fmla="*/ 4670002 w 5772302"/>
              <a:gd name="connsiteY3" fmla="*/ 3037652 h 3042887"/>
              <a:gd name="connsiteX4" fmla="*/ 1090693 w 5772302"/>
              <a:gd name="connsiteY4" fmla="*/ 3042887 h 3042887"/>
              <a:gd name="connsiteX5" fmla="*/ 1278070 w 5772302"/>
              <a:gd name="connsiteY5" fmla="*/ 816848 h 3042887"/>
              <a:gd name="connsiteX0" fmla="*/ 1278070 w 5812783"/>
              <a:gd name="connsiteY0" fmla="*/ 816848 h 3042887"/>
              <a:gd name="connsiteX1" fmla="*/ 2199965 w 5812783"/>
              <a:gd name="connsiteY1" fmla="*/ 554520 h 3042887"/>
              <a:gd name="connsiteX2" fmla="*/ 4733303 w 5812783"/>
              <a:gd name="connsiteY2" fmla="*/ 794363 h 3042887"/>
              <a:gd name="connsiteX3" fmla="*/ 4670002 w 5812783"/>
              <a:gd name="connsiteY3" fmla="*/ 3037652 h 3042887"/>
              <a:gd name="connsiteX4" fmla="*/ 1090693 w 5812783"/>
              <a:gd name="connsiteY4" fmla="*/ 3042887 h 3042887"/>
              <a:gd name="connsiteX5" fmla="*/ 1278070 w 5812783"/>
              <a:gd name="connsiteY5" fmla="*/ 816848 h 3042887"/>
              <a:gd name="connsiteX0" fmla="*/ 1278070 w 5894253"/>
              <a:gd name="connsiteY0" fmla="*/ 816848 h 3042887"/>
              <a:gd name="connsiteX1" fmla="*/ 2199965 w 5894253"/>
              <a:gd name="connsiteY1" fmla="*/ 554520 h 3042887"/>
              <a:gd name="connsiteX2" fmla="*/ 4733303 w 5894253"/>
              <a:gd name="connsiteY2" fmla="*/ 794363 h 3042887"/>
              <a:gd name="connsiteX3" fmla="*/ 4670002 w 5894253"/>
              <a:gd name="connsiteY3" fmla="*/ 3037652 h 3042887"/>
              <a:gd name="connsiteX4" fmla="*/ 1090693 w 5894253"/>
              <a:gd name="connsiteY4" fmla="*/ 3042887 h 3042887"/>
              <a:gd name="connsiteX5" fmla="*/ 1278070 w 5894253"/>
              <a:gd name="connsiteY5" fmla="*/ 816848 h 304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4253" h="3042887">
                <a:moveTo>
                  <a:pt x="1278070" y="816848"/>
                </a:moveTo>
                <a:cubicBezTo>
                  <a:pt x="1465446" y="167274"/>
                  <a:pt x="2080044" y="447091"/>
                  <a:pt x="2199965" y="554520"/>
                </a:cubicBezTo>
                <a:cubicBezTo>
                  <a:pt x="2976955" y="-384863"/>
                  <a:pt x="4353552" y="-12608"/>
                  <a:pt x="4733303" y="794363"/>
                </a:cubicBezTo>
                <a:cubicBezTo>
                  <a:pt x="6240379" y="843022"/>
                  <a:pt x="6343074" y="2920642"/>
                  <a:pt x="4670002" y="3037652"/>
                </a:cubicBezTo>
                <a:lnTo>
                  <a:pt x="1090693" y="3042887"/>
                </a:lnTo>
                <a:cubicBezTo>
                  <a:pt x="-203458" y="3035392"/>
                  <a:pt x="-583208" y="809353"/>
                  <a:pt x="1278070" y="816848"/>
                </a:cubicBezTo>
                <a:close/>
              </a:path>
            </a:pathLst>
          </a:custGeom>
          <a:solidFill>
            <a:schemeClr val="bg1"/>
          </a:solid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2200" b="0" i="0" u="none" strike="noStrike" kern="1200" cap="none" spc="0" normalizeH="0" baseline="0" noProof="0" dirty="0">
              <a:ln>
                <a:solidFill>
                  <a:prstClr val="white">
                    <a:lumMod val="75000"/>
                  </a:prstClr>
                </a:solidFill>
              </a:ln>
              <a:solidFill>
                <a:prstClr val="white"/>
              </a:solidFill>
              <a:effectLst/>
              <a:uLnTx/>
              <a:uFillTx/>
              <a:latin typeface="Arial" pitchFamily="34" charset="0"/>
              <a:ea typeface="+mn-ea"/>
              <a:cs typeface="Arial" pitchFamily="34" charset="0"/>
            </a:endParaRPr>
          </a:p>
        </p:txBody>
      </p:sp>
      <p:sp>
        <p:nvSpPr>
          <p:cNvPr id="4" name="Title 3"/>
          <p:cNvSpPr>
            <a:spLocks noGrp="1"/>
          </p:cNvSpPr>
          <p:nvPr>
            <p:ph type="title"/>
          </p:nvPr>
        </p:nvSpPr>
        <p:spPr/>
        <p:txBody>
          <a:bodyPr/>
          <a:lstStyle/>
          <a:p>
            <a:r>
              <a:rPr lang="de-DE"/>
              <a:t>TwinCAT IoT product overview</a:t>
            </a:r>
            <a:endParaRPr lang="de-DE" dirty="0"/>
          </a:p>
        </p:txBody>
      </p:sp>
      <p:pic>
        <p:nvPicPr>
          <p:cNvPr id="5" name="Grafi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8208" y="3895142"/>
            <a:ext cx="4127463" cy="2824119"/>
          </a:xfrm>
          <a:prstGeom prst="rect">
            <a:avLst/>
          </a:prstGeom>
        </p:spPr>
      </p:pic>
      <p:sp>
        <p:nvSpPr>
          <p:cNvPr id="2" name="Slide Number Placeholder 1"/>
          <p:cNvSpPr>
            <a:spLocks noGrp="1"/>
          </p:cNvSpPr>
          <p:nvPr>
            <p:ph type="sldNum" sz="quarter" idx="4"/>
          </p:nvPr>
        </p:nvSpPr>
        <p:spPr bwMode="gray">
          <a:xfrm>
            <a:off x="98616" y="6551941"/>
            <a:ext cx="765208" cy="441325"/>
          </a:xfrm>
          <a:prstGeom prst="rect">
            <a:avLst/>
          </a:prstGeom>
        </p:spPr>
        <p:txBody>
          <a:bodyPr vert="horz" lIns="234000" tIns="45720" rIns="3600" bIns="45720" rtlCol="0" anchor="ctr"/>
          <a:lstStyle>
            <a:defPPr>
              <a:defRPr lang="de-DE"/>
            </a:defPPr>
            <a:lvl1pPr marL="0" algn="l" defTabSz="914400" rtl="0" eaLnBrk="1" latinLnBrk="0" hangingPunct="1">
              <a:defRPr sz="1100" kern="1200">
                <a:solidFill>
                  <a:schemeClr val="accent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A930EF64-91C9-4EBD-82F9-3643AB15A28C}" type="slidenum">
              <a:rPr kumimoji="0" lang="de-DE" sz="1100" b="0" i="0" u="none" strike="noStrike" kern="1200" cap="none" spc="0" normalizeH="0" baseline="0" noProof="0" smtClean="0">
                <a:ln>
                  <a:noFill/>
                </a:ln>
                <a:solidFill>
                  <a:srgbClr val="B3BCC8"/>
                </a:solidFill>
                <a:effectLst/>
                <a:uLnTx/>
                <a:uFillTx/>
                <a:latin typeface="Arial" pitchFamily="34" charset="0"/>
                <a:ea typeface="+mn-ea"/>
                <a:cs typeface="Arial"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de-DE" sz="1100" b="0" i="0" u="none" strike="noStrike" kern="1200" cap="none" spc="0" normalizeH="0" baseline="0" noProof="0">
              <a:ln>
                <a:noFill/>
              </a:ln>
              <a:solidFill>
                <a:srgbClr val="B3BCC8"/>
              </a:solidFill>
              <a:effectLst/>
              <a:uLnTx/>
              <a:uFillTx/>
              <a:latin typeface="Arial" pitchFamily="34" charset="0"/>
              <a:ea typeface="+mn-ea"/>
              <a:cs typeface="Arial" pitchFamily="34" charset="0"/>
            </a:endParaRPr>
          </a:p>
        </p:txBody>
      </p:sp>
      <p:cxnSp>
        <p:nvCxnSpPr>
          <p:cNvPr id="30" name="Straight Arrow Connector 41"/>
          <p:cNvCxnSpPr/>
          <p:nvPr/>
        </p:nvCxnSpPr>
        <p:spPr>
          <a:xfrm flipV="1">
            <a:off x="8522006" y="3394111"/>
            <a:ext cx="0" cy="1002062"/>
          </a:xfrm>
          <a:prstGeom prst="straightConnector1">
            <a:avLst/>
          </a:prstGeom>
          <a:ln w="38100">
            <a:solidFill>
              <a:srgbClr val="E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41"/>
          <p:cNvCxnSpPr/>
          <p:nvPr/>
        </p:nvCxnSpPr>
        <p:spPr>
          <a:xfrm flipV="1">
            <a:off x="11042286" y="3394111"/>
            <a:ext cx="0" cy="1111588"/>
          </a:xfrm>
          <a:prstGeom prst="straightConnector1">
            <a:avLst/>
          </a:prstGeom>
          <a:ln w="38100">
            <a:solidFill>
              <a:srgbClr val="E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41"/>
          <p:cNvCxnSpPr/>
          <p:nvPr/>
        </p:nvCxnSpPr>
        <p:spPr>
          <a:xfrm flipV="1">
            <a:off x="10019091" y="3394111"/>
            <a:ext cx="0" cy="1665350"/>
          </a:xfrm>
          <a:prstGeom prst="straightConnector1">
            <a:avLst/>
          </a:prstGeom>
          <a:ln w="38100">
            <a:solidFill>
              <a:srgbClr val="E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54F8CD7C-CD52-6816-8330-E1E629751ECC}"/>
              </a:ext>
            </a:extLst>
          </p:cNvPr>
          <p:cNvGrpSpPr/>
          <p:nvPr/>
        </p:nvGrpSpPr>
        <p:grpSpPr>
          <a:xfrm>
            <a:off x="654937" y="2952091"/>
            <a:ext cx="1614367" cy="1513695"/>
            <a:chOff x="401584" y="2819401"/>
            <a:chExt cx="1614367" cy="1513695"/>
          </a:xfrm>
          <a:solidFill>
            <a:srgbClr val="86405C"/>
          </a:solidFill>
        </p:grpSpPr>
        <p:sp>
          <p:nvSpPr>
            <p:cNvPr id="14" name="Abgerundetes Rechteck 14">
              <a:extLst>
                <a:ext uri="{FF2B5EF4-FFF2-40B4-BE49-F238E27FC236}">
                  <a16:creationId xmlns:a16="http://schemas.microsoft.com/office/drawing/2014/main" id="{7F7C9616-B28F-43EA-B543-D31BF36AB409}"/>
                </a:ext>
              </a:extLst>
            </p:cNvPr>
            <p:cNvSpPr/>
            <p:nvPr/>
          </p:nvSpPr>
          <p:spPr>
            <a:xfrm>
              <a:off x="401584" y="2819401"/>
              <a:ext cx="1614367" cy="1513695"/>
            </a:xfrm>
            <a:prstGeom prst="roundRect">
              <a:avLst/>
            </a:prstGeom>
            <a:grp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TF6701 IoT Communication</a:t>
              </a:r>
            </a:p>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MQTT client connectivity</a:t>
              </a:r>
            </a:p>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Real-time driver for the PLC</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de-DE" sz="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pic>
          <p:nvPicPr>
            <p:cNvPr id="8" name="Picture 7">
              <a:extLst>
                <a:ext uri="{FF2B5EF4-FFF2-40B4-BE49-F238E27FC236}">
                  <a16:creationId xmlns:a16="http://schemas.microsoft.com/office/drawing/2014/main" id="{6D412C48-B7C3-466C-8157-2D7980071D92}"/>
                </a:ext>
              </a:extLst>
            </p:cNvPr>
            <p:cNvPicPr>
              <a:picLocks noChangeAspect="1"/>
            </p:cNvPicPr>
            <p:nvPr/>
          </p:nvPicPr>
          <p:blipFill>
            <a:blip r:embed="rId3"/>
            <a:stretch>
              <a:fillRect/>
            </a:stretch>
          </p:blipFill>
          <p:spPr>
            <a:xfrm>
              <a:off x="457243" y="3436827"/>
              <a:ext cx="1449402" cy="493337"/>
            </a:xfrm>
            <a:prstGeom prst="rect">
              <a:avLst/>
            </a:prstGeom>
            <a:grpFill/>
          </p:spPr>
        </p:pic>
      </p:grpSp>
      <p:grpSp>
        <p:nvGrpSpPr>
          <p:cNvPr id="22" name="Group 21">
            <a:extLst>
              <a:ext uri="{FF2B5EF4-FFF2-40B4-BE49-F238E27FC236}">
                <a16:creationId xmlns:a16="http://schemas.microsoft.com/office/drawing/2014/main" id="{4B0CF9CC-64F8-5B22-AD4A-5D6D83A509B2}"/>
              </a:ext>
            </a:extLst>
          </p:cNvPr>
          <p:cNvGrpSpPr/>
          <p:nvPr/>
        </p:nvGrpSpPr>
        <p:grpSpPr>
          <a:xfrm>
            <a:off x="2433693" y="2952091"/>
            <a:ext cx="1618488" cy="1513695"/>
            <a:chOff x="2369190" y="2819401"/>
            <a:chExt cx="1618488" cy="1513695"/>
          </a:xfrm>
          <a:solidFill>
            <a:srgbClr val="86405C"/>
          </a:solidFill>
        </p:grpSpPr>
        <p:sp>
          <p:nvSpPr>
            <p:cNvPr id="29" name="Abgerundetes Rechteck 14">
              <a:extLst>
                <a:ext uri="{FF2B5EF4-FFF2-40B4-BE49-F238E27FC236}">
                  <a16:creationId xmlns:a16="http://schemas.microsoft.com/office/drawing/2014/main" id="{00527B59-0D83-4A20-9DF5-6665E6B8FAAB}"/>
                </a:ext>
              </a:extLst>
            </p:cNvPr>
            <p:cNvSpPr/>
            <p:nvPr/>
          </p:nvSpPr>
          <p:spPr>
            <a:xfrm>
              <a:off x="2369190" y="2819401"/>
              <a:ext cx="1618488" cy="1513695"/>
            </a:xfrm>
            <a:prstGeom prst="roundRect">
              <a:avLst/>
            </a:prstGeom>
            <a:grp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TF6720 IoT Data Agent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IoT gateway application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Standalone tool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pic>
          <p:nvPicPr>
            <p:cNvPr id="33" name="Grafik 50">
              <a:extLst>
                <a:ext uri="{FF2B5EF4-FFF2-40B4-BE49-F238E27FC236}">
                  <a16:creationId xmlns:a16="http://schemas.microsoft.com/office/drawing/2014/main" id="{CEAC930A-B148-4331-B72E-6B01115F8E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34361" y="3426396"/>
              <a:ext cx="1317549" cy="713672"/>
            </a:xfrm>
            <a:prstGeom prst="rect">
              <a:avLst/>
            </a:prstGeom>
            <a:grpFill/>
            <a:effectLst/>
          </p:spPr>
        </p:pic>
      </p:grpSp>
      <p:grpSp>
        <p:nvGrpSpPr>
          <p:cNvPr id="23" name="Group 22">
            <a:extLst>
              <a:ext uri="{FF2B5EF4-FFF2-40B4-BE49-F238E27FC236}">
                <a16:creationId xmlns:a16="http://schemas.microsoft.com/office/drawing/2014/main" id="{EFDDC91B-801B-1D6F-BD25-A627277E9AC0}"/>
              </a:ext>
            </a:extLst>
          </p:cNvPr>
          <p:cNvGrpSpPr/>
          <p:nvPr/>
        </p:nvGrpSpPr>
        <p:grpSpPr>
          <a:xfrm>
            <a:off x="4212419" y="2952091"/>
            <a:ext cx="1618488" cy="1513695"/>
            <a:chOff x="4032176" y="2819401"/>
            <a:chExt cx="1618488" cy="1513695"/>
          </a:xfrm>
          <a:solidFill>
            <a:srgbClr val="86405C"/>
          </a:solidFill>
        </p:grpSpPr>
        <p:sp>
          <p:nvSpPr>
            <p:cNvPr id="34" name="Abgerundetes Rechteck 14">
              <a:extLst>
                <a:ext uri="{FF2B5EF4-FFF2-40B4-BE49-F238E27FC236}">
                  <a16:creationId xmlns:a16="http://schemas.microsoft.com/office/drawing/2014/main" id="{275B3868-F666-4A94-B1F8-816C4C37EAF2}"/>
                </a:ext>
              </a:extLst>
            </p:cNvPr>
            <p:cNvSpPr/>
            <p:nvPr/>
          </p:nvSpPr>
          <p:spPr>
            <a:xfrm>
              <a:off x="4032176" y="2819401"/>
              <a:ext cx="1618488" cy="1513695"/>
            </a:xfrm>
            <a:prstGeom prst="roundRect">
              <a:avLst/>
            </a:prstGeom>
            <a:grp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TF6710 IoT Functions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Data Agent access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Real-time driver for the PLC</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pic>
          <p:nvPicPr>
            <p:cNvPr id="12" name="Picture 11">
              <a:extLst>
                <a:ext uri="{FF2B5EF4-FFF2-40B4-BE49-F238E27FC236}">
                  <a16:creationId xmlns:a16="http://schemas.microsoft.com/office/drawing/2014/main" id="{93087257-7230-4B24-9A65-0ED07F8C1EF2}"/>
                </a:ext>
              </a:extLst>
            </p:cNvPr>
            <p:cNvPicPr>
              <a:picLocks noChangeAspect="1"/>
            </p:cNvPicPr>
            <p:nvPr/>
          </p:nvPicPr>
          <p:blipFill>
            <a:blip r:embed="rId5"/>
            <a:stretch>
              <a:fillRect/>
            </a:stretch>
          </p:blipFill>
          <p:spPr>
            <a:xfrm>
              <a:off x="4147633" y="3428367"/>
              <a:ext cx="1405936" cy="220256"/>
            </a:xfrm>
            <a:prstGeom prst="rect">
              <a:avLst/>
            </a:prstGeom>
            <a:grpFill/>
          </p:spPr>
        </p:pic>
        <p:pic>
          <p:nvPicPr>
            <p:cNvPr id="19" name="Picture 18">
              <a:extLst>
                <a:ext uri="{FF2B5EF4-FFF2-40B4-BE49-F238E27FC236}">
                  <a16:creationId xmlns:a16="http://schemas.microsoft.com/office/drawing/2014/main" id="{01CD3807-D520-4A2E-9581-D33E0B9ED191}"/>
                </a:ext>
              </a:extLst>
            </p:cNvPr>
            <p:cNvPicPr>
              <a:picLocks noChangeAspect="1"/>
            </p:cNvPicPr>
            <p:nvPr/>
          </p:nvPicPr>
          <p:blipFill>
            <a:blip r:embed="rId6"/>
            <a:stretch>
              <a:fillRect/>
            </a:stretch>
          </p:blipFill>
          <p:spPr>
            <a:xfrm>
              <a:off x="4146944" y="3754100"/>
              <a:ext cx="697526" cy="149627"/>
            </a:xfrm>
            <a:prstGeom prst="rect">
              <a:avLst/>
            </a:prstGeom>
            <a:grpFill/>
          </p:spPr>
        </p:pic>
        <p:pic>
          <p:nvPicPr>
            <p:cNvPr id="39" name="Picture 38">
              <a:extLst>
                <a:ext uri="{FF2B5EF4-FFF2-40B4-BE49-F238E27FC236}">
                  <a16:creationId xmlns:a16="http://schemas.microsoft.com/office/drawing/2014/main" id="{8641615E-C4BA-4F90-B75A-D6C777231D98}"/>
                </a:ext>
              </a:extLst>
            </p:cNvPr>
            <p:cNvPicPr>
              <a:picLocks noChangeAspect="1"/>
            </p:cNvPicPr>
            <p:nvPr/>
          </p:nvPicPr>
          <p:blipFill>
            <a:blip r:embed="rId7"/>
            <a:stretch>
              <a:fillRect/>
            </a:stretch>
          </p:blipFill>
          <p:spPr>
            <a:xfrm>
              <a:off x="4887486" y="3762083"/>
              <a:ext cx="670194" cy="146864"/>
            </a:xfrm>
            <a:prstGeom prst="rect">
              <a:avLst/>
            </a:prstGeom>
            <a:grpFill/>
          </p:spPr>
        </p:pic>
      </p:grpSp>
      <p:grpSp>
        <p:nvGrpSpPr>
          <p:cNvPr id="25" name="Group 24">
            <a:extLst>
              <a:ext uri="{FF2B5EF4-FFF2-40B4-BE49-F238E27FC236}">
                <a16:creationId xmlns:a16="http://schemas.microsoft.com/office/drawing/2014/main" id="{F73994B8-6E2D-9C81-63BF-3846D85A854E}"/>
              </a:ext>
            </a:extLst>
          </p:cNvPr>
          <p:cNvGrpSpPr/>
          <p:nvPr/>
        </p:nvGrpSpPr>
        <p:grpSpPr>
          <a:xfrm>
            <a:off x="654937" y="4652415"/>
            <a:ext cx="1614367" cy="1358747"/>
            <a:chOff x="401584" y="4661053"/>
            <a:chExt cx="1614367" cy="1358747"/>
          </a:xfrm>
          <a:solidFill>
            <a:srgbClr val="86405C"/>
          </a:solidFill>
        </p:grpSpPr>
        <p:sp>
          <p:nvSpPr>
            <p:cNvPr id="40" name="Abgerundetes Rechteck 14">
              <a:extLst>
                <a:ext uri="{FF2B5EF4-FFF2-40B4-BE49-F238E27FC236}">
                  <a16:creationId xmlns:a16="http://schemas.microsoft.com/office/drawing/2014/main" id="{FA15FFA0-8E7A-4428-A4D9-E09ADC43AF92}"/>
                </a:ext>
              </a:extLst>
            </p:cNvPr>
            <p:cNvSpPr/>
            <p:nvPr/>
          </p:nvSpPr>
          <p:spPr>
            <a:xfrm>
              <a:off x="401584" y="4661053"/>
              <a:ext cx="1614367" cy="1358747"/>
            </a:xfrm>
            <a:prstGeom prst="roundRect">
              <a:avLst/>
            </a:prstGeom>
            <a:grp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TF6760 IoT HTTP/REST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HTTP(S) client connectivity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Real-time driver for the PLC</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pic>
          <p:nvPicPr>
            <p:cNvPr id="41" name="Picture 40">
              <a:extLst>
                <a:ext uri="{FF2B5EF4-FFF2-40B4-BE49-F238E27FC236}">
                  <a16:creationId xmlns:a16="http://schemas.microsoft.com/office/drawing/2014/main" id="{BBC5B39F-D415-485B-9E9C-93D5D3A66535}"/>
                </a:ext>
              </a:extLst>
            </p:cNvPr>
            <p:cNvPicPr>
              <a:picLocks noChangeAspect="1"/>
            </p:cNvPicPr>
            <p:nvPr/>
          </p:nvPicPr>
          <p:blipFill>
            <a:blip r:embed="rId5"/>
            <a:stretch>
              <a:fillRect/>
            </a:stretch>
          </p:blipFill>
          <p:spPr>
            <a:xfrm>
              <a:off x="464646" y="5311365"/>
              <a:ext cx="1449402" cy="227065"/>
            </a:xfrm>
            <a:prstGeom prst="rect">
              <a:avLst/>
            </a:prstGeom>
            <a:grpFill/>
          </p:spPr>
        </p:pic>
        <p:pic>
          <p:nvPicPr>
            <p:cNvPr id="42" name="Picture 41">
              <a:extLst>
                <a:ext uri="{FF2B5EF4-FFF2-40B4-BE49-F238E27FC236}">
                  <a16:creationId xmlns:a16="http://schemas.microsoft.com/office/drawing/2014/main" id="{15DEE16C-3275-4669-B372-DCF226AF0C2B}"/>
                </a:ext>
              </a:extLst>
            </p:cNvPr>
            <p:cNvPicPr>
              <a:picLocks noChangeAspect="1"/>
            </p:cNvPicPr>
            <p:nvPr/>
          </p:nvPicPr>
          <p:blipFill>
            <a:blip r:embed="rId6"/>
            <a:stretch>
              <a:fillRect/>
            </a:stretch>
          </p:blipFill>
          <p:spPr>
            <a:xfrm>
              <a:off x="464646" y="5636389"/>
              <a:ext cx="701017" cy="150375"/>
            </a:xfrm>
            <a:prstGeom prst="rect">
              <a:avLst/>
            </a:prstGeom>
            <a:grpFill/>
          </p:spPr>
        </p:pic>
        <p:pic>
          <p:nvPicPr>
            <p:cNvPr id="43" name="Picture 42">
              <a:extLst>
                <a:ext uri="{FF2B5EF4-FFF2-40B4-BE49-F238E27FC236}">
                  <a16:creationId xmlns:a16="http://schemas.microsoft.com/office/drawing/2014/main" id="{BC5A96E5-AE3B-4EBF-BF36-531FB51B2A63}"/>
                </a:ext>
              </a:extLst>
            </p:cNvPr>
            <p:cNvPicPr>
              <a:picLocks noChangeAspect="1"/>
            </p:cNvPicPr>
            <p:nvPr/>
          </p:nvPicPr>
          <p:blipFill>
            <a:blip r:embed="rId7"/>
            <a:stretch>
              <a:fillRect/>
            </a:stretch>
          </p:blipFill>
          <p:spPr>
            <a:xfrm>
              <a:off x="1181944" y="5636389"/>
              <a:ext cx="724701" cy="158808"/>
            </a:xfrm>
            <a:prstGeom prst="rect">
              <a:avLst/>
            </a:prstGeom>
            <a:grpFill/>
          </p:spPr>
        </p:pic>
      </p:grpSp>
      <p:sp>
        <p:nvSpPr>
          <p:cNvPr id="44" name="Abgerundetes Rechteck 14">
            <a:extLst>
              <a:ext uri="{FF2B5EF4-FFF2-40B4-BE49-F238E27FC236}">
                <a16:creationId xmlns:a16="http://schemas.microsoft.com/office/drawing/2014/main" id="{1BD75A45-933D-4831-B1C0-E658EC8EE333}"/>
              </a:ext>
            </a:extLst>
          </p:cNvPr>
          <p:cNvSpPr/>
          <p:nvPr/>
        </p:nvSpPr>
        <p:spPr>
          <a:xfrm>
            <a:off x="2445749" y="4652415"/>
            <a:ext cx="1619295" cy="1358748"/>
          </a:xfrm>
          <a:prstGeom prst="roundRect">
            <a:avLst/>
          </a:prstGeom>
          <a:solidFill>
            <a:srgbClr val="86405C"/>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TF6770 IoT WebSockets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white"/>
                </a:solidFill>
                <a:effectLst/>
                <a:uLnTx/>
                <a:uFillTx/>
                <a:latin typeface="Arial" pitchFamily="34" charset="0"/>
                <a:ea typeface="+mn-ea"/>
                <a:cs typeface="Arial" pitchFamily="34" charset="0"/>
              </a:rPr>
              <a:t>WebSockets</a:t>
            </a: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 </a:t>
            </a:r>
            <a:r>
              <a:rPr kumimoji="0" lang="de-DE" sz="800" b="0" i="0" u="none" strike="noStrike" kern="1200" cap="none" spc="0" normalizeH="0" baseline="0" noProof="0" dirty="0" err="1">
                <a:ln>
                  <a:noFill/>
                </a:ln>
                <a:solidFill>
                  <a:prstClr val="white"/>
                </a:solidFill>
                <a:effectLst/>
                <a:uLnTx/>
                <a:uFillTx/>
                <a:latin typeface="Arial" pitchFamily="34" charset="0"/>
                <a:ea typeface="+mn-ea"/>
                <a:cs typeface="Arial" pitchFamily="34" charset="0"/>
              </a:rPr>
              <a:t>client</a:t>
            </a: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a:t>
            </a:r>
            <a:r>
              <a:rPr kumimoji="0" lang="de-DE" sz="800" b="0" i="0" u="none" strike="noStrike" kern="1200" cap="none" spc="0" normalizeH="0" baseline="0" noProof="0" dirty="0" err="1">
                <a:ln>
                  <a:noFill/>
                </a:ln>
                <a:solidFill>
                  <a:prstClr val="white"/>
                </a:solidFill>
                <a:effectLst/>
                <a:uLnTx/>
                <a:uFillTx/>
                <a:latin typeface="Arial" pitchFamily="34" charset="0"/>
                <a:ea typeface="+mn-ea"/>
                <a:cs typeface="Arial" pitchFamily="34" charset="0"/>
              </a:rPr>
              <a:t>server</a:t>
            </a:r>
            <a:endPar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Real-time </a:t>
            </a:r>
            <a:r>
              <a:rPr kumimoji="0" lang="de-DE" sz="800" b="0" i="0" u="none" strike="noStrike" kern="1200" cap="none" spc="0" normalizeH="0" baseline="0" noProof="0" dirty="0" err="1">
                <a:ln>
                  <a:noFill/>
                </a:ln>
                <a:solidFill>
                  <a:prstClr val="white"/>
                </a:solidFill>
                <a:effectLst/>
                <a:uLnTx/>
                <a:uFillTx/>
                <a:latin typeface="Arial" pitchFamily="34" charset="0"/>
                <a:ea typeface="+mn-ea"/>
                <a:cs typeface="Arial" pitchFamily="34" charset="0"/>
              </a:rPr>
              <a:t>driver</a:t>
            </a: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 </a:t>
            </a:r>
            <a:r>
              <a:rPr kumimoji="0" lang="de-DE" sz="800" b="0" i="0" u="none" strike="noStrike" kern="1200" cap="none" spc="0" normalizeH="0" baseline="0" noProof="0" dirty="0" err="1">
                <a:ln>
                  <a:noFill/>
                </a:ln>
                <a:solidFill>
                  <a:prstClr val="white"/>
                </a:solidFill>
                <a:effectLst/>
                <a:uLnTx/>
                <a:uFillTx/>
                <a:latin typeface="Arial" pitchFamily="34" charset="0"/>
                <a:ea typeface="+mn-ea"/>
                <a:cs typeface="Arial" pitchFamily="34" charset="0"/>
              </a:rPr>
              <a:t>for</a:t>
            </a: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 the PLC</a:t>
            </a:r>
          </a:p>
        </p:txBody>
      </p:sp>
      <p:grpSp>
        <p:nvGrpSpPr>
          <p:cNvPr id="24" name="Group 23">
            <a:extLst>
              <a:ext uri="{FF2B5EF4-FFF2-40B4-BE49-F238E27FC236}">
                <a16:creationId xmlns:a16="http://schemas.microsoft.com/office/drawing/2014/main" id="{4BA61798-0851-C6E9-4389-F25222A8ABAA}"/>
              </a:ext>
            </a:extLst>
          </p:cNvPr>
          <p:cNvGrpSpPr/>
          <p:nvPr/>
        </p:nvGrpSpPr>
        <p:grpSpPr>
          <a:xfrm>
            <a:off x="5986154" y="2952091"/>
            <a:ext cx="1618488" cy="1513696"/>
            <a:chOff x="5976392" y="2819401"/>
            <a:chExt cx="1618488" cy="1513696"/>
          </a:xfrm>
          <a:solidFill>
            <a:srgbClr val="86405C"/>
          </a:solidFill>
        </p:grpSpPr>
        <p:sp>
          <p:nvSpPr>
            <p:cNvPr id="6" name="Abgerundetes Rechteck 14">
              <a:extLst>
                <a:ext uri="{FF2B5EF4-FFF2-40B4-BE49-F238E27FC236}">
                  <a16:creationId xmlns:a16="http://schemas.microsoft.com/office/drawing/2014/main" id="{60482663-8FCB-062D-4737-CDE2CB59B673}"/>
                </a:ext>
              </a:extLst>
            </p:cNvPr>
            <p:cNvSpPr/>
            <p:nvPr/>
          </p:nvSpPr>
          <p:spPr>
            <a:xfrm>
              <a:off x="5976392" y="2819401"/>
              <a:ext cx="1618488" cy="1513696"/>
            </a:xfrm>
            <a:prstGeom prst="roundRect">
              <a:avLst/>
            </a:prstGeom>
            <a:grp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TF6730 IoT Communicator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Smartphone App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pic>
          <p:nvPicPr>
            <p:cNvPr id="46" name="Picture 45">
              <a:extLst>
                <a:ext uri="{FF2B5EF4-FFF2-40B4-BE49-F238E27FC236}">
                  <a16:creationId xmlns:a16="http://schemas.microsoft.com/office/drawing/2014/main" id="{804A3BFE-9892-4B9D-8774-D4979F7D6D86}"/>
                </a:ext>
              </a:extLst>
            </p:cNvPr>
            <p:cNvPicPr>
              <a:picLocks noChangeAspect="1"/>
            </p:cNvPicPr>
            <p:nvPr/>
          </p:nvPicPr>
          <p:blipFill>
            <a:blip r:embed="rId8"/>
            <a:stretch>
              <a:fillRect/>
            </a:stretch>
          </p:blipFill>
          <p:spPr>
            <a:xfrm>
              <a:off x="6276411" y="3399868"/>
              <a:ext cx="988651" cy="386101"/>
            </a:xfrm>
            <a:prstGeom prst="rect">
              <a:avLst/>
            </a:prstGeom>
            <a:grpFill/>
          </p:spPr>
        </p:pic>
        <p:pic>
          <p:nvPicPr>
            <p:cNvPr id="48" name="Picture 47">
              <a:extLst>
                <a:ext uri="{FF2B5EF4-FFF2-40B4-BE49-F238E27FC236}">
                  <a16:creationId xmlns:a16="http://schemas.microsoft.com/office/drawing/2014/main" id="{67FDF120-0C4C-4797-9A35-1D3EE228A34E}"/>
                </a:ext>
              </a:extLst>
            </p:cNvPr>
            <p:cNvPicPr>
              <a:picLocks noChangeAspect="1"/>
            </p:cNvPicPr>
            <p:nvPr/>
          </p:nvPicPr>
          <p:blipFill>
            <a:blip r:embed="rId9"/>
            <a:stretch>
              <a:fillRect/>
            </a:stretch>
          </p:blipFill>
          <p:spPr>
            <a:xfrm>
              <a:off x="6276411" y="3844932"/>
              <a:ext cx="988651" cy="325379"/>
            </a:xfrm>
            <a:prstGeom prst="rect">
              <a:avLst/>
            </a:prstGeom>
            <a:grpFill/>
          </p:spPr>
        </p:pic>
      </p:grpSp>
      <p:sp>
        <p:nvSpPr>
          <p:cNvPr id="49" name="Abgerundetes Rechteck 14">
            <a:extLst>
              <a:ext uri="{FF2B5EF4-FFF2-40B4-BE49-F238E27FC236}">
                <a16:creationId xmlns:a16="http://schemas.microsoft.com/office/drawing/2014/main" id="{5D871DF2-9511-4E80-867D-792E14607E47}"/>
              </a:ext>
            </a:extLst>
          </p:cNvPr>
          <p:cNvSpPr/>
          <p:nvPr/>
        </p:nvSpPr>
        <p:spPr>
          <a:xfrm>
            <a:off x="5990025" y="4652414"/>
            <a:ext cx="1612623" cy="572397"/>
          </a:xfrm>
          <a:prstGeom prst="roundRect">
            <a:avLst/>
          </a:prstGeom>
          <a:solidFill>
            <a:srgbClr val="86405C"/>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TF6020 JSON Data Interface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Req/Res MQTT connectivity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ADS interface for PLC</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36" name="Abgerundetes Rechteck 14">
            <a:extLst>
              <a:ext uri="{FF2B5EF4-FFF2-40B4-BE49-F238E27FC236}">
                <a16:creationId xmlns:a16="http://schemas.microsoft.com/office/drawing/2014/main" id="{2E8709C7-C8AE-44B5-BBC8-5F20909A3DF8}"/>
              </a:ext>
            </a:extLst>
          </p:cNvPr>
          <p:cNvSpPr/>
          <p:nvPr/>
        </p:nvSpPr>
        <p:spPr>
          <a:xfrm>
            <a:off x="5990025" y="5302726"/>
            <a:ext cx="1618488" cy="708435"/>
          </a:xfrm>
          <a:prstGeom prst="roundRect">
            <a:avLst/>
          </a:prstGeom>
          <a:solidFill>
            <a:srgbClr val="86405C"/>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TF6105 OPC UA Pub/Sub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OPC UA Pub/Sub connectivity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MQTT</a:t>
            </a:r>
            <a:r>
              <a:rPr kumimoji="0" lang="de-DE" sz="800" b="0" i="0" u="none" strike="noStrike" kern="1200" cap="none" spc="0" normalizeH="0" baseline="0" noProof="0">
                <a:ln>
                  <a:noFill/>
                </a:ln>
                <a:solidFill>
                  <a:prstClr val="white"/>
                </a:solidFill>
                <a:effectLst/>
                <a:uLnTx/>
                <a:uFillTx/>
                <a:latin typeface="Arial" pitchFamily="34" charset="0"/>
                <a:ea typeface="+mn-ea"/>
                <a:cs typeface="Arial" pitchFamily="34" charset="0"/>
              </a:rPr>
              <a:t>, UDP</a:t>
            </a:r>
            <a:endPar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7" name="TextBox 6">
            <a:extLst>
              <a:ext uri="{FF2B5EF4-FFF2-40B4-BE49-F238E27FC236}">
                <a16:creationId xmlns:a16="http://schemas.microsoft.com/office/drawing/2014/main" id="{9A66C33C-A9EF-401F-9B4D-AC0B402E4669}"/>
              </a:ext>
            </a:extLst>
          </p:cNvPr>
          <p:cNvSpPr txBox="1"/>
          <p:nvPr/>
        </p:nvSpPr>
        <p:spPr>
          <a:xfrm>
            <a:off x="8753102" y="3413060"/>
            <a:ext cx="986167" cy="5078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Arial"/>
                <a:ea typeface="+mn-ea"/>
                <a:cs typeface="+mn-cs"/>
              </a:rPr>
              <a:t>MQTT, WSS,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Arial"/>
                <a:ea typeface="+mn-ea"/>
                <a:cs typeface="+mn-cs"/>
              </a:rPr>
              <a:t>HTTPS, OCPP,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Arial"/>
                <a:ea typeface="+mn-ea"/>
                <a:cs typeface="+mn-cs"/>
              </a:rPr>
              <a:t>OPC UA</a:t>
            </a:r>
            <a:endParaRPr kumimoji="0" lang="en-US" sz="9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9" name="Group 8">
            <a:extLst>
              <a:ext uri="{FF2B5EF4-FFF2-40B4-BE49-F238E27FC236}">
                <a16:creationId xmlns:a16="http://schemas.microsoft.com/office/drawing/2014/main" id="{159D5B89-1DEC-425B-B56D-B33D873811B1}"/>
              </a:ext>
            </a:extLst>
          </p:cNvPr>
          <p:cNvGrpSpPr/>
          <p:nvPr/>
        </p:nvGrpSpPr>
        <p:grpSpPr>
          <a:xfrm>
            <a:off x="9515563" y="1407536"/>
            <a:ext cx="1185601" cy="512720"/>
            <a:chOff x="9004188" y="1636830"/>
            <a:chExt cx="1185601" cy="512720"/>
          </a:xfrm>
        </p:grpSpPr>
        <p:pic>
          <p:nvPicPr>
            <p:cNvPr id="47" name="Grafik 46">
              <a:extLst>
                <a:ext uri="{FF2B5EF4-FFF2-40B4-BE49-F238E27FC236}">
                  <a16:creationId xmlns:a16="http://schemas.microsoft.com/office/drawing/2014/main" id="{9E8F0606-1E16-4494-9305-0963F52DF8F7}"/>
                </a:ext>
              </a:extLst>
            </p:cNvPr>
            <p:cNvPicPr>
              <a:picLocks noChangeAspect="1"/>
            </p:cNvPicPr>
            <p:nvPr/>
          </p:nvPicPr>
          <p:blipFill>
            <a:blip r:embed="rId10"/>
            <a:stretch>
              <a:fillRect/>
            </a:stretch>
          </p:blipFill>
          <p:spPr>
            <a:xfrm>
              <a:off x="9386257" y="1636830"/>
              <a:ext cx="421465" cy="314272"/>
            </a:xfrm>
            <a:prstGeom prst="rect">
              <a:avLst/>
            </a:prstGeom>
          </p:spPr>
        </p:pic>
        <p:sp>
          <p:nvSpPr>
            <p:cNvPr id="53" name="Textfeld 47">
              <a:extLst>
                <a:ext uri="{FF2B5EF4-FFF2-40B4-BE49-F238E27FC236}">
                  <a16:creationId xmlns:a16="http://schemas.microsoft.com/office/drawing/2014/main" id="{4DB526DA-308A-4A8B-90C1-FB422F82B197}"/>
                </a:ext>
              </a:extLst>
            </p:cNvPr>
            <p:cNvSpPr txBox="1"/>
            <p:nvPr/>
          </p:nvSpPr>
          <p:spPr>
            <a:xfrm>
              <a:off x="9004188" y="1934106"/>
              <a:ext cx="1185601"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2075B6"/>
                  </a:solidFill>
                  <a:effectLst/>
                  <a:uLnTx/>
                  <a:uFillTx/>
                  <a:latin typeface="Arial"/>
                  <a:ea typeface="+mn-ea"/>
                  <a:cs typeface="+mn-cs"/>
                </a:rPr>
                <a:t>Microsoft Azure</a:t>
              </a:r>
            </a:p>
          </p:txBody>
        </p:sp>
      </p:grpSp>
      <p:pic>
        <p:nvPicPr>
          <p:cNvPr id="54" name="Grafik 44">
            <a:extLst>
              <a:ext uri="{FF2B5EF4-FFF2-40B4-BE49-F238E27FC236}">
                <a16:creationId xmlns:a16="http://schemas.microsoft.com/office/drawing/2014/main" id="{B92AA533-E608-4A98-A401-590C7537AB5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060091" y="1706450"/>
            <a:ext cx="528047" cy="323194"/>
          </a:xfrm>
          <a:prstGeom prst="rect">
            <a:avLst/>
          </a:prstGeom>
        </p:spPr>
      </p:pic>
      <p:grpSp>
        <p:nvGrpSpPr>
          <p:cNvPr id="55" name="Gruppieren 48">
            <a:extLst>
              <a:ext uri="{FF2B5EF4-FFF2-40B4-BE49-F238E27FC236}">
                <a16:creationId xmlns:a16="http://schemas.microsoft.com/office/drawing/2014/main" id="{6B2E8F19-5DB3-4906-A764-B3B851849D3C}"/>
              </a:ext>
            </a:extLst>
          </p:cNvPr>
          <p:cNvGrpSpPr>
            <a:grpSpLocks noChangeAspect="1"/>
          </p:cNvGrpSpPr>
          <p:nvPr/>
        </p:nvGrpSpPr>
        <p:grpSpPr>
          <a:xfrm>
            <a:off x="10601545" y="1716037"/>
            <a:ext cx="900574" cy="298200"/>
            <a:chOff x="5094695" y="2140356"/>
            <a:chExt cx="1925578" cy="648071"/>
          </a:xfrm>
        </p:grpSpPr>
        <p:pic>
          <p:nvPicPr>
            <p:cNvPr id="56" name="Grafik 49">
              <a:extLst>
                <a:ext uri="{FF2B5EF4-FFF2-40B4-BE49-F238E27FC236}">
                  <a16:creationId xmlns:a16="http://schemas.microsoft.com/office/drawing/2014/main" id="{1B7D60A2-9600-44B3-AB37-593568D4E626}"/>
                </a:ext>
              </a:extLst>
            </p:cNvPr>
            <p:cNvPicPr>
              <a:picLocks noChangeAspect="1"/>
            </p:cNvPicPr>
            <p:nvPr/>
          </p:nvPicPr>
          <p:blipFill>
            <a:blip r:embed="rId12"/>
            <a:stretch>
              <a:fillRect/>
            </a:stretch>
          </p:blipFill>
          <p:spPr>
            <a:xfrm>
              <a:off x="5094695" y="2140356"/>
              <a:ext cx="668948" cy="335563"/>
            </a:xfrm>
            <a:prstGeom prst="rect">
              <a:avLst/>
            </a:prstGeom>
          </p:spPr>
        </p:pic>
        <p:pic>
          <p:nvPicPr>
            <p:cNvPr id="57" name="Grafik 50">
              <a:extLst>
                <a:ext uri="{FF2B5EF4-FFF2-40B4-BE49-F238E27FC236}">
                  <a16:creationId xmlns:a16="http://schemas.microsoft.com/office/drawing/2014/main" id="{42EA8A29-34DC-4007-ACB2-AC086F0999F8}"/>
                </a:ext>
              </a:extLst>
            </p:cNvPr>
            <p:cNvPicPr>
              <a:picLocks noChangeAspect="1"/>
            </p:cNvPicPr>
            <p:nvPr/>
          </p:nvPicPr>
          <p:blipFill>
            <a:blip r:embed="rId13"/>
            <a:stretch>
              <a:fillRect/>
            </a:stretch>
          </p:blipFill>
          <p:spPr>
            <a:xfrm>
              <a:off x="5123993" y="2481242"/>
              <a:ext cx="1896280" cy="307185"/>
            </a:xfrm>
            <a:prstGeom prst="rect">
              <a:avLst/>
            </a:prstGeom>
          </p:spPr>
        </p:pic>
      </p:grpSp>
      <p:grpSp>
        <p:nvGrpSpPr>
          <p:cNvPr id="58" name="Gruppieren 58">
            <a:extLst>
              <a:ext uri="{FF2B5EF4-FFF2-40B4-BE49-F238E27FC236}">
                <a16:creationId xmlns:a16="http://schemas.microsoft.com/office/drawing/2014/main" id="{E2CECA4D-B645-4EF3-ADD1-62FA91904DF8}"/>
              </a:ext>
            </a:extLst>
          </p:cNvPr>
          <p:cNvGrpSpPr/>
          <p:nvPr/>
        </p:nvGrpSpPr>
        <p:grpSpPr>
          <a:xfrm>
            <a:off x="8587552" y="2749424"/>
            <a:ext cx="1012895" cy="371837"/>
            <a:chOff x="6319439" y="4290140"/>
            <a:chExt cx="2173825" cy="757535"/>
          </a:xfrm>
        </p:grpSpPr>
        <p:pic>
          <p:nvPicPr>
            <p:cNvPr id="59" name="Grafik 59">
              <a:extLst>
                <a:ext uri="{FF2B5EF4-FFF2-40B4-BE49-F238E27FC236}">
                  <a16:creationId xmlns:a16="http://schemas.microsoft.com/office/drawing/2014/main" id="{85801AA7-F109-4DE5-882B-89AFEFD8BE3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319439" y="4290140"/>
              <a:ext cx="2088232" cy="412889"/>
            </a:xfrm>
            <a:prstGeom prst="rect">
              <a:avLst/>
            </a:prstGeom>
          </p:spPr>
        </p:pic>
        <p:sp>
          <p:nvSpPr>
            <p:cNvPr id="60" name="Textfeld 60">
              <a:extLst>
                <a:ext uri="{FF2B5EF4-FFF2-40B4-BE49-F238E27FC236}">
                  <a16:creationId xmlns:a16="http://schemas.microsoft.com/office/drawing/2014/main" id="{87EA4773-7C47-4C48-93A8-7BB6DB4FF37A}"/>
                </a:ext>
              </a:extLst>
            </p:cNvPr>
            <p:cNvSpPr txBox="1"/>
            <p:nvPr/>
          </p:nvSpPr>
          <p:spPr>
            <a:xfrm>
              <a:off x="6951328" y="4608756"/>
              <a:ext cx="1541936" cy="4389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11619C"/>
                  </a:solidFill>
                  <a:effectLst/>
                  <a:uLnTx/>
                  <a:uFillTx/>
                  <a:latin typeface="Arial"/>
                  <a:ea typeface="+mn-ea"/>
                  <a:cs typeface="+mn-cs"/>
                </a:rPr>
                <a:t>Thingspeak</a:t>
              </a:r>
            </a:p>
          </p:txBody>
        </p:sp>
      </p:grpSp>
      <p:pic>
        <p:nvPicPr>
          <p:cNvPr id="61" name="Grafik 61">
            <a:extLst>
              <a:ext uri="{FF2B5EF4-FFF2-40B4-BE49-F238E27FC236}">
                <a16:creationId xmlns:a16="http://schemas.microsoft.com/office/drawing/2014/main" id="{CAC86A7C-4B4E-46E6-901C-7EF7C5823D2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859100" y="2149053"/>
            <a:ext cx="1086777" cy="226619"/>
          </a:xfrm>
          <a:prstGeom prst="rect">
            <a:avLst/>
          </a:prstGeom>
        </p:spPr>
      </p:pic>
      <p:pic>
        <p:nvPicPr>
          <p:cNvPr id="62" name="Grafik 3">
            <a:extLst>
              <a:ext uri="{FF2B5EF4-FFF2-40B4-BE49-F238E27FC236}">
                <a16:creationId xmlns:a16="http://schemas.microsoft.com/office/drawing/2014/main" id="{17EF1082-7011-409A-B874-CF33F24C2C39}"/>
              </a:ext>
            </a:extLst>
          </p:cNvPr>
          <p:cNvPicPr>
            <a:picLocks noChangeAspect="1"/>
          </p:cNvPicPr>
          <p:nvPr/>
        </p:nvPicPr>
        <p:blipFill rotWithShape="1">
          <a:blip r:embed="rId16">
            <a:extLst>
              <a:ext uri="{28A0092B-C50C-407E-A947-70E740481C1C}">
                <a14:useLocalDpi xmlns:a14="http://schemas.microsoft.com/office/drawing/2010/main" val="0"/>
              </a:ext>
            </a:extLst>
          </a:blip>
          <a:srcRect l="30303" t="37400" r="30302" b="34250"/>
          <a:stretch/>
        </p:blipFill>
        <p:spPr>
          <a:xfrm>
            <a:off x="8289899" y="1981628"/>
            <a:ext cx="787805" cy="354512"/>
          </a:xfrm>
          <a:prstGeom prst="rect">
            <a:avLst/>
          </a:prstGeom>
        </p:spPr>
      </p:pic>
      <p:pic>
        <p:nvPicPr>
          <p:cNvPr id="63" name="Picture 2" descr="1.7 | projects.eclipse.org">
            <a:extLst>
              <a:ext uri="{FF2B5EF4-FFF2-40B4-BE49-F238E27FC236}">
                <a16:creationId xmlns:a16="http://schemas.microsoft.com/office/drawing/2014/main" id="{5896712D-FA4B-41D6-BCA6-A37B7A4EB8C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198982" y="2209370"/>
            <a:ext cx="433777" cy="427270"/>
          </a:xfrm>
          <a:prstGeom prst="rect">
            <a:avLst/>
          </a:prstGeom>
          <a:noFill/>
          <a:extLst>
            <a:ext uri="{909E8E84-426E-40DD-AFC4-6F175D3DCCD1}">
              <a14:hiddenFill xmlns:a14="http://schemas.microsoft.com/office/drawing/2010/main">
                <a:solidFill>
                  <a:srgbClr val="FFFFFF"/>
                </a:solidFill>
              </a14:hiddenFill>
            </a:ext>
          </a:extLst>
        </p:spPr>
      </p:pic>
      <p:pic>
        <p:nvPicPr>
          <p:cNvPr id="64" name="Grafik 4">
            <a:extLst>
              <a:ext uri="{FF2B5EF4-FFF2-40B4-BE49-F238E27FC236}">
                <a16:creationId xmlns:a16="http://schemas.microsoft.com/office/drawing/2014/main" id="{4D339F9B-8221-45E8-B918-62CEBFE64685}"/>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1054111" y="2266148"/>
            <a:ext cx="898789" cy="342367"/>
          </a:xfrm>
          <a:prstGeom prst="rect">
            <a:avLst/>
          </a:prstGeom>
        </p:spPr>
      </p:pic>
      <p:pic>
        <p:nvPicPr>
          <p:cNvPr id="70" name="Grafik 44">
            <a:extLst>
              <a:ext uri="{FF2B5EF4-FFF2-40B4-BE49-F238E27FC236}">
                <a16:creationId xmlns:a16="http://schemas.microsoft.com/office/drawing/2014/main" id="{BCF8FF79-BDCD-4BA2-BD4F-CA929B3022B3}"/>
              </a:ext>
            </a:extLst>
          </p:cNvPr>
          <p:cNvPicPr>
            <a:picLocks noChangeAspect="1"/>
          </p:cNvPicPr>
          <p:nvPr/>
        </p:nvPicPr>
        <p:blipFill>
          <a:blip r:embed="rId19"/>
          <a:stretch>
            <a:fillRect/>
          </a:stretch>
        </p:blipFill>
        <p:spPr>
          <a:xfrm>
            <a:off x="8123455" y="4410484"/>
            <a:ext cx="797101" cy="565595"/>
          </a:xfrm>
          <a:prstGeom prst="rect">
            <a:avLst/>
          </a:prstGeom>
          <a:effectLst>
            <a:outerShdw blurRad="50800" dist="38100" dir="2700000" algn="tl" rotWithShape="0">
              <a:prstClr val="black">
                <a:alpha val="40000"/>
              </a:prstClr>
            </a:outerShdw>
          </a:effectLst>
        </p:spPr>
      </p:pic>
      <p:pic>
        <p:nvPicPr>
          <p:cNvPr id="71" name="Grafik 74">
            <a:extLst>
              <a:ext uri="{FF2B5EF4-FFF2-40B4-BE49-F238E27FC236}">
                <a16:creationId xmlns:a16="http://schemas.microsoft.com/office/drawing/2014/main" id="{F3795D68-75FE-4688-A601-27E6A249FF85}"/>
              </a:ext>
            </a:extLst>
          </p:cNvPr>
          <p:cNvPicPr>
            <a:picLocks noChangeAspect="1"/>
          </p:cNvPicPr>
          <p:nvPr/>
        </p:nvPicPr>
        <p:blipFill>
          <a:blip r:embed="rId20"/>
          <a:stretch>
            <a:fillRect/>
          </a:stretch>
        </p:blipFill>
        <p:spPr>
          <a:xfrm>
            <a:off x="9783442" y="5059461"/>
            <a:ext cx="479385" cy="563586"/>
          </a:xfrm>
          <a:prstGeom prst="rect">
            <a:avLst/>
          </a:prstGeom>
          <a:effectLst>
            <a:outerShdw blurRad="50800" dist="38100" dir="2700000" algn="tl" rotWithShape="0">
              <a:prstClr val="black">
                <a:alpha val="40000"/>
              </a:prstClr>
            </a:outerShdw>
          </a:effectLst>
        </p:spPr>
      </p:pic>
      <p:pic>
        <p:nvPicPr>
          <p:cNvPr id="72" name="Grafik 6">
            <a:extLst>
              <a:ext uri="{FF2B5EF4-FFF2-40B4-BE49-F238E27FC236}">
                <a16:creationId xmlns:a16="http://schemas.microsoft.com/office/drawing/2014/main" id="{6204EC6A-C989-4BCA-8123-0EA0423FA3EC}"/>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0669435" y="4523955"/>
            <a:ext cx="745702" cy="563751"/>
          </a:xfrm>
          <a:prstGeom prst="rect">
            <a:avLst/>
          </a:prstGeom>
          <a:effectLst>
            <a:outerShdw blurRad="50800" dist="38100" dir="2700000" algn="tl" rotWithShape="0">
              <a:prstClr val="black">
                <a:alpha val="40000"/>
              </a:prstClr>
            </a:outerShdw>
          </a:effectLst>
        </p:spPr>
      </p:pic>
      <p:sp>
        <p:nvSpPr>
          <p:cNvPr id="10" name="Abgerundetes Rechteck 14">
            <a:extLst>
              <a:ext uri="{FF2B5EF4-FFF2-40B4-BE49-F238E27FC236}">
                <a16:creationId xmlns:a16="http://schemas.microsoft.com/office/drawing/2014/main" id="{93FCC30C-629C-EA64-5239-962652974FCA}"/>
              </a:ext>
            </a:extLst>
          </p:cNvPr>
          <p:cNvSpPr/>
          <p:nvPr/>
        </p:nvSpPr>
        <p:spPr>
          <a:xfrm>
            <a:off x="4218284" y="4652415"/>
            <a:ext cx="1618488" cy="1358747"/>
          </a:xfrm>
          <a:prstGeom prst="roundRect">
            <a:avLst/>
          </a:prstGeom>
          <a:solidFill>
            <a:srgbClr val="86405C"/>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TF6771 IoT OCPP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OCPP </a:t>
            </a:r>
            <a:r>
              <a:rPr kumimoji="0" lang="de-DE" sz="800" b="1" i="0" u="none" strike="noStrike" kern="1200" cap="none" spc="0" normalizeH="0" baseline="0" noProof="0" dirty="0" err="1">
                <a:ln>
                  <a:noFill/>
                </a:ln>
                <a:solidFill>
                  <a:prstClr val="white"/>
                </a:solidFill>
                <a:effectLst/>
                <a:uLnTx/>
                <a:uFillTx/>
                <a:latin typeface="Arial" pitchFamily="34" charset="0"/>
                <a:ea typeface="+mn-ea"/>
                <a:cs typeface="Arial" pitchFamily="34" charset="0"/>
              </a:rPr>
              <a:t>client</a:t>
            </a:r>
            <a:r>
              <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 </a:t>
            </a:r>
            <a:r>
              <a:rPr kumimoji="0" lang="de-DE" sz="800" b="1" i="0" u="none" strike="noStrike" kern="1200" cap="none" spc="0" normalizeH="0" baseline="0" noProof="0" dirty="0" err="1">
                <a:ln>
                  <a:noFill/>
                </a:ln>
                <a:solidFill>
                  <a:prstClr val="white"/>
                </a:solidFill>
                <a:effectLst/>
                <a:uLnTx/>
                <a:uFillTx/>
                <a:latin typeface="Arial" pitchFamily="34" charset="0"/>
                <a:ea typeface="+mn-ea"/>
                <a:cs typeface="Arial" pitchFamily="34" charset="0"/>
              </a:rPr>
              <a:t>connectivity</a:t>
            </a: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OCPP </a:t>
            </a:r>
            <a:r>
              <a:rPr kumimoji="0" lang="de-DE" sz="800" b="0" i="0" u="none" strike="noStrike" kern="1200" cap="none" spc="0" normalizeH="0" baseline="0" noProof="0" dirty="0" err="1">
                <a:ln>
                  <a:noFill/>
                </a:ln>
                <a:solidFill>
                  <a:prstClr val="white"/>
                </a:solidFill>
                <a:effectLst/>
                <a:uLnTx/>
                <a:uFillTx/>
                <a:latin typeface="Arial" pitchFamily="34" charset="0"/>
                <a:ea typeface="+mn-ea"/>
                <a:cs typeface="Arial" pitchFamily="34" charset="0"/>
              </a:rPr>
              <a:t>server</a:t>
            </a: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 </a:t>
            </a:r>
            <a:r>
              <a:rPr kumimoji="0" lang="de-DE" sz="800" b="0" i="0" u="none" strike="noStrike" kern="1200" cap="none" spc="0" normalizeH="0" baseline="0" noProof="0" dirty="0" err="1">
                <a:ln>
                  <a:noFill/>
                </a:ln>
                <a:solidFill>
                  <a:prstClr val="white"/>
                </a:solidFill>
                <a:effectLst/>
                <a:uLnTx/>
                <a:uFillTx/>
                <a:latin typeface="Arial" pitchFamily="34" charset="0"/>
                <a:ea typeface="+mn-ea"/>
                <a:cs typeface="Arial" pitchFamily="34" charset="0"/>
              </a:rPr>
              <a:t>connectivity</a:t>
            </a:r>
            <a:endPar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white"/>
                </a:solidFill>
                <a:effectLst/>
                <a:uLnTx/>
                <a:uFillTx/>
                <a:latin typeface="Arial" pitchFamily="34" charset="0"/>
                <a:ea typeface="+mn-ea"/>
                <a:cs typeface="Arial" pitchFamily="34" charset="0"/>
              </a:rPr>
              <a:t>Real-time driver for the PLC</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grpSp>
        <p:nvGrpSpPr>
          <p:cNvPr id="11" name="Group 110">
            <a:extLst>
              <a:ext uri="{FF2B5EF4-FFF2-40B4-BE49-F238E27FC236}">
                <a16:creationId xmlns:a16="http://schemas.microsoft.com/office/drawing/2014/main" id="{B1922545-4113-D88E-10DD-3832FC182600}"/>
              </a:ext>
            </a:extLst>
          </p:cNvPr>
          <p:cNvGrpSpPr/>
          <p:nvPr/>
        </p:nvGrpSpPr>
        <p:grpSpPr>
          <a:xfrm>
            <a:off x="9686082" y="2477644"/>
            <a:ext cx="1484702" cy="694745"/>
            <a:chOff x="3015912" y="2180475"/>
            <a:chExt cx="1484702" cy="694745"/>
          </a:xfrm>
        </p:grpSpPr>
        <p:pic>
          <p:nvPicPr>
            <p:cNvPr id="13" name="Picture 112">
              <a:extLst>
                <a:ext uri="{FF2B5EF4-FFF2-40B4-BE49-F238E27FC236}">
                  <a16:creationId xmlns:a16="http://schemas.microsoft.com/office/drawing/2014/main" id="{D8417CA2-86FF-F258-83B8-BDD5E6EAE20A}"/>
                </a:ext>
              </a:extLst>
            </p:cNvPr>
            <p:cNvPicPr>
              <a:picLocks noChangeAspect="1"/>
            </p:cNvPicPr>
            <p:nvPr/>
          </p:nvPicPr>
          <p:blipFill>
            <a:blip r:embed="rId22"/>
            <a:srcRect/>
            <a:stretch/>
          </p:blipFill>
          <p:spPr>
            <a:xfrm>
              <a:off x="3283516" y="2180475"/>
              <a:ext cx="943684" cy="487062"/>
            </a:xfrm>
            <a:prstGeom prst="rect">
              <a:avLst/>
            </a:prstGeom>
          </p:spPr>
        </p:pic>
        <p:sp>
          <p:nvSpPr>
            <p:cNvPr id="15" name="TextBox 113">
              <a:extLst>
                <a:ext uri="{FF2B5EF4-FFF2-40B4-BE49-F238E27FC236}">
                  <a16:creationId xmlns:a16="http://schemas.microsoft.com/office/drawing/2014/main" id="{CFA6FE15-2A84-B53F-03FC-252722686415}"/>
                </a:ext>
              </a:extLst>
            </p:cNvPr>
            <p:cNvSpPr txBox="1"/>
            <p:nvPr/>
          </p:nvSpPr>
          <p:spPr>
            <a:xfrm>
              <a:off x="3015912" y="2659776"/>
              <a:ext cx="1484702"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Arial"/>
                  <a:ea typeface="+mn-ea"/>
                  <a:cs typeface="+mn-cs"/>
                </a:rPr>
                <a:t>TwinCAT Cloud Engineering</a:t>
              </a:r>
              <a:endParaRPr kumimoji="0" lang="en-US" sz="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16" name="TextBox 6">
            <a:extLst>
              <a:ext uri="{FF2B5EF4-FFF2-40B4-BE49-F238E27FC236}">
                <a16:creationId xmlns:a16="http://schemas.microsoft.com/office/drawing/2014/main" id="{62DE505A-3B3B-3E66-72CB-E26432B1FC0E}"/>
              </a:ext>
            </a:extLst>
          </p:cNvPr>
          <p:cNvSpPr txBox="1"/>
          <p:nvPr/>
        </p:nvSpPr>
        <p:spPr>
          <a:xfrm>
            <a:off x="10029835" y="3395896"/>
            <a:ext cx="986167" cy="5078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Arial"/>
                <a:ea typeface="+mn-ea"/>
                <a:cs typeface="+mn-cs"/>
              </a:rPr>
              <a:t>MQTT, WSS,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Arial"/>
                <a:ea typeface="+mn-ea"/>
                <a:cs typeface="+mn-cs"/>
              </a:rPr>
              <a:t>HTTPS, OCPP,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Arial"/>
                <a:ea typeface="+mn-ea"/>
                <a:cs typeface="+mn-cs"/>
              </a:rPr>
              <a:t>OPC UA</a:t>
            </a:r>
            <a:endParaRPr kumimoji="0" lang="en-US" sz="900" b="0" i="0" u="none" strike="noStrike" kern="1200" cap="none" spc="0" normalizeH="0" baseline="0" noProof="0" dirty="0">
              <a:ln>
                <a:noFill/>
              </a:ln>
              <a:solidFill>
                <a:srgbClr val="000000"/>
              </a:solidFill>
              <a:effectLst/>
              <a:uLnTx/>
              <a:uFillTx/>
              <a:latin typeface="Arial"/>
              <a:ea typeface="+mn-ea"/>
              <a:cs typeface="+mn-cs"/>
            </a:endParaRPr>
          </a:p>
        </p:txBody>
      </p:sp>
      <p:sp>
        <p:nvSpPr>
          <p:cNvPr id="17" name="TextBox 6">
            <a:extLst>
              <a:ext uri="{FF2B5EF4-FFF2-40B4-BE49-F238E27FC236}">
                <a16:creationId xmlns:a16="http://schemas.microsoft.com/office/drawing/2014/main" id="{DDD1985A-655F-9D3A-B0D7-8051541B3F8E}"/>
              </a:ext>
            </a:extLst>
          </p:cNvPr>
          <p:cNvSpPr txBox="1"/>
          <p:nvPr/>
        </p:nvSpPr>
        <p:spPr>
          <a:xfrm>
            <a:off x="11122218" y="3390711"/>
            <a:ext cx="986167" cy="5078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Arial"/>
                <a:ea typeface="+mn-ea"/>
                <a:cs typeface="+mn-cs"/>
              </a:rPr>
              <a:t>MQTT, WSS,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Arial"/>
                <a:ea typeface="+mn-ea"/>
                <a:cs typeface="+mn-cs"/>
              </a:rPr>
              <a:t>HTTPS, OCPP,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Arial"/>
                <a:ea typeface="+mn-ea"/>
                <a:cs typeface="+mn-cs"/>
              </a:rPr>
              <a:t>OPC UA</a:t>
            </a:r>
            <a:endParaRPr kumimoji="0" lang="en-US" sz="900" b="0" i="0" u="none" strike="noStrike" kern="1200" cap="none" spc="0" normalizeH="0" baseline="0" noProof="0" dirty="0">
              <a:ln>
                <a:noFill/>
              </a:ln>
              <a:solidFill>
                <a:srgbClr val="000000"/>
              </a:solidFill>
              <a:effectLst/>
              <a:uLnTx/>
              <a:uFillTx/>
              <a:latin typeface="Arial"/>
              <a:ea typeface="+mn-ea"/>
              <a:cs typeface="+mn-cs"/>
            </a:endParaRPr>
          </a:p>
        </p:txBody>
      </p:sp>
      <p:pic>
        <p:nvPicPr>
          <p:cNvPr id="18" name="Picture 17" descr="Text&#10;&#10;Description automatically generated with medium confidence">
            <a:extLst>
              <a:ext uri="{FF2B5EF4-FFF2-40B4-BE49-F238E27FC236}">
                <a16:creationId xmlns:a16="http://schemas.microsoft.com/office/drawing/2014/main" id="{62FA10F1-014C-11D8-51D2-08D1AE964005}"/>
              </a:ext>
            </a:extLst>
          </p:cNvPr>
          <p:cNvPicPr>
            <a:picLocks noChangeAspect="1"/>
          </p:cNvPicPr>
          <p:nvPr/>
        </p:nvPicPr>
        <p:blipFill>
          <a:blip r:embed="rId23"/>
          <a:stretch>
            <a:fillRect/>
          </a:stretch>
        </p:blipFill>
        <p:spPr>
          <a:xfrm>
            <a:off x="8641393" y="4229798"/>
            <a:ext cx="380677" cy="380677"/>
          </a:xfrm>
          <a:prstGeom prst="rect">
            <a:avLst/>
          </a:prstGeom>
          <a:effectLst>
            <a:outerShdw blurRad="50800" dist="38100" dir="2700000" algn="tl" rotWithShape="0">
              <a:prstClr val="black">
                <a:alpha val="40000"/>
              </a:prstClr>
            </a:outerShdw>
          </a:effectLst>
        </p:spPr>
      </p:pic>
      <p:pic>
        <p:nvPicPr>
          <p:cNvPr id="26" name="Picture 25" descr="Text&#10;&#10;Description automatically generated with medium confidence">
            <a:extLst>
              <a:ext uri="{FF2B5EF4-FFF2-40B4-BE49-F238E27FC236}">
                <a16:creationId xmlns:a16="http://schemas.microsoft.com/office/drawing/2014/main" id="{938CF45E-980A-127A-21CE-CBBEA2359F93}"/>
              </a:ext>
            </a:extLst>
          </p:cNvPr>
          <p:cNvPicPr>
            <a:picLocks noChangeAspect="1"/>
          </p:cNvPicPr>
          <p:nvPr/>
        </p:nvPicPr>
        <p:blipFill>
          <a:blip r:embed="rId23"/>
          <a:stretch>
            <a:fillRect/>
          </a:stretch>
        </p:blipFill>
        <p:spPr>
          <a:xfrm>
            <a:off x="10118756" y="4877707"/>
            <a:ext cx="380677" cy="380677"/>
          </a:xfrm>
          <a:prstGeom prst="rect">
            <a:avLst/>
          </a:prstGeom>
          <a:effectLst>
            <a:outerShdw blurRad="50800" dist="38100" dir="2700000" algn="tl" rotWithShape="0">
              <a:prstClr val="black">
                <a:alpha val="40000"/>
              </a:prstClr>
            </a:outerShdw>
          </a:effectLst>
        </p:spPr>
      </p:pic>
      <p:pic>
        <p:nvPicPr>
          <p:cNvPr id="27" name="Picture 26" descr="Text&#10;&#10;Description automatically generated with medium confidence">
            <a:extLst>
              <a:ext uri="{FF2B5EF4-FFF2-40B4-BE49-F238E27FC236}">
                <a16:creationId xmlns:a16="http://schemas.microsoft.com/office/drawing/2014/main" id="{56EAF4F5-62E8-AC1B-A54A-C99F9316AF68}"/>
              </a:ext>
            </a:extLst>
          </p:cNvPr>
          <p:cNvPicPr>
            <a:picLocks noChangeAspect="1"/>
          </p:cNvPicPr>
          <p:nvPr/>
        </p:nvPicPr>
        <p:blipFill>
          <a:blip r:embed="rId23"/>
          <a:stretch>
            <a:fillRect/>
          </a:stretch>
        </p:blipFill>
        <p:spPr>
          <a:xfrm>
            <a:off x="11199801" y="4312481"/>
            <a:ext cx="380677" cy="380677"/>
          </a:xfrm>
          <a:prstGeom prst="rect">
            <a:avLst/>
          </a:prstGeom>
          <a:effectLst>
            <a:outerShdw blurRad="50800" dist="38100" dir="2700000" algn="tl" rotWithShape="0">
              <a:prstClr val="black">
                <a:alpha val="40000"/>
              </a:prstClr>
            </a:outerShdw>
          </a:effectLst>
        </p:spPr>
      </p:pic>
      <p:sp>
        <p:nvSpPr>
          <p:cNvPr id="28" name="Rectangle 27">
            <a:extLst>
              <a:ext uri="{FF2B5EF4-FFF2-40B4-BE49-F238E27FC236}">
                <a16:creationId xmlns:a16="http://schemas.microsoft.com/office/drawing/2014/main" id="{B7505020-F8AE-B25E-2012-83CAD6694A18}"/>
              </a:ext>
            </a:extLst>
          </p:cNvPr>
          <p:cNvSpPr/>
          <p:nvPr/>
        </p:nvSpPr>
        <p:spPr>
          <a:xfrm>
            <a:off x="5917487" y="5258385"/>
            <a:ext cx="1814115" cy="837616"/>
          </a:xfrm>
          <a:prstGeom prst="rect">
            <a:avLst/>
          </a:prstGeom>
          <a:noFill/>
          <a:ln w="28575">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lvl="0" indent="-266700" algn="l" defTabSz="914400" rtl="0" eaLnBrk="1" fontAlgn="auto" latinLnBrk="0" hangingPunct="1">
              <a:lnSpc>
                <a:spcPct val="100000"/>
              </a:lnSpc>
              <a:spcBef>
                <a:spcPts val="600"/>
              </a:spcBef>
              <a:spcAft>
                <a:spcPts val="0"/>
              </a:spcAft>
              <a:buClrTx/>
              <a:buSzTx/>
              <a:buFont typeface="Wingdings" pitchFamily="2" charset="2"/>
              <a:buChar char="§"/>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Arial" pitchFamily="34" charset="0"/>
            </a:endParaRPr>
          </a:p>
        </p:txBody>
      </p:sp>
      <p:sp>
        <p:nvSpPr>
          <p:cNvPr id="35" name="Rectangle 34">
            <a:extLst>
              <a:ext uri="{FF2B5EF4-FFF2-40B4-BE49-F238E27FC236}">
                <a16:creationId xmlns:a16="http://schemas.microsoft.com/office/drawing/2014/main" id="{2609B374-990B-AB30-EE76-65F13E370546}"/>
              </a:ext>
            </a:extLst>
          </p:cNvPr>
          <p:cNvSpPr/>
          <p:nvPr/>
        </p:nvSpPr>
        <p:spPr>
          <a:xfrm>
            <a:off x="535642" y="2899745"/>
            <a:ext cx="1814115" cy="1605954"/>
          </a:xfrm>
          <a:prstGeom prst="rect">
            <a:avLst/>
          </a:prstGeom>
          <a:noFill/>
          <a:ln w="28575">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lvl="0" indent="-266700" algn="l" defTabSz="914400" rtl="0" eaLnBrk="1" fontAlgn="auto" latinLnBrk="0" hangingPunct="1">
              <a:lnSpc>
                <a:spcPct val="100000"/>
              </a:lnSpc>
              <a:spcBef>
                <a:spcPts val="600"/>
              </a:spcBef>
              <a:spcAft>
                <a:spcPts val="0"/>
              </a:spcAft>
              <a:buClrTx/>
              <a:buSzTx/>
              <a:buFont typeface="Wingdings" pitchFamily="2" charset="2"/>
              <a:buChar char="§"/>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Arial" pitchFamily="34" charset="0"/>
            </a:endParaRPr>
          </a:p>
        </p:txBody>
      </p:sp>
    </p:spTree>
    <p:extLst>
      <p:ext uri="{BB962C8B-B14F-4D97-AF65-F5344CB8AC3E}">
        <p14:creationId xmlns:p14="http://schemas.microsoft.com/office/powerpoint/2010/main" val="4008354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
            <a:extLst>
              <a:ext uri="{FF2B5EF4-FFF2-40B4-BE49-F238E27FC236}">
                <a16:creationId xmlns:a16="http://schemas.microsoft.com/office/drawing/2014/main" id="{C0A4D197-E2D5-940B-46E5-0923AC2FDBB5}"/>
              </a:ext>
            </a:extLst>
          </p:cNvPr>
          <p:cNvSpPr>
            <a:spLocks noGrp="1"/>
          </p:cNvSpPr>
          <p:nvPr>
            <p:ph type="title"/>
          </p:nvPr>
        </p:nvSpPr>
        <p:spPr>
          <a:xfrm>
            <a:off x="1605" y="201363"/>
            <a:ext cx="10137600" cy="906366"/>
          </a:xfrm>
        </p:spPr>
        <p:txBody>
          <a:bodyPr/>
          <a:lstStyle/>
          <a:p>
            <a:r>
              <a:rPr lang="en-US" sz="1800" b="0" dirty="0"/>
              <a:t>TwinCAT Connectivity</a:t>
            </a:r>
            <a:br>
              <a:rPr lang="en-US" dirty="0"/>
            </a:br>
            <a:r>
              <a:rPr lang="en-US" sz="2000" dirty="0"/>
              <a:t>MQTT</a:t>
            </a:r>
          </a:p>
        </p:txBody>
      </p:sp>
      <p:sp>
        <p:nvSpPr>
          <p:cNvPr id="4" name="Text Placeholder 3">
            <a:extLst>
              <a:ext uri="{FF2B5EF4-FFF2-40B4-BE49-F238E27FC236}">
                <a16:creationId xmlns:a16="http://schemas.microsoft.com/office/drawing/2014/main" id="{A71D6825-4B0A-9252-D188-74DAFE610622}"/>
              </a:ext>
            </a:extLst>
          </p:cNvPr>
          <p:cNvSpPr>
            <a:spLocks noGrp="1"/>
          </p:cNvSpPr>
          <p:nvPr>
            <p:ph type="body" sz="quarter" idx="15"/>
          </p:nvPr>
        </p:nvSpPr>
        <p:spPr>
          <a:xfrm>
            <a:off x="2" y="1090799"/>
            <a:ext cx="11135759" cy="3142810"/>
          </a:xfrm>
        </p:spPr>
        <p:txBody>
          <a:bodyPr/>
          <a:lstStyle/>
          <a:p>
            <a:r>
              <a:rPr lang="en-US" sz="1600" dirty="0"/>
              <a:t>“A lightweight, publish-subscribe, machine to machine network protocol.”</a:t>
            </a:r>
          </a:p>
          <a:p>
            <a:r>
              <a:rPr lang="en-US" sz="1600" dirty="0"/>
              <a:t>Originally designed for remote sites with low-bandwidth or unreliable networks.</a:t>
            </a:r>
          </a:p>
          <a:p>
            <a:r>
              <a:rPr lang="en-US" sz="1600" dirty="0"/>
              <a:t>Why is MQTT ideal for IoT?</a:t>
            </a:r>
          </a:p>
          <a:p>
            <a:pPr lvl="1"/>
            <a:r>
              <a:rPr lang="en-US" sz="1600" dirty="0"/>
              <a:t>Simple</a:t>
            </a:r>
          </a:p>
          <a:p>
            <a:pPr lvl="2"/>
            <a:r>
              <a:rPr lang="en-US" sz="1600" dirty="0"/>
              <a:t>Pub/sub simplifies device communications and routing</a:t>
            </a:r>
          </a:p>
          <a:p>
            <a:pPr lvl="2"/>
            <a:r>
              <a:rPr lang="en-US" sz="1600" dirty="0"/>
              <a:t>Supports multiple data formats</a:t>
            </a:r>
          </a:p>
          <a:p>
            <a:pPr lvl="1"/>
            <a:r>
              <a:rPr lang="en-US" sz="1600" dirty="0"/>
              <a:t>Secure</a:t>
            </a:r>
          </a:p>
          <a:p>
            <a:pPr lvl="2"/>
            <a:r>
              <a:rPr lang="en-US" sz="1600" dirty="0"/>
              <a:t>Supports TLS (certificate-based encryption)</a:t>
            </a:r>
          </a:p>
          <a:p>
            <a:pPr lvl="1"/>
            <a:r>
              <a:rPr lang="en-US" sz="1600" dirty="0"/>
              <a:t>Performant</a:t>
            </a:r>
          </a:p>
          <a:p>
            <a:pPr lvl="1"/>
            <a:endParaRPr lang="en-US" sz="1600" dirty="0"/>
          </a:p>
        </p:txBody>
      </p:sp>
    </p:spTree>
    <p:extLst>
      <p:ext uri="{BB962C8B-B14F-4D97-AF65-F5344CB8AC3E}">
        <p14:creationId xmlns:p14="http://schemas.microsoft.com/office/powerpoint/2010/main" val="554366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
            <a:extLst>
              <a:ext uri="{FF2B5EF4-FFF2-40B4-BE49-F238E27FC236}">
                <a16:creationId xmlns:a16="http://schemas.microsoft.com/office/drawing/2014/main" id="{C0A4D197-E2D5-940B-46E5-0923AC2FDBB5}"/>
              </a:ext>
            </a:extLst>
          </p:cNvPr>
          <p:cNvSpPr>
            <a:spLocks noGrp="1"/>
          </p:cNvSpPr>
          <p:nvPr>
            <p:ph type="title"/>
          </p:nvPr>
        </p:nvSpPr>
        <p:spPr>
          <a:xfrm>
            <a:off x="1605" y="201363"/>
            <a:ext cx="10137600" cy="906366"/>
          </a:xfrm>
        </p:spPr>
        <p:txBody>
          <a:bodyPr/>
          <a:lstStyle/>
          <a:p>
            <a:r>
              <a:rPr lang="en-US" sz="1800" b="0" dirty="0"/>
              <a:t>TwinCAT Connectivity</a:t>
            </a:r>
            <a:br>
              <a:rPr lang="en-US" dirty="0"/>
            </a:br>
            <a:r>
              <a:rPr lang="en-US" sz="2000" dirty="0"/>
              <a:t>Traditional MES Communication Model</a:t>
            </a:r>
          </a:p>
        </p:txBody>
      </p:sp>
      <p:pic>
        <p:nvPicPr>
          <p:cNvPr id="154" name="Graphic 153" descr="Network diagram outline">
            <a:extLst>
              <a:ext uri="{FF2B5EF4-FFF2-40B4-BE49-F238E27FC236}">
                <a16:creationId xmlns:a16="http://schemas.microsoft.com/office/drawing/2014/main" id="{8C8C8AD2-471A-E255-2704-BC71130939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77020" y="3034792"/>
            <a:ext cx="588489" cy="588489"/>
          </a:xfrm>
          <a:prstGeom prst="rect">
            <a:avLst/>
          </a:prstGeom>
        </p:spPr>
      </p:pic>
      <p:cxnSp>
        <p:nvCxnSpPr>
          <p:cNvPr id="175" name="Straight Connector 174">
            <a:extLst>
              <a:ext uri="{FF2B5EF4-FFF2-40B4-BE49-F238E27FC236}">
                <a16:creationId xmlns:a16="http://schemas.microsoft.com/office/drawing/2014/main" id="{8DE99167-A22E-322C-AE7D-7A09885FC159}"/>
              </a:ext>
            </a:extLst>
          </p:cNvPr>
          <p:cNvCxnSpPr>
            <a:cxnSpLocks/>
          </p:cNvCxnSpPr>
          <p:nvPr/>
        </p:nvCxnSpPr>
        <p:spPr>
          <a:xfrm>
            <a:off x="10434320" y="3321467"/>
            <a:ext cx="459386" cy="0"/>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2ED788F-547E-96A8-C5C5-C3C8C154EA85}"/>
              </a:ext>
            </a:extLst>
          </p:cNvPr>
          <p:cNvGrpSpPr/>
          <p:nvPr/>
        </p:nvGrpSpPr>
        <p:grpSpPr>
          <a:xfrm>
            <a:off x="10956010" y="2919554"/>
            <a:ext cx="914155" cy="1009846"/>
            <a:chOff x="6784259" y="2270625"/>
            <a:chExt cx="914155" cy="1009846"/>
          </a:xfrm>
        </p:grpSpPr>
        <p:grpSp>
          <p:nvGrpSpPr>
            <p:cNvPr id="183" name="Group 182">
              <a:extLst>
                <a:ext uri="{FF2B5EF4-FFF2-40B4-BE49-F238E27FC236}">
                  <a16:creationId xmlns:a16="http://schemas.microsoft.com/office/drawing/2014/main" id="{9D92D8B7-233A-168A-EF85-5EC0FDF4582F}"/>
                </a:ext>
              </a:extLst>
            </p:cNvPr>
            <p:cNvGrpSpPr/>
            <p:nvPr/>
          </p:nvGrpSpPr>
          <p:grpSpPr>
            <a:xfrm>
              <a:off x="6784260" y="2516702"/>
              <a:ext cx="914154" cy="763769"/>
              <a:chOff x="8118020" y="5095886"/>
              <a:chExt cx="914154" cy="763769"/>
            </a:xfrm>
          </p:grpSpPr>
          <p:pic>
            <p:nvPicPr>
              <p:cNvPr id="172" name="Graphic 171" descr="Server outline">
                <a:extLst>
                  <a:ext uri="{FF2B5EF4-FFF2-40B4-BE49-F238E27FC236}">
                    <a16:creationId xmlns:a16="http://schemas.microsoft.com/office/drawing/2014/main" id="{EDD8E2F0-4000-5804-9AB0-EE64678A20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18020" y="5271166"/>
                <a:ext cx="588489" cy="588489"/>
              </a:xfrm>
              <a:prstGeom prst="rect">
                <a:avLst/>
              </a:prstGeom>
            </p:spPr>
          </p:pic>
          <p:pic>
            <p:nvPicPr>
              <p:cNvPr id="173" name="Graphic 172" descr="Database outline">
                <a:extLst>
                  <a:ext uri="{FF2B5EF4-FFF2-40B4-BE49-F238E27FC236}">
                    <a16:creationId xmlns:a16="http://schemas.microsoft.com/office/drawing/2014/main" id="{CF3B9355-FD8B-6B5E-BAA1-DABBEEC92A8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45755" y="5114168"/>
                <a:ext cx="486418" cy="486418"/>
              </a:xfrm>
              <a:prstGeom prst="rect">
                <a:avLst/>
              </a:prstGeom>
            </p:spPr>
          </p:pic>
          <p:sp>
            <p:nvSpPr>
              <p:cNvPr id="182" name="Rectangle 181">
                <a:extLst>
                  <a:ext uri="{FF2B5EF4-FFF2-40B4-BE49-F238E27FC236}">
                    <a16:creationId xmlns:a16="http://schemas.microsoft.com/office/drawing/2014/main" id="{A1F9946D-EE4A-1919-386A-06C08137C00B}"/>
                  </a:ext>
                </a:extLst>
              </p:cNvPr>
              <p:cNvSpPr/>
              <p:nvPr/>
            </p:nvSpPr>
            <p:spPr>
              <a:xfrm>
                <a:off x="8118020" y="5095886"/>
                <a:ext cx="914154" cy="736610"/>
              </a:xfrm>
              <a:prstGeom prst="rect">
                <a:avLst/>
              </a:prstGeom>
              <a:no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grpSp>
        <p:sp>
          <p:nvSpPr>
            <p:cNvPr id="7" name="TextBox 6">
              <a:extLst>
                <a:ext uri="{FF2B5EF4-FFF2-40B4-BE49-F238E27FC236}">
                  <a16:creationId xmlns:a16="http://schemas.microsoft.com/office/drawing/2014/main" id="{9CBD2FAA-DF1C-8539-634C-9B5E284E6548}"/>
                </a:ext>
              </a:extLst>
            </p:cNvPr>
            <p:cNvSpPr txBox="1"/>
            <p:nvPr/>
          </p:nvSpPr>
          <p:spPr>
            <a:xfrm>
              <a:off x="6784259" y="2270625"/>
              <a:ext cx="914154" cy="276999"/>
            </a:xfrm>
            <a:prstGeom prst="rect">
              <a:avLst/>
            </a:prstGeom>
            <a:noFill/>
          </p:spPr>
          <p:txBody>
            <a:bodyPr wrap="square" rtlCol="0">
              <a:spAutoFit/>
            </a:bodyPr>
            <a:lstStyle/>
            <a:p>
              <a:pPr algn="ctr"/>
              <a:r>
                <a:rPr lang="en-US" sz="1200" dirty="0"/>
                <a:t>IT System</a:t>
              </a:r>
            </a:p>
          </p:txBody>
        </p:sp>
      </p:grpSp>
      <p:sp>
        <p:nvSpPr>
          <p:cNvPr id="9" name="TextBox 8">
            <a:extLst>
              <a:ext uri="{FF2B5EF4-FFF2-40B4-BE49-F238E27FC236}">
                <a16:creationId xmlns:a16="http://schemas.microsoft.com/office/drawing/2014/main" id="{14D5340F-CF5C-8908-356E-CA511B060B62}"/>
              </a:ext>
            </a:extLst>
          </p:cNvPr>
          <p:cNvSpPr txBox="1"/>
          <p:nvPr/>
        </p:nvSpPr>
        <p:spPr>
          <a:xfrm>
            <a:off x="9784080" y="2762984"/>
            <a:ext cx="1034969" cy="276999"/>
          </a:xfrm>
          <a:prstGeom prst="rect">
            <a:avLst/>
          </a:prstGeom>
          <a:noFill/>
        </p:spPr>
        <p:txBody>
          <a:bodyPr wrap="square" rtlCol="0">
            <a:spAutoFit/>
          </a:bodyPr>
          <a:lstStyle/>
          <a:p>
            <a:pPr algn="ctr"/>
            <a:r>
              <a:rPr lang="en-US" sz="1200" dirty="0"/>
              <a:t>Networking</a:t>
            </a:r>
          </a:p>
        </p:txBody>
      </p:sp>
      <p:grpSp>
        <p:nvGrpSpPr>
          <p:cNvPr id="4" name="Group 3">
            <a:extLst>
              <a:ext uri="{FF2B5EF4-FFF2-40B4-BE49-F238E27FC236}">
                <a16:creationId xmlns:a16="http://schemas.microsoft.com/office/drawing/2014/main" id="{3677CFDC-1102-E3B4-2735-A25E2C0BAB33}"/>
              </a:ext>
            </a:extLst>
          </p:cNvPr>
          <p:cNvGrpSpPr/>
          <p:nvPr/>
        </p:nvGrpSpPr>
        <p:grpSpPr>
          <a:xfrm>
            <a:off x="4716825" y="1461888"/>
            <a:ext cx="2556627" cy="1189119"/>
            <a:chOff x="7530034" y="4542825"/>
            <a:chExt cx="2556627" cy="1189119"/>
          </a:xfrm>
        </p:grpSpPr>
        <p:sp>
          <p:nvSpPr>
            <p:cNvPr id="64" name="TextBox 63">
              <a:extLst>
                <a:ext uri="{FF2B5EF4-FFF2-40B4-BE49-F238E27FC236}">
                  <a16:creationId xmlns:a16="http://schemas.microsoft.com/office/drawing/2014/main" id="{EAE56640-853E-57E2-400F-652B836D632C}"/>
                </a:ext>
              </a:extLst>
            </p:cNvPr>
            <p:cNvSpPr txBox="1"/>
            <p:nvPr/>
          </p:nvSpPr>
          <p:spPr>
            <a:xfrm>
              <a:off x="7530040" y="4778549"/>
              <a:ext cx="2556621" cy="246221"/>
            </a:xfrm>
            <a:prstGeom prst="rect">
              <a:avLst/>
            </a:prstGeom>
            <a:noFill/>
          </p:spPr>
          <p:txBody>
            <a:bodyPr wrap="square" rtlCol="0">
              <a:spAutoFit/>
            </a:bodyPr>
            <a:lstStyle/>
            <a:p>
              <a:r>
                <a:rPr lang="en-US" sz="1000" dirty="0">
                  <a:solidFill>
                    <a:srgbClr val="C00000"/>
                  </a:solidFill>
                </a:rPr>
                <a:t>IP Address:	10.10.1.10</a:t>
              </a:r>
            </a:p>
          </p:txBody>
        </p:sp>
        <p:sp>
          <p:nvSpPr>
            <p:cNvPr id="65" name="TextBox 64">
              <a:extLst>
                <a:ext uri="{FF2B5EF4-FFF2-40B4-BE49-F238E27FC236}">
                  <a16:creationId xmlns:a16="http://schemas.microsoft.com/office/drawing/2014/main" id="{582CD0D4-839D-7DB4-575A-5D186ABC648E}"/>
                </a:ext>
              </a:extLst>
            </p:cNvPr>
            <p:cNvSpPr txBox="1"/>
            <p:nvPr/>
          </p:nvSpPr>
          <p:spPr>
            <a:xfrm>
              <a:off x="7530038" y="5005220"/>
              <a:ext cx="2556620" cy="246221"/>
            </a:xfrm>
            <a:prstGeom prst="rect">
              <a:avLst/>
            </a:prstGeom>
            <a:noFill/>
            <a:ln>
              <a:noFill/>
            </a:ln>
          </p:spPr>
          <p:txBody>
            <a:bodyPr wrap="square" rtlCol="0">
              <a:spAutoFit/>
            </a:bodyPr>
            <a:lstStyle/>
            <a:p>
              <a:r>
                <a:rPr lang="en-US" sz="1000" dirty="0">
                  <a:solidFill>
                    <a:srgbClr val="00B050"/>
                  </a:solidFill>
                </a:rPr>
                <a:t>Protocol:	</a:t>
              </a:r>
              <a:r>
                <a:rPr lang="en-US" sz="1000" dirty="0" err="1">
                  <a:solidFill>
                    <a:srgbClr val="00B050"/>
                  </a:solidFill>
                </a:rPr>
                <a:t>ModbusTCP</a:t>
              </a:r>
              <a:endParaRPr lang="en-US" sz="1000" dirty="0">
                <a:solidFill>
                  <a:srgbClr val="00B050"/>
                </a:solidFill>
              </a:endParaRPr>
            </a:p>
          </p:txBody>
        </p:sp>
        <p:sp>
          <p:nvSpPr>
            <p:cNvPr id="67" name="TextBox 66">
              <a:extLst>
                <a:ext uri="{FF2B5EF4-FFF2-40B4-BE49-F238E27FC236}">
                  <a16:creationId xmlns:a16="http://schemas.microsoft.com/office/drawing/2014/main" id="{7DD882BD-BD8C-1B7A-EFE1-7B03FA3AE605}"/>
                </a:ext>
              </a:extLst>
            </p:cNvPr>
            <p:cNvSpPr txBox="1"/>
            <p:nvPr/>
          </p:nvSpPr>
          <p:spPr>
            <a:xfrm>
              <a:off x="7530039" y="5249997"/>
              <a:ext cx="2556619" cy="246221"/>
            </a:xfrm>
            <a:prstGeom prst="rect">
              <a:avLst/>
            </a:prstGeom>
            <a:noFill/>
            <a:ln>
              <a:noFill/>
            </a:ln>
          </p:spPr>
          <p:txBody>
            <a:bodyPr wrap="square" rtlCol="0">
              <a:spAutoFit/>
            </a:bodyPr>
            <a:lstStyle/>
            <a:p>
              <a:r>
                <a:rPr lang="en-US" sz="1000" dirty="0">
                  <a:solidFill>
                    <a:srgbClr val="7030A0"/>
                  </a:solidFill>
                </a:rPr>
                <a:t>Data Address:	432770</a:t>
              </a:r>
            </a:p>
          </p:txBody>
        </p:sp>
        <p:sp>
          <p:nvSpPr>
            <p:cNvPr id="68" name="TextBox 67">
              <a:extLst>
                <a:ext uri="{FF2B5EF4-FFF2-40B4-BE49-F238E27FC236}">
                  <a16:creationId xmlns:a16="http://schemas.microsoft.com/office/drawing/2014/main" id="{ADDA789B-CF26-17B9-A9CD-9B5108933B25}"/>
                </a:ext>
              </a:extLst>
            </p:cNvPr>
            <p:cNvSpPr txBox="1"/>
            <p:nvPr/>
          </p:nvSpPr>
          <p:spPr>
            <a:xfrm>
              <a:off x="7530037" y="5485723"/>
              <a:ext cx="2556619" cy="246221"/>
            </a:xfrm>
            <a:prstGeom prst="rect">
              <a:avLst/>
            </a:prstGeom>
            <a:noFill/>
            <a:ln>
              <a:noFill/>
            </a:ln>
          </p:spPr>
          <p:txBody>
            <a:bodyPr wrap="square" rtlCol="0">
              <a:spAutoFit/>
            </a:bodyPr>
            <a:lstStyle/>
            <a:p>
              <a:r>
                <a:rPr lang="en-US" sz="1000" dirty="0">
                  <a:solidFill>
                    <a:srgbClr val="7030A0"/>
                  </a:solidFill>
                </a:rPr>
                <a:t>Data Format:	2x 16-bit words</a:t>
              </a:r>
            </a:p>
          </p:txBody>
        </p:sp>
        <p:sp>
          <p:nvSpPr>
            <p:cNvPr id="3" name="TextBox 2">
              <a:extLst>
                <a:ext uri="{FF2B5EF4-FFF2-40B4-BE49-F238E27FC236}">
                  <a16:creationId xmlns:a16="http://schemas.microsoft.com/office/drawing/2014/main" id="{16BF23FD-9018-0096-F5B9-A68118016ECB}"/>
                </a:ext>
              </a:extLst>
            </p:cNvPr>
            <p:cNvSpPr txBox="1"/>
            <p:nvPr/>
          </p:nvSpPr>
          <p:spPr>
            <a:xfrm>
              <a:off x="7530034" y="4542825"/>
              <a:ext cx="2556621" cy="246221"/>
            </a:xfrm>
            <a:prstGeom prst="rect">
              <a:avLst/>
            </a:prstGeom>
            <a:noFill/>
          </p:spPr>
          <p:txBody>
            <a:bodyPr wrap="square" rtlCol="0">
              <a:spAutoFit/>
            </a:bodyPr>
            <a:lstStyle/>
            <a:p>
              <a:r>
                <a:rPr lang="en-US" sz="1000" u="sng" dirty="0"/>
                <a:t>Transaction</a:t>
              </a:r>
            </a:p>
          </p:txBody>
        </p:sp>
      </p:grpSp>
      <p:grpSp>
        <p:nvGrpSpPr>
          <p:cNvPr id="15" name="Group 14">
            <a:extLst>
              <a:ext uri="{FF2B5EF4-FFF2-40B4-BE49-F238E27FC236}">
                <a16:creationId xmlns:a16="http://schemas.microsoft.com/office/drawing/2014/main" id="{EC7FD94A-3E38-484A-8FA2-32638B3BD4B9}"/>
              </a:ext>
            </a:extLst>
          </p:cNvPr>
          <p:cNvGrpSpPr/>
          <p:nvPr/>
        </p:nvGrpSpPr>
        <p:grpSpPr>
          <a:xfrm>
            <a:off x="7017999" y="1091784"/>
            <a:ext cx="1915992" cy="1681284"/>
            <a:chOff x="2135238" y="1963268"/>
            <a:chExt cx="2396108" cy="2117505"/>
          </a:xfrm>
        </p:grpSpPr>
        <p:pic>
          <p:nvPicPr>
            <p:cNvPr id="45" name="Graphic 44" descr="Computer outline">
              <a:extLst>
                <a:ext uri="{FF2B5EF4-FFF2-40B4-BE49-F238E27FC236}">
                  <a16:creationId xmlns:a16="http://schemas.microsoft.com/office/drawing/2014/main" id="{691297A5-E7E5-5C3F-269B-9202712C7BA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67893" y="3309274"/>
              <a:ext cx="748924" cy="748924"/>
            </a:xfrm>
            <a:prstGeom prst="rect">
              <a:avLst/>
            </a:prstGeom>
          </p:spPr>
        </p:pic>
        <p:pic>
          <p:nvPicPr>
            <p:cNvPr id="101" name="Graphic 100" descr="Robot Hand outline">
              <a:extLst>
                <a:ext uri="{FF2B5EF4-FFF2-40B4-BE49-F238E27FC236}">
                  <a16:creationId xmlns:a16="http://schemas.microsoft.com/office/drawing/2014/main" id="{E3B3441E-D714-F9B2-A94A-D5E458B24C5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00271" y="2451088"/>
              <a:ext cx="914400" cy="914401"/>
            </a:xfrm>
            <a:prstGeom prst="rect">
              <a:avLst/>
            </a:prstGeom>
          </p:spPr>
        </p:pic>
        <p:pic>
          <p:nvPicPr>
            <p:cNvPr id="146" name="Graphic 145" descr="Network diagram outline">
              <a:extLst>
                <a:ext uri="{FF2B5EF4-FFF2-40B4-BE49-F238E27FC236}">
                  <a16:creationId xmlns:a16="http://schemas.microsoft.com/office/drawing/2014/main" id="{D6E7181E-B0D4-01DB-F024-CE036558AD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2077" y="2686676"/>
              <a:ext cx="476279" cy="476279"/>
            </a:xfrm>
            <a:prstGeom prst="rect">
              <a:avLst/>
            </a:prstGeom>
          </p:spPr>
        </p:pic>
        <p:cxnSp>
          <p:nvCxnSpPr>
            <p:cNvPr id="147" name="Straight Connector 146">
              <a:extLst>
                <a:ext uri="{FF2B5EF4-FFF2-40B4-BE49-F238E27FC236}">
                  <a16:creationId xmlns:a16="http://schemas.microsoft.com/office/drawing/2014/main" id="{7753DFD0-586E-AD02-B9EE-752E3F4520FB}"/>
                </a:ext>
              </a:extLst>
            </p:cNvPr>
            <p:cNvCxnSpPr>
              <a:cxnSpLocks/>
            </p:cNvCxnSpPr>
            <p:nvPr/>
          </p:nvCxnSpPr>
          <p:spPr>
            <a:xfrm flipV="1">
              <a:off x="2729315" y="3139377"/>
              <a:ext cx="68449" cy="268734"/>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AF1E2388-27E6-B254-2D07-A8B1EA73F24F}"/>
                </a:ext>
              </a:extLst>
            </p:cNvPr>
            <p:cNvCxnSpPr>
              <a:cxnSpLocks/>
            </p:cNvCxnSpPr>
            <p:nvPr/>
          </p:nvCxnSpPr>
          <p:spPr>
            <a:xfrm>
              <a:off x="3247725" y="2908288"/>
              <a:ext cx="229904" cy="0"/>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70" name="Rectangle 169">
              <a:extLst>
                <a:ext uri="{FF2B5EF4-FFF2-40B4-BE49-F238E27FC236}">
                  <a16:creationId xmlns:a16="http://schemas.microsoft.com/office/drawing/2014/main" id="{A451C981-C901-9AF4-7B9F-A23F108D74A1}"/>
                </a:ext>
              </a:extLst>
            </p:cNvPr>
            <p:cNvSpPr/>
            <p:nvPr/>
          </p:nvSpPr>
          <p:spPr>
            <a:xfrm>
              <a:off x="2135238" y="2302635"/>
              <a:ext cx="2396108" cy="1778138"/>
            </a:xfrm>
            <a:prstGeom prst="rect">
              <a:avLst/>
            </a:prstGeom>
            <a:no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5" name="TextBox 4">
              <a:extLst>
                <a:ext uri="{FF2B5EF4-FFF2-40B4-BE49-F238E27FC236}">
                  <a16:creationId xmlns:a16="http://schemas.microsoft.com/office/drawing/2014/main" id="{17EFE07A-BB89-C40B-18DC-580A56552826}"/>
                </a:ext>
              </a:extLst>
            </p:cNvPr>
            <p:cNvSpPr txBox="1"/>
            <p:nvPr/>
          </p:nvSpPr>
          <p:spPr>
            <a:xfrm>
              <a:off x="2538850" y="1963268"/>
              <a:ext cx="1512379" cy="276999"/>
            </a:xfrm>
            <a:prstGeom prst="rect">
              <a:avLst/>
            </a:prstGeom>
            <a:noFill/>
          </p:spPr>
          <p:txBody>
            <a:bodyPr wrap="square" rtlCol="0">
              <a:spAutoFit/>
            </a:bodyPr>
            <a:lstStyle/>
            <a:p>
              <a:pPr algn="ctr"/>
              <a:r>
                <a:rPr lang="en-US" sz="1200" dirty="0"/>
                <a:t>OT System</a:t>
              </a:r>
            </a:p>
          </p:txBody>
        </p:sp>
        <p:pic>
          <p:nvPicPr>
            <p:cNvPr id="11" name="Graphic 10" descr="Binary outline">
              <a:extLst>
                <a:ext uri="{FF2B5EF4-FFF2-40B4-BE49-F238E27FC236}">
                  <a16:creationId xmlns:a16="http://schemas.microsoft.com/office/drawing/2014/main" id="{5735ADE2-FEA7-E83F-5FAF-3A1394B7408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32496" y="3361610"/>
              <a:ext cx="459386" cy="459384"/>
            </a:xfrm>
            <a:prstGeom prst="rect">
              <a:avLst/>
            </a:prstGeom>
          </p:spPr>
        </p:pic>
        <p:cxnSp>
          <p:nvCxnSpPr>
            <p:cNvPr id="12" name="Straight Connector 11">
              <a:extLst>
                <a:ext uri="{FF2B5EF4-FFF2-40B4-BE49-F238E27FC236}">
                  <a16:creationId xmlns:a16="http://schemas.microsoft.com/office/drawing/2014/main" id="{C05104EE-9093-4EE1-71F4-887254E582C7}"/>
                </a:ext>
              </a:extLst>
            </p:cNvPr>
            <p:cNvCxnSpPr>
              <a:cxnSpLocks/>
            </p:cNvCxnSpPr>
            <p:nvPr/>
          </p:nvCxnSpPr>
          <p:spPr>
            <a:xfrm>
              <a:off x="3059187" y="3093563"/>
              <a:ext cx="357067" cy="306102"/>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85D4E3E9-9C43-97D6-CF36-E32ADBB4B85F}"/>
              </a:ext>
            </a:extLst>
          </p:cNvPr>
          <p:cNvGrpSpPr/>
          <p:nvPr/>
        </p:nvGrpSpPr>
        <p:grpSpPr>
          <a:xfrm>
            <a:off x="4670654" y="3331926"/>
            <a:ext cx="2681139" cy="1189119"/>
            <a:chOff x="7530034" y="4542825"/>
            <a:chExt cx="2681139" cy="1189119"/>
          </a:xfrm>
        </p:grpSpPr>
        <p:sp>
          <p:nvSpPr>
            <p:cNvPr id="32" name="TextBox 31">
              <a:extLst>
                <a:ext uri="{FF2B5EF4-FFF2-40B4-BE49-F238E27FC236}">
                  <a16:creationId xmlns:a16="http://schemas.microsoft.com/office/drawing/2014/main" id="{FA5D28F1-3B63-D9C0-46A2-9B854B72E4F2}"/>
                </a:ext>
              </a:extLst>
            </p:cNvPr>
            <p:cNvSpPr txBox="1"/>
            <p:nvPr/>
          </p:nvSpPr>
          <p:spPr>
            <a:xfrm>
              <a:off x="7530040" y="4778549"/>
              <a:ext cx="2681133" cy="246221"/>
            </a:xfrm>
            <a:prstGeom prst="rect">
              <a:avLst/>
            </a:prstGeom>
            <a:noFill/>
          </p:spPr>
          <p:txBody>
            <a:bodyPr wrap="square" rtlCol="0">
              <a:spAutoFit/>
            </a:bodyPr>
            <a:lstStyle/>
            <a:p>
              <a:r>
                <a:rPr lang="en-US" sz="1000" dirty="0">
                  <a:solidFill>
                    <a:srgbClr val="C00000"/>
                  </a:solidFill>
                </a:rPr>
                <a:t>IP Address:	10.10.2.10</a:t>
              </a:r>
            </a:p>
          </p:txBody>
        </p:sp>
        <p:sp>
          <p:nvSpPr>
            <p:cNvPr id="33" name="TextBox 32">
              <a:extLst>
                <a:ext uri="{FF2B5EF4-FFF2-40B4-BE49-F238E27FC236}">
                  <a16:creationId xmlns:a16="http://schemas.microsoft.com/office/drawing/2014/main" id="{F9741870-CD3C-E3AA-9C5B-472661B086E9}"/>
                </a:ext>
              </a:extLst>
            </p:cNvPr>
            <p:cNvSpPr txBox="1"/>
            <p:nvPr/>
          </p:nvSpPr>
          <p:spPr>
            <a:xfrm>
              <a:off x="7530038" y="5005220"/>
              <a:ext cx="2681132" cy="246221"/>
            </a:xfrm>
            <a:prstGeom prst="rect">
              <a:avLst/>
            </a:prstGeom>
            <a:noFill/>
            <a:ln>
              <a:noFill/>
            </a:ln>
          </p:spPr>
          <p:txBody>
            <a:bodyPr wrap="square" rtlCol="0">
              <a:spAutoFit/>
            </a:bodyPr>
            <a:lstStyle/>
            <a:p>
              <a:r>
                <a:rPr lang="en-US" sz="1000" dirty="0">
                  <a:solidFill>
                    <a:srgbClr val="00B050"/>
                  </a:solidFill>
                </a:rPr>
                <a:t>Protocol:	Beckhoff ADS</a:t>
              </a:r>
            </a:p>
          </p:txBody>
        </p:sp>
        <p:sp>
          <p:nvSpPr>
            <p:cNvPr id="34" name="TextBox 33">
              <a:extLst>
                <a:ext uri="{FF2B5EF4-FFF2-40B4-BE49-F238E27FC236}">
                  <a16:creationId xmlns:a16="http://schemas.microsoft.com/office/drawing/2014/main" id="{6B3CDD78-3EFB-2737-724B-85B0642227CB}"/>
                </a:ext>
              </a:extLst>
            </p:cNvPr>
            <p:cNvSpPr txBox="1"/>
            <p:nvPr/>
          </p:nvSpPr>
          <p:spPr>
            <a:xfrm>
              <a:off x="7530039" y="5249997"/>
              <a:ext cx="2681131" cy="246221"/>
            </a:xfrm>
            <a:prstGeom prst="rect">
              <a:avLst/>
            </a:prstGeom>
            <a:noFill/>
            <a:ln>
              <a:noFill/>
            </a:ln>
          </p:spPr>
          <p:txBody>
            <a:bodyPr wrap="square" rtlCol="0">
              <a:spAutoFit/>
            </a:bodyPr>
            <a:lstStyle/>
            <a:p>
              <a:r>
                <a:rPr lang="en-US" sz="1000" dirty="0">
                  <a:solidFill>
                    <a:srgbClr val="7030A0"/>
                  </a:solidFill>
                </a:rPr>
                <a:t>Data Address:	‘PLC1.MAIN.eStatus’</a:t>
              </a:r>
            </a:p>
          </p:txBody>
        </p:sp>
        <p:sp>
          <p:nvSpPr>
            <p:cNvPr id="35" name="TextBox 34">
              <a:extLst>
                <a:ext uri="{FF2B5EF4-FFF2-40B4-BE49-F238E27FC236}">
                  <a16:creationId xmlns:a16="http://schemas.microsoft.com/office/drawing/2014/main" id="{7AD69C3B-B531-B75D-359C-923C2BE11F93}"/>
                </a:ext>
              </a:extLst>
            </p:cNvPr>
            <p:cNvSpPr txBox="1"/>
            <p:nvPr/>
          </p:nvSpPr>
          <p:spPr>
            <a:xfrm>
              <a:off x="7530038" y="5485723"/>
              <a:ext cx="2681130" cy="246221"/>
            </a:xfrm>
            <a:prstGeom prst="rect">
              <a:avLst/>
            </a:prstGeom>
            <a:noFill/>
            <a:ln>
              <a:noFill/>
            </a:ln>
          </p:spPr>
          <p:txBody>
            <a:bodyPr wrap="square" rtlCol="0">
              <a:spAutoFit/>
            </a:bodyPr>
            <a:lstStyle/>
            <a:p>
              <a:r>
                <a:rPr lang="en-US" sz="1000" dirty="0">
                  <a:solidFill>
                    <a:srgbClr val="7030A0"/>
                  </a:solidFill>
                </a:rPr>
                <a:t>Data Format:	1x 32-bit DINT</a:t>
              </a:r>
            </a:p>
          </p:txBody>
        </p:sp>
        <p:sp>
          <p:nvSpPr>
            <p:cNvPr id="36" name="TextBox 35">
              <a:extLst>
                <a:ext uri="{FF2B5EF4-FFF2-40B4-BE49-F238E27FC236}">
                  <a16:creationId xmlns:a16="http://schemas.microsoft.com/office/drawing/2014/main" id="{A00FA4B6-CE5D-42C4-9A45-4634609B72BC}"/>
                </a:ext>
              </a:extLst>
            </p:cNvPr>
            <p:cNvSpPr txBox="1"/>
            <p:nvPr/>
          </p:nvSpPr>
          <p:spPr>
            <a:xfrm>
              <a:off x="7530034" y="4542825"/>
              <a:ext cx="2681133" cy="246221"/>
            </a:xfrm>
            <a:prstGeom prst="rect">
              <a:avLst/>
            </a:prstGeom>
            <a:noFill/>
          </p:spPr>
          <p:txBody>
            <a:bodyPr wrap="square" rtlCol="0">
              <a:spAutoFit/>
            </a:bodyPr>
            <a:lstStyle/>
            <a:p>
              <a:r>
                <a:rPr lang="en-US" sz="1000" u="sng" dirty="0"/>
                <a:t>Transaction</a:t>
              </a:r>
            </a:p>
          </p:txBody>
        </p:sp>
      </p:grpSp>
      <p:sp>
        <p:nvSpPr>
          <p:cNvPr id="37" name="Text Placeholder 3">
            <a:extLst>
              <a:ext uri="{FF2B5EF4-FFF2-40B4-BE49-F238E27FC236}">
                <a16:creationId xmlns:a16="http://schemas.microsoft.com/office/drawing/2014/main" id="{18BAB947-AB1C-220D-467E-0387A4218EA8}"/>
              </a:ext>
            </a:extLst>
          </p:cNvPr>
          <p:cNvSpPr>
            <a:spLocks noGrp="1"/>
          </p:cNvSpPr>
          <p:nvPr>
            <p:ph type="body" sz="quarter" idx="15"/>
          </p:nvPr>
        </p:nvSpPr>
        <p:spPr>
          <a:xfrm>
            <a:off x="1" y="1091783"/>
            <a:ext cx="4570205" cy="4902509"/>
          </a:xfrm>
        </p:spPr>
        <p:txBody>
          <a:bodyPr/>
          <a:lstStyle/>
          <a:p>
            <a:r>
              <a:rPr lang="en-US" sz="1400" dirty="0"/>
              <a:t>To transact with each OT device, we need:</a:t>
            </a:r>
          </a:p>
          <a:p>
            <a:pPr lvl="1"/>
            <a:r>
              <a:rPr lang="en-US" sz="1400" dirty="0"/>
              <a:t>Networking</a:t>
            </a:r>
          </a:p>
          <a:p>
            <a:pPr lvl="2"/>
            <a:r>
              <a:rPr lang="en-US" sz="1400" dirty="0"/>
              <a:t>Security, firewall</a:t>
            </a:r>
          </a:p>
          <a:p>
            <a:pPr lvl="2"/>
            <a:r>
              <a:rPr lang="en-US" sz="1400" dirty="0"/>
              <a:t>Address routing, NAT</a:t>
            </a:r>
          </a:p>
          <a:p>
            <a:pPr lvl="1"/>
            <a:r>
              <a:rPr lang="en-US" sz="1400" dirty="0"/>
              <a:t>Application protocol driver</a:t>
            </a:r>
          </a:p>
          <a:p>
            <a:pPr lvl="2"/>
            <a:r>
              <a:rPr lang="en-US" sz="1400" dirty="0"/>
              <a:t>Port numbers</a:t>
            </a:r>
          </a:p>
          <a:p>
            <a:pPr lvl="2"/>
            <a:r>
              <a:rPr lang="en-US" sz="1400" dirty="0"/>
              <a:t>Device/node addressing</a:t>
            </a:r>
          </a:p>
          <a:p>
            <a:pPr lvl="2"/>
            <a:r>
              <a:rPr lang="en-US" sz="1400" dirty="0"/>
              <a:t>Vendor software</a:t>
            </a:r>
          </a:p>
          <a:p>
            <a:pPr lvl="1"/>
            <a:r>
              <a:rPr lang="en-US" sz="1400" dirty="0"/>
              <a:t>Data address and type information</a:t>
            </a:r>
          </a:p>
          <a:p>
            <a:pPr lvl="2"/>
            <a:r>
              <a:rPr lang="en-US" sz="1400" dirty="0"/>
              <a:t>Type systems</a:t>
            </a:r>
          </a:p>
          <a:p>
            <a:pPr lvl="2"/>
            <a:r>
              <a:rPr lang="en-US" sz="1400" dirty="0"/>
              <a:t>Byte packing, endianness  </a:t>
            </a:r>
          </a:p>
        </p:txBody>
      </p:sp>
      <p:grpSp>
        <p:nvGrpSpPr>
          <p:cNvPr id="57" name="Group 56">
            <a:extLst>
              <a:ext uri="{FF2B5EF4-FFF2-40B4-BE49-F238E27FC236}">
                <a16:creationId xmlns:a16="http://schemas.microsoft.com/office/drawing/2014/main" id="{B4D8F406-CD06-8148-BB28-74ED404DB052}"/>
              </a:ext>
            </a:extLst>
          </p:cNvPr>
          <p:cNvGrpSpPr/>
          <p:nvPr/>
        </p:nvGrpSpPr>
        <p:grpSpPr>
          <a:xfrm>
            <a:off x="7017999" y="3009824"/>
            <a:ext cx="1915992" cy="1681284"/>
            <a:chOff x="2135238" y="1963268"/>
            <a:chExt cx="2396108" cy="2117505"/>
          </a:xfrm>
        </p:grpSpPr>
        <p:pic>
          <p:nvPicPr>
            <p:cNvPr id="58" name="Graphic 57" descr="Computer outline">
              <a:extLst>
                <a:ext uri="{FF2B5EF4-FFF2-40B4-BE49-F238E27FC236}">
                  <a16:creationId xmlns:a16="http://schemas.microsoft.com/office/drawing/2014/main" id="{958DC58B-9ACE-048E-45D6-BC29D6E27B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67893" y="3309274"/>
              <a:ext cx="748924" cy="748924"/>
            </a:xfrm>
            <a:prstGeom prst="rect">
              <a:avLst/>
            </a:prstGeom>
          </p:spPr>
        </p:pic>
        <p:pic>
          <p:nvPicPr>
            <p:cNvPr id="60" name="Graphic 59" descr="Robot Hand outline">
              <a:extLst>
                <a:ext uri="{FF2B5EF4-FFF2-40B4-BE49-F238E27FC236}">
                  <a16:creationId xmlns:a16="http://schemas.microsoft.com/office/drawing/2014/main" id="{9D1E84CE-43D7-BD43-2721-20A76C2882A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00271" y="2451088"/>
              <a:ext cx="914400" cy="914401"/>
            </a:xfrm>
            <a:prstGeom prst="rect">
              <a:avLst/>
            </a:prstGeom>
          </p:spPr>
        </p:pic>
        <p:pic>
          <p:nvPicPr>
            <p:cNvPr id="61" name="Graphic 60" descr="Network diagram outline">
              <a:extLst>
                <a:ext uri="{FF2B5EF4-FFF2-40B4-BE49-F238E27FC236}">
                  <a16:creationId xmlns:a16="http://schemas.microsoft.com/office/drawing/2014/main" id="{3570A6FF-4FD2-8C50-640D-BA76137FCC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2077" y="2686676"/>
              <a:ext cx="476279" cy="476279"/>
            </a:xfrm>
            <a:prstGeom prst="rect">
              <a:avLst/>
            </a:prstGeom>
          </p:spPr>
        </p:pic>
        <p:cxnSp>
          <p:nvCxnSpPr>
            <p:cNvPr id="62" name="Straight Connector 61">
              <a:extLst>
                <a:ext uri="{FF2B5EF4-FFF2-40B4-BE49-F238E27FC236}">
                  <a16:creationId xmlns:a16="http://schemas.microsoft.com/office/drawing/2014/main" id="{E0BFDA76-9C70-AB44-FE8F-79EDE5339EFF}"/>
                </a:ext>
              </a:extLst>
            </p:cNvPr>
            <p:cNvCxnSpPr>
              <a:cxnSpLocks/>
            </p:cNvCxnSpPr>
            <p:nvPr/>
          </p:nvCxnSpPr>
          <p:spPr>
            <a:xfrm flipV="1">
              <a:off x="2729315" y="3139377"/>
              <a:ext cx="68449" cy="268734"/>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AFE5CC8-81E6-3915-47B2-89F6308EC062}"/>
                </a:ext>
              </a:extLst>
            </p:cNvPr>
            <p:cNvCxnSpPr>
              <a:cxnSpLocks/>
            </p:cNvCxnSpPr>
            <p:nvPr/>
          </p:nvCxnSpPr>
          <p:spPr>
            <a:xfrm>
              <a:off x="3247725" y="2908288"/>
              <a:ext cx="229904" cy="0"/>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CB1CADF1-62A3-96C9-128B-344822B6251B}"/>
                </a:ext>
              </a:extLst>
            </p:cNvPr>
            <p:cNvSpPr/>
            <p:nvPr/>
          </p:nvSpPr>
          <p:spPr>
            <a:xfrm>
              <a:off x="2135238" y="2302635"/>
              <a:ext cx="2396108" cy="1778138"/>
            </a:xfrm>
            <a:prstGeom prst="rect">
              <a:avLst/>
            </a:prstGeom>
            <a:no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70" name="TextBox 69">
              <a:extLst>
                <a:ext uri="{FF2B5EF4-FFF2-40B4-BE49-F238E27FC236}">
                  <a16:creationId xmlns:a16="http://schemas.microsoft.com/office/drawing/2014/main" id="{47B1012F-376F-E4E5-FD84-687588BB9AC2}"/>
                </a:ext>
              </a:extLst>
            </p:cNvPr>
            <p:cNvSpPr txBox="1"/>
            <p:nvPr/>
          </p:nvSpPr>
          <p:spPr>
            <a:xfrm>
              <a:off x="2538850" y="1963268"/>
              <a:ext cx="1512379" cy="276999"/>
            </a:xfrm>
            <a:prstGeom prst="rect">
              <a:avLst/>
            </a:prstGeom>
            <a:noFill/>
          </p:spPr>
          <p:txBody>
            <a:bodyPr wrap="square" rtlCol="0">
              <a:spAutoFit/>
            </a:bodyPr>
            <a:lstStyle/>
            <a:p>
              <a:pPr algn="ctr"/>
              <a:r>
                <a:rPr lang="en-US" sz="1200" dirty="0"/>
                <a:t>OT System</a:t>
              </a:r>
            </a:p>
          </p:txBody>
        </p:sp>
        <p:pic>
          <p:nvPicPr>
            <p:cNvPr id="72" name="Graphic 71" descr="Binary outline">
              <a:extLst>
                <a:ext uri="{FF2B5EF4-FFF2-40B4-BE49-F238E27FC236}">
                  <a16:creationId xmlns:a16="http://schemas.microsoft.com/office/drawing/2014/main" id="{4B8EE7AC-5C1C-4940-493E-4C9180F5188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32496" y="3361610"/>
              <a:ext cx="459386" cy="459384"/>
            </a:xfrm>
            <a:prstGeom prst="rect">
              <a:avLst/>
            </a:prstGeom>
          </p:spPr>
        </p:pic>
        <p:cxnSp>
          <p:nvCxnSpPr>
            <p:cNvPr id="73" name="Straight Connector 72">
              <a:extLst>
                <a:ext uri="{FF2B5EF4-FFF2-40B4-BE49-F238E27FC236}">
                  <a16:creationId xmlns:a16="http://schemas.microsoft.com/office/drawing/2014/main" id="{5127CE8D-A0DD-CDD8-AA79-E589F0AECD7E}"/>
                </a:ext>
              </a:extLst>
            </p:cNvPr>
            <p:cNvCxnSpPr>
              <a:cxnSpLocks/>
            </p:cNvCxnSpPr>
            <p:nvPr/>
          </p:nvCxnSpPr>
          <p:spPr>
            <a:xfrm>
              <a:off x="3059187" y="3093563"/>
              <a:ext cx="357067" cy="306102"/>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A646FA52-D858-5F45-B8B7-3C49D0C5BD72}"/>
              </a:ext>
            </a:extLst>
          </p:cNvPr>
          <p:cNvGrpSpPr/>
          <p:nvPr/>
        </p:nvGrpSpPr>
        <p:grpSpPr>
          <a:xfrm>
            <a:off x="7017999" y="4925574"/>
            <a:ext cx="1915992" cy="1681284"/>
            <a:chOff x="2135238" y="1963268"/>
            <a:chExt cx="2396108" cy="2117505"/>
          </a:xfrm>
        </p:grpSpPr>
        <p:pic>
          <p:nvPicPr>
            <p:cNvPr id="78" name="Graphic 77" descr="Computer outline">
              <a:extLst>
                <a:ext uri="{FF2B5EF4-FFF2-40B4-BE49-F238E27FC236}">
                  <a16:creationId xmlns:a16="http://schemas.microsoft.com/office/drawing/2014/main" id="{55ACCF91-DEE6-E815-0256-34B752A233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67893" y="3309274"/>
              <a:ext cx="748924" cy="748924"/>
            </a:xfrm>
            <a:prstGeom prst="rect">
              <a:avLst/>
            </a:prstGeom>
          </p:spPr>
        </p:pic>
        <p:pic>
          <p:nvPicPr>
            <p:cNvPr id="79" name="Graphic 78" descr="Robot Hand outline">
              <a:extLst>
                <a:ext uri="{FF2B5EF4-FFF2-40B4-BE49-F238E27FC236}">
                  <a16:creationId xmlns:a16="http://schemas.microsoft.com/office/drawing/2014/main" id="{82690282-7C39-B6BA-8812-5E40795B2A2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00271" y="2451088"/>
              <a:ext cx="914400" cy="914401"/>
            </a:xfrm>
            <a:prstGeom prst="rect">
              <a:avLst/>
            </a:prstGeom>
          </p:spPr>
        </p:pic>
        <p:pic>
          <p:nvPicPr>
            <p:cNvPr id="80" name="Graphic 79" descr="Network diagram outline">
              <a:extLst>
                <a:ext uri="{FF2B5EF4-FFF2-40B4-BE49-F238E27FC236}">
                  <a16:creationId xmlns:a16="http://schemas.microsoft.com/office/drawing/2014/main" id="{D25CCBA0-45C1-0709-933F-3BFB7CC7A0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2077" y="2686676"/>
              <a:ext cx="476279" cy="476279"/>
            </a:xfrm>
            <a:prstGeom prst="rect">
              <a:avLst/>
            </a:prstGeom>
          </p:spPr>
        </p:pic>
        <p:cxnSp>
          <p:nvCxnSpPr>
            <p:cNvPr id="81" name="Straight Connector 80">
              <a:extLst>
                <a:ext uri="{FF2B5EF4-FFF2-40B4-BE49-F238E27FC236}">
                  <a16:creationId xmlns:a16="http://schemas.microsoft.com/office/drawing/2014/main" id="{4D4F7ABC-0307-77EA-8D9D-668E3B6612FF}"/>
                </a:ext>
              </a:extLst>
            </p:cNvPr>
            <p:cNvCxnSpPr>
              <a:cxnSpLocks/>
            </p:cNvCxnSpPr>
            <p:nvPr/>
          </p:nvCxnSpPr>
          <p:spPr>
            <a:xfrm flipV="1">
              <a:off x="2729315" y="3139377"/>
              <a:ext cx="68449" cy="268734"/>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AA40150-C271-D346-E813-B4CF244E83A1}"/>
                </a:ext>
              </a:extLst>
            </p:cNvPr>
            <p:cNvCxnSpPr>
              <a:cxnSpLocks/>
            </p:cNvCxnSpPr>
            <p:nvPr/>
          </p:nvCxnSpPr>
          <p:spPr>
            <a:xfrm>
              <a:off x="3247725" y="2908288"/>
              <a:ext cx="229904" cy="0"/>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2B9861F4-6EA8-6286-5922-B0244444F628}"/>
                </a:ext>
              </a:extLst>
            </p:cNvPr>
            <p:cNvSpPr/>
            <p:nvPr/>
          </p:nvSpPr>
          <p:spPr>
            <a:xfrm>
              <a:off x="2135238" y="2302635"/>
              <a:ext cx="2396108" cy="1778138"/>
            </a:xfrm>
            <a:prstGeom prst="rect">
              <a:avLst/>
            </a:prstGeom>
            <a:no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84" name="TextBox 83">
              <a:extLst>
                <a:ext uri="{FF2B5EF4-FFF2-40B4-BE49-F238E27FC236}">
                  <a16:creationId xmlns:a16="http://schemas.microsoft.com/office/drawing/2014/main" id="{E9768571-CC17-F1A1-87D9-F34015A8C19E}"/>
                </a:ext>
              </a:extLst>
            </p:cNvPr>
            <p:cNvSpPr txBox="1"/>
            <p:nvPr/>
          </p:nvSpPr>
          <p:spPr>
            <a:xfrm>
              <a:off x="2538850" y="1963268"/>
              <a:ext cx="1512379" cy="276999"/>
            </a:xfrm>
            <a:prstGeom prst="rect">
              <a:avLst/>
            </a:prstGeom>
            <a:noFill/>
          </p:spPr>
          <p:txBody>
            <a:bodyPr wrap="square" rtlCol="0">
              <a:spAutoFit/>
            </a:bodyPr>
            <a:lstStyle/>
            <a:p>
              <a:pPr algn="ctr"/>
              <a:r>
                <a:rPr lang="en-US" sz="1200" dirty="0"/>
                <a:t>OT System</a:t>
              </a:r>
            </a:p>
          </p:txBody>
        </p:sp>
        <p:pic>
          <p:nvPicPr>
            <p:cNvPr id="86" name="Graphic 85" descr="Binary outline">
              <a:extLst>
                <a:ext uri="{FF2B5EF4-FFF2-40B4-BE49-F238E27FC236}">
                  <a16:creationId xmlns:a16="http://schemas.microsoft.com/office/drawing/2014/main" id="{B2BB4688-6130-8ED2-C70E-2CAB44424CB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32496" y="3361610"/>
              <a:ext cx="459386" cy="459384"/>
            </a:xfrm>
            <a:prstGeom prst="rect">
              <a:avLst/>
            </a:prstGeom>
          </p:spPr>
        </p:pic>
        <p:cxnSp>
          <p:nvCxnSpPr>
            <p:cNvPr id="87" name="Straight Connector 86">
              <a:extLst>
                <a:ext uri="{FF2B5EF4-FFF2-40B4-BE49-F238E27FC236}">
                  <a16:creationId xmlns:a16="http://schemas.microsoft.com/office/drawing/2014/main" id="{6ABCD130-81F9-B7D3-8CF3-A75D165AA040}"/>
                </a:ext>
              </a:extLst>
            </p:cNvPr>
            <p:cNvCxnSpPr>
              <a:cxnSpLocks/>
            </p:cNvCxnSpPr>
            <p:nvPr/>
          </p:nvCxnSpPr>
          <p:spPr>
            <a:xfrm>
              <a:off x="3059187" y="3093563"/>
              <a:ext cx="357067" cy="306102"/>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4B6FCB23-998F-EE93-8921-B16881E9FCE3}"/>
              </a:ext>
            </a:extLst>
          </p:cNvPr>
          <p:cNvGrpSpPr/>
          <p:nvPr/>
        </p:nvGrpSpPr>
        <p:grpSpPr>
          <a:xfrm>
            <a:off x="4718829" y="5228940"/>
            <a:ext cx="1326555" cy="1204508"/>
            <a:chOff x="7530035" y="4542825"/>
            <a:chExt cx="1915998" cy="1204508"/>
          </a:xfrm>
        </p:grpSpPr>
        <p:sp>
          <p:nvSpPr>
            <p:cNvPr id="89" name="TextBox 88">
              <a:extLst>
                <a:ext uri="{FF2B5EF4-FFF2-40B4-BE49-F238E27FC236}">
                  <a16:creationId xmlns:a16="http://schemas.microsoft.com/office/drawing/2014/main" id="{383664CF-9619-258A-71C8-245422BA551B}"/>
                </a:ext>
              </a:extLst>
            </p:cNvPr>
            <p:cNvSpPr txBox="1"/>
            <p:nvPr/>
          </p:nvSpPr>
          <p:spPr>
            <a:xfrm>
              <a:off x="7530039" y="4778549"/>
              <a:ext cx="1915994" cy="261610"/>
            </a:xfrm>
            <a:prstGeom prst="rect">
              <a:avLst/>
            </a:prstGeom>
            <a:noFill/>
          </p:spPr>
          <p:txBody>
            <a:bodyPr wrap="square" rtlCol="0">
              <a:spAutoFit/>
            </a:bodyPr>
            <a:lstStyle/>
            <a:p>
              <a:r>
                <a:rPr lang="en-US" sz="1100" dirty="0">
                  <a:solidFill>
                    <a:srgbClr val="C00000"/>
                  </a:solidFill>
                </a:rPr>
                <a:t>IP Address:	…</a:t>
              </a:r>
            </a:p>
          </p:txBody>
        </p:sp>
        <p:sp>
          <p:nvSpPr>
            <p:cNvPr id="90" name="TextBox 89">
              <a:extLst>
                <a:ext uri="{FF2B5EF4-FFF2-40B4-BE49-F238E27FC236}">
                  <a16:creationId xmlns:a16="http://schemas.microsoft.com/office/drawing/2014/main" id="{E96767D8-D577-95F6-825A-2A0C97313D4D}"/>
                </a:ext>
              </a:extLst>
            </p:cNvPr>
            <p:cNvSpPr txBox="1"/>
            <p:nvPr/>
          </p:nvSpPr>
          <p:spPr>
            <a:xfrm>
              <a:off x="7530037" y="5005220"/>
              <a:ext cx="1915993" cy="261610"/>
            </a:xfrm>
            <a:prstGeom prst="rect">
              <a:avLst/>
            </a:prstGeom>
            <a:noFill/>
            <a:ln>
              <a:noFill/>
            </a:ln>
          </p:spPr>
          <p:txBody>
            <a:bodyPr wrap="square" rtlCol="0">
              <a:spAutoFit/>
            </a:bodyPr>
            <a:lstStyle/>
            <a:p>
              <a:r>
                <a:rPr lang="en-US" sz="1100" dirty="0">
                  <a:solidFill>
                    <a:srgbClr val="00B050"/>
                  </a:solidFill>
                </a:rPr>
                <a:t>Protocol:	…</a:t>
              </a:r>
            </a:p>
          </p:txBody>
        </p:sp>
        <p:sp>
          <p:nvSpPr>
            <p:cNvPr id="91" name="TextBox 90">
              <a:extLst>
                <a:ext uri="{FF2B5EF4-FFF2-40B4-BE49-F238E27FC236}">
                  <a16:creationId xmlns:a16="http://schemas.microsoft.com/office/drawing/2014/main" id="{011CBEE5-0B88-C7C8-0024-F77E209DE0CF}"/>
                </a:ext>
              </a:extLst>
            </p:cNvPr>
            <p:cNvSpPr txBox="1"/>
            <p:nvPr/>
          </p:nvSpPr>
          <p:spPr>
            <a:xfrm>
              <a:off x="7530039" y="5249997"/>
              <a:ext cx="1915992" cy="261610"/>
            </a:xfrm>
            <a:prstGeom prst="rect">
              <a:avLst/>
            </a:prstGeom>
            <a:noFill/>
            <a:ln>
              <a:noFill/>
            </a:ln>
          </p:spPr>
          <p:txBody>
            <a:bodyPr wrap="square" rtlCol="0">
              <a:spAutoFit/>
            </a:bodyPr>
            <a:lstStyle/>
            <a:p>
              <a:r>
                <a:rPr lang="en-US" sz="1100" dirty="0">
                  <a:solidFill>
                    <a:srgbClr val="7030A0"/>
                  </a:solidFill>
                </a:rPr>
                <a:t>Data Address:	…</a:t>
              </a:r>
            </a:p>
          </p:txBody>
        </p:sp>
        <p:sp>
          <p:nvSpPr>
            <p:cNvPr id="92" name="TextBox 91">
              <a:extLst>
                <a:ext uri="{FF2B5EF4-FFF2-40B4-BE49-F238E27FC236}">
                  <a16:creationId xmlns:a16="http://schemas.microsoft.com/office/drawing/2014/main" id="{EE14A5F4-A3C7-5CC0-C709-F5DBF9E5737A}"/>
                </a:ext>
              </a:extLst>
            </p:cNvPr>
            <p:cNvSpPr txBox="1"/>
            <p:nvPr/>
          </p:nvSpPr>
          <p:spPr>
            <a:xfrm>
              <a:off x="7530037" y="5485723"/>
              <a:ext cx="1915991" cy="261610"/>
            </a:xfrm>
            <a:prstGeom prst="rect">
              <a:avLst/>
            </a:prstGeom>
            <a:noFill/>
            <a:ln>
              <a:noFill/>
            </a:ln>
          </p:spPr>
          <p:txBody>
            <a:bodyPr wrap="square" rtlCol="0">
              <a:spAutoFit/>
            </a:bodyPr>
            <a:lstStyle/>
            <a:p>
              <a:r>
                <a:rPr lang="en-US" sz="1100" dirty="0">
                  <a:solidFill>
                    <a:srgbClr val="7030A0"/>
                  </a:solidFill>
                </a:rPr>
                <a:t>Data Format:	…</a:t>
              </a:r>
            </a:p>
          </p:txBody>
        </p:sp>
        <p:sp>
          <p:nvSpPr>
            <p:cNvPr id="93" name="TextBox 92">
              <a:extLst>
                <a:ext uri="{FF2B5EF4-FFF2-40B4-BE49-F238E27FC236}">
                  <a16:creationId xmlns:a16="http://schemas.microsoft.com/office/drawing/2014/main" id="{BEA3DA02-5706-68D0-8ADA-109004B806AB}"/>
                </a:ext>
              </a:extLst>
            </p:cNvPr>
            <p:cNvSpPr txBox="1"/>
            <p:nvPr/>
          </p:nvSpPr>
          <p:spPr>
            <a:xfrm>
              <a:off x="7530035" y="4542825"/>
              <a:ext cx="1915992" cy="261610"/>
            </a:xfrm>
            <a:prstGeom prst="rect">
              <a:avLst/>
            </a:prstGeom>
            <a:noFill/>
          </p:spPr>
          <p:txBody>
            <a:bodyPr wrap="square" rtlCol="0">
              <a:spAutoFit/>
            </a:bodyPr>
            <a:lstStyle/>
            <a:p>
              <a:r>
                <a:rPr lang="en-US" sz="1100" u="sng" dirty="0"/>
                <a:t>Transaction</a:t>
              </a:r>
            </a:p>
          </p:txBody>
        </p:sp>
      </p:grpSp>
      <p:cxnSp>
        <p:nvCxnSpPr>
          <p:cNvPr id="98" name="Straight Connector 97">
            <a:extLst>
              <a:ext uri="{FF2B5EF4-FFF2-40B4-BE49-F238E27FC236}">
                <a16:creationId xmlns:a16="http://schemas.microsoft.com/office/drawing/2014/main" id="{77209866-DBC8-3921-0D75-5F9FA9DF1031}"/>
              </a:ext>
            </a:extLst>
          </p:cNvPr>
          <p:cNvCxnSpPr>
            <a:cxnSpLocks/>
          </p:cNvCxnSpPr>
          <p:nvPr/>
        </p:nvCxnSpPr>
        <p:spPr>
          <a:xfrm>
            <a:off x="9032240" y="2160503"/>
            <a:ext cx="844779" cy="953999"/>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7E57F8C-A6C7-0B28-A63F-F897C064BE97}"/>
              </a:ext>
            </a:extLst>
          </p:cNvPr>
          <p:cNvCxnSpPr>
            <a:cxnSpLocks/>
          </p:cNvCxnSpPr>
          <p:nvPr/>
        </p:nvCxnSpPr>
        <p:spPr>
          <a:xfrm flipV="1">
            <a:off x="9032240" y="3340911"/>
            <a:ext cx="844779" cy="644282"/>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59B6E910-6BEE-7574-6AAF-CAF1A151BC57}"/>
              </a:ext>
            </a:extLst>
          </p:cNvPr>
          <p:cNvCxnSpPr>
            <a:cxnSpLocks/>
          </p:cNvCxnSpPr>
          <p:nvPr/>
        </p:nvCxnSpPr>
        <p:spPr>
          <a:xfrm flipH="1">
            <a:off x="9034439" y="3578147"/>
            <a:ext cx="897773" cy="2357965"/>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4475F39-F966-5C70-DA84-A789DF92824C}"/>
              </a:ext>
            </a:extLst>
          </p:cNvPr>
          <p:cNvSpPr txBox="1"/>
          <p:nvPr/>
        </p:nvSpPr>
        <p:spPr>
          <a:xfrm>
            <a:off x="10653391" y="4013213"/>
            <a:ext cx="1493822" cy="1015663"/>
          </a:xfrm>
          <a:prstGeom prst="rect">
            <a:avLst/>
          </a:prstGeom>
          <a:noFill/>
        </p:spPr>
        <p:txBody>
          <a:bodyPr wrap="square" rtlCol="0">
            <a:spAutoFit/>
          </a:bodyPr>
          <a:lstStyle/>
          <a:p>
            <a:r>
              <a:rPr lang="en-US" sz="1000" dirty="0"/>
              <a:t>Address Table</a:t>
            </a:r>
          </a:p>
          <a:p>
            <a:r>
              <a:rPr lang="en-US" sz="1000" dirty="0"/>
              <a:t>---------------</a:t>
            </a:r>
          </a:p>
          <a:p>
            <a:r>
              <a:rPr lang="en-US" sz="1000" dirty="0">
                <a:solidFill>
                  <a:srgbClr val="C00000"/>
                </a:solidFill>
              </a:rPr>
              <a:t>Machine1: 10.10.1.10</a:t>
            </a:r>
          </a:p>
          <a:p>
            <a:r>
              <a:rPr lang="en-US" sz="1000" dirty="0">
                <a:solidFill>
                  <a:srgbClr val="C00000"/>
                </a:solidFill>
              </a:rPr>
              <a:t>Machine2: 10.10.2.10</a:t>
            </a:r>
          </a:p>
          <a:p>
            <a:r>
              <a:rPr lang="en-US" sz="1000" dirty="0">
                <a:solidFill>
                  <a:srgbClr val="C00000"/>
                </a:solidFill>
              </a:rPr>
              <a:t>Machine#: 10.10.x.x</a:t>
            </a:r>
          </a:p>
          <a:p>
            <a:r>
              <a:rPr lang="en-US" sz="1000" dirty="0">
                <a:solidFill>
                  <a:srgbClr val="C00000"/>
                </a:solidFill>
              </a:rPr>
              <a:t>…</a:t>
            </a:r>
          </a:p>
        </p:txBody>
      </p:sp>
    </p:spTree>
    <p:extLst>
      <p:ext uri="{BB962C8B-B14F-4D97-AF65-F5344CB8AC3E}">
        <p14:creationId xmlns:p14="http://schemas.microsoft.com/office/powerpoint/2010/main" val="134107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
            <a:extLst>
              <a:ext uri="{FF2B5EF4-FFF2-40B4-BE49-F238E27FC236}">
                <a16:creationId xmlns:a16="http://schemas.microsoft.com/office/drawing/2014/main" id="{C0A4D197-E2D5-940B-46E5-0923AC2FDBB5}"/>
              </a:ext>
            </a:extLst>
          </p:cNvPr>
          <p:cNvSpPr>
            <a:spLocks noGrp="1"/>
          </p:cNvSpPr>
          <p:nvPr>
            <p:ph type="title"/>
          </p:nvPr>
        </p:nvSpPr>
        <p:spPr>
          <a:xfrm>
            <a:off x="1605" y="201363"/>
            <a:ext cx="10137600" cy="906366"/>
          </a:xfrm>
        </p:spPr>
        <p:txBody>
          <a:bodyPr/>
          <a:lstStyle/>
          <a:p>
            <a:r>
              <a:rPr lang="en-US" sz="1800" b="0" dirty="0"/>
              <a:t>TwinCAT Connectivity</a:t>
            </a:r>
            <a:br>
              <a:rPr lang="en-US" dirty="0"/>
            </a:br>
            <a:r>
              <a:rPr lang="en-US" dirty="0"/>
              <a:t>Broker </a:t>
            </a:r>
            <a:r>
              <a:rPr lang="en-US" sz="2000" dirty="0"/>
              <a:t>Pub/Sub Model</a:t>
            </a:r>
          </a:p>
        </p:txBody>
      </p:sp>
      <p:grpSp>
        <p:nvGrpSpPr>
          <p:cNvPr id="8" name="Group 7">
            <a:extLst>
              <a:ext uri="{FF2B5EF4-FFF2-40B4-BE49-F238E27FC236}">
                <a16:creationId xmlns:a16="http://schemas.microsoft.com/office/drawing/2014/main" id="{22ED788F-547E-96A8-C5C5-C3C8C154EA85}"/>
              </a:ext>
            </a:extLst>
          </p:cNvPr>
          <p:cNvGrpSpPr/>
          <p:nvPr/>
        </p:nvGrpSpPr>
        <p:grpSpPr>
          <a:xfrm>
            <a:off x="10227441" y="4779307"/>
            <a:ext cx="914155" cy="1009846"/>
            <a:chOff x="6784259" y="2270625"/>
            <a:chExt cx="914155" cy="1009846"/>
          </a:xfrm>
        </p:grpSpPr>
        <p:grpSp>
          <p:nvGrpSpPr>
            <p:cNvPr id="183" name="Group 182">
              <a:extLst>
                <a:ext uri="{FF2B5EF4-FFF2-40B4-BE49-F238E27FC236}">
                  <a16:creationId xmlns:a16="http://schemas.microsoft.com/office/drawing/2014/main" id="{9D92D8B7-233A-168A-EF85-5EC0FDF4582F}"/>
                </a:ext>
              </a:extLst>
            </p:cNvPr>
            <p:cNvGrpSpPr/>
            <p:nvPr/>
          </p:nvGrpSpPr>
          <p:grpSpPr>
            <a:xfrm>
              <a:off x="6784260" y="2516702"/>
              <a:ext cx="914154" cy="763769"/>
              <a:chOff x="8118020" y="5095886"/>
              <a:chExt cx="914154" cy="763769"/>
            </a:xfrm>
          </p:grpSpPr>
          <p:pic>
            <p:nvPicPr>
              <p:cNvPr id="172" name="Graphic 171" descr="Server outline">
                <a:extLst>
                  <a:ext uri="{FF2B5EF4-FFF2-40B4-BE49-F238E27FC236}">
                    <a16:creationId xmlns:a16="http://schemas.microsoft.com/office/drawing/2014/main" id="{EDD8E2F0-4000-5804-9AB0-EE64678A20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18020" y="5271166"/>
                <a:ext cx="588489" cy="588489"/>
              </a:xfrm>
              <a:prstGeom prst="rect">
                <a:avLst/>
              </a:prstGeom>
            </p:spPr>
          </p:pic>
          <p:pic>
            <p:nvPicPr>
              <p:cNvPr id="173" name="Graphic 172" descr="Database outline">
                <a:extLst>
                  <a:ext uri="{FF2B5EF4-FFF2-40B4-BE49-F238E27FC236}">
                    <a16:creationId xmlns:a16="http://schemas.microsoft.com/office/drawing/2014/main" id="{CF3B9355-FD8B-6B5E-BAA1-DABBEEC92A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45755" y="5114168"/>
                <a:ext cx="486418" cy="486418"/>
              </a:xfrm>
              <a:prstGeom prst="rect">
                <a:avLst/>
              </a:prstGeom>
            </p:spPr>
          </p:pic>
          <p:sp>
            <p:nvSpPr>
              <p:cNvPr id="182" name="Rectangle 181">
                <a:extLst>
                  <a:ext uri="{FF2B5EF4-FFF2-40B4-BE49-F238E27FC236}">
                    <a16:creationId xmlns:a16="http://schemas.microsoft.com/office/drawing/2014/main" id="{A1F9946D-EE4A-1919-386A-06C08137C00B}"/>
                  </a:ext>
                </a:extLst>
              </p:cNvPr>
              <p:cNvSpPr/>
              <p:nvPr/>
            </p:nvSpPr>
            <p:spPr>
              <a:xfrm>
                <a:off x="8118020" y="5095886"/>
                <a:ext cx="914154" cy="736610"/>
              </a:xfrm>
              <a:prstGeom prst="rect">
                <a:avLst/>
              </a:prstGeom>
              <a:no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grpSp>
        <p:sp>
          <p:nvSpPr>
            <p:cNvPr id="7" name="TextBox 6">
              <a:extLst>
                <a:ext uri="{FF2B5EF4-FFF2-40B4-BE49-F238E27FC236}">
                  <a16:creationId xmlns:a16="http://schemas.microsoft.com/office/drawing/2014/main" id="{9CBD2FAA-DF1C-8539-634C-9B5E284E6548}"/>
                </a:ext>
              </a:extLst>
            </p:cNvPr>
            <p:cNvSpPr txBox="1"/>
            <p:nvPr/>
          </p:nvSpPr>
          <p:spPr>
            <a:xfrm>
              <a:off x="6784259" y="2270625"/>
              <a:ext cx="914154" cy="276999"/>
            </a:xfrm>
            <a:prstGeom prst="rect">
              <a:avLst/>
            </a:prstGeom>
            <a:noFill/>
          </p:spPr>
          <p:txBody>
            <a:bodyPr wrap="square" rtlCol="0">
              <a:spAutoFit/>
            </a:bodyPr>
            <a:lstStyle/>
            <a:p>
              <a:pPr algn="ctr"/>
              <a:r>
                <a:rPr lang="en-US" sz="1200" dirty="0"/>
                <a:t>IT System</a:t>
              </a:r>
            </a:p>
          </p:txBody>
        </p:sp>
      </p:grpSp>
      <p:sp>
        <p:nvSpPr>
          <p:cNvPr id="37" name="Text Placeholder 3">
            <a:extLst>
              <a:ext uri="{FF2B5EF4-FFF2-40B4-BE49-F238E27FC236}">
                <a16:creationId xmlns:a16="http://schemas.microsoft.com/office/drawing/2014/main" id="{18BAB947-AB1C-220D-467E-0387A4218EA8}"/>
              </a:ext>
            </a:extLst>
          </p:cNvPr>
          <p:cNvSpPr>
            <a:spLocks noGrp="1"/>
          </p:cNvSpPr>
          <p:nvPr>
            <p:ph type="body" sz="quarter" idx="15"/>
          </p:nvPr>
        </p:nvSpPr>
        <p:spPr>
          <a:xfrm>
            <a:off x="2" y="1091783"/>
            <a:ext cx="4280298" cy="4902509"/>
          </a:xfrm>
        </p:spPr>
        <p:txBody>
          <a:bodyPr/>
          <a:lstStyle/>
          <a:p>
            <a:r>
              <a:rPr lang="en-US" sz="1400" dirty="0"/>
              <a:t>To transact with each OT device, we need:</a:t>
            </a:r>
          </a:p>
          <a:p>
            <a:pPr lvl="1"/>
            <a:r>
              <a:rPr lang="en-US" sz="1400" dirty="0"/>
              <a:t>Broker address</a:t>
            </a:r>
          </a:p>
          <a:p>
            <a:pPr lvl="1"/>
            <a:r>
              <a:rPr lang="en-US" sz="1400" dirty="0"/>
              <a:t>Topic</a:t>
            </a:r>
          </a:p>
          <a:p>
            <a:pPr lvl="1"/>
            <a:endParaRPr lang="en-US" sz="1400" dirty="0"/>
          </a:p>
          <a:p>
            <a:r>
              <a:rPr lang="en-US" sz="1400" dirty="0"/>
              <a:t>Payloads can be binary or JSON (human-readable)</a:t>
            </a:r>
          </a:p>
          <a:p>
            <a:pPr marL="0" indent="0">
              <a:buNone/>
            </a:pPr>
            <a:endParaRPr lang="en-US" sz="1400" dirty="0"/>
          </a:p>
          <a:p>
            <a:r>
              <a:rPr lang="en-US" sz="1400" dirty="0"/>
              <a:t>New components can simply connect to the broker and can begin publishing/subscribing</a:t>
            </a:r>
          </a:p>
          <a:p>
            <a:endParaRPr lang="en-US" sz="1400" dirty="0"/>
          </a:p>
          <a:p>
            <a:r>
              <a:rPr lang="en-US" sz="1400" dirty="0"/>
              <a:t>Topics created as needed, with user-defined names and “paths”:</a:t>
            </a:r>
          </a:p>
        </p:txBody>
      </p:sp>
      <p:grpSp>
        <p:nvGrpSpPr>
          <p:cNvPr id="2" name="Group 1">
            <a:extLst>
              <a:ext uri="{FF2B5EF4-FFF2-40B4-BE49-F238E27FC236}">
                <a16:creationId xmlns:a16="http://schemas.microsoft.com/office/drawing/2014/main" id="{8626C8BD-FF52-351C-6FD4-C1B97D4F4E9F}"/>
              </a:ext>
            </a:extLst>
          </p:cNvPr>
          <p:cNvGrpSpPr/>
          <p:nvPr/>
        </p:nvGrpSpPr>
        <p:grpSpPr>
          <a:xfrm>
            <a:off x="8281590" y="3528815"/>
            <a:ext cx="1042787" cy="1042787"/>
            <a:chOff x="3774715" y="3284768"/>
            <a:chExt cx="1042787" cy="1042787"/>
          </a:xfrm>
        </p:grpSpPr>
        <p:pic>
          <p:nvPicPr>
            <p:cNvPr id="6" name="Graphic 5" descr="Cloud outline">
              <a:extLst>
                <a:ext uri="{FF2B5EF4-FFF2-40B4-BE49-F238E27FC236}">
                  <a16:creationId xmlns:a16="http://schemas.microsoft.com/office/drawing/2014/main" id="{B810C0A7-C6AA-1C90-4270-1CBE6A5A3B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74715" y="3284768"/>
              <a:ext cx="1042787" cy="1042787"/>
            </a:xfrm>
            <a:prstGeom prst="rect">
              <a:avLst/>
            </a:prstGeom>
          </p:spPr>
        </p:pic>
        <p:sp>
          <p:nvSpPr>
            <p:cNvPr id="10" name="TextBox 9">
              <a:extLst>
                <a:ext uri="{FF2B5EF4-FFF2-40B4-BE49-F238E27FC236}">
                  <a16:creationId xmlns:a16="http://schemas.microsoft.com/office/drawing/2014/main" id="{8718B1CF-1459-8727-3598-8CDC99F2ECA5}"/>
                </a:ext>
              </a:extLst>
            </p:cNvPr>
            <p:cNvSpPr txBox="1"/>
            <p:nvPr/>
          </p:nvSpPr>
          <p:spPr>
            <a:xfrm>
              <a:off x="3977751" y="3725349"/>
              <a:ext cx="636713" cy="276999"/>
            </a:xfrm>
            <a:prstGeom prst="rect">
              <a:avLst/>
            </a:prstGeom>
            <a:noFill/>
          </p:spPr>
          <p:txBody>
            <a:bodyPr wrap="none" rtlCol="0">
              <a:spAutoFit/>
            </a:bodyPr>
            <a:lstStyle/>
            <a:p>
              <a:r>
                <a:rPr lang="en-US" sz="1200" dirty="0"/>
                <a:t>Broker</a:t>
              </a:r>
            </a:p>
          </p:txBody>
        </p:sp>
      </p:grpSp>
      <p:cxnSp>
        <p:nvCxnSpPr>
          <p:cNvPr id="13" name="Straight Connector 12">
            <a:extLst>
              <a:ext uri="{FF2B5EF4-FFF2-40B4-BE49-F238E27FC236}">
                <a16:creationId xmlns:a16="http://schemas.microsoft.com/office/drawing/2014/main" id="{21DC8C9D-FDAB-930C-6BF5-AC81E05B7800}"/>
              </a:ext>
            </a:extLst>
          </p:cNvPr>
          <p:cNvCxnSpPr>
            <a:cxnSpLocks/>
          </p:cNvCxnSpPr>
          <p:nvPr/>
        </p:nvCxnSpPr>
        <p:spPr>
          <a:xfrm>
            <a:off x="8615151" y="2948699"/>
            <a:ext cx="62251" cy="761865"/>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A4E72C95-3588-C43E-C893-28B3F8C78E71}"/>
              </a:ext>
            </a:extLst>
          </p:cNvPr>
          <p:cNvGrpSpPr/>
          <p:nvPr/>
        </p:nvGrpSpPr>
        <p:grpSpPr>
          <a:xfrm>
            <a:off x="5649921" y="4975353"/>
            <a:ext cx="1915992" cy="1681284"/>
            <a:chOff x="2135238" y="1963268"/>
            <a:chExt cx="2396108" cy="2117505"/>
          </a:xfrm>
        </p:grpSpPr>
        <p:pic>
          <p:nvPicPr>
            <p:cNvPr id="22" name="Graphic 21" descr="Computer outline">
              <a:extLst>
                <a:ext uri="{FF2B5EF4-FFF2-40B4-BE49-F238E27FC236}">
                  <a16:creationId xmlns:a16="http://schemas.microsoft.com/office/drawing/2014/main" id="{4F4F65D3-FE66-1F13-36E7-C5BFBC573C8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67893" y="3309274"/>
              <a:ext cx="748924" cy="748924"/>
            </a:xfrm>
            <a:prstGeom prst="rect">
              <a:avLst/>
            </a:prstGeom>
          </p:spPr>
        </p:pic>
        <p:pic>
          <p:nvPicPr>
            <p:cNvPr id="23" name="Graphic 22" descr="Robot Hand outline">
              <a:extLst>
                <a:ext uri="{FF2B5EF4-FFF2-40B4-BE49-F238E27FC236}">
                  <a16:creationId xmlns:a16="http://schemas.microsoft.com/office/drawing/2014/main" id="{7C62F193-96BE-6F47-3056-07CF8D9D1B7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00271" y="2451088"/>
              <a:ext cx="914400" cy="914401"/>
            </a:xfrm>
            <a:prstGeom prst="rect">
              <a:avLst/>
            </a:prstGeom>
          </p:spPr>
        </p:pic>
        <p:pic>
          <p:nvPicPr>
            <p:cNvPr id="24" name="Graphic 23" descr="Network diagram outline">
              <a:extLst>
                <a:ext uri="{FF2B5EF4-FFF2-40B4-BE49-F238E27FC236}">
                  <a16:creationId xmlns:a16="http://schemas.microsoft.com/office/drawing/2014/main" id="{406F21BF-9F89-4A7B-98B0-7A8B4654BD5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22077" y="2686676"/>
              <a:ext cx="476279" cy="476279"/>
            </a:xfrm>
            <a:prstGeom prst="rect">
              <a:avLst/>
            </a:prstGeom>
          </p:spPr>
        </p:pic>
        <p:cxnSp>
          <p:nvCxnSpPr>
            <p:cNvPr id="25" name="Straight Connector 24">
              <a:extLst>
                <a:ext uri="{FF2B5EF4-FFF2-40B4-BE49-F238E27FC236}">
                  <a16:creationId xmlns:a16="http://schemas.microsoft.com/office/drawing/2014/main" id="{2C4C9B89-FA44-76B6-2827-4E43743BCBF5}"/>
                </a:ext>
              </a:extLst>
            </p:cNvPr>
            <p:cNvCxnSpPr>
              <a:cxnSpLocks/>
            </p:cNvCxnSpPr>
            <p:nvPr/>
          </p:nvCxnSpPr>
          <p:spPr>
            <a:xfrm flipV="1">
              <a:off x="2729315" y="3139377"/>
              <a:ext cx="68449" cy="268734"/>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49378CC-27C5-4344-C4C7-0F46BE1E4777}"/>
                </a:ext>
              </a:extLst>
            </p:cNvPr>
            <p:cNvCxnSpPr>
              <a:cxnSpLocks/>
            </p:cNvCxnSpPr>
            <p:nvPr/>
          </p:nvCxnSpPr>
          <p:spPr>
            <a:xfrm>
              <a:off x="3247725" y="2908288"/>
              <a:ext cx="229904" cy="0"/>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EF2635A-B817-F772-8990-6D6F3179C7B1}"/>
                </a:ext>
              </a:extLst>
            </p:cNvPr>
            <p:cNvSpPr/>
            <p:nvPr/>
          </p:nvSpPr>
          <p:spPr>
            <a:xfrm>
              <a:off x="2135238" y="2302635"/>
              <a:ext cx="2396108" cy="1778138"/>
            </a:xfrm>
            <a:prstGeom prst="rect">
              <a:avLst/>
            </a:prstGeom>
            <a:no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28" name="TextBox 27">
              <a:extLst>
                <a:ext uri="{FF2B5EF4-FFF2-40B4-BE49-F238E27FC236}">
                  <a16:creationId xmlns:a16="http://schemas.microsoft.com/office/drawing/2014/main" id="{1883D03C-6420-6F81-2476-38B76EEE558F}"/>
                </a:ext>
              </a:extLst>
            </p:cNvPr>
            <p:cNvSpPr txBox="1"/>
            <p:nvPr/>
          </p:nvSpPr>
          <p:spPr>
            <a:xfrm>
              <a:off x="2538850" y="1963268"/>
              <a:ext cx="1512379" cy="276999"/>
            </a:xfrm>
            <a:prstGeom prst="rect">
              <a:avLst/>
            </a:prstGeom>
            <a:noFill/>
          </p:spPr>
          <p:txBody>
            <a:bodyPr wrap="square" rtlCol="0">
              <a:spAutoFit/>
            </a:bodyPr>
            <a:lstStyle/>
            <a:p>
              <a:pPr algn="ctr"/>
              <a:r>
                <a:rPr lang="en-US" sz="1200" dirty="0"/>
                <a:t>OT System</a:t>
              </a:r>
            </a:p>
          </p:txBody>
        </p:sp>
        <p:pic>
          <p:nvPicPr>
            <p:cNvPr id="30" name="Graphic 29" descr="Binary outline">
              <a:extLst>
                <a:ext uri="{FF2B5EF4-FFF2-40B4-BE49-F238E27FC236}">
                  <a16:creationId xmlns:a16="http://schemas.microsoft.com/office/drawing/2014/main" id="{32B5313A-6566-BE6D-624B-7E685AA3766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32496" y="3361610"/>
              <a:ext cx="459386" cy="459384"/>
            </a:xfrm>
            <a:prstGeom prst="rect">
              <a:avLst/>
            </a:prstGeom>
          </p:spPr>
        </p:pic>
        <p:cxnSp>
          <p:nvCxnSpPr>
            <p:cNvPr id="38" name="Straight Connector 37">
              <a:extLst>
                <a:ext uri="{FF2B5EF4-FFF2-40B4-BE49-F238E27FC236}">
                  <a16:creationId xmlns:a16="http://schemas.microsoft.com/office/drawing/2014/main" id="{DFF4083A-EC45-ADF4-003E-DE6396BDD614}"/>
                </a:ext>
              </a:extLst>
            </p:cNvPr>
            <p:cNvCxnSpPr>
              <a:cxnSpLocks/>
            </p:cNvCxnSpPr>
            <p:nvPr/>
          </p:nvCxnSpPr>
          <p:spPr>
            <a:xfrm>
              <a:off x="3059187" y="3093563"/>
              <a:ext cx="357067" cy="306102"/>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grpSp>
      <p:cxnSp>
        <p:nvCxnSpPr>
          <p:cNvPr id="40" name="Straight Connector 39">
            <a:extLst>
              <a:ext uri="{FF2B5EF4-FFF2-40B4-BE49-F238E27FC236}">
                <a16:creationId xmlns:a16="http://schemas.microsoft.com/office/drawing/2014/main" id="{AEF7985F-91FD-379D-1D1E-A84338A4EDE0}"/>
              </a:ext>
            </a:extLst>
          </p:cNvPr>
          <p:cNvCxnSpPr>
            <a:cxnSpLocks/>
          </p:cNvCxnSpPr>
          <p:nvPr/>
        </p:nvCxnSpPr>
        <p:spPr>
          <a:xfrm>
            <a:off x="9312308" y="4385671"/>
            <a:ext cx="804595" cy="622589"/>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BDD97F4B-F1D4-0B39-4313-8D0702E37E26}"/>
              </a:ext>
            </a:extLst>
          </p:cNvPr>
          <p:cNvGrpSpPr/>
          <p:nvPr/>
        </p:nvGrpSpPr>
        <p:grpSpPr>
          <a:xfrm>
            <a:off x="9303295" y="3222358"/>
            <a:ext cx="2309327" cy="953393"/>
            <a:chOff x="7530034" y="4542825"/>
            <a:chExt cx="2309327" cy="953393"/>
          </a:xfrm>
        </p:grpSpPr>
        <p:sp>
          <p:nvSpPr>
            <p:cNvPr id="43" name="TextBox 42">
              <a:extLst>
                <a:ext uri="{FF2B5EF4-FFF2-40B4-BE49-F238E27FC236}">
                  <a16:creationId xmlns:a16="http://schemas.microsoft.com/office/drawing/2014/main" id="{49B131FA-141B-54B9-81B2-12A9AFCD9971}"/>
                </a:ext>
              </a:extLst>
            </p:cNvPr>
            <p:cNvSpPr txBox="1"/>
            <p:nvPr/>
          </p:nvSpPr>
          <p:spPr>
            <a:xfrm>
              <a:off x="7530040" y="4778549"/>
              <a:ext cx="2309321" cy="246221"/>
            </a:xfrm>
            <a:prstGeom prst="rect">
              <a:avLst/>
            </a:prstGeom>
            <a:noFill/>
          </p:spPr>
          <p:txBody>
            <a:bodyPr wrap="square" rtlCol="0">
              <a:spAutoFit/>
            </a:bodyPr>
            <a:lstStyle/>
            <a:p>
              <a:r>
                <a:rPr lang="en-US" sz="1000" dirty="0">
                  <a:solidFill>
                    <a:srgbClr val="C00000"/>
                  </a:solidFill>
                </a:rPr>
                <a:t>Broker:   10.10.0.1</a:t>
              </a:r>
            </a:p>
          </p:txBody>
        </p:sp>
        <p:sp>
          <p:nvSpPr>
            <p:cNvPr id="44" name="TextBox 43">
              <a:extLst>
                <a:ext uri="{FF2B5EF4-FFF2-40B4-BE49-F238E27FC236}">
                  <a16:creationId xmlns:a16="http://schemas.microsoft.com/office/drawing/2014/main" id="{A773561F-6489-C734-5F75-38E1D9B63396}"/>
                </a:ext>
              </a:extLst>
            </p:cNvPr>
            <p:cNvSpPr txBox="1"/>
            <p:nvPr/>
          </p:nvSpPr>
          <p:spPr>
            <a:xfrm>
              <a:off x="7530038" y="5005220"/>
              <a:ext cx="2309320" cy="246221"/>
            </a:xfrm>
            <a:prstGeom prst="rect">
              <a:avLst/>
            </a:prstGeom>
            <a:noFill/>
            <a:ln>
              <a:noFill/>
            </a:ln>
          </p:spPr>
          <p:txBody>
            <a:bodyPr wrap="square" rtlCol="0">
              <a:spAutoFit/>
            </a:bodyPr>
            <a:lstStyle/>
            <a:p>
              <a:r>
                <a:rPr lang="en-US" sz="1000" dirty="0">
                  <a:solidFill>
                    <a:srgbClr val="00B050"/>
                  </a:solidFill>
                </a:rPr>
                <a:t>Topic:     Machine/1/Status</a:t>
              </a:r>
            </a:p>
          </p:txBody>
        </p:sp>
        <p:sp>
          <p:nvSpPr>
            <p:cNvPr id="46" name="TextBox 45">
              <a:extLst>
                <a:ext uri="{FF2B5EF4-FFF2-40B4-BE49-F238E27FC236}">
                  <a16:creationId xmlns:a16="http://schemas.microsoft.com/office/drawing/2014/main" id="{E43C3EC3-BA4E-B21D-5FFE-27DD2C9C15FC}"/>
                </a:ext>
              </a:extLst>
            </p:cNvPr>
            <p:cNvSpPr txBox="1"/>
            <p:nvPr/>
          </p:nvSpPr>
          <p:spPr>
            <a:xfrm>
              <a:off x="7530039" y="5249997"/>
              <a:ext cx="2309319" cy="246221"/>
            </a:xfrm>
            <a:prstGeom prst="rect">
              <a:avLst/>
            </a:prstGeom>
            <a:noFill/>
            <a:ln>
              <a:noFill/>
            </a:ln>
          </p:spPr>
          <p:txBody>
            <a:bodyPr wrap="square" rtlCol="0">
              <a:spAutoFit/>
            </a:bodyPr>
            <a:lstStyle/>
            <a:p>
              <a:r>
                <a:rPr lang="en-US" sz="1000" dirty="0">
                  <a:solidFill>
                    <a:srgbClr val="7030A0"/>
                  </a:solidFill>
                </a:rPr>
                <a:t>Data:      { ‘status’: ‘running’ }</a:t>
              </a:r>
            </a:p>
          </p:txBody>
        </p:sp>
        <p:sp>
          <p:nvSpPr>
            <p:cNvPr id="49" name="TextBox 48">
              <a:extLst>
                <a:ext uri="{FF2B5EF4-FFF2-40B4-BE49-F238E27FC236}">
                  <a16:creationId xmlns:a16="http://schemas.microsoft.com/office/drawing/2014/main" id="{B5E1259A-13C5-AE31-4013-EEF9F5FE70C0}"/>
                </a:ext>
              </a:extLst>
            </p:cNvPr>
            <p:cNvSpPr txBox="1"/>
            <p:nvPr/>
          </p:nvSpPr>
          <p:spPr>
            <a:xfrm>
              <a:off x="7530034" y="4542825"/>
              <a:ext cx="2309321" cy="246221"/>
            </a:xfrm>
            <a:prstGeom prst="rect">
              <a:avLst/>
            </a:prstGeom>
            <a:noFill/>
          </p:spPr>
          <p:txBody>
            <a:bodyPr wrap="square" rtlCol="0">
              <a:spAutoFit/>
            </a:bodyPr>
            <a:lstStyle/>
            <a:p>
              <a:r>
                <a:rPr lang="en-US" sz="1000" u="sng" dirty="0"/>
                <a:t>Publish</a:t>
              </a:r>
            </a:p>
          </p:txBody>
        </p:sp>
      </p:grpSp>
      <p:grpSp>
        <p:nvGrpSpPr>
          <p:cNvPr id="50" name="Group 49">
            <a:extLst>
              <a:ext uri="{FF2B5EF4-FFF2-40B4-BE49-F238E27FC236}">
                <a16:creationId xmlns:a16="http://schemas.microsoft.com/office/drawing/2014/main" id="{C82E6545-61DC-87E8-0484-79B0991CDC57}"/>
              </a:ext>
            </a:extLst>
          </p:cNvPr>
          <p:cNvGrpSpPr/>
          <p:nvPr/>
        </p:nvGrpSpPr>
        <p:grpSpPr>
          <a:xfrm>
            <a:off x="7848310" y="1232222"/>
            <a:ext cx="1915992" cy="1681284"/>
            <a:chOff x="2135238" y="1963268"/>
            <a:chExt cx="2396108" cy="2117505"/>
          </a:xfrm>
        </p:grpSpPr>
        <p:pic>
          <p:nvPicPr>
            <p:cNvPr id="51" name="Graphic 50" descr="Computer outline">
              <a:extLst>
                <a:ext uri="{FF2B5EF4-FFF2-40B4-BE49-F238E27FC236}">
                  <a16:creationId xmlns:a16="http://schemas.microsoft.com/office/drawing/2014/main" id="{0FD076CB-56F4-F0FE-CF82-267F7861D88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67893" y="3309274"/>
              <a:ext cx="748924" cy="748924"/>
            </a:xfrm>
            <a:prstGeom prst="rect">
              <a:avLst/>
            </a:prstGeom>
          </p:spPr>
        </p:pic>
        <p:pic>
          <p:nvPicPr>
            <p:cNvPr id="52" name="Graphic 51" descr="Robot Hand outline">
              <a:extLst>
                <a:ext uri="{FF2B5EF4-FFF2-40B4-BE49-F238E27FC236}">
                  <a16:creationId xmlns:a16="http://schemas.microsoft.com/office/drawing/2014/main" id="{C5D9E33B-BEBB-FBA9-072F-87061D35344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00271" y="2451088"/>
              <a:ext cx="914400" cy="914401"/>
            </a:xfrm>
            <a:prstGeom prst="rect">
              <a:avLst/>
            </a:prstGeom>
          </p:spPr>
        </p:pic>
        <p:pic>
          <p:nvPicPr>
            <p:cNvPr id="53" name="Graphic 52" descr="Network diagram outline">
              <a:extLst>
                <a:ext uri="{FF2B5EF4-FFF2-40B4-BE49-F238E27FC236}">
                  <a16:creationId xmlns:a16="http://schemas.microsoft.com/office/drawing/2014/main" id="{CF501951-5DAD-4C14-1430-F79E0A90A1A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22077" y="2686676"/>
              <a:ext cx="476279" cy="476279"/>
            </a:xfrm>
            <a:prstGeom prst="rect">
              <a:avLst/>
            </a:prstGeom>
          </p:spPr>
        </p:pic>
        <p:cxnSp>
          <p:nvCxnSpPr>
            <p:cNvPr id="54" name="Straight Connector 53">
              <a:extLst>
                <a:ext uri="{FF2B5EF4-FFF2-40B4-BE49-F238E27FC236}">
                  <a16:creationId xmlns:a16="http://schemas.microsoft.com/office/drawing/2014/main" id="{C6DBD242-5DF4-86B8-E397-1B2EA8256166}"/>
                </a:ext>
              </a:extLst>
            </p:cNvPr>
            <p:cNvCxnSpPr>
              <a:cxnSpLocks/>
            </p:cNvCxnSpPr>
            <p:nvPr/>
          </p:nvCxnSpPr>
          <p:spPr>
            <a:xfrm flipV="1">
              <a:off x="2729315" y="3139377"/>
              <a:ext cx="68449" cy="268734"/>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F10D9FC-93FC-ABAD-6AB2-3FC8B0C9AC60}"/>
                </a:ext>
              </a:extLst>
            </p:cNvPr>
            <p:cNvCxnSpPr>
              <a:cxnSpLocks/>
            </p:cNvCxnSpPr>
            <p:nvPr/>
          </p:nvCxnSpPr>
          <p:spPr>
            <a:xfrm>
              <a:off x="3247725" y="2908288"/>
              <a:ext cx="229904" cy="0"/>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3622207D-C864-7529-649C-356B63624711}"/>
                </a:ext>
              </a:extLst>
            </p:cNvPr>
            <p:cNvSpPr/>
            <p:nvPr/>
          </p:nvSpPr>
          <p:spPr>
            <a:xfrm>
              <a:off x="2135238" y="2302635"/>
              <a:ext cx="2396108" cy="1778138"/>
            </a:xfrm>
            <a:prstGeom prst="rect">
              <a:avLst/>
            </a:prstGeom>
            <a:no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66" name="TextBox 65">
              <a:extLst>
                <a:ext uri="{FF2B5EF4-FFF2-40B4-BE49-F238E27FC236}">
                  <a16:creationId xmlns:a16="http://schemas.microsoft.com/office/drawing/2014/main" id="{A03E5BBD-1C3F-E1EE-2C9C-391DBB8DCEC7}"/>
                </a:ext>
              </a:extLst>
            </p:cNvPr>
            <p:cNvSpPr txBox="1"/>
            <p:nvPr/>
          </p:nvSpPr>
          <p:spPr>
            <a:xfrm>
              <a:off x="2538850" y="1963268"/>
              <a:ext cx="1512379" cy="276999"/>
            </a:xfrm>
            <a:prstGeom prst="rect">
              <a:avLst/>
            </a:prstGeom>
            <a:noFill/>
          </p:spPr>
          <p:txBody>
            <a:bodyPr wrap="square" rtlCol="0">
              <a:spAutoFit/>
            </a:bodyPr>
            <a:lstStyle/>
            <a:p>
              <a:pPr algn="ctr"/>
              <a:r>
                <a:rPr lang="en-US" sz="1200" dirty="0"/>
                <a:t>OT System</a:t>
              </a:r>
            </a:p>
          </p:txBody>
        </p:sp>
        <p:pic>
          <p:nvPicPr>
            <p:cNvPr id="74" name="Graphic 73" descr="Binary outline">
              <a:extLst>
                <a:ext uri="{FF2B5EF4-FFF2-40B4-BE49-F238E27FC236}">
                  <a16:creationId xmlns:a16="http://schemas.microsoft.com/office/drawing/2014/main" id="{8F61042D-072C-F499-BB8C-38C53703E81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32496" y="3361610"/>
              <a:ext cx="459386" cy="459384"/>
            </a:xfrm>
            <a:prstGeom prst="rect">
              <a:avLst/>
            </a:prstGeom>
          </p:spPr>
        </p:pic>
        <p:cxnSp>
          <p:nvCxnSpPr>
            <p:cNvPr id="75" name="Straight Connector 74">
              <a:extLst>
                <a:ext uri="{FF2B5EF4-FFF2-40B4-BE49-F238E27FC236}">
                  <a16:creationId xmlns:a16="http://schemas.microsoft.com/office/drawing/2014/main" id="{13A801A9-C05D-5891-DED6-6ECB3C4FCF5E}"/>
                </a:ext>
              </a:extLst>
            </p:cNvPr>
            <p:cNvCxnSpPr>
              <a:cxnSpLocks/>
            </p:cNvCxnSpPr>
            <p:nvPr/>
          </p:nvCxnSpPr>
          <p:spPr>
            <a:xfrm>
              <a:off x="3059187" y="3093563"/>
              <a:ext cx="357067" cy="306102"/>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326C825A-728E-4260-B27B-05F6B8674535}"/>
              </a:ext>
            </a:extLst>
          </p:cNvPr>
          <p:cNvGrpSpPr/>
          <p:nvPr/>
        </p:nvGrpSpPr>
        <p:grpSpPr>
          <a:xfrm>
            <a:off x="6643694" y="3514240"/>
            <a:ext cx="2309327" cy="953393"/>
            <a:chOff x="7530034" y="4542825"/>
            <a:chExt cx="2309327" cy="953393"/>
          </a:xfrm>
        </p:grpSpPr>
        <p:sp>
          <p:nvSpPr>
            <p:cNvPr id="94" name="TextBox 93">
              <a:extLst>
                <a:ext uri="{FF2B5EF4-FFF2-40B4-BE49-F238E27FC236}">
                  <a16:creationId xmlns:a16="http://schemas.microsoft.com/office/drawing/2014/main" id="{4D6C7D69-44FA-D7E1-C702-420369167E9B}"/>
                </a:ext>
              </a:extLst>
            </p:cNvPr>
            <p:cNvSpPr txBox="1"/>
            <p:nvPr/>
          </p:nvSpPr>
          <p:spPr>
            <a:xfrm>
              <a:off x="7530040" y="4778549"/>
              <a:ext cx="2309321" cy="246221"/>
            </a:xfrm>
            <a:prstGeom prst="rect">
              <a:avLst/>
            </a:prstGeom>
            <a:noFill/>
          </p:spPr>
          <p:txBody>
            <a:bodyPr wrap="square" rtlCol="0">
              <a:spAutoFit/>
            </a:bodyPr>
            <a:lstStyle/>
            <a:p>
              <a:r>
                <a:rPr lang="en-US" sz="1000" dirty="0">
                  <a:solidFill>
                    <a:srgbClr val="C00000"/>
                  </a:solidFill>
                </a:rPr>
                <a:t>Broker:   10.10.0.1</a:t>
              </a:r>
            </a:p>
          </p:txBody>
        </p:sp>
        <p:sp>
          <p:nvSpPr>
            <p:cNvPr id="95" name="TextBox 94">
              <a:extLst>
                <a:ext uri="{FF2B5EF4-FFF2-40B4-BE49-F238E27FC236}">
                  <a16:creationId xmlns:a16="http://schemas.microsoft.com/office/drawing/2014/main" id="{08CDBE46-51A9-0E77-FCDE-07874C62AD57}"/>
                </a:ext>
              </a:extLst>
            </p:cNvPr>
            <p:cNvSpPr txBox="1"/>
            <p:nvPr/>
          </p:nvSpPr>
          <p:spPr>
            <a:xfrm>
              <a:off x="7530038" y="5005220"/>
              <a:ext cx="2309320" cy="246221"/>
            </a:xfrm>
            <a:prstGeom prst="rect">
              <a:avLst/>
            </a:prstGeom>
            <a:noFill/>
            <a:ln>
              <a:noFill/>
            </a:ln>
          </p:spPr>
          <p:txBody>
            <a:bodyPr wrap="square" rtlCol="0">
              <a:spAutoFit/>
            </a:bodyPr>
            <a:lstStyle/>
            <a:p>
              <a:r>
                <a:rPr lang="en-US" sz="1000" dirty="0">
                  <a:solidFill>
                    <a:srgbClr val="00B050"/>
                  </a:solidFill>
                </a:rPr>
                <a:t>Topic:     Machine/2/Status</a:t>
              </a:r>
            </a:p>
          </p:txBody>
        </p:sp>
        <p:sp>
          <p:nvSpPr>
            <p:cNvPr id="96" name="TextBox 95">
              <a:extLst>
                <a:ext uri="{FF2B5EF4-FFF2-40B4-BE49-F238E27FC236}">
                  <a16:creationId xmlns:a16="http://schemas.microsoft.com/office/drawing/2014/main" id="{AAA1D2E5-8AFB-5DE4-CEEA-4112110CD1B3}"/>
                </a:ext>
              </a:extLst>
            </p:cNvPr>
            <p:cNvSpPr txBox="1"/>
            <p:nvPr/>
          </p:nvSpPr>
          <p:spPr>
            <a:xfrm>
              <a:off x="7530039" y="5249997"/>
              <a:ext cx="2309319" cy="246221"/>
            </a:xfrm>
            <a:prstGeom prst="rect">
              <a:avLst/>
            </a:prstGeom>
            <a:noFill/>
            <a:ln>
              <a:noFill/>
            </a:ln>
          </p:spPr>
          <p:txBody>
            <a:bodyPr wrap="square" rtlCol="0">
              <a:spAutoFit/>
            </a:bodyPr>
            <a:lstStyle/>
            <a:p>
              <a:r>
                <a:rPr lang="en-US" sz="1000" dirty="0">
                  <a:solidFill>
                    <a:srgbClr val="7030A0"/>
                  </a:solidFill>
                </a:rPr>
                <a:t>Data:      { ‘status’: ‘idle’ }</a:t>
              </a:r>
            </a:p>
          </p:txBody>
        </p:sp>
        <p:sp>
          <p:nvSpPr>
            <p:cNvPr id="97" name="TextBox 96">
              <a:extLst>
                <a:ext uri="{FF2B5EF4-FFF2-40B4-BE49-F238E27FC236}">
                  <a16:creationId xmlns:a16="http://schemas.microsoft.com/office/drawing/2014/main" id="{2914A34E-C709-749C-0DE5-F559EF47F436}"/>
                </a:ext>
              </a:extLst>
            </p:cNvPr>
            <p:cNvSpPr txBox="1"/>
            <p:nvPr/>
          </p:nvSpPr>
          <p:spPr>
            <a:xfrm>
              <a:off x="7530034" y="4542825"/>
              <a:ext cx="2309321" cy="246221"/>
            </a:xfrm>
            <a:prstGeom prst="rect">
              <a:avLst/>
            </a:prstGeom>
            <a:noFill/>
          </p:spPr>
          <p:txBody>
            <a:bodyPr wrap="square" rtlCol="0">
              <a:spAutoFit/>
            </a:bodyPr>
            <a:lstStyle/>
            <a:p>
              <a:r>
                <a:rPr lang="en-US" sz="1000" u="sng" dirty="0"/>
                <a:t>Publish</a:t>
              </a:r>
            </a:p>
          </p:txBody>
        </p:sp>
      </p:grpSp>
      <p:cxnSp>
        <p:nvCxnSpPr>
          <p:cNvPr id="100" name="Straight Connector 99">
            <a:extLst>
              <a:ext uri="{FF2B5EF4-FFF2-40B4-BE49-F238E27FC236}">
                <a16:creationId xmlns:a16="http://schemas.microsoft.com/office/drawing/2014/main" id="{615DE0C3-271F-58F3-6043-ABAD1227264A}"/>
              </a:ext>
            </a:extLst>
          </p:cNvPr>
          <p:cNvCxnSpPr>
            <a:cxnSpLocks/>
          </p:cNvCxnSpPr>
          <p:nvPr/>
        </p:nvCxnSpPr>
        <p:spPr>
          <a:xfrm>
            <a:off x="6674255" y="3343760"/>
            <a:ext cx="1775697" cy="423522"/>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grpSp>
        <p:nvGrpSpPr>
          <p:cNvPr id="105" name="Group 104">
            <a:extLst>
              <a:ext uri="{FF2B5EF4-FFF2-40B4-BE49-F238E27FC236}">
                <a16:creationId xmlns:a16="http://schemas.microsoft.com/office/drawing/2014/main" id="{23FA4DFB-B870-8326-5907-729F7D408C5D}"/>
              </a:ext>
            </a:extLst>
          </p:cNvPr>
          <p:cNvGrpSpPr/>
          <p:nvPr/>
        </p:nvGrpSpPr>
        <p:grpSpPr>
          <a:xfrm>
            <a:off x="4640615" y="2803049"/>
            <a:ext cx="1915992" cy="1681284"/>
            <a:chOff x="2135238" y="1963268"/>
            <a:chExt cx="2396108" cy="2117505"/>
          </a:xfrm>
        </p:grpSpPr>
        <p:pic>
          <p:nvPicPr>
            <p:cNvPr id="106" name="Graphic 105" descr="Computer outline">
              <a:extLst>
                <a:ext uri="{FF2B5EF4-FFF2-40B4-BE49-F238E27FC236}">
                  <a16:creationId xmlns:a16="http://schemas.microsoft.com/office/drawing/2014/main" id="{0688B9AF-5F75-0F1D-9292-7B90AA2EA33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67893" y="3309274"/>
              <a:ext cx="748924" cy="748924"/>
            </a:xfrm>
            <a:prstGeom prst="rect">
              <a:avLst/>
            </a:prstGeom>
          </p:spPr>
        </p:pic>
        <p:pic>
          <p:nvPicPr>
            <p:cNvPr id="107" name="Graphic 106" descr="Robot Hand outline">
              <a:extLst>
                <a:ext uri="{FF2B5EF4-FFF2-40B4-BE49-F238E27FC236}">
                  <a16:creationId xmlns:a16="http://schemas.microsoft.com/office/drawing/2014/main" id="{4A8264A9-C38D-DF5B-D2FA-C550B1B409E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00271" y="2451088"/>
              <a:ext cx="914400" cy="914401"/>
            </a:xfrm>
            <a:prstGeom prst="rect">
              <a:avLst/>
            </a:prstGeom>
          </p:spPr>
        </p:pic>
        <p:pic>
          <p:nvPicPr>
            <p:cNvPr id="108" name="Graphic 107" descr="Network diagram outline">
              <a:extLst>
                <a:ext uri="{FF2B5EF4-FFF2-40B4-BE49-F238E27FC236}">
                  <a16:creationId xmlns:a16="http://schemas.microsoft.com/office/drawing/2014/main" id="{5D4B59C5-0AA9-CCCE-383E-AB14672499F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22077" y="2686676"/>
              <a:ext cx="476279" cy="476279"/>
            </a:xfrm>
            <a:prstGeom prst="rect">
              <a:avLst/>
            </a:prstGeom>
          </p:spPr>
        </p:pic>
        <p:cxnSp>
          <p:nvCxnSpPr>
            <p:cNvPr id="109" name="Straight Connector 108">
              <a:extLst>
                <a:ext uri="{FF2B5EF4-FFF2-40B4-BE49-F238E27FC236}">
                  <a16:creationId xmlns:a16="http://schemas.microsoft.com/office/drawing/2014/main" id="{65A45A38-A65B-C512-586C-890F90E08273}"/>
                </a:ext>
              </a:extLst>
            </p:cNvPr>
            <p:cNvCxnSpPr>
              <a:cxnSpLocks/>
            </p:cNvCxnSpPr>
            <p:nvPr/>
          </p:nvCxnSpPr>
          <p:spPr>
            <a:xfrm flipV="1">
              <a:off x="2729315" y="3139377"/>
              <a:ext cx="68449" cy="268734"/>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928954A-98BB-9D7F-174D-087C3DE988EE}"/>
                </a:ext>
              </a:extLst>
            </p:cNvPr>
            <p:cNvCxnSpPr>
              <a:cxnSpLocks/>
            </p:cNvCxnSpPr>
            <p:nvPr/>
          </p:nvCxnSpPr>
          <p:spPr>
            <a:xfrm>
              <a:off x="3247725" y="2908288"/>
              <a:ext cx="229904" cy="0"/>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11" name="Rectangle 110">
              <a:extLst>
                <a:ext uri="{FF2B5EF4-FFF2-40B4-BE49-F238E27FC236}">
                  <a16:creationId xmlns:a16="http://schemas.microsoft.com/office/drawing/2014/main" id="{85127E5F-BB28-4249-33F7-DC67D428AD95}"/>
                </a:ext>
              </a:extLst>
            </p:cNvPr>
            <p:cNvSpPr/>
            <p:nvPr/>
          </p:nvSpPr>
          <p:spPr>
            <a:xfrm>
              <a:off x="2135238" y="2302635"/>
              <a:ext cx="2396108" cy="1778138"/>
            </a:xfrm>
            <a:prstGeom prst="rect">
              <a:avLst/>
            </a:prstGeom>
            <a:no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12" name="TextBox 111">
              <a:extLst>
                <a:ext uri="{FF2B5EF4-FFF2-40B4-BE49-F238E27FC236}">
                  <a16:creationId xmlns:a16="http://schemas.microsoft.com/office/drawing/2014/main" id="{49DFE444-10FE-D46A-28F9-AB252F9FAE65}"/>
                </a:ext>
              </a:extLst>
            </p:cNvPr>
            <p:cNvSpPr txBox="1"/>
            <p:nvPr/>
          </p:nvSpPr>
          <p:spPr>
            <a:xfrm>
              <a:off x="2538850" y="1963268"/>
              <a:ext cx="1512379" cy="276999"/>
            </a:xfrm>
            <a:prstGeom prst="rect">
              <a:avLst/>
            </a:prstGeom>
            <a:noFill/>
          </p:spPr>
          <p:txBody>
            <a:bodyPr wrap="square" rtlCol="0">
              <a:spAutoFit/>
            </a:bodyPr>
            <a:lstStyle/>
            <a:p>
              <a:pPr algn="ctr"/>
              <a:r>
                <a:rPr lang="en-US" sz="1200" dirty="0"/>
                <a:t>OT System</a:t>
              </a:r>
            </a:p>
          </p:txBody>
        </p:sp>
        <p:pic>
          <p:nvPicPr>
            <p:cNvPr id="113" name="Graphic 112" descr="Binary outline">
              <a:extLst>
                <a:ext uri="{FF2B5EF4-FFF2-40B4-BE49-F238E27FC236}">
                  <a16:creationId xmlns:a16="http://schemas.microsoft.com/office/drawing/2014/main" id="{3EEBCFF4-6CC0-EFBC-09EE-8DC31F3C6D5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32496" y="3361610"/>
              <a:ext cx="459386" cy="459384"/>
            </a:xfrm>
            <a:prstGeom prst="rect">
              <a:avLst/>
            </a:prstGeom>
          </p:spPr>
        </p:pic>
        <p:cxnSp>
          <p:nvCxnSpPr>
            <p:cNvPr id="114" name="Straight Connector 113">
              <a:extLst>
                <a:ext uri="{FF2B5EF4-FFF2-40B4-BE49-F238E27FC236}">
                  <a16:creationId xmlns:a16="http://schemas.microsoft.com/office/drawing/2014/main" id="{CCD5318E-EDB4-2272-19D2-E21C7CCA9959}"/>
                </a:ext>
              </a:extLst>
            </p:cNvPr>
            <p:cNvCxnSpPr>
              <a:cxnSpLocks/>
            </p:cNvCxnSpPr>
            <p:nvPr/>
          </p:nvCxnSpPr>
          <p:spPr>
            <a:xfrm>
              <a:off x="3059187" y="3093563"/>
              <a:ext cx="357067" cy="306102"/>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grpSp>
      <p:cxnSp>
        <p:nvCxnSpPr>
          <p:cNvPr id="115" name="Straight Connector 114">
            <a:extLst>
              <a:ext uri="{FF2B5EF4-FFF2-40B4-BE49-F238E27FC236}">
                <a16:creationId xmlns:a16="http://schemas.microsoft.com/office/drawing/2014/main" id="{CFEDAA39-3D48-057B-120B-2E58F3667523}"/>
              </a:ext>
            </a:extLst>
          </p:cNvPr>
          <p:cNvCxnSpPr>
            <a:cxnSpLocks/>
          </p:cNvCxnSpPr>
          <p:nvPr/>
        </p:nvCxnSpPr>
        <p:spPr>
          <a:xfrm flipV="1">
            <a:off x="7630876" y="4415764"/>
            <a:ext cx="974235" cy="779524"/>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B61617E4-38A4-8686-BD01-1DEFBD158DD3}"/>
              </a:ext>
            </a:extLst>
          </p:cNvPr>
          <p:cNvSpPr txBox="1"/>
          <p:nvPr/>
        </p:nvSpPr>
        <p:spPr>
          <a:xfrm>
            <a:off x="10139205" y="5802120"/>
            <a:ext cx="1493822" cy="707886"/>
          </a:xfrm>
          <a:prstGeom prst="rect">
            <a:avLst/>
          </a:prstGeom>
          <a:noFill/>
        </p:spPr>
        <p:txBody>
          <a:bodyPr wrap="square" rtlCol="0">
            <a:spAutoFit/>
          </a:bodyPr>
          <a:lstStyle/>
          <a:p>
            <a:r>
              <a:rPr lang="en-US" sz="1000" dirty="0"/>
              <a:t>Subscribe</a:t>
            </a:r>
          </a:p>
          <a:p>
            <a:r>
              <a:rPr lang="en-US" sz="1000" dirty="0"/>
              <a:t>---------------</a:t>
            </a:r>
          </a:p>
          <a:p>
            <a:r>
              <a:rPr lang="en-US" sz="1000" dirty="0">
                <a:solidFill>
                  <a:srgbClr val="C00000"/>
                </a:solidFill>
              </a:rPr>
              <a:t>Broker: 10.10.0.1</a:t>
            </a:r>
          </a:p>
          <a:p>
            <a:r>
              <a:rPr lang="en-US" sz="1000" dirty="0">
                <a:solidFill>
                  <a:srgbClr val="00B050"/>
                </a:solidFill>
              </a:rPr>
              <a:t>Topic: Machine/#</a:t>
            </a:r>
          </a:p>
        </p:txBody>
      </p:sp>
      <p:grpSp>
        <p:nvGrpSpPr>
          <p:cNvPr id="125" name="Group 124">
            <a:extLst>
              <a:ext uri="{FF2B5EF4-FFF2-40B4-BE49-F238E27FC236}">
                <a16:creationId xmlns:a16="http://schemas.microsoft.com/office/drawing/2014/main" id="{C6BF4634-0D7C-08F6-A26B-E3A1EA23F30A}"/>
              </a:ext>
            </a:extLst>
          </p:cNvPr>
          <p:cNvGrpSpPr/>
          <p:nvPr/>
        </p:nvGrpSpPr>
        <p:grpSpPr>
          <a:xfrm>
            <a:off x="7816716" y="5291614"/>
            <a:ext cx="2309327" cy="953393"/>
            <a:chOff x="7530034" y="4542825"/>
            <a:chExt cx="2309327" cy="953393"/>
          </a:xfrm>
        </p:grpSpPr>
        <p:sp>
          <p:nvSpPr>
            <p:cNvPr id="126" name="TextBox 125">
              <a:extLst>
                <a:ext uri="{FF2B5EF4-FFF2-40B4-BE49-F238E27FC236}">
                  <a16:creationId xmlns:a16="http://schemas.microsoft.com/office/drawing/2014/main" id="{AE274389-F676-453F-A27C-6EC5BD87F25D}"/>
                </a:ext>
              </a:extLst>
            </p:cNvPr>
            <p:cNvSpPr txBox="1"/>
            <p:nvPr/>
          </p:nvSpPr>
          <p:spPr>
            <a:xfrm>
              <a:off x="7530040" y="4778549"/>
              <a:ext cx="2309321" cy="246221"/>
            </a:xfrm>
            <a:prstGeom prst="rect">
              <a:avLst/>
            </a:prstGeom>
            <a:noFill/>
          </p:spPr>
          <p:txBody>
            <a:bodyPr wrap="square" rtlCol="0">
              <a:spAutoFit/>
            </a:bodyPr>
            <a:lstStyle/>
            <a:p>
              <a:r>
                <a:rPr lang="en-US" sz="1000" dirty="0">
                  <a:solidFill>
                    <a:srgbClr val="C00000"/>
                  </a:solidFill>
                </a:rPr>
                <a:t>Broker:   10.10.0.1</a:t>
              </a:r>
            </a:p>
          </p:txBody>
        </p:sp>
        <p:sp>
          <p:nvSpPr>
            <p:cNvPr id="127" name="TextBox 126">
              <a:extLst>
                <a:ext uri="{FF2B5EF4-FFF2-40B4-BE49-F238E27FC236}">
                  <a16:creationId xmlns:a16="http://schemas.microsoft.com/office/drawing/2014/main" id="{A5C99679-5499-517C-EBF9-5331B5246D3E}"/>
                </a:ext>
              </a:extLst>
            </p:cNvPr>
            <p:cNvSpPr txBox="1"/>
            <p:nvPr/>
          </p:nvSpPr>
          <p:spPr>
            <a:xfrm>
              <a:off x="7530038" y="5005220"/>
              <a:ext cx="2309320" cy="246221"/>
            </a:xfrm>
            <a:prstGeom prst="rect">
              <a:avLst/>
            </a:prstGeom>
            <a:noFill/>
            <a:ln>
              <a:noFill/>
            </a:ln>
          </p:spPr>
          <p:txBody>
            <a:bodyPr wrap="square" rtlCol="0">
              <a:spAutoFit/>
            </a:bodyPr>
            <a:lstStyle/>
            <a:p>
              <a:r>
                <a:rPr lang="en-US" sz="1000" dirty="0">
                  <a:solidFill>
                    <a:srgbClr val="00B050"/>
                  </a:solidFill>
                </a:rPr>
                <a:t>Topic:     Machine/3/Status</a:t>
              </a:r>
            </a:p>
          </p:txBody>
        </p:sp>
        <p:sp>
          <p:nvSpPr>
            <p:cNvPr id="128" name="TextBox 127">
              <a:extLst>
                <a:ext uri="{FF2B5EF4-FFF2-40B4-BE49-F238E27FC236}">
                  <a16:creationId xmlns:a16="http://schemas.microsoft.com/office/drawing/2014/main" id="{C0A9DE9A-8710-4172-44FF-990B073607E5}"/>
                </a:ext>
              </a:extLst>
            </p:cNvPr>
            <p:cNvSpPr txBox="1"/>
            <p:nvPr/>
          </p:nvSpPr>
          <p:spPr>
            <a:xfrm>
              <a:off x="7530039" y="5249997"/>
              <a:ext cx="2309319" cy="246221"/>
            </a:xfrm>
            <a:prstGeom prst="rect">
              <a:avLst/>
            </a:prstGeom>
            <a:noFill/>
            <a:ln>
              <a:noFill/>
            </a:ln>
          </p:spPr>
          <p:txBody>
            <a:bodyPr wrap="square" rtlCol="0">
              <a:spAutoFit/>
            </a:bodyPr>
            <a:lstStyle/>
            <a:p>
              <a:r>
                <a:rPr lang="en-US" sz="1000" dirty="0">
                  <a:solidFill>
                    <a:srgbClr val="7030A0"/>
                  </a:solidFill>
                </a:rPr>
                <a:t>Data:      { ‘status’: ‘running’ }</a:t>
              </a:r>
            </a:p>
          </p:txBody>
        </p:sp>
        <p:sp>
          <p:nvSpPr>
            <p:cNvPr id="129" name="TextBox 128">
              <a:extLst>
                <a:ext uri="{FF2B5EF4-FFF2-40B4-BE49-F238E27FC236}">
                  <a16:creationId xmlns:a16="http://schemas.microsoft.com/office/drawing/2014/main" id="{E82FEC2B-2229-95ED-4F9A-D02C0651C8CC}"/>
                </a:ext>
              </a:extLst>
            </p:cNvPr>
            <p:cNvSpPr txBox="1"/>
            <p:nvPr/>
          </p:nvSpPr>
          <p:spPr>
            <a:xfrm>
              <a:off x="7530034" y="4542825"/>
              <a:ext cx="2309321" cy="246221"/>
            </a:xfrm>
            <a:prstGeom prst="rect">
              <a:avLst/>
            </a:prstGeom>
            <a:noFill/>
          </p:spPr>
          <p:txBody>
            <a:bodyPr wrap="square" rtlCol="0">
              <a:spAutoFit/>
            </a:bodyPr>
            <a:lstStyle/>
            <a:p>
              <a:r>
                <a:rPr lang="en-US" sz="1000" u="sng" dirty="0"/>
                <a:t>Publish</a:t>
              </a:r>
            </a:p>
          </p:txBody>
        </p:sp>
      </p:grpSp>
      <p:sp>
        <p:nvSpPr>
          <p:cNvPr id="134" name="TextBox 133">
            <a:extLst>
              <a:ext uri="{FF2B5EF4-FFF2-40B4-BE49-F238E27FC236}">
                <a16:creationId xmlns:a16="http://schemas.microsoft.com/office/drawing/2014/main" id="{3EB0BFA7-1C0E-86A5-7F61-D38FC24FA618}"/>
              </a:ext>
            </a:extLst>
          </p:cNvPr>
          <p:cNvSpPr txBox="1"/>
          <p:nvPr/>
        </p:nvSpPr>
        <p:spPr>
          <a:xfrm>
            <a:off x="356515" y="4983837"/>
            <a:ext cx="4486630" cy="1015663"/>
          </a:xfrm>
          <a:prstGeom prst="rect">
            <a:avLst/>
          </a:prstGeom>
          <a:noFill/>
        </p:spPr>
        <p:txBody>
          <a:bodyPr wrap="square" rtlCol="0">
            <a:spAutoFit/>
          </a:bodyPr>
          <a:lstStyle/>
          <a:p>
            <a:r>
              <a:rPr lang="en-US" sz="1000" dirty="0">
                <a:latin typeface="Consolas" panose="020B0609020204030204" pitchFamily="49" charset="0"/>
              </a:rPr>
              <a:t>Topic Subscription      Messages Received</a:t>
            </a:r>
          </a:p>
          <a:p>
            <a:r>
              <a:rPr lang="en-US" sz="1000" dirty="0">
                <a:latin typeface="Consolas" panose="020B0609020204030204" pitchFamily="49" charset="0"/>
              </a:rPr>
              <a:t>-------------------    ---------------------------------</a:t>
            </a:r>
          </a:p>
          <a:p>
            <a:r>
              <a:rPr lang="en-US" sz="1000" dirty="0">
                <a:latin typeface="Consolas" panose="020B0609020204030204" pitchFamily="49" charset="0"/>
              </a:rPr>
              <a:t>Machine/#	          All messages from all machines</a:t>
            </a:r>
          </a:p>
          <a:p>
            <a:r>
              <a:rPr lang="en-US" sz="1000" dirty="0">
                <a:latin typeface="Consolas" panose="020B0609020204030204" pitchFamily="49" charset="0"/>
              </a:rPr>
              <a:t>Machine/1/#	          All messages from machine 1</a:t>
            </a:r>
          </a:p>
          <a:p>
            <a:r>
              <a:rPr lang="en-US" sz="1000" dirty="0">
                <a:latin typeface="Consolas" panose="020B0609020204030204" pitchFamily="49" charset="0"/>
              </a:rPr>
              <a:t>Machine/1/Status       Machine 1 status messages</a:t>
            </a:r>
          </a:p>
          <a:p>
            <a:r>
              <a:rPr lang="en-US" sz="1000" dirty="0">
                <a:latin typeface="Consolas" panose="020B0609020204030204" pitchFamily="49" charset="0"/>
              </a:rPr>
              <a:t>Machine/+/Status       </a:t>
            </a:r>
            <a:r>
              <a:rPr lang="en-US" sz="1000" dirty="0" err="1">
                <a:latin typeface="Consolas" panose="020B0609020204030204" pitchFamily="49" charset="0"/>
              </a:rPr>
              <a:t>Status</a:t>
            </a:r>
            <a:r>
              <a:rPr lang="en-US" sz="1000" dirty="0">
                <a:latin typeface="Consolas" panose="020B0609020204030204" pitchFamily="49" charset="0"/>
              </a:rPr>
              <a:t> messages from all machines</a:t>
            </a:r>
          </a:p>
        </p:txBody>
      </p:sp>
    </p:spTree>
    <p:extLst>
      <p:ext uri="{BB962C8B-B14F-4D97-AF65-F5344CB8AC3E}">
        <p14:creationId xmlns:p14="http://schemas.microsoft.com/office/powerpoint/2010/main" val="768320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
            <a:extLst>
              <a:ext uri="{FF2B5EF4-FFF2-40B4-BE49-F238E27FC236}">
                <a16:creationId xmlns:a16="http://schemas.microsoft.com/office/drawing/2014/main" id="{C0A4D197-E2D5-940B-46E5-0923AC2FDBB5}"/>
              </a:ext>
            </a:extLst>
          </p:cNvPr>
          <p:cNvSpPr>
            <a:spLocks noGrp="1"/>
          </p:cNvSpPr>
          <p:nvPr>
            <p:ph type="title"/>
          </p:nvPr>
        </p:nvSpPr>
        <p:spPr>
          <a:xfrm>
            <a:off x="1605" y="201363"/>
            <a:ext cx="10137600" cy="906366"/>
          </a:xfrm>
        </p:spPr>
        <p:txBody>
          <a:bodyPr/>
          <a:lstStyle/>
          <a:p>
            <a:r>
              <a:rPr lang="en-US" sz="1800" b="0" dirty="0"/>
              <a:t>TwinCAT Connectivity</a:t>
            </a:r>
            <a:br>
              <a:rPr lang="en-US" dirty="0"/>
            </a:br>
            <a:r>
              <a:rPr lang="en-US" dirty="0"/>
              <a:t>QoS and Retain</a:t>
            </a:r>
            <a:endParaRPr lang="en-US" sz="2000" dirty="0"/>
          </a:p>
        </p:txBody>
      </p:sp>
      <p:sp>
        <p:nvSpPr>
          <p:cNvPr id="37" name="Text Placeholder 3">
            <a:extLst>
              <a:ext uri="{FF2B5EF4-FFF2-40B4-BE49-F238E27FC236}">
                <a16:creationId xmlns:a16="http://schemas.microsoft.com/office/drawing/2014/main" id="{18BAB947-AB1C-220D-467E-0387A4218EA8}"/>
              </a:ext>
            </a:extLst>
          </p:cNvPr>
          <p:cNvSpPr>
            <a:spLocks noGrp="1"/>
          </p:cNvSpPr>
          <p:nvPr>
            <p:ph type="body" sz="quarter" idx="15"/>
          </p:nvPr>
        </p:nvSpPr>
        <p:spPr>
          <a:xfrm>
            <a:off x="2" y="1091783"/>
            <a:ext cx="4280298" cy="4902509"/>
          </a:xfrm>
        </p:spPr>
        <p:txBody>
          <a:bodyPr/>
          <a:lstStyle/>
          <a:p>
            <a:r>
              <a:rPr lang="en-US" sz="1400" dirty="0"/>
              <a:t>QoS (Quality of Service) – Means of guaranteeing message transfer to the broker, specified by the client</a:t>
            </a:r>
          </a:p>
          <a:p>
            <a:pPr lvl="1"/>
            <a:r>
              <a:rPr lang="en-US" sz="1400" dirty="0"/>
              <a:t>Level 0: At most once</a:t>
            </a:r>
          </a:p>
          <a:p>
            <a:pPr lvl="1"/>
            <a:r>
              <a:rPr lang="en-US" sz="1400" dirty="0"/>
              <a:t>Level 1: </a:t>
            </a:r>
            <a:r>
              <a:rPr lang="en-US" sz="1400"/>
              <a:t>At least </a:t>
            </a:r>
            <a:r>
              <a:rPr lang="en-US" sz="1400" dirty="0"/>
              <a:t>once</a:t>
            </a:r>
          </a:p>
          <a:p>
            <a:pPr lvl="1"/>
            <a:r>
              <a:rPr lang="en-US" sz="1400" dirty="0"/>
              <a:t>Level 2: Exactly once</a:t>
            </a:r>
          </a:p>
          <a:p>
            <a:pPr lvl="1"/>
            <a:endParaRPr lang="en-US" sz="1400" dirty="0"/>
          </a:p>
          <a:p>
            <a:r>
              <a:rPr lang="en-US" sz="1400" dirty="0"/>
              <a:t>Retain – Mechanism for ensuring a subscriber received the message.</a:t>
            </a:r>
          </a:p>
          <a:p>
            <a:pPr lvl="1"/>
            <a:r>
              <a:rPr lang="en-US" sz="1400" dirty="0"/>
              <a:t>A flag to inform the broker to hold onto the most recent “retain” message for a topic</a:t>
            </a:r>
          </a:p>
          <a:p>
            <a:pPr lvl="1"/>
            <a:r>
              <a:rPr lang="en-US" sz="1400" dirty="0"/>
              <a:t>Any client subscribing to the topic, before or after the publish, will receive this message</a:t>
            </a:r>
          </a:p>
        </p:txBody>
      </p:sp>
      <p:pic>
        <p:nvPicPr>
          <p:cNvPr id="3" name="Picture 2">
            <a:extLst>
              <a:ext uri="{FF2B5EF4-FFF2-40B4-BE49-F238E27FC236}">
                <a16:creationId xmlns:a16="http://schemas.microsoft.com/office/drawing/2014/main" id="{5347327C-CA8E-DF4C-4504-B75A6777A08D}"/>
              </a:ext>
            </a:extLst>
          </p:cNvPr>
          <p:cNvPicPr>
            <a:picLocks noChangeAspect="1"/>
          </p:cNvPicPr>
          <p:nvPr/>
        </p:nvPicPr>
        <p:blipFill>
          <a:blip r:embed="rId3"/>
          <a:stretch>
            <a:fillRect/>
          </a:stretch>
        </p:blipFill>
        <p:spPr>
          <a:xfrm>
            <a:off x="3923528" y="1313722"/>
            <a:ext cx="4043970" cy="1820190"/>
          </a:xfrm>
          <a:prstGeom prst="rect">
            <a:avLst/>
          </a:prstGeom>
        </p:spPr>
      </p:pic>
      <p:pic>
        <p:nvPicPr>
          <p:cNvPr id="4" name="Picture 3">
            <a:extLst>
              <a:ext uri="{FF2B5EF4-FFF2-40B4-BE49-F238E27FC236}">
                <a16:creationId xmlns:a16="http://schemas.microsoft.com/office/drawing/2014/main" id="{18E14A78-1E33-B8EF-73B3-BA4076492CA2}"/>
              </a:ext>
            </a:extLst>
          </p:cNvPr>
          <p:cNvPicPr>
            <a:picLocks noChangeAspect="1"/>
          </p:cNvPicPr>
          <p:nvPr/>
        </p:nvPicPr>
        <p:blipFill>
          <a:blip r:embed="rId4"/>
          <a:stretch>
            <a:fillRect/>
          </a:stretch>
        </p:blipFill>
        <p:spPr>
          <a:xfrm>
            <a:off x="8065187" y="1322807"/>
            <a:ext cx="3571727" cy="2107641"/>
          </a:xfrm>
          <a:prstGeom prst="rect">
            <a:avLst/>
          </a:prstGeom>
        </p:spPr>
      </p:pic>
      <p:pic>
        <p:nvPicPr>
          <p:cNvPr id="5" name="Picture 4">
            <a:extLst>
              <a:ext uri="{FF2B5EF4-FFF2-40B4-BE49-F238E27FC236}">
                <a16:creationId xmlns:a16="http://schemas.microsoft.com/office/drawing/2014/main" id="{DBA2807D-4E94-E984-06D8-C465551AC70B}"/>
              </a:ext>
            </a:extLst>
          </p:cNvPr>
          <p:cNvPicPr>
            <a:picLocks noChangeAspect="1"/>
          </p:cNvPicPr>
          <p:nvPr/>
        </p:nvPicPr>
        <p:blipFill>
          <a:blip r:embed="rId5"/>
          <a:stretch>
            <a:fillRect/>
          </a:stretch>
        </p:blipFill>
        <p:spPr>
          <a:xfrm>
            <a:off x="6181841" y="3543037"/>
            <a:ext cx="3766691" cy="3102637"/>
          </a:xfrm>
          <a:prstGeom prst="rect">
            <a:avLst/>
          </a:prstGeom>
        </p:spPr>
      </p:pic>
      <p:pic>
        <p:nvPicPr>
          <p:cNvPr id="11" name="Picture 10">
            <a:extLst>
              <a:ext uri="{FF2B5EF4-FFF2-40B4-BE49-F238E27FC236}">
                <a16:creationId xmlns:a16="http://schemas.microsoft.com/office/drawing/2014/main" id="{956CBC31-5BE0-DD31-B27C-CA03412FE91E}"/>
              </a:ext>
            </a:extLst>
          </p:cNvPr>
          <p:cNvPicPr>
            <a:picLocks noChangeAspect="1"/>
          </p:cNvPicPr>
          <p:nvPr/>
        </p:nvPicPr>
        <p:blipFill>
          <a:blip r:embed="rId6"/>
          <a:stretch>
            <a:fillRect/>
          </a:stretch>
        </p:blipFill>
        <p:spPr>
          <a:xfrm>
            <a:off x="546833" y="5079882"/>
            <a:ext cx="3975205" cy="1649919"/>
          </a:xfrm>
          <a:prstGeom prst="rect">
            <a:avLst/>
          </a:prstGeom>
        </p:spPr>
      </p:pic>
    </p:spTree>
    <p:extLst>
      <p:ext uri="{BB962C8B-B14F-4D97-AF65-F5344CB8AC3E}">
        <p14:creationId xmlns:p14="http://schemas.microsoft.com/office/powerpoint/2010/main" val="145275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
            <a:extLst>
              <a:ext uri="{FF2B5EF4-FFF2-40B4-BE49-F238E27FC236}">
                <a16:creationId xmlns:a16="http://schemas.microsoft.com/office/drawing/2014/main" id="{C0A4D197-E2D5-940B-46E5-0923AC2FDBB5}"/>
              </a:ext>
            </a:extLst>
          </p:cNvPr>
          <p:cNvSpPr>
            <a:spLocks noGrp="1"/>
          </p:cNvSpPr>
          <p:nvPr>
            <p:ph type="title"/>
          </p:nvPr>
        </p:nvSpPr>
        <p:spPr>
          <a:xfrm>
            <a:off x="1605" y="201363"/>
            <a:ext cx="10137600" cy="906366"/>
          </a:xfrm>
        </p:spPr>
        <p:txBody>
          <a:bodyPr/>
          <a:lstStyle/>
          <a:p>
            <a:r>
              <a:rPr lang="en-US" sz="1800" b="0" dirty="0"/>
              <a:t>TwinCAT Connectivity</a:t>
            </a:r>
            <a:br>
              <a:rPr lang="en-US" dirty="0"/>
            </a:br>
            <a:r>
              <a:rPr lang="en-US" sz="2000" dirty="0"/>
              <a:t>Broker Scalability</a:t>
            </a:r>
          </a:p>
        </p:txBody>
      </p:sp>
      <p:pic>
        <p:nvPicPr>
          <p:cNvPr id="6" name="Graphic 5" descr="Factory outline">
            <a:extLst>
              <a:ext uri="{FF2B5EF4-FFF2-40B4-BE49-F238E27FC236}">
                <a16:creationId xmlns:a16="http://schemas.microsoft.com/office/drawing/2014/main" id="{A919933A-1246-846D-7BA3-C4249570F3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76150" y="2006453"/>
            <a:ext cx="783626" cy="783626"/>
          </a:xfrm>
          <a:prstGeom prst="rect">
            <a:avLst/>
          </a:prstGeom>
        </p:spPr>
      </p:pic>
      <p:grpSp>
        <p:nvGrpSpPr>
          <p:cNvPr id="10" name="Group 9">
            <a:extLst>
              <a:ext uri="{FF2B5EF4-FFF2-40B4-BE49-F238E27FC236}">
                <a16:creationId xmlns:a16="http://schemas.microsoft.com/office/drawing/2014/main" id="{7D614EBC-480B-234D-866B-777ABE3F75FC}"/>
              </a:ext>
            </a:extLst>
          </p:cNvPr>
          <p:cNvGrpSpPr/>
          <p:nvPr/>
        </p:nvGrpSpPr>
        <p:grpSpPr>
          <a:xfrm>
            <a:off x="6099808" y="2232437"/>
            <a:ext cx="1042787" cy="1042787"/>
            <a:chOff x="3774715" y="3284768"/>
            <a:chExt cx="1042787" cy="1042787"/>
          </a:xfrm>
        </p:grpSpPr>
        <p:pic>
          <p:nvPicPr>
            <p:cNvPr id="8" name="Graphic 7" descr="Cloud outline">
              <a:extLst>
                <a:ext uri="{FF2B5EF4-FFF2-40B4-BE49-F238E27FC236}">
                  <a16:creationId xmlns:a16="http://schemas.microsoft.com/office/drawing/2014/main" id="{6726FEE8-53CA-8842-2FE8-A4BABFEAB5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74715" y="3284768"/>
              <a:ext cx="1042787" cy="1042787"/>
            </a:xfrm>
            <a:prstGeom prst="rect">
              <a:avLst/>
            </a:prstGeom>
          </p:spPr>
        </p:pic>
        <p:sp>
          <p:nvSpPr>
            <p:cNvPr id="9" name="TextBox 8">
              <a:extLst>
                <a:ext uri="{FF2B5EF4-FFF2-40B4-BE49-F238E27FC236}">
                  <a16:creationId xmlns:a16="http://schemas.microsoft.com/office/drawing/2014/main" id="{529A7CE5-2C48-8527-17AA-AA1985F96979}"/>
                </a:ext>
              </a:extLst>
            </p:cNvPr>
            <p:cNvSpPr txBox="1"/>
            <p:nvPr/>
          </p:nvSpPr>
          <p:spPr>
            <a:xfrm>
              <a:off x="3977751" y="3725349"/>
              <a:ext cx="636713" cy="276999"/>
            </a:xfrm>
            <a:prstGeom prst="rect">
              <a:avLst/>
            </a:prstGeom>
            <a:noFill/>
          </p:spPr>
          <p:txBody>
            <a:bodyPr wrap="none" rtlCol="0">
              <a:spAutoFit/>
            </a:bodyPr>
            <a:lstStyle/>
            <a:p>
              <a:r>
                <a:rPr lang="en-US" sz="1200" dirty="0"/>
                <a:t>Broker</a:t>
              </a:r>
            </a:p>
          </p:txBody>
        </p:sp>
      </p:grpSp>
      <p:grpSp>
        <p:nvGrpSpPr>
          <p:cNvPr id="4" name="Group 3">
            <a:extLst>
              <a:ext uri="{FF2B5EF4-FFF2-40B4-BE49-F238E27FC236}">
                <a16:creationId xmlns:a16="http://schemas.microsoft.com/office/drawing/2014/main" id="{81723074-207A-DDA2-7187-5659767F3BA0}"/>
              </a:ext>
            </a:extLst>
          </p:cNvPr>
          <p:cNvGrpSpPr/>
          <p:nvPr/>
        </p:nvGrpSpPr>
        <p:grpSpPr>
          <a:xfrm>
            <a:off x="7906194" y="1177834"/>
            <a:ext cx="1042787" cy="1042787"/>
            <a:chOff x="3774715" y="3284768"/>
            <a:chExt cx="1042787" cy="1042787"/>
          </a:xfrm>
        </p:grpSpPr>
        <p:pic>
          <p:nvPicPr>
            <p:cNvPr id="11" name="Graphic 10" descr="Cloud outline">
              <a:extLst>
                <a:ext uri="{FF2B5EF4-FFF2-40B4-BE49-F238E27FC236}">
                  <a16:creationId xmlns:a16="http://schemas.microsoft.com/office/drawing/2014/main" id="{39B45826-BAA4-FEC6-BF0A-631E3AC672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74715" y="3284768"/>
              <a:ext cx="1042787" cy="1042787"/>
            </a:xfrm>
            <a:prstGeom prst="rect">
              <a:avLst/>
            </a:prstGeom>
          </p:spPr>
        </p:pic>
        <p:sp>
          <p:nvSpPr>
            <p:cNvPr id="12" name="TextBox 11">
              <a:extLst>
                <a:ext uri="{FF2B5EF4-FFF2-40B4-BE49-F238E27FC236}">
                  <a16:creationId xmlns:a16="http://schemas.microsoft.com/office/drawing/2014/main" id="{11F49502-C6A2-3CBC-1DD2-AA79B07F8819}"/>
                </a:ext>
              </a:extLst>
            </p:cNvPr>
            <p:cNvSpPr txBox="1"/>
            <p:nvPr/>
          </p:nvSpPr>
          <p:spPr>
            <a:xfrm>
              <a:off x="3977751" y="3725349"/>
              <a:ext cx="636713" cy="276999"/>
            </a:xfrm>
            <a:prstGeom prst="rect">
              <a:avLst/>
            </a:prstGeom>
            <a:noFill/>
          </p:spPr>
          <p:txBody>
            <a:bodyPr wrap="none" rtlCol="0">
              <a:spAutoFit/>
            </a:bodyPr>
            <a:lstStyle/>
            <a:p>
              <a:r>
                <a:rPr lang="en-US" sz="1200" dirty="0"/>
                <a:t>Broker</a:t>
              </a:r>
            </a:p>
          </p:txBody>
        </p:sp>
      </p:grpSp>
      <p:grpSp>
        <p:nvGrpSpPr>
          <p:cNvPr id="13" name="Group 12">
            <a:extLst>
              <a:ext uri="{FF2B5EF4-FFF2-40B4-BE49-F238E27FC236}">
                <a16:creationId xmlns:a16="http://schemas.microsoft.com/office/drawing/2014/main" id="{3D4E9089-A432-8544-1524-E65E80511520}"/>
              </a:ext>
            </a:extLst>
          </p:cNvPr>
          <p:cNvGrpSpPr/>
          <p:nvPr/>
        </p:nvGrpSpPr>
        <p:grpSpPr>
          <a:xfrm>
            <a:off x="10222707" y="2192969"/>
            <a:ext cx="1042787" cy="1042787"/>
            <a:chOff x="3774715" y="3284768"/>
            <a:chExt cx="1042787" cy="1042787"/>
          </a:xfrm>
        </p:grpSpPr>
        <p:pic>
          <p:nvPicPr>
            <p:cNvPr id="14" name="Graphic 13" descr="Cloud outline">
              <a:extLst>
                <a:ext uri="{FF2B5EF4-FFF2-40B4-BE49-F238E27FC236}">
                  <a16:creationId xmlns:a16="http://schemas.microsoft.com/office/drawing/2014/main" id="{AF882354-91D8-17CB-C22D-976D14435A1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74715" y="3284768"/>
              <a:ext cx="1042787" cy="1042787"/>
            </a:xfrm>
            <a:prstGeom prst="rect">
              <a:avLst/>
            </a:prstGeom>
          </p:spPr>
        </p:pic>
        <p:sp>
          <p:nvSpPr>
            <p:cNvPr id="15" name="TextBox 14">
              <a:extLst>
                <a:ext uri="{FF2B5EF4-FFF2-40B4-BE49-F238E27FC236}">
                  <a16:creationId xmlns:a16="http://schemas.microsoft.com/office/drawing/2014/main" id="{F0A70E5D-26A8-D6B5-639D-4FEE05D8DCDD}"/>
                </a:ext>
              </a:extLst>
            </p:cNvPr>
            <p:cNvSpPr txBox="1"/>
            <p:nvPr/>
          </p:nvSpPr>
          <p:spPr>
            <a:xfrm>
              <a:off x="3977751" y="3725349"/>
              <a:ext cx="636713" cy="276999"/>
            </a:xfrm>
            <a:prstGeom prst="rect">
              <a:avLst/>
            </a:prstGeom>
            <a:noFill/>
          </p:spPr>
          <p:txBody>
            <a:bodyPr wrap="none" rtlCol="0">
              <a:spAutoFit/>
            </a:bodyPr>
            <a:lstStyle/>
            <a:p>
              <a:r>
                <a:rPr lang="en-US" sz="1200" dirty="0"/>
                <a:t>Broker</a:t>
              </a:r>
            </a:p>
          </p:txBody>
        </p:sp>
      </p:grpSp>
      <p:pic>
        <p:nvPicPr>
          <p:cNvPr id="16" name="Graphic 15" descr="Factory outline">
            <a:extLst>
              <a:ext uri="{FF2B5EF4-FFF2-40B4-BE49-F238E27FC236}">
                <a16:creationId xmlns:a16="http://schemas.microsoft.com/office/drawing/2014/main" id="{CDC16C2F-79B4-C095-6097-B504272E93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75327" y="3482719"/>
            <a:ext cx="783626" cy="783626"/>
          </a:xfrm>
          <a:prstGeom prst="rect">
            <a:avLst/>
          </a:prstGeom>
        </p:spPr>
      </p:pic>
      <p:grpSp>
        <p:nvGrpSpPr>
          <p:cNvPr id="17" name="Group 16">
            <a:extLst>
              <a:ext uri="{FF2B5EF4-FFF2-40B4-BE49-F238E27FC236}">
                <a16:creationId xmlns:a16="http://schemas.microsoft.com/office/drawing/2014/main" id="{12B963B4-FDBF-A754-933E-1767BE727B59}"/>
              </a:ext>
            </a:extLst>
          </p:cNvPr>
          <p:cNvGrpSpPr/>
          <p:nvPr/>
        </p:nvGrpSpPr>
        <p:grpSpPr>
          <a:xfrm>
            <a:off x="10421884" y="3669235"/>
            <a:ext cx="1042787" cy="1042787"/>
            <a:chOff x="3774715" y="3284768"/>
            <a:chExt cx="1042787" cy="1042787"/>
          </a:xfrm>
        </p:grpSpPr>
        <p:pic>
          <p:nvPicPr>
            <p:cNvPr id="18" name="Graphic 17" descr="Cloud outline">
              <a:extLst>
                <a:ext uri="{FF2B5EF4-FFF2-40B4-BE49-F238E27FC236}">
                  <a16:creationId xmlns:a16="http://schemas.microsoft.com/office/drawing/2014/main" id="{E9BDB7A0-ADD0-17F2-39FA-EDF3C1A2AC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74715" y="3284768"/>
              <a:ext cx="1042787" cy="1042787"/>
            </a:xfrm>
            <a:prstGeom prst="rect">
              <a:avLst/>
            </a:prstGeom>
          </p:spPr>
        </p:pic>
        <p:sp>
          <p:nvSpPr>
            <p:cNvPr id="19" name="TextBox 18">
              <a:extLst>
                <a:ext uri="{FF2B5EF4-FFF2-40B4-BE49-F238E27FC236}">
                  <a16:creationId xmlns:a16="http://schemas.microsoft.com/office/drawing/2014/main" id="{A951FE0E-7666-7738-6611-6E005F117F15}"/>
                </a:ext>
              </a:extLst>
            </p:cNvPr>
            <p:cNvSpPr txBox="1"/>
            <p:nvPr/>
          </p:nvSpPr>
          <p:spPr>
            <a:xfrm>
              <a:off x="3977751" y="3725349"/>
              <a:ext cx="636713" cy="276999"/>
            </a:xfrm>
            <a:prstGeom prst="rect">
              <a:avLst/>
            </a:prstGeom>
            <a:noFill/>
          </p:spPr>
          <p:txBody>
            <a:bodyPr wrap="none" rtlCol="0">
              <a:spAutoFit/>
            </a:bodyPr>
            <a:lstStyle/>
            <a:p>
              <a:r>
                <a:rPr lang="en-US" sz="1200" dirty="0"/>
                <a:t>Broker</a:t>
              </a:r>
            </a:p>
          </p:txBody>
        </p:sp>
      </p:grpSp>
      <p:cxnSp>
        <p:nvCxnSpPr>
          <p:cNvPr id="45" name="Straight Connector 44">
            <a:extLst>
              <a:ext uri="{FF2B5EF4-FFF2-40B4-BE49-F238E27FC236}">
                <a16:creationId xmlns:a16="http://schemas.microsoft.com/office/drawing/2014/main" id="{D4A53A85-EC80-24D0-79B7-67562A8CB004}"/>
              </a:ext>
            </a:extLst>
          </p:cNvPr>
          <p:cNvCxnSpPr>
            <a:cxnSpLocks/>
          </p:cNvCxnSpPr>
          <p:nvPr/>
        </p:nvCxnSpPr>
        <p:spPr>
          <a:xfrm flipH="1">
            <a:off x="6877892" y="2006453"/>
            <a:ext cx="1121145" cy="537994"/>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DB50731-E0B1-86C7-8253-7C2A116B626E}"/>
              </a:ext>
            </a:extLst>
          </p:cNvPr>
          <p:cNvCxnSpPr>
            <a:cxnSpLocks/>
          </p:cNvCxnSpPr>
          <p:nvPr/>
        </p:nvCxnSpPr>
        <p:spPr>
          <a:xfrm>
            <a:off x="8899054" y="1981964"/>
            <a:ext cx="1391500" cy="637081"/>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D353927-8C02-02E0-956D-59A07837A1DB}"/>
              </a:ext>
            </a:extLst>
          </p:cNvPr>
          <p:cNvCxnSpPr>
            <a:cxnSpLocks/>
          </p:cNvCxnSpPr>
          <p:nvPr/>
        </p:nvCxnSpPr>
        <p:spPr>
          <a:xfrm>
            <a:off x="8557268" y="2045376"/>
            <a:ext cx="2067652" cy="1919568"/>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46B6C81-6C6E-90C6-B02B-E50501742E2C}"/>
              </a:ext>
            </a:extLst>
          </p:cNvPr>
          <p:cNvCxnSpPr>
            <a:cxnSpLocks/>
          </p:cNvCxnSpPr>
          <p:nvPr/>
        </p:nvCxnSpPr>
        <p:spPr>
          <a:xfrm>
            <a:off x="7660027" y="3874532"/>
            <a:ext cx="0" cy="1254488"/>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pic>
        <p:nvPicPr>
          <p:cNvPr id="59" name="Graphic 58" descr="Server outline">
            <a:extLst>
              <a:ext uri="{FF2B5EF4-FFF2-40B4-BE49-F238E27FC236}">
                <a16:creationId xmlns:a16="http://schemas.microsoft.com/office/drawing/2014/main" id="{473B56CB-5365-5585-8643-D32E15F6506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48909" y="3069042"/>
            <a:ext cx="588489" cy="588489"/>
          </a:xfrm>
          <a:prstGeom prst="rect">
            <a:avLst/>
          </a:prstGeom>
        </p:spPr>
      </p:pic>
      <p:grpSp>
        <p:nvGrpSpPr>
          <p:cNvPr id="60" name="Group 59">
            <a:extLst>
              <a:ext uri="{FF2B5EF4-FFF2-40B4-BE49-F238E27FC236}">
                <a16:creationId xmlns:a16="http://schemas.microsoft.com/office/drawing/2014/main" id="{94F7BBAA-962D-D839-E5EE-FBBEF5E3D036}"/>
              </a:ext>
            </a:extLst>
          </p:cNvPr>
          <p:cNvGrpSpPr/>
          <p:nvPr/>
        </p:nvGrpSpPr>
        <p:grpSpPr>
          <a:xfrm>
            <a:off x="7970422" y="2942521"/>
            <a:ext cx="2309327" cy="1876723"/>
            <a:chOff x="7530034" y="4542825"/>
            <a:chExt cx="2309327" cy="1876723"/>
          </a:xfrm>
        </p:grpSpPr>
        <p:sp>
          <p:nvSpPr>
            <p:cNvPr id="61" name="TextBox 60">
              <a:extLst>
                <a:ext uri="{FF2B5EF4-FFF2-40B4-BE49-F238E27FC236}">
                  <a16:creationId xmlns:a16="http://schemas.microsoft.com/office/drawing/2014/main" id="{0C58D5A5-B7AB-D43E-7657-9798BB9DC99C}"/>
                </a:ext>
              </a:extLst>
            </p:cNvPr>
            <p:cNvSpPr txBox="1"/>
            <p:nvPr/>
          </p:nvSpPr>
          <p:spPr>
            <a:xfrm>
              <a:off x="7530040" y="4778549"/>
              <a:ext cx="2309321" cy="246221"/>
            </a:xfrm>
            <a:prstGeom prst="rect">
              <a:avLst/>
            </a:prstGeom>
            <a:noFill/>
          </p:spPr>
          <p:txBody>
            <a:bodyPr wrap="square" rtlCol="0">
              <a:spAutoFit/>
            </a:bodyPr>
            <a:lstStyle/>
            <a:p>
              <a:r>
                <a:rPr lang="en-US" sz="1000" dirty="0">
                  <a:solidFill>
                    <a:srgbClr val="C00000"/>
                  </a:solidFill>
                </a:rPr>
                <a:t>Broker:   cloud.broker.com</a:t>
              </a:r>
            </a:p>
          </p:txBody>
        </p:sp>
        <p:sp>
          <p:nvSpPr>
            <p:cNvPr id="62" name="TextBox 61">
              <a:extLst>
                <a:ext uri="{FF2B5EF4-FFF2-40B4-BE49-F238E27FC236}">
                  <a16:creationId xmlns:a16="http://schemas.microsoft.com/office/drawing/2014/main" id="{D5972E1E-E3A7-BD40-EC04-7B54182EE38C}"/>
                </a:ext>
              </a:extLst>
            </p:cNvPr>
            <p:cNvSpPr txBox="1"/>
            <p:nvPr/>
          </p:nvSpPr>
          <p:spPr>
            <a:xfrm>
              <a:off x="7530038" y="5005220"/>
              <a:ext cx="2309320" cy="246221"/>
            </a:xfrm>
            <a:prstGeom prst="rect">
              <a:avLst/>
            </a:prstGeom>
            <a:noFill/>
            <a:ln>
              <a:noFill/>
            </a:ln>
          </p:spPr>
          <p:txBody>
            <a:bodyPr wrap="square" rtlCol="0">
              <a:spAutoFit/>
            </a:bodyPr>
            <a:lstStyle/>
            <a:p>
              <a:r>
                <a:rPr lang="en-US" sz="1000" dirty="0">
                  <a:solidFill>
                    <a:srgbClr val="00B050"/>
                  </a:solidFill>
                </a:rPr>
                <a:t>Topic:     Site/1/Machine/2/Status</a:t>
              </a:r>
            </a:p>
          </p:txBody>
        </p:sp>
        <p:sp>
          <p:nvSpPr>
            <p:cNvPr id="63" name="TextBox 62">
              <a:extLst>
                <a:ext uri="{FF2B5EF4-FFF2-40B4-BE49-F238E27FC236}">
                  <a16:creationId xmlns:a16="http://schemas.microsoft.com/office/drawing/2014/main" id="{3DAFBE5B-BF4C-EA9A-D1E3-13A02ED4555B}"/>
                </a:ext>
              </a:extLst>
            </p:cNvPr>
            <p:cNvSpPr txBox="1"/>
            <p:nvPr/>
          </p:nvSpPr>
          <p:spPr>
            <a:xfrm>
              <a:off x="7530039" y="5249997"/>
              <a:ext cx="2309319" cy="1169551"/>
            </a:xfrm>
            <a:prstGeom prst="rect">
              <a:avLst/>
            </a:prstGeom>
            <a:noFill/>
            <a:ln>
              <a:noFill/>
            </a:ln>
          </p:spPr>
          <p:txBody>
            <a:bodyPr wrap="square" rtlCol="0">
              <a:spAutoFit/>
            </a:bodyPr>
            <a:lstStyle/>
            <a:p>
              <a:r>
                <a:rPr lang="en-US" sz="1000" dirty="0">
                  <a:solidFill>
                    <a:srgbClr val="7030A0"/>
                  </a:solidFill>
                </a:rPr>
                <a:t>Data:</a:t>
              </a:r>
            </a:p>
            <a:p>
              <a:r>
                <a:rPr lang="en-US" sz="1000" dirty="0">
                  <a:solidFill>
                    <a:srgbClr val="7030A0"/>
                  </a:solidFill>
                </a:rPr>
                <a:t>{ </a:t>
              </a:r>
            </a:p>
            <a:p>
              <a:r>
                <a:rPr lang="en-US" sz="1000" dirty="0">
                  <a:solidFill>
                    <a:srgbClr val="7030A0"/>
                  </a:solidFill>
                </a:rPr>
                <a:t>  ‘status’: ‘running’,</a:t>
              </a:r>
            </a:p>
            <a:p>
              <a:r>
                <a:rPr lang="en-US" sz="1000" dirty="0">
                  <a:solidFill>
                    <a:srgbClr val="7030A0"/>
                  </a:solidFill>
                </a:rPr>
                <a:t>  ‘ppm’: 12.32,</a:t>
              </a:r>
            </a:p>
            <a:p>
              <a:r>
                <a:rPr lang="en-US" sz="1000" dirty="0">
                  <a:solidFill>
                    <a:srgbClr val="7030A0"/>
                  </a:solidFill>
                </a:rPr>
                <a:t>  ‘uptime: ‘3:54:21’</a:t>
              </a:r>
            </a:p>
            <a:p>
              <a:r>
                <a:rPr lang="en-US" sz="1000" dirty="0">
                  <a:solidFill>
                    <a:srgbClr val="7030A0"/>
                  </a:solidFill>
                </a:rPr>
                <a:t>  …</a:t>
              </a:r>
            </a:p>
            <a:p>
              <a:r>
                <a:rPr lang="en-US" sz="1000" dirty="0">
                  <a:solidFill>
                    <a:srgbClr val="7030A0"/>
                  </a:solidFill>
                </a:rPr>
                <a:t>}</a:t>
              </a:r>
            </a:p>
          </p:txBody>
        </p:sp>
        <p:sp>
          <p:nvSpPr>
            <p:cNvPr id="64" name="TextBox 63">
              <a:extLst>
                <a:ext uri="{FF2B5EF4-FFF2-40B4-BE49-F238E27FC236}">
                  <a16:creationId xmlns:a16="http://schemas.microsoft.com/office/drawing/2014/main" id="{5F0B3C8B-7562-FE48-7883-F753D97B3EB4}"/>
                </a:ext>
              </a:extLst>
            </p:cNvPr>
            <p:cNvSpPr txBox="1"/>
            <p:nvPr/>
          </p:nvSpPr>
          <p:spPr>
            <a:xfrm>
              <a:off x="7530034" y="4542825"/>
              <a:ext cx="2309321" cy="246221"/>
            </a:xfrm>
            <a:prstGeom prst="rect">
              <a:avLst/>
            </a:prstGeom>
            <a:noFill/>
          </p:spPr>
          <p:txBody>
            <a:bodyPr wrap="square" rtlCol="0">
              <a:spAutoFit/>
            </a:bodyPr>
            <a:lstStyle/>
            <a:p>
              <a:r>
                <a:rPr lang="en-US" sz="1000" u="sng" dirty="0"/>
                <a:t>Subscribe</a:t>
              </a:r>
            </a:p>
          </p:txBody>
        </p:sp>
      </p:grpSp>
      <p:sp>
        <p:nvSpPr>
          <p:cNvPr id="68" name="TextBox 67">
            <a:extLst>
              <a:ext uri="{FF2B5EF4-FFF2-40B4-BE49-F238E27FC236}">
                <a16:creationId xmlns:a16="http://schemas.microsoft.com/office/drawing/2014/main" id="{F118DC66-347A-072C-33C2-9E4946CFBCE8}"/>
              </a:ext>
            </a:extLst>
          </p:cNvPr>
          <p:cNvSpPr txBox="1"/>
          <p:nvPr/>
        </p:nvSpPr>
        <p:spPr>
          <a:xfrm>
            <a:off x="10273438" y="1779294"/>
            <a:ext cx="1209339" cy="276999"/>
          </a:xfrm>
          <a:prstGeom prst="rect">
            <a:avLst/>
          </a:prstGeom>
          <a:noFill/>
        </p:spPr>
        <p:txBody>
          <a:bodyPr wrap="square" rtlCol="0">
            <a:spAutoFit/>
          </a:bodyPr>
          <a:lstStyle/>
          <a:p>
            <a:pPr algn="ctr"/>
            <a:r>
              <a:rPr lang="en-US" sz="1200" dirty="0"/>
              <a:t>Site 2</a:t>
            </a:r>
          </a:p>
        </p:txBody>
      </p:sp>
      <p:sp>
        <p:nvSpPr>
          <p:cNvPr id="69" name="TextBox 68">
            <a:extLst>
              <a:ext uri="{FF2B5EF4-FFF2-40B4-BE49-F238E27FC236}">
                <a16:creationId xmlns:a16="http://schemas.microsoft.com/office/drawing/2014/main" id="{4BFCA36C-566C-D761-7D7A-BA72A7D6FA1B}"/>
              </a:ext>
            </a:extLst>
          </p:cNvPr>
          <p:cNvSpPr txBox="1"/>
          <p:nvPr/>
        </p:nvSpPr>
        <p:spPr>
          <a:xfrm>
            <a:off x="5654057" y="1923820"/>
            <a:ext cx="1209339" cy="276999"/>
          </a:xfrm>
          <a:prstGeom prst="rect">
            <a:avLst/>
          </a:prstGeom>
          <a:noFill/>
        </p:spPr>
        <p:txBody>
          <a:bodyPr wrap="square" rtlCol="0">
            <a:spAutoFit/>
          </a:bodyPr>
          <a:lstStyle/>
          <a:p>
            <a:pPr algn="ctr"/>
            <a:r>
              <a:rPr lang="en-US" sz="1200" dirty="0"/>
              <a:t>Site 1</a:t>
            </a:r>
          </a:p>
        </p:txBody>
      </p:sp>
      <p:sp>
        <p:nvSpPr>
          <p:cNvPr id="70" name="TextBox 69">
            <a:extLst>
              <a:ext uri="{FF2B5EF4-FFF2-40B4-BE49-F238E27FC236}">
                <a16:creationId xmlns:a16="http://schemas.microsoft.com/office/drawing/2014/main" id="{86D5D85C-5353-C431-B1FC-1919A17F3881}"/>
              </a:ext>
            </a:extLst>
          </p:cNvPr>
          <p:cNvSpPr txBox="1"/>
          <p:nvPr/>
        </p:nvSpPr>
        <p:spPr>
          <a:xfrm>
            <a:off x="10357801" y="3382795"/>
            <a:ext cx="1209339" cy="276999"/>
          </a:xfrm>
          <a:prstGeom prst="rect">
            <a:avLst/>
          </a:prstGeom>
          <a:noFill/>
        </p:spPr>
        <p:txBody>
          <a:bodyPr wrap="square" rtlCol="0">
            <a:spAutoFit/>
          </a:bodyPr>
          <a:lstStyle/>
          <a:p>
            <a:pPr algn="ctr"/>
            <a:r>
              <a:rPr lang="en-US" sz="1200" dirty="0"/>
              <a:t>Site 3</a:t>
            </a:r>
          </a:p>
        </p:txBody>
      </p:sp>
      <p:cxnSp>
        <p:nvCxnSpPr>
          <p:cNvPr id="74" name="Straight Connector 73">
            <a:extLst>
              <a:ext uri="{FF2B5EF4-FFF2-40B4-BE49-F238E27FC236}">
                <a16:creationId xmlns:a16="http://schemas.microsoft.com/office/drawing/2014/main" id="{22BB8D26-5307-9615-D5D2-0930CB750682}"/>
              </a:ext>
            </a:extLst>
          </p:cNvPr>
          <p:cNvCxnSpPr>
            <a:cxnSpLocks/>
          </p:cNvCxnSpPr>
          <p:nvPr/>
        </p:nvCxnSpPr>
        <p:spPr>
          <a:xfrm flipH="1">
            <a:off x="7660027" y="2069098"/>
            <a:ext cx="631167" cy="999944"/>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B515234C-D461-E2B1-2F1F-0DE911695E0E}"/>
              </a:ext>
            </a:extLst>
          </p:cNvPr>
          <p:cNvSpPr txBox="1"/>
          <p:nvPr/>
        </p:nvSpPr>
        <p:spPr>
          <a:xfrm>
            <a:off x="6379605" y="5789534"/>
            <a:ext cx="2872118" cy="246221"/>
          </a:xfrm>
          <a:prstGeom prst="rect">
            <a:avLst/>
          </a:prstGeom>
          <a:noFill/>
        </p:spPr>
        <p:txBody>
          <a:bodyPr wrap="square" rtlCol="0">
            <a:spAutoFit/>
          </a:bodyPr>
          <a:lstStyle/>
          <a:p>
            <a:r>
              <a:rPr lang="en-US" sz="1000" dirty="0">
                <a:solidFill>
                  <a:srgbClr val="C00000"/>
                </a:solidFill>
              </a:rPr>
              <a:t>https://web.portal.com/site/1/machine/2/status</a:t>
            </a:r>
          </a:p>
        </p:txBody>
      </p:sp>
      <p:sp>
        <p:nvSpPr>
          <p:cNvPr id="84" name="Text Placeholder 3">
            <a:extLst>
              <a:ext uri="{FF2B5EF4-FFF2-40B4-BE49-F238E27FC236}">
                <a16:creationId xmlns:a16="http://schemas.microsoft.com/office/drawing/2014/main" id="{EB5179CF-2773-089D-D065-E63D545FA341}"/>
              </a:ext>
            </a:extLst>
          </p:cNvPr>
          <p:cNvSpPr>
            <a:spLocks noGrp="1"/>
          </p:cNvSpPr>
          <p:nvPr>
            <p:ph type="body" sz="quarter" idx="15"/>
          </p:nvPr>
        </p:nvSpPr>
        <p:spPr>
          <a:xfrm>
            <a:off x="2" y="1091783"/>
            <a:ext cx="5202168" cy="4902509"/>
          </a:xfrm>
        </p:spPr>
        <p:txBody>
          <a:bodyPr/>
          <a:lstStyle/>
          <a:p>
            <a:r>
              <a:rPr lang="en-US" sz="1400" dirty="0"/>
              <a:t>Broker-to-broker communications and cloud hosted brokers facilitate distributed, scalable connectivity</a:t>
            </a:r>
          </a:p>
          <a:p>
            <a:endParaRPr lang="en-US" sz="1400" dirty="0"/>
          </a:p>
          <a:p>
            <a:r>
              <a:rPr lang="en-US" sz="1400" dirty="0"/>
              <a:t>Formalize topic naming and hierarchy (“namespaces”) to organize site, machine and component level data</a:t>
            </a:r>
          </a:p>
          <a:p>
            <a:endParaRPr lang="en-US" sz="1400" dirty="0"/>
          </a:p>
          <a:p>
            <a:r>
              <a:rPr lang="en-US" sz="1400" dirty="0"/>
              <a:t>Web service can be introduced for external access</a:t>
            </a:r>
          </a:p>
        </p:txBody>
      </p:sp>
      <p:pic>
        <p:nvPicPr>
          <p:cNvPr id="85" name="Graphic 84" descr="Factory outline">
            <a:extLst>
              <a:ext uri="{FF2B5EF4-FFF2-40B4-BE49-F238E27FC236}">
                <a16:creationId xmlns:a16="http://schemas.microsoft.com/office/drawing/2014/main" id="{5F8D8F00-882E-C30A-D92C-A82525F3F7F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02675" y="1986852"/>
            <a:ext cx="783626" cy="783626"/>
          </a:xfrm>
          <a:prstGeom prst="rect">
            <a:avLst/>
          </a:prstGeom>
        </p:spPr>
      </p:pic>
      <p:sp>
        <p:nvSpPr>
          <p:cNvPr id="93" name="TextBox 92">
            <a:extLst>
              <a:ext uri="{FF2B5EF4-FFF2-40B4-BE49-F238E27FC236}">
                <a16:creationId xmlns:a16="http://schemas.microsoft.com/office/drawing/2014/main" id="{0AD712EA-DFF4-B74A-14BA-519E75BFA5F6}"/>
              </a:ext>
            </a:extLst>
          </p:cNvPr>
          <p:cNvSpPr txBox="1"/>
          <p:nvPr/>
        </p:nvSpPr>
        <p:spPr>
          <a:xfrm>
            <a:off x="7713270" y="1181571"/>
            <a:ext cx="1302817" cy="246221"/>
          </a:xfrm>
          <a:prstGeom prst="rect">
            <a:avLst/>
          </a:prstGeom>
          <a:noFill/>
        </p:spPr>
        <p:txBody>
          <a:bodyPr wrap="square" rtlCol="0">
            <a:spAutoFit/>
          </a:bodyPr>
          <a:lstStyle/>
          <a:p>
            <a:pPr algn="ctr"/>
            <a:r>
              <a:rPr lang="en-US" sz="1000" dirty="0">
                <a:solidFill>
                  <a:srgbClr val="C00000"/>
                </a:solidFill>
              </a:rPr>
              <a:t>cloud.broker.com</a:t>
            </a:r>
          </a:p>
        </p:txBody>
      </p:sp>
      <p:grpSp>
        <p:nvGrpSpPr>
          <p:cNvPr id="101" name="Group 100">
            <a:extLst>
              <a:ext uri="{FF2B5EF4-FFF2-40B4-BE49-F238E27FC236}">
                <a16:creationId xmlns:a16="http://schemas.microsoft.com/office/drawing/2014/main" id="{D2A9519C-70DA-B8EF-837E-4048B83CF118}"/>
              </a:ext>
            </a:extLst>
          </p:cNvPr>
          <p:cNvGrpSpPr/>
          <p:nvPr/>
        </p:nvGrpSpPr>
        <p:grpSpPr>
          <a:xfrm>
            <a:off x="7526981" y="5051967"/>
            <a:ext cx="783625" cy="783625"/>
            <a:chOff x="8054387" y="5360193"/>
            <a:chExt cx="783625" cy="783625"/>
          </a:xfrm>
        </p:grpSpPr>
        <p:pic>
          <p:nvPicPr>
            <p:cNvPr id="7" name="Graphic 6" descr="Tablet outline">
              <a:extLst>
                <a:ext uri="{FF2B5EF4-FFF2-40B4-BE49-F238E27FC236}">
                  <a16:creationId xmlns:a16="http://schemas.microsoft.com/office/drawing/2014/main" id="{9CAAC422-E69D-143E-A2FE-4D2891F9FF4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54387" y="5360193"/>
              <a:ext cx="783625" cy="783625"/>
            </a:xfrm>
            <a:prstGeom prst="rect">
              <a:avLst/>
            </a:prstGeom>
          </p:spPr>
        </p:pic>
        <p:pic>
          <p:nvPicPr>
            <p:cNvPr id="97" name="Graphic 96" descr="Gantt Chart outline">
              <a:extLst>
                <a:ext uri="{FF2B5EF4-FFF2-40B4-BE49-F238E27FC236}">
                  <a16:creationId xmlns:a16="http://schemas.microsoft.com/office/drawing/2014/main" id="{1E5C15F5-FEEA-F431-BA23-AA6B2589193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55503" y="5560738"/>
              <a:ext cx="374244" cy="374244"/>
            </a:xfrm>
            <a:prstGeom prst="rect">
              <a:avLst/>
            </a:prstGeom>
          </p:spPr>
        </p:pic>
      </p:grpSp>
      <p:grpSp>
        <p:nvGrpSpPr>
          <p:cNvPr id="100" name="Group 99">
            <a:extLst>
              <a:ext uri="{FF2B5EF4-FFF2-40B4-BE49-F238E27FC236}">
                <a16:creationId xmlns:a16="http://schemas.microsoft.com/office/drawing/2014/main" id="{9B8A6767-8869-E0F8-DD8E-B5F90CDC52A2}"/>
              </a:ext>
            </a:extLst>
          </p:cNvPr>
          <p:cNvGrpSpPr/>
          <p:nvPr/>
        </p:nvGrpSpPr>
        <p:grpSpPr>
          <a:xfrm>
            <a:off x="6991437" y="5129020"/>
            <a:ext cx="636102" cy="636102"/>
            <a:chOff x="7527994" y="5487393"/>
            <a:chExt cx="636102" cy="636102"/>
          </a:xfrm>
        </p:grpSpPr>
        <p:pic>
          <p:nvPicPr>
            <p:cNvPr id="119" name="Graphic 118" descr="Smart Phone outline">
              <a:extLst>
                <a:ext uri="{FF2B5EF4-FFF2-40B4-BE49-F238E27FC236}">
                  <a16:creationId xmlns:a16="http://schemas.microsoft.com/office/drawing/2014/main" id="{FCAD8C32-FD55-9B7E-9D0A-D9FF4C6E827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527994" y="5487393"/>
              <a:ext cx="636102" cy="636102"/>
            </a:xfrm>
            <a:prstGeom prst="rect">
              <a:avLst/>
            </a:prstGeom>
          </p:spPr>
        </p:pic>
        <p:pic>
          <p:nvPicPr>
            <p:cNvPr id="99" name="Graphic 98" descr="Pie chart outline">
              <a:extLst>
                <a:ext uri="{FF2B5EF4-FFF2-40B4-BE49-F238E27FC236}">
                  <a16:creationId xmlns:a16="http://schemas.microsoft.com/office/drawing/2014/main" id="{94D13A0D-1BC3-4697-822B-559DE44E63C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740698" y="5703994"/>
              <a:ext cx="203807" cy="203807"/>
            </a:xfrm>
            <a:prstGeom prst="rect">
              <a:avLst/>
            </a:prstGeom>
          </p:spPr>
        </p:pic>
      </p:grpSp>
      <p:pic>
        <p:nvPicPr>
          <p:cNvPr id="104" name="Graphic 103" descr="Robot Hand outline">
            <a:extLst>
              <a:ext uri="{FF2B5EF4-FFF2-40B4-BE49-F238E27FC236}">
                <a16:creationId xmlns:a16="http://schemas.microsoft.com/office/drawing/2014/main" id="{04DF46DD-198E-2CD0-BCC8-E76CC8D2ED6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368635" y="2251361"/>
            <a:ext cx="311678" cy="309482"/>
          </a:xfrm>
          <a:prstGeom prst="rect">
            <a:avLst/>
          </a:prstGeom>
        </p:spPr>
      </p:pic>
      <p:pic>
        <p:nvPicPr>
          <p:cNvPr id="107" name="Graphic 106" descr="Robot Hand outline">
            <a:extLst>
              <a:ext uri="{FF2B5EF4-FFF2-40B4-BE49-F238E27FC236}">
                <a16:creationId xmlns:a16="http://schemas.microsoft.com/office/drawing/2014/main" id="{D0896374-F7EB-DC91-0280-733ABCC842A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305327" y="2599089"/>
            <a:ext cx="311678" cy="309482"/>
          </a:xfrm>
          <a:prstGeom prst="rect">
            <a:avLst/>
          </a:prstGeom>
        </p:spPr>
      </p:pic>
      <p:pic>
        <p:nvPicPr>
          <p:cNvPr id="108" name="Graphic 107" descr="Robot Hand outline">
            <a:extLst>
              <a:ext uri="{FF2B5EF4-FFF2-40B4-BE49-F238E27FC236}">
                <a16:creationId xmlns:a16="http://schemas.microsoft.com/office/drawing/2014/main" id="{6115EDC0-553B-ABD0-D2A2-3782C84E650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686612" y="2707428"/>
            <a:ext cx="311678" cy="309482"/>
          </a:xfrm>
          <a:prstGeom prst="rect">
            <a:avLst/>
          </a:prstGeom>
        </p:spPr>
      </p:pic>
      <p:sp>
        <p:nvSpPr>
          <p:cNvPr id="109" name="TextBox 108">
            <a:extLst>
              <a:ext uri="{FF2B5EF4-FFF2-40B4-BE49-F238E27FC236}">
                <a16:creationId xmlns:a16="http://schemas.microsoft.com/office/drawing/2014/main" id="{7B048027-11BC-4072-6536-A38C4101CEDB}"/>
              </a:ext>
            </a:extLst>
          </p:cNvPr>
          <p:cNvSpPr txBox="1"/>
          <p:nvPr/>
        </p:nvSpPr>
        <p:spPr>
          <a:xfrm>
            <a:off x="5163565" y="2833510"/>
            <a:ext cx="438836" cy="246221"/>
          </a:xfrm>
          <a:prstGeom prst="rect">
            <a:avLst/>
          </a:prstGeom>
          <a:noFill/>
        </p:spPr>
        <p:txBody>
          <a:bodyPr wrap="square" rtlCol="0">
            <a:spAutoFit/>
          </a:bodyPr>
          <a:lstStyle/>
          <a:p>
            <a:pPr algn="ctr"/>
            <a:r>
              <a:rPr lang="en-US" sz="1000" dirty="0"/>
              <a:t>2</a:t>
            </a:r>
          </a:p>
        </p:txBody>
      </p:sp>
      <p:sp>
        <p:nvSpPr>
          <p:cNvPr id="110" name="TextBox 109">
            <a:extLst>
              <a:ext uri="{FF2B5EF4-FFF2-40B4-BE49-F238E27FC236}">
                <a16:creationId xmlns:a16="http://schemas.microsoft.com/office/drawing/2014/main" id="{BF784531-590C-BF8C-0691-FE0B14A40528}"/>
              </a:ext>
            </a:extLst>
          </p:cNvPr>
          <p:cNvSpPr txBox="1"/>
          <p:nvPr/>
        </p:nvSpPr>
        <p:spPr>
          <a:xfrm>
            <a:off x="5561285" y="2944341"/>
            <a:ext cx="438836" cy="246221"/>
          </a:xfrm>
          <a:prstGeom prst="rect">
            <a:avLst/>
          </a:prstGeom>
          <a:noFill/>
        </p:spPr>
        <p:txBody>
          <a:bodyPr wrap="square" rtlCol="0">
            <a:spAutoFit/>
          </a:bodyPr>
          <a:lstStyle/>
          <a:p>
            <a:pPr algn="ctr"/>
            <a:r>
              <a:rPr lang="en-US" sz="1000" dirty="0"/>
              <a:t>3</a:t>
            </a:r>
          </a:p>
        </p:txBody>
      </p:sp>
      <p:sp>
        <p:nvSpPr>
          <p:cNvPr id="112" name="TextBox 111">
            <a:extLst>
              <a:ext uri="{FF2B5EF4-FFF2-40B4-BE49-F238E27FC236}">
                <a16:creationId xmlns:a16="http://schemas.microsoft.com/office/drawing/2014/main" id="{77680113-D86A-95FE-E6A0-2499695090B8}"/>
              </a:ext>
            </a:extLst>
          </p:cNvPr>
          <p:cNvSpPr txBox="1"/>
          <p:nvPr/>
        </p:nvSpPr>
        <p:spPr>
          <a:xfrm>
            <a:off x="5244090" y="2077708"/>
            <a:ext cx="438836" cy="246221"/>
          </a:xfrm>
          <a:prstGeom prst="rect">
            <a:avLst/>
          </a:prstGeom>
          <a:noFill/>
        </p:spPr>
        <p:txBody>
          <a:bodyPr wrap="square" rtlCol="0">
            <a:spAutoFit/>
          </a:bodyPr>
          <a:lstStyle/>
          <a:p>
            <a:pPr algn="ctr"/>
            <a:r>
              <a:rPr lang="en-US" sz="1000" dirty="0"/>
              <a:t>1</a:t>
            </a:r>
          </a:p>
        </p:txBody>
      </p:sp>
      <p:sp>
        <p:nvSpPr>
          <p:cNvPr id="114" name="TextBox 113">
            <a:extLst>
              <a:ext uri="{FF2B5EF4-FFF2-40B4-BE49-F238E27FC236}">
                <a16:creationId xmlns:a16="http://schemas.microsoft.com/office/drawing/2014/main" id="{1C3353BA-75BA-36A1-C950-068A85B66351}"/>
              </a:ext>
            </a:extLst>
          </p:cNvPr>
          <p:cNvSpPr txBox="1"/>
          <p:nvPr/>
        </p:nvSpPr>
        <p:spPr>
          <a:xfrm>
            <a:off x="6863396" y="3579753"/>
            <a:ext cx="1209339" cy="276999"/>
          </a:xfrm>
          <a:prstGeom prst="rect">
            <a:avLst/>
          </a:prstGeom>
          <a:noFill/>
        </p:spPr>
        <p:txBody>
          <a:bodyPr wrap="square" rtlCol="0">
            <a:spAutoFit/>
          </a:bodyPr>
          <a:lstStyle/>
          <a:p>
            <a:pPr algn="ctr"/>
            <a:r>
              <a:rPr lang="en-US" sz="1200" dirty="0"/>
              <a:t>Web server</a:t>
            </a:r>
          </a:p>
        </p:txBody>
      </p:sp>
    </p:spTree>
    <p:extLst>
      <p:ext uri="{BB962C8B-B14F-4D97-AF65-F5344CB8AC3E}">
        <p14:creationId xmlns:p14="http://schemas.microsoft.com/office/powerpoint/2010/main" val="2268354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
            <a:extLst>
              <a:ext uri="{FF2B5EF4-FFF2-40B4-BE49-F238E27FC236}">
                <a16:creationId xmlns:a16="http://schemas.microsoft.com/office/drawing/2014/main" id="{C0A4D197-E2D5-940B-46E5-0923AC2FDBB5}"/>
              </a:ext>
            </a:extLst>
          </p:cNvPr>
          <p:cNvSpPr>
            <a:spLocks noGrp="1"/>
          </p:cNvSpPr>
          <p:nvPr>
            <p:ph type="title"/>
          </p:nvPr>
        </p:nvSpPr>
        <p:spPr>
          <a:xfrm>
            <a:off x="1605" y="201363"/>
            <a:ext cx="10137600" cy="906366"/>
          </a:xfrm>
        </p:spPr>
        <p:txBody>
          <a:bodyPr/>
          <a:lstStyle/>
          <a:p>
            <a:r>
              <a:rPr lang="en-US" sz="1800" b="0" dirty="0"/>
              <a:t>TwinCAT Connectivity</a:t>
            </a:r>
            <a:br>
              <a:rPr lang="en-US" dirty="0"/>
            </a:br>
            <a:r>
              <a:rPr lang="en-US" sz="2000" dirty="0"/>
              <a:t>Lab 1 – MQTT</a:t>
            </a:r>
          </a:p>
        </p:txBody>
      </p:sp>
      <p:sp>
        <p:nvSpPr>
          <p:cNvPr id="4" name="Text Placeholder 3">
            <a:extLst>
              <a:ext uri="{FF2B5EF4-FFF2-40B4-BE49-F238E27FC236}">
                <a16:creationId xmlns:a16="http://schemas.microsoft.com/office/drawing/2014/main" id="{A71D6825-4B0A-9252-D188-74DAFE610622}"/>
              </a:ext>
            </a:extLst>
          </p:cNvPr>
          <p:cNvSpPr>
            <a:spLocks noGrp="1"/>
          </p:cNvSpPr>
          <p:nvPr>
            <p:ph type="body" sz="quarter" idx="15"/>
          </p:nvPr>
        </p:nvSpPr>
        <p:spPr>
          <a:xfrm>
            <a:off x="2" y="1090799"/>
            <a:ext cx="11135759" cy="3142810"/>
          </a:xfrm>
        </p:spPr>
        <p:txBody>
          <a:bodyPr/>
          <a:lstStyle/>
          <a:p>
            <a:r>
              <a:rPr lang="en-US" sz="1600" dirty="0"/>
              <a:t>Open MQTT Client of choice</a:t>
            </a:r>
          </a:p>
          <a:p>
            <a:r>
              <a:rPr lang="en-US" sz="1600" dirty="0"/>
              <a:t>Connect to iot.beckhoff.us:1883 (User: </a:t>
            </a:r>
            <a:r>
              <a:rPr lang="en-US" sz="1600" dirty="0" err="1"/>
              <a:t>BausUser</a:t>
            </a:r>
            <a:r>
              <a:rPr lang="en-US" sz="1600" dirty="0"/>
              <a:t> PW: TwinCAT)</a:t>
            </a:r>
          </a:p>
          <a:p>
            <a:pPr lvl="1"/>
            <a:r>
              <a:rPr lang="en-US" sz="1600" dirty="0"/>
              <a:t>Depending on client, you may need to subscribe to ‘#’ to see all incoming messages (there will be tons)</a:t>
            </a:r>
          </a:p>
          <a:p>
            <a:pPr lvl="1"/>
            <a:r>
              <a:rPr lang="en-US" sz="1600" dirty="0"/>
              <a:t>Unsubscribe from ‘#’ and subscribe to ‘nem_2026/#’</a:t>
            </a:r>
          </a:p>
          <a:p>
            <a:r>
              <a:rPr lang="en-US" sz="1600" dirty="0"/>
              <a:t>Reference and follow lab guide: </a:t>
            </a:r>
            <a:r>
              <a:rPr lang="en-US" sz="1600" dirty="0">
                <a:hlinkClick r:id="rId3"/>
              </a:rPr>
              <a:t>https://github.com/andedolph/NEM_2026_Connectivity</a:t>
            </a:r>
            <a:r>
              <a:rPr lang="en-US" sz="1600" dirty="0"/>
              <a:t> </a:t>
            </a:r>
          </a:p>
        </p:txBody>
      </p:sp>
    </p:spTree>
    <p:extLst>
      <p:ext uri="{BB962C8B-B14F-4D97-AF65-F5344CB8AC3E}">
        <p14:creationId xmlns:p14="http://schemas.microsoft.com/office/powerpoint/2010/main" val="296857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a:xfrm>
            <a:off x="2199" y="1090799"/>
            <a:ext cx="8627124" cy="5331600"/>
          </a:xfrm>
        </p:spPr>
        <p:txBody>
          <a:bodyPr/>
          <a:lstStyle/>
          <a:p>
            <a:r>
              <a:rPr lang="en-US" b="1" noProof="0" dirty="0"/>
              <a:t>TF6760 TC3 IoT HTTPS/REST</a:t>
            </a:r>
          </a:p>
          <a:p>
            <a:pPr lvl="1"/>
            <a:r>
              <a:rPr lang="en-US" noProof="0" dirty="0"/>
              <a:t>HTTPS client connectivity for TwinCAT 3 PLC</a:t>
            </a:r>
          </a:p>
          <a:p>
            <a:pPr lvl="1"/>
            <a:r>
              <a:rPr lang="en-US" noProof="0" dirty="0"/>
              <a:t>Allows to send HTTPS requests (</a:t>
            </a:r>
            <a:r>
              <a:rPr lang="en-US" i="1" noProof="0" dirty="0"/>
              <a:t>GET</a:t>
            </a:r>
            <a:r>
              <a:rPr lang="en-US" noProof="0" dirty="0"/>
              <a:t>, </a:t>
            </a:r>
            <a:r>
              <a:rPr lang="en-US" i="1" noProof="0" dirty="0"/>
              <a:t>POST</a:t>
            </a:r>
            <a:r>
              <a:rPr lang="en-US" noProof="0" dirty="0"/>
              <a:t>, </a:t>
            </a:r>
            <a:r>
              <a:rPr lang="en-US" i="1" noProof="0" dirty="0"/>
              <a:t>PUT</a:t>
            </a:r>
            <a:r>
              <a:rPr lang="en-US" noProof="0" dirty="0"/>
              <a:t>, ...)</a:t>
            </a:r>
          </a:p>
          <a:p>
            <a:pPr lvl="1"/>
            <a:r>
              <a:rPr lang="en-US" noProof="0" dirty="0"/>
              <a:t>Perfectly suited for web services that offer a REST API</a:t>
            </a:r>
          </a:p>
          <a:p>
            <a:pPr lvl="1"/>
            <a:r>
              <a:rPr lang="en-US" noProof="0" dirty="0"/>
              <a:t>Security via SSL/TLS</a:t>
            </a:r>
          </a:p>
        </p:txBody>
      </p:sp>
      <p:sp>
        <p:nvSpPr>
          <p:cNvPr id="3" name="Titel 2"/>
          <p:cNvSpPr>
            <a:spLocks noGrp="1"/>
          </p:cNvSpPr>
          <p:nvPr>
            <p:ph type="title"/>
          </p:nvPr>
        </p:nvSpPr>
        <p:spPr>
          <a:xfrm>
            <a:off x="-1" y="81455"/>
            <a:ext cx="10137600" cy="998699"/>
          </a:xfrm>
        </p:spPr>
        <p:txBody>
          <a:bodyPr/>
          <a:lstStyle/>
          <a:p>
            <a:r>
              <a:rPr lang="en-US" sz="1800" b="0" dirty="0"/>
              <a:t>TwinCAT</a:t>
            </a:r>
            <a:r>
              <a:rPr lang="en-US" sz="2400" b="0" dirty="0"/>
              <a:t> </a:t>
            </a:r>
            <a:r>
              <a:rPr lang="en-US" sz="1800" b="0" dirty="0"/>
              <a:t>Connectivity</a:t>
            </a:r>
            <a:r>
              <a:rPr lang="en-US" sz="2400" b="0" dirty="0"/>
              <a:t> </a:t>
            </a:r>
            <a:br>
              <a:rPr lang="en-US" sz="2400" b="0" dirty="0"/>
            </a:br>
            <a:r>
              <a:rPr lang="en-US" noProof="0" dirty="0"/>
              <a:t>TF6760 </a:t>
            </a:r>
          </a:p>
        </p:txBody>
      </p:sp>
      <p:sp>
        <p:nvSpPr>
          <p:cNvPr id="4" name="Foliennummernplatzhalter 3"/>
          <p:cNvSpPr>
            <a:spLocks noGrp="1"/>
          </p:cNvSpPr>
          <p:nvPr>
            <p:ph type="sldNum" sz="quarter" idx="4"/>
          </p:nvPr>
        </p:nvSpPr>
        <p:spPr bwMode="gray">
          <a:xfrm>
            <a:off x="2200" y="6416676"/>
            <a:ext cx="765208" cy="441325"/>
          </a:xfrm>
          <a:prstGeom prst="rect">
            <a:avLst/>
          </a:prstGeom>
        </p:spPr>
        <p:txBody>
          <a:bodyPr vert="horz" lIns="234000" tIns="45720" rIns="3600" bIns="45720" rtlCol="0" anchor="ctr"/>
          <a:lstStyle>
            <a:defPPr>
              <a:defRPr lang="de-DE"/>
            </a:defPPr>
            <a:lvl1pPr marL="0" algn="l" defTabSz="914400" rtl="0" eaLnBrk="1" latinLnBrk="0" hangingPunct="1">
              <a:defRPr sz="1100" kern="1200">
                <a:solidFill>
                  <a:schemeClr val="accent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30EF64-91C9-4EBD-82F9-3643AB15A28C}" type="slidenum">
              <a:rPr lang="de-DE" smtClean="0"/>
              <a:pPr/>
              <a:t>10</a:t>
            </a:fld>
            <a:endParaRPr lang="en-US" noProof="0" dirty="0"/>
          </a:p>
        </p:txBody>
      </p:sp>
      <p:grpSp>
        <p:nvGrpSpPr>
          <p:cNvPr id="32" name="Gruppieren 31"/>
          <p:cNvGrpSpPr/>
          <p:nvPr/>
        </p:nvGrpSpPr>
        <p:grpSpPr>
          <a:xfrm>
            <a:off x="8770793" y="1700808"/>
            <a:ext cx="2618789" cy="1351941"/>
            <a:chOff x="7861191" y="1412776"/>
            <a:chExt cx="2618789" cy="1351941"/>
          </a:xfrm>
        </p:grpSpPr>
        <p:sp>
          <p:nvSpPr>
            <p:cNvPr id="33" name="Freihandform 24"/>
            <p:cNvSpPr>
              <a:spLocks noChangeAspect="1"/>
            </p:cNvSpPr>
            <p:nvPr/>
          </p:nvSpPr>
          <p:spPr>
            <a:xfrm>
              <a:off x="7861191" y="1412776"/>
              <a:ext cx="2618789" cy="1351941"/>
            </a:xfrm>
            <a:custGeom>
              <a:avLst/>
              <a:gdLst>
                <a:gd name="connsiteX0" fmla="*/ 187377 w 3762531"/>
                <a:gd name="connsiteY0" fmla="*/ 262328 h 2488367"/>
                <a:gd name="connsiteX1" fmla="*/ 1109272 w 3762531"/>
                <a:gd name="connsiteY1" fmla="*/ 0 h 2488367"/>
                <a:gd name="connsiteX2" fmla="*/ 3642610 w 3762531"/>
                <a:gd name="connsiteY2" fmla="*/ 239843 h 2488367"/>
                <a:gd name="connsiteX3" fmla="*/ 3762531 w 3762531"/>
                <a:gd name="connsiteY3" fmla="*/ 2488367 h 2488367"/>
                <a:gd name="connsiteX4" fmla="*/ 0 w 3762531"/>
                <a:gd name="connsiteY4" fmla="*/ 2488367 h 2488367"/>
                <a:gd name="connsiteX5" fmla="*/ 187377 w 3762531"/>
                <a:gd name="connsiteY5" fmla="*/ 262328 h 2488367"/>
                <a:gd name="connsiteX0" fmla="*/ 187377 w 3762531"/>
                <a:gd name="connsiteY0" fmla="*/ 361158 h 2587197"/>
                <a:gd name="connsiteX1" fmla="*/ 1109272 w 3762531"/>
                <a:gd name="connsiteY1" fmla="*/ 98830 h 2587197"/>
                <a:gd name="connsiteX2" fmla="*/ 3642610 w 3762531"/>
                <a:gd name="connsiteY2" fmla="*/ 338673 h 2587197"/>
                <a:gd name="connsiteX3" fmla="*/ 3762531 w 3762531"/>
                <a:gd name="connsiteY3" fmla="*/ 2587197 h 2587197"/>
                <a:gd name="connsiteX4" fmla="*/ 0 w 3762531"/>
                <a:gd name="connsiteY4" fmla="*/ 2587197 h 2587197"/>
                <a:gd name="connsiteX5" fmla="*/ 187377 w 3762531"/>
                <a:gd name="connsiteY5" fmla="*/ 361158 h 2587197"/>
                <a:gd name="connsiteX0" fmla="*/ 870238 w 4445392"/>
                <a:gd name="connsiteY0" fmla="*/ 361158 h 2587197"/>
                <a:gd name="connsiteX1" fmla="*/ 1792133 w 4445392"/>
                <a:gd name="connsiteY1" fmla="*/ 98830 h 2587197"/>
                <a:gd name="connsiteX2" fmla="*/ 4325471 w 4445392"/>
                <a:gd name="connsiteY2" fmla="*/ 338673 h 2587197"/>
                <a:gd name="connsiteX3" fmla="*/ 4445392 w 4445392"/>
                <a:gd name="connsiteY3" fmla="*/ 2587197 h 2587197"/>
                <a:gd name="connsiteX4" fmla="*/ 682861 w 4445392"/>
                <a:gd name="connsiteY4" fmla="*/ 2587197 h 2587197"/>
                <a:gd name="connsiteX5" fmla="*/ 870238 w 4445392"/>
                <a:gd name="connsiteY5" fmla="*/ 361158 h 2587197"/>
                <a:gd name="connsiteX0" fmla="*/ 1283861 w 4859015"/>
                <a:gd name="connsiteY0" fmla="*/ 361158 h 2587197"/>
                <a:gd name="connsiteX1" fmla="*/ 2205756 w 4859015"/>
                <a:gd name="connsiteY1" fmla="*/ 98830 h 2587197"/>
                <a:gd name="connsiteX2" fmla="*/ 4739094 w 4859015"/>
                <a:gd name="connsiteY2" fmla="*/ 338673 h 2587197"/>
                <a:gd name="connsiteX3" fmla="*/ 4859015 w 4859015"/>
                <a:gd name="connsiteY3" fmla="*/ 2587197 h 2587197"/>
                <a:gd name="connsiteX4" fmla="*/ 1096484 w 4859015"/>
                <a:gd name="connsiteY4" fmla="*/ 2587197 h 2587197"/>
                <a:gd name="connsiteX5" fmla="*/ 1283861 w 4859015"/>
                <a:gd name="connsiteY5" fmla="*/ 361158 h 2587197"/>
                <a:gd name="connsiteX0" fmla="*/ 1283861 w 4859015"/>
                <a:gd name="connsiteY0" fmla="*/ 413104 h 2639143"/>
                <a:gd name="connsiteX1" fmla="*/ 2205756 w 4859015"/>
                <a:gd name="connsiteY1" fmla="*/ 150776 h 2639143"/>
                <a:gd name="connsiteX2" fmla="*/ 4739094 w 4859015"/>
                <a:gd name="connsiteY2" fmla="*/ 390619 h 2639143"/>
                <a:gd name="connsiteX3" fmla="*/ 4859015 w 4859015"/>
                <a:gd name="connsiteY3" fmla="*/ 2639143 h 2639143"/>
                <a:gd name="connsiteX4" fmla="*/ 1096484 w 4859015"/>
                <a:gd name="connsiteY4" fmla="*/ 2639143 h 2639143"/>
                <a:gd name="connsiteX5" fmla="*/ 1283861 w 4859015"/>
                <a:gd name="connsiteY5" fmla="*/ 413104 h 2639143"/>
                <a:gd name="connsiteX0" fmla="*/ 1283861 w 4859015"/>
                <a:gd name="connsiteY0" fmla="*/ 639949 h 2865988"/>
                <a:gd name="connsiteX1" fmla="*/ 2205756 w 4859015"/>
                <a:gd name="connsiteY1" fmla="*/ 377621 h 2865988"/>
                <a:gd name="connsiteX2" fmla="*/ 4739094 w 4859015"/>
                <a:gd name="connsiteY2" fmla="*/ 617464 h 2865988"/>
                <a:gd name="connsiteX3" fmla="*/ 4859015 w 4859015"/>
                <a:gd name="connsiteY3" fmla="*/ 2865988 h 2865988"/>
                <a:gd name="connsiteX4" fmla="*/ 1096484 w 4859015"/>
                <a:gd name="connsiteY4" fmla="*/ 2865988 h 2865988"/>
                <a:gd name="connsiteX5" fmla="*/ 1283861 w 4859015"/>
                <a:gd name="connsiteY5" fmla="*/ 639949 h 2865988"/>
                <a:gd name="connsiteX0" fmla="*/ 1283861 w 4859015"/>
                <a:gd name="connsiteY0" fmla="*/ 805598 h 3031637"/>
                <a:gd name="connsiteX1" fmla="*/ 2205756 w 4859015"/>
                <a:gd name="connsiteY1" fmla="*/ 543270 h 3031637"/>
                <a:gd name="connsiteX2" fmla="*/ 4739094 w 4859015"/>
                <a:gd name="connsiteY2" fmla="*/ 783113 h 3031637"/>
                <a:gd name="connsiteX3" fmla="*/ 4859015 w 4859015"/>
                <a:gd name="connsiteY3" fmla="*/ 3031637 h 3031637"/>
                <a:gd name="connsiteX4" fmla="*/ 1096484 w 4859015"/>
                <a:gd name="connsiteY4" fmla="*/ 3031637 h 3031637"/>
                <a:gd name="connsiteX5" fmla="*/ 1283861 w 4859015"/>
                <a:gd name="connsiteY5" fmla="*/ 805598 h 3031637"/>
                <a:gd name="connsiteX0" fmla="*/ 1283861 w 5259884"/>
                <a:gd name="connsiteY0" fmla="*/ 805598 h 3031637"/>
                <a:gd name="connsiteX1" fmla="*/ 2205756 w 5259884"/>
                <a:gd name="connsiteY1" fmla="*/ 543270 h 3031637"/>
                <a:gd name="connsiteX2" fmla="*/ 4739094 w 5259884"/>
                <a:gd name="connsiteY2" fmla="*/ 783113 h 3031637"/>
                <a:gd name="connsiteX3" fmla="*/ 4859015 w 5259884"/>
                <a:gd name="connsiteY3" fmla="*/ 3031637 h 3031637"/>
                <a:gd name="connsiteX4" fmla="*/ 1096484 w 5259884"/>
                <a:gd name="connsiteY4" fmla="*/ 3031637 h 3031637"/>
                <a:gd name="connsiteX5" fmla="*/ 1283861 w 5259884"/>
                <a:gd name="connsiteY5" fmla="*/ 805598 h 3031637"/>
                <a:gd name="connsiteX0" fmla="*/ 1283861 w 5871218"/>
                <a:gd name="connsiteY0" fmla="*/ 805598 h 3031637"/>
                <a:gd name="connsiteX1" fmla="*/ 2205756 w 5871218"/>
                <a:gd name="connsiteY1" fmla="*/ 543270 h 3031637"/>
                <a:gd name="connsiteX2" fmla="*/ 4739094 w 5871218"/>
                <a:gd name="connsiteY2" fmla="*/ 783113 h 3031637"/>
                <a:gd name="connsiteX3" fmla="*/ 4859015 w 5871218"/>
                <a:gd name="connsiteY3" fmla="*/ 3031637 h 3031637"/>
                <a:gd name="connsiteX4" fmla="*/ 1096484 w 5871218"/>
                <a:gd name="connsiteY4" fmla="*/ 3031637 h 3031637"/>
                <a:gd name="connsiteX5" fmla="*/ 1283861 w 5871218"/>
                <a:gd name="connsiteY5" fmla="*/ 805598 h 3031637"/>
                <a:gd name="connsiteX0" fmla="*/ 1283861 w 5924778"/>
                <a:gd name="connsiteY0" fmla="*/ 805598 h 3031637"/>
                <a:gd name="connsiteX1" fmla="*/ 2205756 w 5924778"/>
                <a:gd name="connsiteY1" fmla="*/ 543270 h 3031637"/>
                <a:gd name="connsiteX2" fmla="*/ 4739094 w 5924778"/>
                <a:gd name="connsiteY2" fmla="*/ 783113 h 3031637"/>
                <a:gd name="connsiteX3" fmla="*/ 4859015 w 5924778"/>
                <a:gd name="connsiteY3" fmla="*/ 3031637 h 3031637"/>
                <a:gd name="connsiteX4" fmla="*/ 1096484 w 5924778"/>
                <a:gd name="connsiteY4" fmla="*/ 3031637 h 3031637"/>
                <a:gd name="connsiteX5" fmla="*/ 1283861 w 5924778"/>
                <a:gd name="connsiteY5" fmla="*/ 805598 h 3031637"/>
                <a:gd name="connsiteX0" fmla="*/ 1283861 w 5924778"/>
                <a:gd name="connsiteY0" fmla="*/ 816848 h 3042887"/>
                <a:gd name="connsiteX1" fmla="*/ 2205756 w 5924778"/>
                <a:gd name="connsiteY1" fmla="*/ 554520 h 3042887"/>
                <a:gd name="connsiteX2" fmla="*/ 4739094 w 5924778"/>
                <a:gd name="connsiteY2" fmla="*/ 794363 h 3042887"/>
                <a:gd name="connsiteX3" fmla="*/ 4859015 w 5924778"/>
                <a:gd name="connsiteY3" fmla="*/ 3042887 h 3042887"/>
                <a:gd name="connsiteX4" fmla="*/ 1096484 w 5924778"/>
                <a:gd name="connsiteY4" fmla="*/ 3042887 h 3042887"/>
                <a:gd name="connsiteX5" fmla="*/ 1283861 w 5924778"/>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872028"/>
                <a:gd name="connsiteY0" fmla="*/ 816848 h 3042887"/>
                <a:gd name="connsiteX1" fmla="*/ 2199965 w 5872028"/>
                <a:gd name="connsiteY1" fmla="*/ 554520 h 3042887"/>
                <a:gd name="connsiteX2" fmla="*/ 4733303 w 5872028"/>
                <a:gd name="connsiteY2" fmla="*/ 794363 h 3042887"/>
                <a:gd name="connsiteX3" fmla="*/ 4853224 w 5872028"/>
                <a:gd name="connsiteY3" fmla="*/ 3042887 h 3042887"/>
                <a:gd name="connsiteX4" fmla="*/ 1090693 w 5872028"/>
                <a:gd name="connsiteY4" fmla="*/ 3042887 h 3042887"/>
                <a:gd name="connsiteX5" fmla="*/ 1278070 w 5872028"/>
                <a:gd name="connsiteY5" fmla="*/ 816848 h 3042887"/>
                <a:gd name="connsiteX0" fmla="*/ 1278070 w 5772302"/>
                <a:gd name="connsiteY0" fmla="*/ 816848 h 3042887"/>
                <a:gd name="connsiteX1" fmla="*/ 2199965 w 5772302"/>
                <a:gd name="connsiteY1" fmla="*/ 554520 h 3042887"/>
                <a:gd name="connsiteX2" fmla="*/ 4733303 w 5772302"/>
                <a:gd name="connsiteY2" fmla="*/ 794363 h 3042887"/>
                <a:gd name="connsiteX3" fmla="*/ 4670002 w 5772302"/>
                <a:gd name="connsiteY3" fmla="*/ 3037652 h 3042887"/>
                <a:gd name="connsiteX4" fmla="*/ 1090693 w 5772302"/>
                <a:gd name="connsiteY4" fmla="*/ 3042887 h 3042887"/>
                <a:gd name="connsiteX5" fmla="*/ 1278070 w 5772302"/>
                <a:gd name="connsiteY5" fmla="*/ 816848 h 3042887"/>
                <a:gd name="connsiteX0" fmla="*/ 1278070 w 5812783"/>
                <a:gd name="connsiteY0" fmla="*/ 816848 h 3042887"/>
                <a:gd name="connsiteX1" fmla="*/ 2199965 w 5812783"/>
                <a:gd name="connsiteY1" fmla="*/ 554520 h 3042887"/>
                <a:gd name="connsiteX2" fmla="*/ 4733303 w 5812783"/>
                <a:gd name="connsiteY2" fmla="*/ 794363 h 3042887"/>
                <a:gd name="connsiteX3" fmla="*/ 4670002 w 5812783"/>
                <a:gd name="connsiteY3" fmla="*/ 3037652 h 3042887"/>
                <a:gd name="connsiteX4" fmla="*/ 1090693 w 5812783"/>
                <a:gd name="connsiteY4" fmla="*/ 3042887 h 3042887"/>
                <a:gd name="connsiteX5" fmla="*/ 1278070 w 5812783"/>
                <a:gd name="connsiteY5" fmla="*/ 816848 h 3042887"/>
                <a:gd name="connsiteX0" fmla="*/ 1278070 w 5894253"/>
                <a:gd name="connsiteY0" fmla="*/ 816848 h 3042887"/>
                <a:gd name="connsiteX1" fmla="*/ 2199965 w 5894253"/>
                <a:gd name="connsiteY1" fmla="*/ 554520 h 3042887"/>
                <a:gd name="connsiteX2" fmla="*/ 4733303 w 5894253"/>
                <a:gd name="connsiteY2" fmla="*/ 794363 h 3042887"/>
                <a:gd name="connsiteX3" fmla="*/ 4670002 w 5894253"/>
                <a:gd name="connsiteY3" fmla="*/ 3037652 h 3042887"/>
                <a:gd name="connsiteX4" fmla="*/ 1090693 w 5894253"/>
                <a:gd name="connsiteY4" fmla="*/ 3042887 h 3042887"/>
                <a:gd name="connsiteX5" fmla="*/ 1278070 w 5894253"/>
                <a:gd name="connsiteY5" fmla="*/ 816848 h 304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4253" h="3042887">
                  <a:moveTo>
                    <a:pt x="1278070" y="816848"/>
                  </a:moveTo>
                  <a:cubicBezTo>
                    <a:pt x="1465446" y="167274"/>
                    <a:pt x="2080044" y="447091"/>
                    <a:pt x="2199965" y="554520"/>
                  </a:cubicBezTo>
                  <a:cubicBezTo>
                    <a:pt x="2976955" y="-384863"/>
                    <a:pt x="4353552" y="-12608"/>
                    <a:pt x="4733303" y="794363"/>
                  </a:cubicBezTo>
                  <a:cubicBezTo>
                    <a:pt x="6240379" y="843022"/>
                    <a:pt x="6343074" y="2920642"/>
                    <a:pt x="4670002" y="3037652"/>
                  </a:cubicBezTo>
                  <a:lnTo>
                    <a:pt x="1090693" y="3042887"/>
                  </a:lnTo>
                  <a:cubicBezTo>
                    <a:pt x="-203458" y="3035392"/>
                    <a:pt x="-583208" y="809353"/>
                    <a:pt x="1278070" y="816848"/>
                  </a:cubicBezTo>
                  <a:close/>
                </a:path>
              </a:pathLst>
            </a:custGeom>
            <a:solidFill>
              <a:schemeClr val="bg1"/>
            </a:solidFill>
            <a:ln w="635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684000" rIns="91440" bIns="45720" numCol="1" spcCol="0" rtlCol="0" fromWordArt="0" anchor="t" anchorCtr="0" forceAA="0" compatLnSpc="1">
              <a:prstTxWarp prst="textNoShape">
                <a:avLst/>
              </a:prstTxWarp>
              <a:noAutofit/>
            </a:bodyPr>
            <a:lstStyle/>
            <a:p>
              <a:endParaRPr lang="en-US" sz="1400" noProof="0" dirty="0">
                <a:solidFill>
                  <a:schemeClr val="tx1"/>
                </a:solidFill>
                <a:latin typeface="Arial" pitchFamily="34" charset="0"/>
                <a:cs typeface="Arial" pitchFamily="34" charset="0"/>
              </a:endParaRPr>
            </a:p>
          </p:txBody>
        </p:sp>
        <p:sp>
          <p:nvSpPr>
            <p:cNvPr id="34" name="Textfeld 33"/>
            <p:cNvSpPr txBox="1"/>
            <p:nvPr/>
          </p:nvSpPr>
          <p:spPr>
            <a:xfrm>
              <a:off x="8435183" y="1942303"/>
              <a:ext cx="1585626" cy="523220"/>
            </a:xfrm>
            <a:prstGeom prst="rect">
              <a:avLst/>
            </a:prstGeom>
            <a:noFill/>
          </p:spPr>
          <p:txBody>
            <a:bodyPr wrap="none" rtlCol="0">
              <a:spAutoFit/>
            </a:bodyPr>
            <a:lstStyle/>
            <a:p>
              <a:pPr algn="ctr"/>
              <a:r>
                <a:rPr lang="en-US" sz="1400" noProof="0" dirty="0"/>
                <a:t>Web service with </a:t>
              </a:r>
            </a:p>
            <a:p>
              <a:pPr algn="ctr"/>
              <a:r>
                <a:rPr lang="en-US" sz="1400" noProof="0" dirty="0"/>
                <a:t>REST API</a:t>
              </a:r>
            </a:p>
          </p:txBody>
        </p:sp>
      </p:grpSp>
      <p:cxnSp>
        <p:nvCxnSpPr>
          <p:cNvPr id="37" name="Gerade Verbindung mit Pfeil 36"/>
          <p:cNvCxnSpPr/>
          <p:nvPr/>
        </p:nvCxnSpPr>
        <p:spPr>
          <a:xfrm>
            <a:off x="10137599" y="3159651"/>
            <a:ext cx="0" cy="1373396"/>
          </a:xfrm>
          <a:prstGeom prst="straightConnector1">
            <a:avLst/>
          </a:prstGeom>
          <a:ln w="38100">
            <a:solidFill>
              <a:srgbClr val="EF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5" name="Grafik 4"/>
          <p:cNvPicPr>
            <a:picLocks noChangeAspect="1"/>
          </p:cNvPicPr>
          <p:nvPr/>
        </p:nvPicPr>
        <p:blipFill>
          <a:blip r:embed="rId2"/>
          <a:stretch>
            <a:fillRect/>
          </a:stretch>
        </p:blipFill>
        <p:spPr>
          <a:xfrm>
            <a:off x="983432" y="3398289"/>
            <a:ext cx="6768752" cy="896120"/>
          </a:xfrm>
          <a:prstGeom prst="rect">
            <a:avLst/>
          </a:prstGeom>
        </p:spPr>
      </p:pic>
      <p:pic>
        <p:nvPicPr>
          <p:cNvPr id="6" name="Grafik 5"/>
          <p:cNvPicPr>
            <a:picLocks noChangeAspect="1"/>
          </p:cNvPicPr>
          <p:nvPr/>
        </p:nvPicPr>
        <p:blipFill>
          <a:blip r:embed="rId3"/>
          <a:stretch>
            <a:fillRect/>
          </a:stretch>
        </p:blipFill>
        <p:spPr>
          <a:xfrm>
            <a:off x="975777" y="4437112"/>
            <a:ext cx="6776408" cy="873522"/>
          </a:xfrm>
          <a:prstGeom prst="rect">
            <a:avLst/>
          </a:prstGeom>
        </p:spPr>
      </p:pic>
      <p:grpSp>
        <p:nvGrpSpPr>
          <p:cNvPr id="7" name="Group 6">
            <a:extLst>
              <a:ext uri="{FF2B5EF4-FFF2-40B4-BE49-F238E27FC236}">
                <a16:creationId xmlns:a16="http://schemas.microsoft.com/office/drawing/2014/main" id="{FC173AB0-74F6-DBEE-4C66-2D7CC81E8EAC}"/>
              </a:ext>
            </a:extLst>
          </p:cNvPr>
          <p:cNvGrpSpPr/>
          <p:nvPr/>
        </p:nvGrpSpPr>
        <p:grpSpPr>
          <a:xfrm>
            <a:off x="9216649" y="4389507"/>
            <a:ext cx="1841898" cy="823795"/>
            <a:chOff x="1694331" y="5431230"/>
            <a:chExt cx="1841898" cy="823795"/>
          </a:xfrm>
        </p:grpSpPr>
        <p:sp>
          <p:nvSpPr>
            <p:cNvPr id="8" name="Abgerundetes Rechteck 18">
              <a:extLst>
                <a:ext uri="{FF2B5EF4-FFF2-40B4-BE49-F238E27FC236}">
                  <a16:creationId xmlns:a16="http://schemas.microsoft.com/office/drawing/2014/main" id="{27AE7E3F-B3C8-D35C-E252-A2B3E5A75B9C}"/>
                </a:ext>
              </a:extLst>
            </p:cNvPr>
            <p:cNvSpPr/>
            <p:nvPr/>
          </p:nvSpPr>
          <p:spPr>
            <a:xfrm>
              <a:off x="1694331" y="5610292"/>
              <a:ext cx="1841898" cy="644733"/>
            </a:xfrm>
            <a:prstGeom prst="roundRect">
              <a:avLst/>
            </a:prstGeom>
            <a:solidFill>
              <a:srgbClr val="86405C"/>
            </a:solidFill>
            <a:ln>
              <a:no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r>
                <a:rPr lang="en-US" sz="1000" noProof="0" dirty="0">
                  <a:solidFill>
                    <a:schemeClr val="bg1"/>
                  </a:solidFill>
                </a:rPr>
                <a:t>TF6760 IoT HTTPS/REST</a:t>
              </a:r>
            </a:p>
          </p:txBody>
        </p:sp>
        <p:grpSp>
          <p:nvGrpSpPr>
            <p:cNvPr id="9" name="Group 8">
              <a:extLst>
                <a:ext uri="{FF2B5EF4-FFF2-40B4-BE49-F238E27FC236}">
                  <a16:creationId xmlns:a16="http://schemas.microsoft.com/office/drawing/2014/main" id="{B9F57727-527E-2606-FDBC-96A3F60301BC}"/>
                </a:ext>
              </a:extLst>
            </p:cNvPr>
            <p:cNvGrpSpPr>
              <a:grpSpLocks noChangeAspect="1"/>
            </p:cNvGrpSpPr>
            <p:nvPr/>
          </p:nvGrpSpPr>
          <p:grpSpPr>
            <a:xfrm>
              <a:off x="3076945" y="5431230"/>
              <a:ext cx="318242" cy="322887"/>
              <a:chOff x="8589297" y="3284984"/>
              <a:chExt cx="2116803" cy="2147695"/>
            </a:xfrm>
            <a:effectLst>
              <a:outerShdw blurRad="50800" dist="38100" dir="2700000" algn="tl" rotWithShape="0">
                <a:prstClr val="black">
                  <a:alpha val="40000"/>
                </a:prstClr>
              </a:outerShdw>
            </a:effectLst>
          </p:grpSpPr>
          <p:pic>
            <p:nvPicPr>
              <p:cNvPr id="10" name="Picture 89">
                <a:extLst>
                  <a:ext uri="{FF2B5EF4-FFF2-40B4-BE49-F238E27FC236}">
                    <a16:creationId xmlns:a16="http://schemas.microsoft.com/office/drawing/2014/main" id="{5630E732-389F-D3D1-3371-0712E45DBD02}"/>
                  </a:ext>
                </a:extLst>
              </p:cNvPr>
              <p:cNvPicPr>
                <a:picLocks noChangeAspect="1"/>
              </p:cNvPicPr>
              <p:nvPr/>
            </p:nvPicPr>
            <p:blipFill rotWithShape="1">
              <a:blip r:embed="rId4"/>
              <a:srcRect l="35549" t="30354"/>
              <a:stretch/>
            </p:blipFill>
            <p:spPr>
              <a:xfrm>
                <a:off x="8589297" y="3284984"/>
                <a:ext cx="2113951" cy="2147695"/>
              </a:xfrm>
              <a:prstGeom prst="rect">
                <a:avLst/>
              </a:prstGeom>
            </p:spPr>
          </p:pic>
          <p:pic>
            <p:nvPicPr>
              <p:cNvPr id="11" name="Picture Placeholder 1">
                <a:extLst>
                  <a:ext uri="{FF2B5EF4-FFF2-40B4-BE49-F238E27FC236}">
                    <a16:creationId xmlns:a16="http://schemas.microsoft.com/office/drawing/2014/main" id="{A1A30007-15B9-DEFB-AC37-E2DA61D0838D}"/>
                  </a:ext>
                </a:extLst>
              </p:cNvPr>
              <p:cNvPicPr>
                <a:picLocks noChangeAspect="1"/>
              </p:cNvPicPr>
              <p:nvPr/>
            </p:nvPicPr>
            <p:blipFill>
              <a:blip r:embed="rId5"/>
              <a:srcRect/>
              <a:stretch>
                <a:fillRect/>
              </a:stretch>
            </p:blipFill>
            <p:spPr>
              <a:xfrm>
                <a:off x="10180638" y="3330575"/>
                <a:ext cx="525462" cy="525463"/>
              </a:xfrm>
              <a:prstGeom prst="rect">
                <a:avLst/>
              </a:prstGeom>
            </p:spPr>
          </p:pic>
          <p:pic>
            <p:nvPicPr>
              <p:cNvPr id="12" name="Picture Placeholder 2">
                <a:extLst>
                  <a:ext uri="{FF2B5EF4-FFF2-40B4-BE49-F238E27FC236}">
                    <a16:creationId xmlns:a16="http://schemas.microsoft.com/office/drawing/2014/main" id="{27C76208-69E8-1517-6E13-97F3D8AF09FD}"/>
                  </a:ext>
                </a:extLst>
              </p:cNvPr>
              <p:cNvPicPr>
                <a:picLocks noChangeAspect="1"/>
              </p:cNvPicPr>
              <p:nvPr/>
            </p:nvPicPr>
            <p:blipFill>
              <a:blip r:embed="rId6"/>
              <a:srcRect/>
              <a:stretch/>
            </p:blipFill>
            <p:spPr>
              <a:xfrm>
                <a:off x="9655175" y="3330575"/>
                <a:ext cx="525463" cy="525463"/>
              </a:xfrm>
              <a:prstGeom prst="rect">
                <a:avLst/>
              </a:prstGeom>
            </p:spPr>
          </p:pic>
          <p:pic>
            <p:nvPicPr>
              <p:cNvPr id="13" name="Picture Placeholder 3">
                <a:extLst>
                  <a:ext uri="{FF2B5EF4-FFF2-40B4-BE49-F238E27FC236}">
                    <a16:creationId xmlns:a16="http://schemas.microsoft.com/office/drawing/2014/main" id="{4F5B1BDB-27E8-409F-02E2-A8395F0D8047}"/>
                  </a:ext>
                </a:extLst>
              </p:cNvPr>
              <p:cNvPicPr>
                <a:picLocks noChangeAspect="1"/>
              </p:cNvPicPr>
              <p:nvPr/>
            </p:nvPicPr>
            <p:blipFill>
              <a:blip r:embed="rId7"/>
              <a:srcRect/>
              <a:stretch/>
            </p:blipFill>
            <p:spPr>
              <a:xfrm>
                <a:off x="10180638" y="4906963"/>
                <a:ext cx="525462" cy="525462"/>
              </a:xfrm>
              <a:prstGeom prst="rect">
                <a:avLst/>
              </a:prstGeom>
            </p:spPr>
          </p:pic>
          <p:pic>
            <p:nvPicPr>
              <p:cNvPr id="14" name="Picture Placeholder 4">
                <a:extLst>
                  <a:ext uri="{FF2B5EF4-FFF2-40B4-BE49-F238E27FC236}">
                    <a16:creationId xmlns:a16="http://schemas.microsoft.com/office/drawing/2014/main" id="{E0BE2D28-BB92-EA01-AE6A-246CF5369345}"/>
                  </a:ext>
                </a:extLst>
              </p:cNvPr>
              <p:cNvPicPr>
                <a:picLocks noChangeAspect="1"/>
              </p:cNvPicPr>
              <p:nvPr/>
            </p:nvPicPr>
            <p:blipFill>
              <a:blip r:embed="rId8"/>
              <a:srcRect/>
              <a:stretch/>
            </p:blipFill>
            <p:spPr>
              <a:xfrm>
                <a:off x="9655175" y="4906963"/>
                <a:ext cx="525463" cy="525462"/>
              </a:xfrm>
              <a:prstGeom prst="rect">
                <a:avLst/>
              </a:prstGeom>
            </p:spPr>
          </p:pic>
          <p:pic>
            <p:nvPicPr>
              <p:cNvPr id="15" name="Picture Placeholder 5">
                <a:extLst>
                  <a:ext uri="{FF2B5EF4-FFF2-40B4-BE49-F238E27FC236}">
                    <a16:creationId xmlns:a16="http://schemas.microsoft.com/office/drawing/2014/main" id="{42752FB3-24BB-97F8-9368-2ADF93FBB6C1}"/>
                  </a:ext>
                </a:extLst>
              </p:cNvPr>
              <p:cNvPicPr>
                <a:picLocks noChangeAspect="1"/>
              </p:cNvPicPr>
              <p:nvPr/>
            </p:nvPicPr>
            <p:blipFill>
              <a:blip r:embed="rId9"/>
              <a:srcRect/>
              <a:stretch/>
            </p:blipFill>
            <p:spPr>
              <a:xfrm>
                <a:off x="9655175" y="3856038"/>
                <a:ext cx="525463" cy="525462"/>
              </a:xfrm>
              <a:prstGeom prst="rect">
                <a:avLst/>
              </a:prstGeom>
            </p:spPr>
          </p:pic>
          <p:pic>
            <p:nvPicPr>
              <p:cNvPr id="16" name="Picture Placeholder 6">
                <a:extLst>
                  <a:ext uri="{FF2B5EF4-FFF2-40B4-BE49-F238E27FC236}">
                    <a16:creationId xmlns:a16="http://schemas.microsoft.com/office/drawing/2014/main" id="{1F296B41-E3E9-B3E9-DF98-B2DE4D61F10E}"/>
                  </a:ext>
                </a:extLst>
              </p:cNvPr>
              <p:cNvPicPr>
                <a:picLocks noChangeAspect="1"/>
              </p:cNvPicPr>
              <p:nvPr/>
            </p:nvPicPr>
            <p:blipFill>
              <a:blip r:embed="rId10"/>
              <a:srcRect/>
              <a:stretch/>
            </p:blipFill>
            <p:spPr>
              <a:xfrm>
                <a:off x="8605838" y="3856038"/>
                <a:ext cx="525462" cy="525462"/>
              </a:xfrm>
              <a:prstGeom prst="rect">
                <a:avLst/>
              </a:prstGeom>
            </p:spPr>
          </p:pic>
          <p:pic>
            <p:nvPicPr>
              <p:cNvPr id="17" name="Picture Placeholder 9">
                <a:extLst>
                  <a:ext uri="{FF2B5EF4-FFF2-40B4-BE49-F238E27FC236}">
                    <a16:creationId xmlns:a16="http://schemas.microsoft.com/office/drawing/2014/main" id="{FA998150-EA1D-656F-85C8-63419009250F}"/>
                  </a:ext>
                </a:extLst>
              </p:cNvPr>
              <p:cNvPicPr>
                <a:picLocks noChangeAspect="1"/>
              </p:cNvPicPr>
              <p:nvPr/>
            </p:nvPicPr>
            <p:blipFill>
              <a:blip r:embed="rId11"/>
              <a:srcRect/>
              <a:stretch/>
            </p:blipFill>
            <p:spPr>
              <a:xfrm>
                <a:off x="10180638" y="3856038"/>
                <a:ext cx="525462" cy="525462"/>
              </a:xfrm>
              <a:prstGeom prst="rect">
                <a:avLst/>
              </a:prstGeom>
            </p:spPr>
          </p:pic>
          <p:pic>
            <p:nvPicPr>
              <p:cNvPr id="18" name="Picture Placeholder 10">
                <a:extLst>
                  <a:ext uri="{FF2B5EF4-FFF2-40B4-BE49-F238E27FC236}">
                    <a16:creationId xmlns:a16="http://schemas.microsoft.com/office/drawing/2014/main" id="{6F8512CE-E1C8-A9BD-F0D2-20B8B1E7A6BD}"/>
                  </a:ext>
                </a:extLst>
              </p:cNvPr>
              <p:cNvPicPr>
                <a:picLocks noChangeAspect="1"/>
              </p:cNvPicPr>
              <p:nvPr/>
            </p:nvPicPr>
            <p:blipFill>
              <a:blip r:embed="rId12"/>
              <a:srcRect/>
              <a:stretch/>
            </p:blipFill>
            <p:spPr>
              <a:xfrm>
                <a:off x="8605838" y="4906963"/>
                <a:ext cx="525462" cy="525462"/>
              </a:xfrm>
              <a:prstGeom prst="rect">
                <a:avLst/>
              </a:prstGeom>
            </p:spPr>
          </p:pic>
          <p:pic>
            <p:nvPicPr>
              <p:cNvPr id="19" name="Picture Placeholder 11">
                <a:extLst>
                  <a:ext uri="{FF2B5EF4-FFF2-40B4-BE49-F238E27FC236}">
                    <a16:creationId xmlns:a16="http://schemas.microsoft.com/office/drawing/2014/main" id="{A8A66403-CE98-5AEE-2596-BCFE4EC118B9}"/>
                  </a:ext>
                </a:extLst>
              </p:cNvPr>
              <p:cNvPicPr>
                <a:picLocks noChangeAspect="1"/>
              </p:cNvPicPr>
              <p:nvPr/>
            </p:nvPicPr>
            <p:blipFill>
              <a:blip r:embed="rId13"/>
              <a:srcRect t="151" b="151"/>
              <a:stretch/>
            </p:blipFill>
            <p:spPr bwMode="gray">
              <a:xfrm>
                <a:off x="9129713" y="3856038"/>
                <a:ext cx="527050" cy="525462"/>
              </a:xfrm>
              <a:prstGeom prst="rect">
                <a:avLst/>
              </a:prstGeom>
            </p:spPr>
          </p:pic>
          <p:pic>
            <p:nvPicPr>
              <p:cNvPr id="20" name="Picture Placeholder 12">
                <a:extLst>
                  <a:ext uri="{FF2B5EF4-FFF2-40B4-BE49-F238E27FC236}">
                    <a16:creationId xmlns:a16="http://schemas.microsoft.com/office/drawing/2014/main" id="{FE1D018E-57FD-11AA-7A0D-E2B59CCAD99E}"/>
                  </a:ext>
                </a:extLst>
              </p:cNvPr>
              <p:cNvPicPr>
                <a:picLocks noChangeAspect="1"/>
              </p:cNvPicPr>
              <p:nvPr/>
            </p:nvPicPr>
            <p:blipFill>
              <a:blip r:embed="rId14"/>
              <a:srcRect t="151" b="151"/>
              <a:stretch/>
            </p:blipFill>
            <p:spPr>
              <a:xfrm>
                <a:off x="9129713" y="4906963"/>
                <a:ext cx="527050" cy="525462"/>
              </a:xfrm>
              <a:prstGeom prst="rect">
                <a:avLst/>
              </a:prstGeom>
            </p:spPr>
          </p:pic>
        </p:grpSp>
      </p:grpSp>
      <p:pic>
        <p:nvPicPr>
          <p:cNvPr id="21" name="Grafik 44">
            <a:extLst>
              <a:ext uri="{FF2B5EF4-FFF2-40B4-BE49-F238E27FC236}">
                <a16:creationId xmlns:a16="http://schemas.microsoft.com/office/drawing/2014/main" id="{725D5550-E95E-26D0-F0C8-C36B37B78EEE}"/>
              </a:ext>
            </a:extLst>
          </p:cNvPr>
          <p:cNvPicPr>
            <a:picLocks noChangeAspect="1"/>
          </p:cNvPicPr>
          <p:nvPr/>
        </p:nvPicPr>
        <p:blipFill>
          <a:blip r:embed="rId15"/>
          <a:stretch>
            <a:fillRect/>
          </a:stretch>
        </p:blipFill>
        <p:spPr>
          <a:xfrm>
            <a:off x="9375386" y="4400286"/>
            <a:ext cx="472694" cy="335407"/>
          </a:xfrm>
          <a:prstGeom prst="rect">
            <a:avLst/>
          </a:prstGeom>
          <a:effectLst>
            <a:outerShdw blurRad="50800" dist="38100" dir="2700000" algn="tl" rotWithShape="0">
              <a:prstClr val="black">
                <a:alpha val="40000"/>
              </a:prstClr>
            </a:outerShdw>
          </a:effectLst>
        </p:spPr>
      </p:pic>
      <p:grpSp>
        <p:nvGrpSpPr>
          <p:cNvPr id="22" name="Gruppieren 75">
            <a:extLst>
              <a:ext uri="{FF2B5EF4-FFF2-40B4-BE49-F238E27FC236}">
                <a16:creationId xmlns:a16="http://schemas.microsoft.com/office/drawing/2014/main" id="{E7CF968E-A045-334C-5DD6-6905F2A373F9}"/>
              </a:ext>
            </a:extLst>
          </p:cNvPr>
          <p:cNvGrpSpPr>
            <a:grpSpLocks noChangeAspect="1"/>
          </p:cNvGrpSpPr>
          <p:nvPr/>
        </p:nvGrpSpPr>
        <p:grpSpPr>
          <a:xfrm>
            <a:off x="9982164" y="3675458"/>
            <a:ext cx="325245" cy="325245"/>
            <a:chOff x="9552384" y="1700808"/>
            <a:chExt cx="384282" cy="384282"/>
          </a:xfrm>
        </p:grpSpPr>
        <p:sp>
          <p:nvSpPr>
            <p:cNvPr id="23" name="Ellipse 76">
              <a:extLst>
                <a:ext uri="{FF2B5EF4-FFF2-40B4-BE49-F238E27FC236}">
                  <a16:creationId xmlns:a16="http://schemas.microsoft.com/office/drawing/2014/main" id="{78FCAC6D-704C-9DD6-E792-3DAD1F5B30B0}"/>
                </a:ext>
              </a:extLst>
            </p:cNvPr>
            <p:cNvSpPr/>
            <p:nvPr/>
          </p:nvSpPr>
          <p:spPr>
            <a:xfrm>
              <a:off x="9552384" y="1700808"/>
              <a:ext cx="384282" cy="384282"/>
            </a:xfrm>
            <a:prstGeom prst="ellipse">
              <a:avLst/>
            </a:prstGeom>
            <a:gradFill>
              <a:gsLst>
                <a:gs pos="0">
                  <a:srgbClr val="EF0000"/>
                </a:gs>
                <a:gs pos="83000">
                  <a:srgbClr val="EF0000">
                    <a:lumMod val="50000"/>
                  </a:srgbClr>
                </a:gs>
              </a:gsLst>
              <a:lin ang="600000" scaled="0"/>
            </a:gradFill>
            <a:ln w="12700">
              <a:solidFill>
                <a:schemeClr val="bg1"/>
              </a:solidFill>
            </a:ln>
            <a:effectLst/>
          </p:spPr>
          <p:txBody>
            <a:bodyPr wrap="square" tIns="0" bIns="0" rtlCol="0" anchor="ctr">
              <a:noAutofit/>
            </a:bodyPr>
            <a:lstStyle/>
            <a:p>
              <a:pPr algn="ctr"/>
              <a:endParaRPr lang="en-US" sz="4400" b="1" noProof="0" dirty="0">
                <a:solidFill>
                  <a:schemeClr val="bg1"/>
                </a:solidFill>
              </a:endParaRPr>
            </a:p>
          </p:txBody>
        </p:sp>
        <p:pic>
          <p:nvPicPr>
            <p:cNvPr id="24" name="Grafik 77">
              <a:extLst>
                <a:ext uri="{FF2B5EF4-FFF2-40B4-BE49-F238E27FC236}">
                  <a16:creationId xmlns:a16="http://schemas.microsoft.com/office/drawing/2014/main" id="{946A00BA-34D6-B05C-DC46-FF24663D871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643012" y="1740137"/>
              <a:ext cx="203027" cy="281814"/>
            </a:xfrm>
            <a:prstGeom prst="rect">
              <a:avLst/>
            </a:prstGeom>
          </p:spPr>
        </p:pic>
      </p:grpSp>
      <p:sp>
        <p:nvSpPr>
          <p:cNvPr id="25" name="TextBox 24">
            <a:extLst>
              <a:ext uri="{FF2B5EF4-FFF2-40B4-BE49-F238E27FC236}">
                <a16:creationId xmlns:a16="http://schemas.microsoft.com/office/drawing/2014/main" id="{81DC1D93-AF12-2E0C-BD1A-1CF103A07A46}"/>
              </a:ext>
            </a:extLst>
          </p:cNvPr>
          <p:cNvSpPr txBox="1"/>
          <p:nvPr/>
        </p:nvSpPr>
        <p:spPr>
          <a:xfrm>
            <a:off x="10300301" y="3705938"/>
            <a:ext cx="689612" cy="276999"/>
          </a:xfrm>
          <a:prstGeom prst="rect">
            <a:avLst/>
          </a:prstGeom>
          <a:noFill/>
        </p:spPr>
        <p:txBody>
          <a:bodyPr wrap="none" rtlCol="0">
            <a:spAutoFit/>
          </a:bodyPr>
          <a:lstStyle/>
          <a:p>
            <a:r>
              <a:rPr lang="en-US" sz="1200" noProof="0" dirty="0"/>
              <a:t>HTTPS</a:t>
            </a:r>
          </a:p>
        </p:txBody>
      </p:sp>
    </p:spTree>
    <p:extLst>
      <p:ext uri="{BB962C8B-B14F-4D97-AF65-F5344CB8AC3E}">
        <p14:creationId xmlns:p14="http://schemas.microsoft.com/office/powerpoint/2010/main" val="2539523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
            <a:extLst>
              <a:ext uri="{FF2B5EF4-FFF2-40B4-BE49-F238E27FC236}">
                <a16:creationId xmlns:a16="http://schemas.microsoft.com/office/drawing/2014/main" id="{C0A4D197-E2D5-940B-46E5-0923AC2FDBB5}"/>
              </a:ext>
            </a:extLst>
          </p:cNvPr>
          <p:cNvSpPr>
            <a:spLocks noGrp="1"/>
          </p:cNvSpPr>
          <p:nvPr>
            <p:ph type="title"/>
          </p:nvPr>
        </p:nvSpPr>
        <p:spPr>
          <a:xfrm>
            <a:off x="1605" y="201363"/>
            <a:ext cx="10137600" cy="906366"/>
          </a:xfrm>
        </p:spPr>
        <p:txBody>
          <a:bodyPr/>
          <a:lstStyle/>
          <a:p>
            <a:r>
              <a:rPr lang="en-US" sz="1800" b="0" dirty="0"/>
              <a:t>TwinCAT Connectivity</a:t>
            </a:r>
            <a:br>
              <a:rPr lang="en-US" dirty="0"/>
            </a:br>
            <a:r>
              <a:rPr lang="en-US" sz="2000" dirty="0"/>
              <a:t>HTTP/REST</a:t>
            </a:r>
          </a:p>
        </p:txBody>
      </p:sp>
      <p:sp>
        <p:nvSpPr>
          <p:cNvPr id="4" name="Text Placeholder 3">
            <a:extLst>
              <a:ext uri="{FF2B5EF4-FFF2-40B4-BE49-F238E27FC236}">
                <a16:creationId xmlns:a16="http://schemas.microsoft.com/office/drawing/2014/main" id="{A71D6825-4B0A-9252-D188-74DAFE610622}"/>
              </a:ext>
            </a:extLst>
          </p:cNvPr>
          <p:cNvSpPr>
            <a:spLocks noGrp="1"/>
          </p:cNvSpPr>
          <p:nvPr>
            <p:ph type="body" sz="quarter" idx="15"/>
          </p:nvPr>
        </p:nvSpPr>
        <p:spPr>
          <a:xfrm>
            <a:off x="2" y="1090797"/>
            <a:ext cx="11135759" cy="5565839"/>
          </a:xfrm>
        </p:spPr>
        <p:txBody>
          <a:bodyPr/>
          <a:lstStyle/>
          <a:p>
            <a:r>
              <a:rPr lang="en-US" sz="1600" dirty="0"/>
              <a:t>Hyper Text Transfer Protocol (HTTP) is the ubiquitous language for web sites and services</a:t>
            </a:r>
          </a:p>
          <a:p>
            <a:r>
              <a:rPr lang="en-US" sz="1600" dirty="0"/>
              <a:t>Representational State Transfer (REST) is a set of architectural guidelines for web-based applications</a:t>
            </a:r>
          </a:p>
          <a:p>
            <a:pPr lvl="1"/>
            <a:r>
              <a:rPr lang="en-US" sz="1600" dirty="0"/>
              <a:t>Describes how web clients and servers should interact at a high level</a:t>
            </a:r>
          </a:p>
          <a:p>
            <a:pPr lvl="1"/>
            <a:r>
              <a:rPr lang="en-US" sz="1600" dirty="0"/>
              <a:t>“RESTful” APIs commonly use HTTP</a:t>
            </a:r>
          </a:p>
          <a:p>
            <a:pPr lvl="1"/>
            <a:endParaRPr lang="en-US" sz="1600" dirty="0"/>
          </a:p>
          <a:p>
            <a:pPr marL="360362" lvl="1" indent="0">
              <a:buNone/>
            </a:pPr>
            <a:endParaRPr lang="en-US" sz="1600" dirty="0"/>
          </a:p>
          <a:p>
            <a:r>
              <a:rPr lang="en-US" sz="1600" dirty="0"/>
              <a:t>Tons of technology relies on HTTP, not just websites:</a:t>
            </a:r>
          </a:p>
          <a:p>
            <a:pPr lvl="1"/>
            <a:r>
              <a:rPr lang="en-US" sz="1600" dirty="0"/>
              <a:t>Native apps, mobile apps</a:t>
            </a:r>
          </a:p>
          <a:p>
            <a:pPr lvl="1"/>
            <a:r>
              <a:rPr lang="en-US" sz="1600" dirty="0"/>
              <a:t>Package Managers</a:t>
            </a:r>
          </a:p>
          <a:p>
            <a:pPr lvl="1"/>
            <a:r>
              <a:rPr lang="en-US" sz="1600" dirty="0"/>
              <a:t>Commercial systems; ERP, CMS, POS, etc.</a:t>
            </a:r>
          </a:p>
          <a:p>
            <a:pPr lvl="1"/>
            <a:r>
              <a:rPr lang="en-US" sz="1600" dirty="0"/>
              <a:t>SaaS, PaaS systems</a:t>
            </a:r>
          </a:p>
          <a:p>
            <a:r>
              <a:rPr lang="en-US" sz="1600" dirty="0"/>
              <a:t>Very mature and comprehensive ecosystem of tooling</a:t>
            </a:r>
          </a:p>
          <a:p>
            <a:pPr lvl="1"/>
            <a:r>
              <a:rPr lang="en-US" sz="1600" dirty="0"/>
              <a:t>Development tools, libraries</a:t>
            </a:r>
          </a:p>
          <a:p>
            <a:pPr lvl="1"/>
            <a:r>
              <a:rPr lang="en-US" sz="1600" dirty="0"/>
              <a:t>Security, access control, encryption</a:t>
            </a:r>
          </a:p>
        </p:txBody>
      </p:sp>
    </p:spTree>
    <p:extLst>
      <p:ext uri="{BB962C8B-B14F-4D97-AF65-F5344CB8AC3E}">
        <p14:creationId xmlns:p14="http://schemas.microsoft.com/office/powerpoint/2010/main" val="22096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
            <a:extLst>
              <a:ext uri="{FF2B5EF4-FFF2-40B4-BE49-F238E27FC236}">
                <a16:creationId xmlns:a16="http://schemas.microsoft.com/office/drawing/2014/main" id="{C0A4D197-E2D5-940B-46E5-0923AC2FDBB5}"/>
              </a:ext>
            </a:extLst>
          </p:cNvPr>
          <p:cNvSpPr>
            <a:spLocks noGrp="1"/>
          </p:cNvSpPr>
          <p:nvPr>
            <p:ph type="title"/>
          </p:nvPr>
        </p:nvSpPr>
        <p:spPr>
          <a:xfrm>
            <a:off x="1605" y="201363"/>
            <a:ext cx="10137600" cy="906366"/>
          </a:xfrm>
        </p:spPr>
        <p:txBody>
          <a:bodyPr/>
          <a:lstStyle/>
          <a:p>
            <a:r>
              <a:rPr lang="en-US" sz="1800" b="0" dirty="0"/>
              <a:t>TwinCAT Connectivity</a:t>
            </a:r>
            <a:br>
              <a:rPr lang="en-US" dirty="0"/>
            </a:br>
            <a:r>
              <a:rPr lang="en-US" sz="2000" dirty="0"/>
              <a:t>HTTP/REST</a:t>
            </a:r>
          </a:p>
        </p:txBody>
      </p:sp>
      <p:sp>
        <p:nvSpPr>
          <p:cNvPr id="4" name="Text Placeholder 3">
            <a:extLst>
              <a:ext uri="{FF2B5EF4-FFF2-40B4-BE49-F238E27FC236}">
                <a16:creationId xmlns:a16="http://schemas.microsoft.com/office/drawing/2014/main" id="{A71D6825-4B0A-9252-D188-74DAFE610622}"/>
              </a:ext>
            </a:extLst>
          </p:cNvPr>
          <p:cNvSpPr>
            <a:spLocks noGrp="1"/>
          </p:cNvSpPr>
          <p:nvPr>
            <p:ph type="body" sz="quarter" idx="15"/>
          </p:nvPr>
        </p:nvSpPr>
        <p:spPr>
          <a:xfrm>
            <a:off x="2" y="1090797"/>
            <a:ext cx="11135759" cy="5565839"/>
          </a:xfrm>
        </p:spPr>
        <p:txBody>
          <a:bodyPr/>
          <a:lstStyle/>
          <a:p>
            <a:r>
              <a:rPr lang="en-US" sz="1600" dirty="0"/>
              <a:t>Hyper Text Transfer Protocol (HTTP) is the ubiquitous language for web sites and services</a:t>
            </a:r>
          </a:p>
          <a:p>
            <a:endParaRPr lang="en-US" sz="1600" dirty="0"/>
          </a:p>
          <a:p>
            <a:endParaRPr lang="en-US" sz="1600" dirty="0"/>
          </a:p>
          <a:p>
            <a:r>
              <a:rPr lang="en-US" sz="1600" dirty="0"/>
              <a:t>The most common HTTP methods are GET, POST, and PUT</a:t>
            </a:r>
          </a:p>
          <a:p>
            <a:pPr lvl="1"/>
            <a:r>
              <a:rPr lang="en-US" sz="1600" dirty="0"/>
              <a:t>GET – Requests a resource from the server</a:t>
            </a:r>
          </a:p>
          <a:p>
            <a:pPr lvl="1"/>
            <a:r>
              <a:rPr lang="en-US" sz="1600" dirty="0"/>
              <a:t>POST – Transfers data to the server</a:t>
            </a:r>
          </a:p>
          <a:p>
            <a:pPr lvl="1"/>
            <a:r>
              <a:rPr lang="en-US" sz="1600" dirty="0"/>
              <a:t>PUT – Replaces or creates a resource on the server with the request payload</a:t>
            </a:r>
          </a:p>
        </p:txBody>
      </p:sp>
    </p:spTree>
    <p:extLst>
      <p:ext uri="{BB962C8B-B14F-4D97-AF65-F5344CB8AC3E}">
        <p14:creationId xmlns:p14="http://schemas.microsoft.com/office/powerpoint/2010/main" val="3365993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
            <a:extLst>
              <a:ext uri="{FF2B5EF4-FFF2-40B4-BE49-F238E27FC236}">
                <a16:creationId xmlns:a16="http://schemas.microsoft.com/office/drawing/2014/main" id="{C0A4D197-E2D5-940B-46E5-0923AC2FDBB5}"/>
              </a:ext>
            </a:extLst>
          </p:cNvPr>
          <p:cNvSpPr>
            <a:spLocks noGrp="1"/>
          </p:cNvSpPr>
          <p:nvPr>
            <p:ph type="title"/>
          </p:nvPr>
        </p:nvSpPr>
        <p:spPr>
          <a:xfrm>
            <a:off x="1605" y="201363"/>
            <a:ext cx="10137600" cy="906366"/>
          </a:xfrm>
        </p:spPr>
        <p:txBody>
          <a:bodyPr/>
          <a:lstStyle/>
          <a:p>
            <a:r>
              <a:rPr lang="en-US" sz="1800" b="0" dirty="0"/>
              <a:t>TwinCAT Connectivity</a:t>
            </a:r>
            <a:br>
              <a:rPr lang="en-US" dirty="0"/>
            </a:br>
            <a:r>
              <a:rPr lang="en-US" sz="2000" dirty="0"/>
              <a:t>HTTP/REST Query Parameters</a:t>
            </a:r>
          </a:p>
        </p:txBody>
      </p:sp>
      <p:sp>
        <p:nvSpPr>
          <p:cNvPr id="4" name="Text Placeholder 3">
            <a:extLst>
              <a:ext uri="{FF2B5EF4-FFF2-40B4-BE49-F238E27FC236}">
                <a16:creationId xmlns:a16="http://schemas.microsoft.com/office/drawing/2014/main" id="{A71D6825-4B0A-9252-D188-74DAFE610622}"/>
              </a:ext>
            </a:extLst>
          </p:cNvPr>
          <p:cNvSpPr>
            <a:spLocks noGrp="1"/>
          </p:cNvSpPr>
          <p:nvPr>
            <p:ph type="body" sz="quarter" idx="15"/>
          </p:nvPr>
        </p:nvSpPr>
        <p:spPr>
          <a:xfrm>
            <a:off x="2" y="1090797"/>
            <a:ext cx="11135759" cy="5565839"/>
          </a:xfrm>
        </p:spPr>
        <p:txBody>
          <a:bodyPr/>
          <a:lstStyle/>
          <a:p>
            <a:pPr lvl="1"/>
            <a:endParaRPr lang="en-US" sz="1600" dirty="0"/>
          </a:p>
          <a:p>
            <a:pPr marL="360362" lvl="1" indent="0">
              <a:buNone/>
            </a:pPr>
            <a:r>
              <a:rPr lang="en-US" sz="1800" dirty="0">
                <a:solidFill>
                  <a:srgbClr val="000000"/>
                </a:solidFill>
                <a:highlight>
                  <a:srgbClr val="FFFFFF"/>
                </a:highlight>
                <a:latin typeface="Arial" panose="020B0604020202020204" pitchFamily="34" charset="0"/>
              </a:rPr>
              <a:t>Query parameters are used to specify resources from a server in a way which sorts/filters the resources.</a:t>
            </a:r>
            <a:endParaRPr lang="en-US" sz="1800" dirty="0"/>
          </a:p>
          <a:p>
            <a:pPr marL="360362" lvl="1" indent="0">
              <a:buNone/>
            </a:pPr>
            <a:endParaRPr lang="en-US" sz="2400" b="1" dirty="0">
              <a:solidFill>
                <a:srgbClr val="000000"/>
              </a:solidFill>
              <a:highlight>
                <a:srgbClr val="FFFFFF"/>
              </a:highlight>
              <a:latin typeface="Arial" panose="020B0604020202020204" pitchFamily="34" charset="0"/>
            </a:endParaRPr>
          </a:p>
          <a:p>
            <a:pPr marL="360362" lvl="1" indent="0">
              <a:buNone/>
            </a:pPr>
            <a:r>
              <a:rPr lang="en-US" sz="2400" b="1" i="0" dirty="0">
                <a:solidFill>
                  <a:srgbClr val="000000"/>
                </a:solidFill>
                <a:effectLst/>
                <a:highlight>
                  <a:srgbClr val="FFFFFF"/>
                </a:highlight>
                <a:latin typeface="Arial" panose="020B0604020202020204" pitchFamily="34" charset="0"/>
              </a:rPr>
              <a:t>https://www.beckhoff-weather.com/forecast?city=verl</a:t>
            </a:r>
          </a:p>
          <a:p>
            <a:pPr marL="360362" lvl="1" indent="0">
              <a:buNone/>
            </a:pPr>
            <a:endParaRPr lang="en-US" sz="2400" b="1" dirty="0">
              <a:solidFill>
                <a:srgbClr val="000000"/>
              </a:solidFill>
              <a:highlight>
                <a:srgbClr val="FFFFFF"/>
              </a:highlight>
              <a:latin typeface="Arial" panose="020B0604020202020204" pitchFamily="34" charset="0"/>
            </a:endParaRPr>
          </a:p>
          <a:p>
            <a:pPr lvl="1"/>
            <a:r>
              <a:rPr lang="en-US" sz="1600" b="1" i="0" dirty="0">
                <a:solidFill>
                  <a:srgbClr val="000000"/>
                </a:solidFill>
                <a:effectLst/>
                <a:highlight>
                  <a:srgbClr val="FFFFFF"/>
                </a:highlight>
                <a:latin typeface="Arial" panose="020B0604020202020204" pitchFamily="34" charset="0"/>
              </a:rPr>
              <a:t>https://www.beckhoff-weather.com </a:t>
            </a:r>
            <a:r>
              <a:rPr lang="en-US" sz="1600" dirty="0">
                <a:solidFill>
                  <a:srgbClr val="000000"/>
                </a:solidFill>
                <a:highlight>
                  <a:srgbClr val="FFFFFF"/>
                </a:highlight>
                <a:latin typeface="Arial" panose="020B0604020202020204" pitchFamily="34" charset="0"/>
              </a:rPr>
              <a:t>- D</a:t>
            </a:r>
            <a:r>
              <a:rPr lang="en-US" sz="1600" i="0" dirty="0">
                <a:solidFill>
                  <a:srgbClr val="000000"/>
                </a:solidFill>
                <a:effectLst/>
                <a:highlight>
                  <a:srgbClr val="FFFFFF"/>
                </a:highlight>
                <a:latin typeface="Arial" panose="020B0604020202020204" pitchFamily="34" charset="0"/>
              </a:rPr>
              <a:t>omain</a:t>
            </a:r>
          </a:p>
          <a:p>
            <a:pPr lvl="1"/>
            <a:r>
              <a:rPr lang="en-US" sz="1600" b="1" i="0" dirty="0">
                <a:solidFill>
                  <a:srgbClr val="000000"/>
                </a:solidFill>
                <a:effectLst/>
                <a:highlight>
                  <a:srgbClr val="FFFFFF"/>
                </a:highlight>
                <a:latin typeface="Arial" panose="020B0604020202020204" pitchFamily="34" charset="0"/>
              </a:rPr>
              <a:t>/forecast</a:t>
            </a:r>
            <a:r>
              <a:rPr lang="en-US" sz="1600" b="1" dirty="0">
                <a:solidFill>
                  <a:srgbClr val="000000"/>
                </a:solidFill>
                <a:highlight>
                  <a:srgbClr val="FFFFFF"/>
                </a:highlight>
                <a:latin typeface="Arial" panose="020B0604020202020204" pitchFamily="34" charset="0"/>
              </a:rPr>
              <a:t> </a:t>
            </a:r>
            <a:r>
              <a:rPr lang="en-US" sz="1600" dirty="0">
                <a:solidFill>
                  <a:srgbClr val="000000"/>
                </a:solidFill>
                <a:highlight>
                  <a:srgbClr val="FFFFFF"/>
                </a:highlight>
                <a:latin typeface="Arial" panose="020B0604020202020204" pitchFamily="34" charset="0"/>
              </a:rPr>
              <a:t>- Path</a:t>
            </a:r>
            <a:endParaRPr lang="en-US" sz="1600" i="0" dirty="0">
              <a:solidFill>
                <a:srgbClr val="000000"/>
              </a:solidFill>
              <a:effectLst/>
              <a:highlight>
                <a:srgbClr val="FFFFFF"/>
              </a:highlight>
              <a:latin typeface="Arial" panose="020B0604020202020204" pitchFamily="34" charset="0"/>
            </a:endParaRPr>
          </a:p>
          <a:p>
            <a:pPr lvl="1"/>
            <a:r>
              <a:rPr lang="en-US" sz="1600" b="1" i="0" dirty="0">
                <a:solidFill>
                  <a:srgbClr val="000000"/>
                </a:solidFill>
                <a:effectLst/>
                <a:highlight>
                  <a:srgbClr val="FFFFFF"/>
                </a:highlight>
                <a:latin typeface="Arial" panose="020B0604020202020204" pitchFamily="34" charset="0"/>
              </a:rPr>
              <a:t>?city=</a:t>
            </a:r>
            <a:r>
              <a:rPr lang="en-US" sz="1600" b="1" i="0" dirty="0" err="1">
                <a:solidFill>
                  <a:srgbClr val="000000"/>
                </a:solidFill>
                <a:effectLst/>
                <a:highlight>
                  <a:srgbClr val="FFFFFF"/>
                </a:highlight>
                <a:latin typeface="Arial" panose="020B0604020202020204" pitchFamily="34" charset="0"/>
              </a:rPr>
              <a:t>verl</a:t>
            </a:r>
            <a:r>
              <a:rPr lang="en-US" sz="1600" i="0" dirty="0">
                <a:solidFill>
                  <a:srgbClr val="000000"/>
                </a:solidFill>
                <a:effectLst/>
                <a:highlight>
                  <a:srgbClr val="FFFFFF"/>
                </a:highlight>
                <a:latin typeface="Arial" panose="020B0604020202020204" pitchFamily="34" charset="0"/>
              </a:rPr>
              <a:t> - Query parameter, where ‘?’ indicates the start of the query string</a:t>
            </a:r>
          </a:p>
          <a:p>
            <a:pPr lvl="1"/>
            <a:endParaRPr lang="en-US" sz="1600" dirty="0">
              <a:solidFill>
                <a:srgbClr val="000000"/>
              </a:solidFill>
              <a:highlight>
                <a:srgbClr val="FFFFFF"/>
              </a:highlight>
              <a:latin typeface="Arial" panose="020B0604020202020204" pitchFamily="34" charset="0"/>
            </a:endParaRPr>
          </a:p>
          <a:p>
            <a:pPr lvl="1"/>
            <a:endParaRPr lang="en-US" sz="1600" dirty="0">
              <a:solidFill>
                <a:srgbClr val="000000"/>
              </a:solidFill>
              <a:highlight>
                <a:srgbClr val="FFFFFF"/>
              </a:highlight>
              <a:latin typeface="Arial" panose="020B0604020202020204" pitchFamily="34" charset="0"/>
            </a:endParaRPr>
          </a:p>
        </p:txBody>
      </p:sp>
    </p:spTree>
    <p:extLst>
      <p:ext uri="{BB962C8B-B14F-4D97-AF65-F5344CB8AC3E}">
        <p14:creationId xmlns:p14="http://schemas.microsoft.com/office/powerpoint/2010/main" val="3609101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AE3355-027B-4211-82A1-EE229A333D89}"/>
              </a:ext>
            </a:extLst>
          </p:cNvPr>
          <p:cNvSpPr>
            <a:spLocks noGrp="1"/>
          </p:cNvSpPr>
          <p:nvPr>
            <p:ph type="body" sz="quarter" idx="15"/>
          </p:nvPr>
        </p:nvSpPr>
        <p:spPr/>
        <p:txBody>
          <a:bodyPr/>
          <a:lstStyle/>
          <a:p>
            <a:pPr marL="0" indent="0">
              <a:buNone/>
            </a:pPr>
            <a:endParaRPr lang="en-US" sz="1200" b="1" noProof="0" dirty="0"/>
          </a:p>
          <a:p>
            <a:r>
              <a:rPr lang="en-US" b="1" noProof="0" dirty="0"/>
              <a:t>Telegram: </a:t>
            </a:r>
            <a:r>
              <a:rPr lang="en-US" noProof="0" dirty="0"/>
              <a:t>Messaging application with REST API</a:t>
            </a:r>
          </a:p>
          <a:p>
            <a:pPr lvl="1"/>
            <a:r>
              <a:rPr lang="en-US" noProof="0" dirty="0"/>
              <a:t>„Telegram-Bot“ is used for communication</a:t>
            </a:r>
          </a:p>
          <a:p>
            <a:pPr>
              <a:lnSpc>
                <a:spcPct val="150000"/>
              </a:lnSpc>
            </a:pPr>
            <a:endParaRPr lang="en-US" noProof="0" dirty="0"/>
          </a:p>
          <a:p>
            <a:r>
              <a:rPr lang="en-US" b="1" noProof="0" dirty="0"/>
              <a:t>Philips Hue: </a:t>
            </a:r>
            <a:r>
              <a:rPr lang="en-US" noProof="0" dirty="0"/>
              <a:t>Smart home system</a:t>
            </a:r>
          </a:p>
          <a:p>
            <a:pPr lvl="1"/>
            <a:r>
              <a:rPr lang="en-US" noProof="0" dirty="0"/>
              <a:t>Philips Hue bridge is the central unit </a:t>
            </a:r>
          </a:p>
          <a:p>
            <a:pPr lvl="1"/>
            <a:r>
              <a:rPr lang="en-US" noProof="0" dirty="0"/>
              <a:t>Bridge offers REST API to control devices</a:t>
            </a:r>
          </a:p>
          <a:p>
            <a:pPr>
              <a:lnSpc>
                <a:spcPct val="150000"/>
              </a:lnSpc>
            </a:pPr>
            <a:endParaRPr lang="en-US" noProof="0" dirty="0"/>
          </a:p>
          <a:p>
            <a:r>
              <a:rPr lang="en-US" b="1" noProof="0" dirty="0"/>
              <a:t>OpenWeatherMap: </a:t>
            </a:r>
            <a:r>
              <a:rPr lang="en-US" noProof="0" dirty="0"/>
              <a:t>REST API for weather data</a:t>
            </a:r>
          </a:p>
          <a:p>
            <a:pPr lvl="1"/>
            <a:r>
              <a:rPr lang="en-US" noProof="0" dirty="0"/>
              <a:t>Different weather data formats</a:t>
            </a:r>
          </a:p>
          <a:p>
            <a:pPr lvl="1"/>
            <a:r>
              <a:rPr lang="en-US" noProof="0" dirty="0"/>
              <a:t>Location-based requests</a:t>
            </a:r>
          </a:p>
          <a:p>
            <a:endParaRPr lang="en-US" b="1" noProof="0" dirty="0"/>
          </a:p>
        </p:txBody>
      </p:sp>
      <p:sp>
        <p:nvSpPr>
          <p:cNvPr id="3" name="Title 2">
            <a:extLst>
              <a:ext uri="{FF2B5EF4-FFF2-40B4-BE49-F238E27FC236}">
                <a16:creationId xmlns:a16="http://schemas.microsoft.com/office/drawing/2014/main" id="{B2906423-CE50-4091-B246-1968AF2493F3}"/>
              </a:ext>
            </a:extLst>
          </p:cNvPr>
          <p:cNvSpPr>
            <a:spLocks noGrp="1"/>
          </p:cNvSpPr>
          <p:nvPr>
            <p:ph type="title"/>
          </p:nvPr>
        </p:nvSpPr>
        <p:spPr>
          <a:xfrm>
            <a:off x="-1" y="81455"/>
            <a:ext cx="10137600" cy="998699"/>
          </a:xfrm>
        </p:spPr>
        <p:txBody>
          <a:bodyPr/>
          <a:lstStyle/>
          <a:p>
            <a:r>
              <a:rPr lang="en-US" sz="1800" b="0" dirty="0"/>
              <a:t>TwinCAT</a:t>
            </a:r>
            <a:r>
              <a:rPr lang="en-US" sz="2400" b="0" dirty="0"/>
              <a:t> </a:t>
            </a:r>
            <a:r>
              <a:rPr lang="en-US" sz="1800" b="0" dirty="0"/>
              <a:t>Connectivity</a:t>
            </a:r>
            <a:r>
              <a:rPr lang="en-US" sz="2400" b="0" dirty="0"/>
              <a:t> </a:t>
            </a:r>
            <a:br>
              <a:rPr lang="en-US" sz="3200" b="0" dirty="0"/>
            </a:br>
            <a:r>
              <a:rPr lang="en-US" dirty="0"/>
              <a:t>TF6760 Application Examples</a:t>
            </a:r>
            <a:endParaRPr lang="en-US" noProof="0" dirty="0"/>
          </a:p>
        </p:txBody>
      </p:sp>
      <p:pic>
        <p:nvPicPr>
          <p:cNvPr id="5" name="Picture 4">
            <a:extLst>
              <a:ext uri="{FF2B5EF4-FFF2-40B4-BE49-F238E27FC236}">
                <a16:creationId xmlns:a16="http://schemas.microsoft.com/office/drawing/2014/main" id="{E88BB110-BEED-420E-8F5C-D5FB9322D5BA}"/>
              </a:ext>
            </a:extLst>
          </p:cNvPr>
          <p:cNvPicPr>
            <a:picLocks noChangeAspect="1"/>
          </p:cNvPicPr>
          <p:nvPr/>
        </p:nvPicPr>
        <p:blipFill>
          <a:blip r:embed="rId2"/>
          <a:stretch>
            <a:fillRect/>
          </a:stretch>
        </p:blipFill>
        <p:spPr>
          <a:xfrm>
            <a:off x="7536160" y="1382248"/>
            <a:ext cx="4165674" cy="1600643"/>
          </a:xfrm>
          <a:prstGeom prst="rect">
            <a:avLst/>
          </a:prstGeom>
          <a:ln>
            <a:solidFill>
              <a:schemeClr val="tx1"/>
            </a:solidFill>
          </a:ln>
        </p:spPr>
      </p:pic>
      <p:pic>
        <p:nvPicPr>
          <p:cNvPr id="6" name="Picture 5">
            <a:extLst>
              <a:ext uri="{FF2B5EF4-FFF2-40B4-BE49-F238E27FC236}">
                <a16:creationId xmlns:a16="http://schemas.microsoft.com/office/drawing/2014/main" id="{EA5C3986-9E77-481A-B6B1-5652089A7DE1}"/>
              </a:ext>
            </a:extLst>
          </p:cNvPr>
          <p:cNvPicPr>
            <a:picLocks noChangeAspect="1"/>
          </p:cNvPicPr>
          <p:nvPr/>
        </p:nvPicPr>
        <p:blipFill>
          <a:blip r:embed="rId3"/>
          <a:stretch>
            <a:fillRect/>
          </a:stretch>
        </p:blipFill>
        <p:spPr>
          <a:xfrm>
            <a:off x="6541938" y="3184873"/>
            <a:ext cx="5159896" cy="1468263"/>
          </a:xfrm>
          <a:prstGeom prst="rect">
            <a:avLst/>
          </a:prstGeom>
          <a:ln>
            <a:solidFill>
              <a:schemeClr val="tx1"/>
            </a:solidFill>
          </a:ln>
        </p:spPr>
      </p:pic>
      <p:pic>
        <p:nvPicPr>
          <p:cNvPr id="7" name="Picture 6">
            <a:extLst>
              <a:ext uri="{FF2B5EF4-FFF2-40B4-BE49-F238E27FC236}">
                <a16:creationId xmlns:a16="http://schemas.microsoft.com/office/drawing/2014/main" id="{A3DF831F-2B59-43DB-BA17-32F9285C5E21}"/>
              </a:ext>
            </a:extLst>
          </p:cNvPr>
          <p:cNvPicPr>
            <a:picLocks noChangeAspect="1"/>
          </p:cNvPicPr>
          <p:nvPr/>
        </p:nvPicPr>
        <p:blipFill>
          <a:blip r:embed="rId4"/>
          <a:stretch>
            <a:fillRect/>
          </a:stretch>
        </p:blipFill>
        <p:spPr>
          <a:xfrm>
            <a:off x="9910013" y="4797016"/>
            <a:ext cx="1791821" cy="1916832"/>
          </a:xfrm>
          <a:prstGeom prst="rect">
            <a:avLst/>
          </a:prstGeom>
          <a:ln>
            <a:solidFill>
              <a:schemeClr val="tx1"/>
            </a:solidFill>
          </a:ln>
        </p:spPr>
      </p:pic>
      <p:pic>
        <p:nvPicPr>
          <p:cNvPr id="8" name="Picture 7">
            <a:extLst>
              <a:ext uri="{FF2B5EF4-FFF2-40B4-BE49-F238E27FC236}">
                <a16:creationId xmlns:a16="http://schemas.microsoft.com/office/drawing/2014/main" id="{B008CAB9-8652-40FA-A5E3-54351AEA1352}"/>
              </a:ext>
            </a:extLst>
          </p:cNvPr>
          <p:cNvPicPr>
            <a:picLocks noChangeAspect="1"/>
          </p:cNvPicPr>
          <p:nvPr/>
        </p:nvPicPr>
        <p:blipFill>
          <a:blip r:embed="rId5"/>
          <a:stretch>
            <a:fillRect/>
          </a:stretch>
        </p:blipFill>
        <p:spPr>
          <a:xfrm>
            <a:off x="5371687" y="5455403"/>
            <a:ext cx="4439816" cy="692624"/>
          </a:xfrm>
          <a:prstGeom prst="rect">
            <a:avLst/>
          </a:prstGeom>
          <a:ln>
            <a:solidFill>
              <a:schemeClr val="tx1"/>
            </a:solidFill>
          </a:ln>
        </p:spPr>
      </p:pic>
    </p:spTree>
    <p:extLst>
      <p:ext uri="{BB962C8B-B14F-4D97-AF65-F5344CB8AC3E}">
        <p14:creationId xmlns:p14="http://schemas.microsoft.com/office/powerpoint/2010/main" val="3414887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
            <a:extLst>
              <a:ext uri="{FF2B5EF4-FFF2-40B4-BE49-F238E27FC236}">
                <a16:creationId xmlns:a16="http://schemas.microsoft.com/office/drawing/2014/main" id="{C0A4D197-E2D5-940B-46E5-0923AC2FDBB5}"/>
              </a:ext>
            </a:extLst>
          </p:cNvPr>
          <p:cNvSpPr>
            <a:spLocks noGrp="1"/>
          </p:cNvSpPr>
          <p:nvPr>
            <p:ph type="title"/>
          </p:nvPr>
        </p:nvSpPr>
        <p:spPr>
          <a:xfrm>
            <a:off x="1605" y="201363"/>
            <a:ext cx="10137600" cy="906366"/>
          </a:xfrm>
        </p:spPr>
        <p:txBody>
          <a:bodyPr/>
          <a:lstStyle/>
          <a:p>
            <a:r>
              <a:rPr lang="en-US" sz="1800" b="0" dirty="0"/>
              <a:t>TwinCAT Connectivity</a:t>
            </a:r>
            <a:br>
              <a:rPr lang="en-US" dirty="0"/>
            </a:br>
            <a:r>
              <a:rPr lang="en-US" sz="2000" dirty="0"/>
              <a:t>HTTP/REST – Exercises</a:t>
            </a:r>
          </a:p>
        </p:txBody>
      </p:sp>
      <p:sp>
        <p:nvSpPr>
          <p:cNvPr id="4" name="Text Placeholder 3">
            <a:extLst>
              <a:ext uri="{FF2B5EF4-FFF2-40B4-BE49-F238E27FC236}">
                <a16:creationId xmlns:a16="http://schemas.microsoft.com/office/drawing/2014/main" id="{A71D6825-4B0A-9252-D188-74DAFE610622}"/>
              </a:ext>
            </a:extLst>
          </p:cNvPr>
          <p:cNvSpPr>
            <a:spLocks noGrp="1"/>
          </p:cNvSpPr>
          <p:nvPr>
            <p:ph type="body" sz="quarter" idx="15"/>
          </p:nvPr>
        </p:nvSpPr>
        <p:spPr>
          <a:xfrm>
            <a:off x="2" y="1090798"/>
            <a:ext cx="11135759" cy="5367152"/>
          </a:xfrm>
        </p:spPr>
        <p:txBody>
          <a:bodyPr/>
          <a:lstStyle/>
          <a:p>
            <a:r>
              <a:rPr lang="en-US" sz="1600" dirty="0"/>
              <a:t>Exercise 1: Web Browser</a:t>
            </a:r>
          </a:p>
          <a:p>
            <a:pPr lvl="1"/>
            <a:r>
              <a:rPr lang="en-US" sz="1600" dirty="0"/>
              <a:t>Open your browser of choice</a:t>
            </a:r>
          </a:p>
          <a:p>
            <a:pPr lvl="1"/>
            <a:r>
              <a:rPr lang="en-US" sz="1600" dirty="0"/>
              <a:t>Open developer tools (usually Ctrl + Shift + </a:t>
            </a:r>
            <a:r>
              <a:rPr lang="en-US" sz="1600" dirty="0" err="1"/>
              <a:t>i</a:t>
            </a:r>
            <a:r>
              <a:rPr lang="en-US" sz="1600" dirty="0"/>
              <a:t>)</a:t>
            </a:r>
          </a:p>
          <a:p>
            <a:pPr lvl="1"/>
            <a:r>
              <a:rPr lang="en-US" sz="1600" dirty="0"/>
              <a:t>Open the ‘Network’ tab</a:t>
            </a:r>
          </a:p>
          <a:p>
            <a:pPr lvl="1"/>
            <a:r>
              <a:rPr lang="en-US" sz="1600" dirty="0"/>
              <a:t>Load a web page – observe requests</a:t>
            </a:r>
          </a:p>
          <a:p>
            <a:pPr lvl="2"/>
            <a:r>
              <a:rPr lang="en-US" sz="1600" dirty="0"/>
              <a:t>Markup, binary data (e.g. images), JavaScript, JSON – all retrieved via HTTP requests</a:t>
            </a:r>
          </a:p>
          <a:p>
            <a:r>
              <a:rPr lang="en-US" sz="1600" dirty="0"/>
              <a:t>Exercise 2: </a:t>
            </a:r>
            <a:r>
              <a:rPr lang="en-US" sz="1600" dirty="0" err="1">
                <a:latin typeface="Consolas" panose="020B0609020204030204" pitchFamily="49" charset="0"/>
              </a:rPr>
              <a:t>cURL</a:t>
            </a:r>
            <a:r>
              <a:rPr lang="en-US" sz="1600" dirty="0">
                <a:latin typeface="Consolas" panose="020B0609020204030204" pitchFamily="49" charset="0"/>
              </a:rPr>
              <a:t>, </a:t>
            </a:r>
            <a:r>
              <a:rPr lang="en-US" sz="1600" dirty="0" err="1">
                <a:latin typeface="Consolas" panose="020B0609020204030204" pitchFamily="49" charset="0"/>
              </a:rPr>
              <a:t>wget</a:t>
            </a:r>
            <a:r>
              <a:rPr lang="en-US" sz="1600" dirty="0">
                <a:latin typeface="Consolas" panose="020B0609020204030204" pitchFamily="49" charset="0"/>
              </a:rPr>
              <a:t>, Invoke-</a:t>
            </a:r>
            <a:r>
              <a:rPr lang="en-US" sz="1600" dirty="0" err="1">
                <a:latin typeface="Consolas" panose="020B0609020204030204" pitchFamily="49" charset="0"/>
              </a:rPr>
              <a:t>WebRequest</a:t>
            </a:r>
            <a:endParaRPr lang="en-US" sz="1600" dirty="0">
              <a:latin typeface="Consolas" panose="020B0609020204030204" pitchFamily="49" charset="0"/>
            </a:endParaRPr>
          </a:p>
          <a:p>
            <a:pPr lvl="1"/>
            <a:r>
              <a:rPr lang="en-US" sz="1600" dirty="0"/>
              <a:t>Open a PowerShell terminal</a:t>
            </a:r>
          </a:p>
          <a:p>
            <a:pPr lvl="1"/>
            <a:r>
              <a:rPr lang="en-US" sz="1600" dirty="0"/>
              <a:t>Use any one of the above commands</a:t>
            </a:r>
          </a:p>
          <a:p>
            <a:pPr lvl="1"/>
            <a:r>
              <a:rPr lang="en-US" sz="1600" dirty="0"/>
              <a:t>Type in an endpoint, e.g. ‘httpbin.org/get’</a:t>
            </a:r>
          </a:p>
          <a:p>
            <a:r>
              <a:rPr lang="en-US" sz="1600" dirty="0"/>
              <a:t>Samples: </a:t>
            </a:r>
            <a:r>
              <a:rPr lang="en-US" sz="1600" dirty="0">
                <a:hlinkClick r:id="rId3"/>
              </a:rPr>
              <a:t>https://github.com/Beckhoff/TF6760_Samples</a:t>
            </a:r>
            <a:r>
              <a:rPr lang="en-US" sz="1600" dirty="0"/>
              <a:t> </a:t>
            </a:r>
          </a:p>
          <a:p>
            <a:pPr lvl="1"/>
            <a:r>
              <a:rPr lang="en-US" sz="1600" dirty="0"/>
              <a:t>Postman</a:t>
            </a:r>
          </a:p>
          <a:p>
            <a:pPr lvl="1"/>
            <a:r>
              <a:rPr lang="en-US" sz="1600" dirty="0" err="1"/>
              <a:t>OpenWeatherMap</a:t>
            </a:r>
            <a:endParaRPr lang="en-US" sz="1600" dirty="0"/>
          </a:p>
          <a:p>
            <a:endParaRPr lang="en-US" sz="1600" dirty="0"/>
          </a:p>
        </p:txBody>
      </p:sp>
    </p:spTree>
    <p:extLst>
      <p:ext uri="{BB962C8B-B14F-4D97-AF65-F5344CB8AC3E}">
        <p14:creationId xmlns:p14="http://schemas.microsoft.com/office/powerpoint/2010/main" val="1733272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6CB882-EC62-47A1-B355-9D8031F779D9}"/>
              </a:ext>
            </a:extLst>
          </p:cNvPr>
          <p:cNvSpPr>
            <a:spLocks noGrp="1"/>
          </p:cNvSpPr>
          <p:nvPr>
            <p:ph type="body" sz="quarter" idx="15"/>
          </p:nvPr>
        </p:nvSpPr>
        <p:spPr>
          <a:xfrm>
            <a:off x="3" y="1090799"/>
            <a:ext cx="6529550" cy="5331600"/>
          </a:xfrm>
        </p:spPr>
        <p:txBody>
          <a:bodyPr/>
          <a:lstStyle/>
          <a:p>
            <a:r>
              <a:rPr lang="de-DE" sz="2000" dirty="0"/>
              <a:t>Implements OPC UA Pub/Sub (OPC10000-14)</a:t>
            </a:r>
          </a:p>
          <a:p>
            <a:r>
              <a:rPr lang="de-DE" sz="2000" dirty="0"/>
              <a:t>Supported transport protocols:</a:t>
            </a:r>
          </a:p>
          <a:p>
            <a:pPr lvl="1"/>
            <a:r>
              <a:rPr lang="en-US" sz="2000" dirty="0"/>
              <a:t>UDP: use case “Device-to-Device”</a:t>
            </a:r>
          </a:p>
          <a:p>
            <a:pPr lvl="1"/>
            <a:r>
              <a:rPr lang="en-US" sz="2000" dirty="0"/>
              <a:t>MQTT: use case “Device-to-Cloud”</a:t>
            </a:r>
          </a:p>
          <a:p>
            <a:r>
              <a:rPr lang="en-US" sz="2000" dirty="0"/>
              <a:t>Supported operating system platforms:</a:t>
            </a:r>
          </a:p>
          <a:p>
            <a:pPr lvl="1"/>
            <a:r>
              <a:rPr lang="en-US" sz="2000" dirty="0"/>
              <a:t>Windows 10/11 (32-bit/64-bit)</a:t>
            </a:r>
          </a:p>
          <a:p>
            <a:pPr lvl="1"/>
            <a:r>
              <a:rPr lang="en-US" sz="2000" dirty="0"/>
              <a:t>TwinCAT/BSD</a:t>
            </a:r>
          </a:p>
          <a:p>
            <a:pPr lvl="1"/>
            <a:r>
              <a:rPr lang="en-US" sz="2000" dirty="0"/>
              <a:t>TwinCAT/Linux (32-bit/64-bit)</a:t>
            </a:r>
          </a:p>
          <a:p>
            <a:endParaRPr lang="en-US" sz="2000" dirty="0"/>
          </a:p>
          <a:p>
            <a:endParaRPr lang="en-US" sz="2000" dirty="0"/>
          </a:p>
        </p:txBody>
      </p:sp>
      <p:sp>
        <p:nvSpPr>
          <p:cNvPr id="3" name="Title 2">
            <a:extLst>
              <a:ext uri="{FF2B5EF4-FFF2-40B4-BE49-F238E27FC236}">
                <a16:creationId xmlns:a16="http://schemas.microsoft.com/office/drawing/2014/main" id="{CA387656-C638-4697-B93D-9D9C415E992F}"/>
              </a:ext>
            </a:extLst>
          </p:cNvPr>
          <p:cNvSpPr>
            <a:spLocks noGrp="1"/>
          </p:cNvSpPr>
          <p:nvPr>
            <p:ph type="title"/>
          </p:nvPr>
        </p:nvSpPr>
        <p:spPr/>
        <p:txBody>
          <a:bodyPr/>
          <a:lstStyle/>
          <a:p>
            <a:r>
              <a:rPr lang="de-DE" dirty="0"/>
              <a:t>TF6105 | TC3 OPC UA Pub/Sub</a:t>
            </a:r>
            <a:endParaRPr lang="en-US" dirty="0"/>
          </a:p>
        </p:txBody>
      </p:sp>
      <p:sp>
        <p:nvSpPr>
          <p:cNvPr id="16" name="Freihandform 3">
            <a:extLst>
              <a:ext uri="{FF2B5EF4-FFF2-40B4-BE49-F238E27FC236}">
                <a16:creationId xmlns:a16="http://schemas.microsoft.com/office/drawing/2014/main" id="{E39DE55B-86B2-E763-E81A-97838FB76248}"/>
              </a:ext>
            </a:extLst>
          </p:cNvPr>
          <p:cNvSpPr>
            <a:spLocks noChangeAspect="1"/>
          </p:cNvSpPr>
          <p:nvPr/>
        </p:nvSpPr>
        <p:spPr>
          <a:xfrm>
            <a:off x="6485933" y="2932109"/>
            <a:ext cx="2238693" cy="1358365"/>
          </a:xfrm>
          <a:custGeom>
            <a:avLst/>
            <a:gdLst>
              <a:gd name="connsiteX0" fmla="*/ 187377 w 3762531"/>
              <a:gd name="connsiteY0" fmla="*/ 262328 h 2488367"/>
              <a:gd name="connsiteX1" fmla="*/ 1109272 w 3762531"/>
              <a:gd name="connsiteY1" fmla="*/ 0 h 2488367"/>
              <a:gd name="connsiteX2" fmla="*/ 3642610 w 3762531"/>
              <a:gd name="connsiteY2" fmla="*/ 239843 h 2488367"/>
              <a:gd name="connsiteX3" fmla="*/ 3762531 w 3762531"/>
              <a:gd name="connsiteY3" fmla="*/ 2488367 h 2488367"/>
              <a:gd name="connsiteX4" fmla="*/ 0 w 3762531"/>
              <a:gd name="connsiteY4" fmla="*/ 2488367 h 2488367"/>
              <a:gd name="connsiteX5" fmla="*/ 187377 w 3762531"/>
              <a:gd name="connsiteY5" fmla="*/ 262328 h 2488367"/>
              <a:gd name="connsiteX0" fmla="*/ 187377 w 3762531"/>
              <a:gd name="connsiteY0" fmla="*/ 361158 h 2587197"/>
              <a:gd name="connsiteX1" fmla="*/ 1109272 w 3762531"/>
              <a:gd name="connsiteY1" fmla="*/ 98830 h 2587197"/>
              <a:gd name="connsiteX2" fmla="*/ 3642610 w 3762531"/>
              <a:gd name="connsiteY2" fmla="*/ 338673 h 2587197"/>
              <a:gd name="connsiteX3" fmla="*/ 3762531 w 3762531"/>
              <a:gd name="connsiteY3" fmla="*/ 2587197 h 2587197"/>
              <a:gd name="connsiteX4" fmla="*/ 0 w 3762531"/>
              <a:gd name="connsiteY4" fmla="*/ 2587197 h 2587197"/>
              <a:gd name="connsiteX5" fmla="*/ 187377 w 3762531"/>
              <a:gd name="connsiteY5" fmla="*/ 361158 h 2587197"/>
              <a:gd name="connsiteX0" fmla="*/ 870238 w 4445392"/>
              <a:gd name="connsiteY0" fmla="*/ 361158 h 2587197"/>
              <a:gd name="connsiteX1" fmla="*/ 1792133 w 4445392"/>
              <a:gd name="connsiteY1" fmla="*/ 98830 h 2587197"/>
              <a:gd name="connsiteX2" fmla="*/ 4325471 w 4445392"/>
              <a:gd name="connsiteY2" fmla="*/ 338673 h 2587197"/>
              <a:gd name="connsiteX3" fmla="*/ 4445392 w 4445392"/>
              <a:gd name="connsiteY3" fmla="*/ 2587197 h 2587197"/>
              <a:gd name="connsiteX4" fmla="*/ 682861 w 4445392"/>
              <a:gd name="connsiteY4" fmla="*/ 2587197 h 2587197"/>
              <a:gd name="connsiteX5" fmla="*/ 870238 w 4445392"/>
              <a:gd name="connsiteY5" fmla="*/ 361158 h 2587197"/>
              <a:gd name="connsiteX0" fmla="*/ 1283861 w 4859015"/>
              <a:gd name="connsiteY0" fmla="*/ 361158 h 2587197"/>
              <a:gd name="connsiteX1" fmla="*/ 2205756 w 4859015"/>
              <a:gd name="connsiteY1" fmla="*/ 98830 h 2587197"/>
              <a:gd name="connsiteX2" fmla="*/ 4739094 w 4859015"/>
              <a:gd name="connsiteY2" fmla="*/ 338673 h 2587197"/>
              <a:gd name="connsiteX3" fmla="*/ 4859015 w 4859015"/>
              <a:gd name="connsiteY3" fmla="*/ 2587197 h 2587197"/>
              <a:gd name="connsiteX4" fmla="*/ 1096484 w 4859015"/>
              <a:gd name="connsiteY4" fmla="*/ 2587197 h 2587197"/>
              <a:gd name="connsiteX5" fmla="*/ 1283861 w 4859015"/>
              <a:gd name="connsiteY5" fmla="*/ 361158 h 2587197"/>
              <a:gd name="connsiteX0" fmla="*/ 1283861 w 4859015"/>
              <a:gd name="connsiteY0" fmla="*/ 413104 h 2639143"/>
              <a:gd name="connsiteX1" fmla="*/ 2205756 w 4859015"/>
              <a:gd name="connsiteY1" fmla="*/ 150776 h 2639143"/>
              <a:gd name="connsiteX2" fmla="*/ 4739094 w 4859015"/>
              <a:gd name="connsiteY2" fmla="*/ 390619 h 2639143"/>
              <a:gd name="connsiteX3" fmla="*/ 4859015 w 4859015"/>
              <a:gd name="connsiteY3" fmla="*/ 2639143 h 2639143"/>
              <a:gd name="connsiteX4" fmla="*/ 1096484 w 4859015"/>
              <a:gd name="connsiteY4" fmla="*/ 2639143 h 2639143"/>
              <a:gd name="connsiteX5" fmla="*/ 1283861 w 4859015"/>
              <a:gd name="connsiteY5" fmla="*/ 413104 h 2639143"/>
              <a:gd name="connsiteX0" fmla="*/ 1283861 w 4859015"/>
              <a:gd name="connsiteY0" fmla="*/ 639949 h 2865988"/>
              <a:gd name="connsiteX1" fmla="*/ 2205756 w 4859015"/>
              <a:gd name="connsiteY1" fmla="*/ 377621 h 2865988"/>
              <a:gd name="connsiteX2" fmla="*/ 4739094 w 4859015"/>
              <a:gd name="connsiteY2" fmla="*/ 617464 h 2865988"/>
              <a:gd name="connsiteX3" fmla="*/ 4859015 w 4859015"/>
              <a:gd name="connsiteY3" fmla="*/ 2865988 h 2865988"/>
              <a:gd name="connsiteX4" fmla="*/ 1096484 w 4859015"/>
              <a:gd name="connsiteY4" fmla="*/ 2865988 h 2865988"/>
              <a:gd name="connsiteX5" fmla="*/ 1283861 w 4859015"/>
              <a:gd name="connsiteY5" fmla="*/ 639949 h 2865988"/>
              <a:gd name="connsiteX0" fmla="*/ 1283861 w 4859015"/>
              <a:gd name="connsiteY0" fmla="*/ 805598 h 3031637"/>
              <a:gd name="connsiteX1" fmla="*/ 2205756 w 4859015"/>
              <a:gd name="connsiteY1" fmla="*/ 543270 h 3031637"/>
              <a:gd name="connsiteX2" fmla="*/ 4739094 w 4859015"/>
              <a:gd name="connsiteY2" fmla="*/ 783113 h 3031637"/>
              <a:gd name="connsiteX3" fmla="*/ 4859015 w 4859015"/>
              <a:gd name="connsiteY3" fmla="*/ 3031637 h 3031637"/>
              <a:gd name="connsiteX4" fmla="*/ 1096484 w 4859015"/>
              <a:gd name="connsiteY4" fmla="*/ 3031637 h 3031637"/>
              <a:gd name="connsiteX5" fmla="*/ 1283861 w 4859015"/>
              <a:gd name="connsiteY5" fmla="*/ 805598 h 3031637"/>
              <a:gd name="connsiteX0" fmla="*/ 1283861 w 5259884"/>
              <a:gd name="connsiteY0" fmla="*/ 805598 h 3031637"/>
              <a:gd name="connsiteX1" fmla="*/ 2205756 w 5259884"/>
              <a:gd name="connsiteY1" fmla="*/ 543270 h 3031637"/>
              <a:gd name="connsiteX2" fmla="*/ 4739094 w 5259884"/>
              <a:gd name="connsiteY2" fmla="*/ 783113 h 3031637"/>
              <a:gd name="connsiteX3" fmla="*/ 4859015 w 5259884"/>
              <a:gd name="connsiteY3" fmla="*/ 3031637 h 3031637"/>
              <a:gd name="connsiteX4" fmla="*/ 1096484 w 5259884"/>
              <a:gd name="connsiteY4" fmla="*/ 3031637 h 3031637"/>
              <a:gd name="connsiteX5" fmla="*/ 1283861 w 5259884"/>
              <a:gd name="connsiteY5" fmla="*/ 805598 h 3031637"/>
              <a:gd name="connsiteX0" fmla="*/ 1283861 w 5871218"/>
              <a:gd name="connsiteY0" fmla="*/ 805598 h 3031637"/>
              <a:gd name="connsiteX1" fmla="*/ 2205756 w 5871218"/>
              <a:gd name="connsiteY1" fmla="*/ 543270 h 3031637"/>
              <a:gd name="connsiteX2" fmla="*/ 4739094 w 5871218"/>
              <a:gd name="connsiteY2" fmla="*/ 783113 h 3031637"/>
              <a:gd name="connsiteX3" fmla="*/ 4859015 w 5871218"/>
              <a:gd name="connsiteY3" fmla="*/ 3031637 h 3031637"/>
              <a:gd name="connsiteX4" fmla="*/ 1096484 w 5871218"/>
              <a:gd name="connsiteY4" fmla="*/ 3031637 h 3031637"/>
              <a:gd name="connsiteX5" fmla="*/ 1283861 w 5871218"/>
              <a:gd name="connsiteY5" fmla="*/ 805598 h 3031637"/>
              <a:gd name="connsiteX0" fmla="*/ 1283861 w 5924778"/>
              <a:gd name="connsiteY0" fmla="*/ 805598 h 3031637"/>
              <a:gd name="connsiteX1" fmla="*/ 2205756 w 5924778"/>
              <a:gd name="connsiteY1" fmla="*/ 543270 h 3031637"/>
              <a:gd name="connsiteX2" fmla="*/ 4739094 w 5924778"/>
              <a:gd name="connsiteY2" fmla="*/ 783113 h 3031637"/>
              <a:gd name="connsiteX3" fmla="*/ 4859015 w 5924778"/>
              <a:gd name="connsiteY3" fmla="*/ 3031637 h 3031637"/>
              <a:gd name="connsiteX4" fmla="*/ 1096484 w 5924778"/>
              <a:gd name="connsiteY4" fmla="*/ 3031637 h 3031637"/>
              <a:gd name="connsiteX5" fmla="*/ 1283861 w 5924778"/>
              <a:gd name="connsiteY5" fmla="*/ 805598 h 3031637"/>
              <a:gd name="connsiteX0" fmla="*/ 1283861 w 5924778"/>
              <a:gd name="connsiteY0" fmla="*/ 816848 h 3042887"/>
              <a:gd name="connsiteX1" fmla="*/ 2205756 w 5924778"/>
              <a:gd name="connsiteY1" fmla="*/ 554520 h 3042887"/>
              <a:gd name="connsiteX2" fmla="*/ 4739094 w 5924778"/>
              <a:gd name="connsiteY2" fmla="*/ 794363 h 3042887"/>
              <a:gd name="connsiteX3" fmla="*/ 4859015 w 5924778"/>
              <a:gd name="connsiteY3" fmla="*/ 3042887 h 3042887"/>
              <a:gd name="connsiteX4" fmla="*/ 1096484 w 5924778"/>
              <a:gd name="connsiteY4" fmla="*/ 3042887 h 3042887"/>
              <a:gd name="connsiteX5" fmla="*/ 1283861 w 5924778"/>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872028"/>
              <a:gd name="connsiteY0" fmla="*/ 816848 h 3042887"/>
              <a:gd name="connsiteX1" fmla="*/ 2199965 w 5872028"/>
              <a:gd name="connsiteY1" fmla="*/ 554520 h 3042887"/>
              <a:gd name="connsiteX2" fmla="*/ 4733303 w 5872028"/>
              <a:gd name="connsiteY2" fmla="*/ 794363 h 3042887"/>
              <a:gd name="connsiteX3" fmla="*/ 4853224 w 5872028"/>
              <a:gd name="connsiteY3" fmla="*/ 3042887 h 3042887"/>
              <a:gd name="connsiteX4" fmla="*/ 1090693 w 5872028"/>
              <a:gd name="connsiteY4" fmla="*/ 3042887 h 3042887"/>
              <a:gd name="connsiteX5" fmla="*/ 1278070 w 5872028"/>
              <a:gd name="connsiteY5" fmla="*/ 816848 h 3042887"/>
              <a:gd name="connsiteX0" fmla="*/ 1278070 w 5772302"/>
              <a:gd name="connsiteY0" fmla="*/ 816848 h 3042887"/>
              <a:gd name="connsiteX1" fmla="*/ 2199965 w 5772302"/>
              <a:gd name="connsiteY1" fmla="*/ 554520 h 3042887"/>
              <a:gd name="connsiteX2" fmla="*/ 4733303 w 5772302"/>
              <a:gd name="connsiteY2" fmla="*/ 794363 h 3042887"/>
              <a:gd name="connsiteX3" fmla="*/ 4670002 w 5772302"/>
              <a:gd name="connsiteY3" fmla="*/ 3037652 h 3042887"/>
              <a:gd name="connsiteX4" fmla="*/ 1090693 w 5772302"/>
              <a:gd name="connsiteY4" fmla="*/ 3042887 h 3042887"/>
              <a:gd name="connsiteX5" fmla="*/ 1278070 w 5772302"/>
              <a:gd name="connsiteY5" fmla="*/ 816848 h 3042887"/>
              <a:gd name="connsiteX0" fmla="*/ 1278070 w 5812783"/>
              <a:gd name="connsiteY0" fmla="*/ 816848 h 3042887"/>
              <a:gd name="connsiteX1" fmla="*/ 2199965 w 5812783"/>
              <a:gd name="connsiteY1" fmla="*/ 554520 h 3042887"/>
              <a:gd name="connsiteX2" fmla="*/ 4733303 w 5812783"/>
              <a:gd name="connsiteY2" fmla="*/ 794363 h 3042887"/>
              <a:gd name="connsiteX3" fmla="*/ 4670002 w 5812783"/>
              <a:gd name="connsiteY3" fmla="*/ 3037652 h 3042887"/>
              <a:gd name="connsiteX4" fmla="*/ 1090693 w 5812783"/>
              <a:gd name="connsiteY4" fmla="*/ 3042887 h 3042887"/>
              <a:gd name="connsiteX5" fmla="*/ 1278070 w 5812783"/>
              <a:gd name="connsiteY5" fmla="*/ 816848 h 3042887"/>
              <a:gd name="connsiteX0" fmla="*/ 1278070 w 5894253"/>
              <a:gd name="connsiteY0" fmla="*/ 816848 h 3042887"/>
              <a:gd name="connsiteX1" fmla="*/ 2199965 w 5894253"/>
              <a:gd name="connsiteY1" fmla="*/ 554520 h 3042887"/>
              <a:gd name="connsiteX2" fmla="*/ 4733303 w 5894253"/>
              <a:gd name="connsiteY2" fmla="*/ 794363 h 3042887"/>
              <a:gd name="connsiteX3" fmla="*/ 4670002 w 5894253"/>
              <a:gd name="connsiteY3" fmla="*/ 3037652 h 3042887"/>
              <a:gd name="connsiteX4" fmla="*/ 1090693 w 5894253"/>
              <a:gd name="connsiteY4" fmla="*/ 3042887 h 3042887"/>
              <a:gd name="connsiteX5" fmla="*/ 1278070 w 5894253"/>
              <a:gd name="connsiteY5" fmla="*/ 816848 h 304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4253" h="3042887">
                <a:moveTo>
                  <a:pt x="1278070" y="816848"/>
                </a:moveTo>
                <a:cubicBezTo>
                  <a:pt x="1465446" y="167274"/>
                  <a:pt x="2080044" y="447091"/>
                  <a:pt x="2199965" y="554520"/>
                </a:cubicBezTo>
                <a:cubicBezTo>
                  <a:pt x="2976955" y="-384863"/>
                  <a:pt x="4353552" y="-12608"/>
                  <a:pt x="4733303" y="794363"/>
                </a:cubicBezTo>
                <a:cubicBezTo>
                  <a:pt x="6240379" y="843022"/>
                  <a:pt x="6343074" y="2920642"/>
                  <a:pt x="4670002" y="3037652"/>
                </a:cubicBezTo>
                <a:lnTo>
                  <a:pt x="1090693" y="3042887"/>
                </a:lnTo>
                <a:cubicBezTo>
                  <a:pt x="-203458" y="3035392"/>
                  <a:pt x="-583208" y="809353"/>
                  <a:pt x="1278070" y="816848"/>
                </a:cubicBezTo>
                <a:close/>
              </a:path>
            </a:pathLst>
          </a:cu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252000" rIns="0" bIns="0" numCol="1" spcCol="0" rtlCol="0" fromWordArt="0" anchor="ctr" anchorCtr="0" forceAA="0" compatLnSpc="1">
            <a:prstTxWarp prst="textNoShape">
              <a:avLst/>
            </a:prstTxWarp>
            <a:noAutofit/>
          </a:bodyPr>
          <a:lstStyle/>
          <a:p>
            <a:pPr algn="ctr"/>
            <a:r>
              <a:rPr lang="de-DE" sz="1200" dirty="0">
                <a:solidFill>
                  <a:schemeClr val="tx1"/>
                </a:solidFill>
                <a:latin typeface="Arial" pitchFamily="34" charset="0"/>
                <a:cs typeface="Arial" pitchFamily="34" charset="0"/>
              </a:rPr>
              <a:t>Message Broker</a:t>
            </a:r>
          </a:p>
        </p:txBody>
      </p:sp>
      <p:cxnSp>
        <p:nvCxnSpPr>
          <p:cNvPr id="17" name="Straight Arrow Connector 16">
            <a:extLst>
              <a:ext uri="{FF2B5EF4-FFF2-40B4-BE49-F238E27FC236}">
                <a16:creationId xmlns:a16="http://schemas.microsoft.com/office/drawing/2014/main" id="{33F1AEF7-DABA-DEA9-04F8-EC97009492AF}"/>
              </a:ext>
            </a:extLst>
          </p:cNvPr>
          <p:cNvCxnSpPr>
            <a:cxnSpLocks/>
          </p:cNvCxnSpPr>
          <p:nvPr/>
        </p:nvCxnSpPr>
        <p:spPr>
          <a:xfrm flipV="1">
            <a:off x="7638703" y="4365524"/>
            <a:ext cx="0" cy="786058"/>
          </a:xfrm>
          <a:prstGeom prst="straightConnector1">
            <a:avLst/>
          </a:prstGeom>
          <a:ln w="38100">
            <a:solidFill>
              <a:schemeClr val="accent4"/>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18" name="Gruppieren 69">
            <a:extLst>
              <a:ext uri="{FF2B5EF4-FFF2-40B4-BE49-F238E27FC236}">
                <a16:creationId xmlns:a16="http://schemas.microsoft.com/office/drawing/2014/main" id="{6FD5726A-BA85-CF5F-1B10-5E8EF5C725AF}"/>
              </a:ext>
            </a:extLst>
          </p:cNvPr>
          <p:cNvGrpSpPr>
            <a:grpSpLocks noChangeAspect="1"/>
          </p:cNvGrpSpPr>
          <p:nvPr/>
        </p:nvGrpSpPr>
        <p:grpSpPr>
          <a:xfrm>
            <a:off x="7512703" y="4619888"/>
            <a:ext cx="252000" cy="252000"/>
            <a:chOff x="9552384" y="1700808"/>
            <a:chExt cx="384282" cy="384282"/>
          </a:xfrm>
          <a:effectLst>
            <a:outerShdw blurRad="50800" dist="38100" dir="2700000" algn="tl" rotWithShape="0">
              <a:prstClr val="black">
                <a:alpha val="40000"/>
              </a:prstClr>
            </a:outerShdw>
          </a:effectLst>
        </p:grpSpPr>
        <p:sp>
          <p:nvSpPr>
            <p:cNvPr id="28" name="Ellipse 70">
              <a:extLst>
                <a:ext uri="{FF2B5EF4-FFF2-40B4-BE49-F238E27FC236}">
                  <a16:creationId xmlns:a16="http://schemas.microsoft.com/office/drawing/2014/main" id="{ED02E1DB-E210-E5C4-282D-21E69489C770}"/>
                </a:ext>
              </a:extLst>
            </p:cNvPr>
            <p:cNvSpPr/>
            <p:nvPr/>
          </p:nvSpPr>
          <p:spPr>
            <a:xfrm>
              <a:off x="9552384" y="1700808"/>
              <a:ext cx="384282" cy="384282"/>
            </a:xfrm>
            <a:prstGeom prst="ellipse">
              <a:avLst/>
            </a:prstGeom>
            <a:gradFill>
              <a:gsLst>
                <a:gs pos="0">
                  <a:srgbClr val="EF0000"/>
                </a:gs>
                <a:gs pos="83000">
                  <a:srgbClr val="EF0000">
                    <a:lumMod val="50000"/>
                  </a:srgbClr>
                </a:gs>
              </a:gsLst>
              <a:lin ang="600000" scaled="0"/>
            </a:gradFill>
            <a:ln w="12700">
              <a:solidFill>
                <a:schemeClr val="bg1"/>
              </a:solidFill>
            </a:ln>
            <a:effectLst/>
          </p:spPr>
          <p:txBody>
            <a:bodyPr wrap="square" tIns="0" bIns="0" rtlCol="0" anchor="ctr">
              <a:noAutofit/>
            </a:bodyPr>
            <a:lstStyle/>
            <a:p>
              <a:pPr algn="ctr"/>
              <a:endParaRPr lang="de-DE" sz="4400" b="1" dirty="0">
                <a:solidFill>
                  <a:schemeClr val="bg1"/>
                </a:solidFill>
              </a:endParaRPr>
            </a:p>
          </p:txBody>
        </p:sp>
        <p:pic>
          <p:nvPicPr>
            <p:cNvPr id="39" name="Grafik 71">
              <a:extLst>
                <a:ext uri="{FF2B5EF4-FFF2-40B4-BE49-F238E27FC236}">
                  <a16:creationId xmlns:a16="http://schemas.microsoft.com/office/drawing/2014/main" id="{80D89D9E-48AB-1532-0D41-7E0C603819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012" y="1740137"/>
              <a:ext cx="203027" cy="281814"/>
            </a:xfrm>
            <a:prstGeom prst="rect">
              <a:avLst/>
            </a:prstGeom>
          </p:spPr>
        </p:pic>
      </p:grpSp>
      <p:cxnSp>
        <p:nvCxnSpPr>
          <p:cNvPr id="40" name="Straight Arrow Connector 39">
            <a:extLst>
              <a:ext uri="{FF2B5EF4-FFF2-40B4-BE49-F238E27FC236}">
                <a16:creationId xmlns:a16="http://schemas.microsoft.com/office/drawing/2014/main" id="{ED764BF4-5F56-0952-B77E-EFF98DDE3C45}"/>
              </a:ext>
            </a:extLst>
          </p:cNvPr>
          <p:cNvCxnSpPr>
            <a:cxnSpLocks/>
          </p:cNvCxnSpPr>
          <p:nvPr/>
        </p:nvCxnSpPr>
        <p:spPr>
          <a:xfrm>
            <a:off x="8761600" y="5696724"/>
            <a:ext cx="1457391" cy="0"/>
          </a:xfrm>
          <a:prstGeom prst="straightConnector1">
            <a:avLst/>
          </a:prstGeom>
          <a:ln w="38100">
            <a:solidFill>
              <a:schemeClr val="accent4"/>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41" name="Gruppieren 69">
            <a:extLst>
              <a:ext uri="{FF2B5EF4-FFF2-40B4-BE49-F238E27FC236}">
                <a16:creationId xmlns:a16="http://schemas.microsoft.com/office/drawing/2014/main" id="{711AA261-BD4E-BF4D-6741-39D42273AE64}"/>
              </a:ext>
            </a:extLst>
          </p:cNvPr>
          <p:cNvGrpSpPr>
            <a:grpSpLocks noChangeAspect="1"/>
          </p:cNvGrpSpPr>
          <p:nvPr/>
        </p:nvGrpSpPr>
        <p:grpSpPr>
          <a:xfrm>
            <a:off x="9364295" y="5561648"/>
            <a:ext cx="252000" cy="252000"/>
            <a:chOff x="9552384" y="1700808"/>
            <a:chExt cx="384282" cy="384282"/>
          </a:xfrm>
          <a:effectLst>
            <a:outerShdw blurRad="50800" dist="38100" dir="2700000" algn="tl" rotWithShape="0">
              <a:prstClr val="black">
                <a:alpha val="40000"/>
              </a:prstClr>
            </a:outerShdw>
          </a:effectLst>
        </p:grpSpPr>
        <p:sp>
          <p:nvSpPr>
            <p:cNvPr id="42" name="Ellipse 70">
              <a:extLst>
                <a:ext uri="{FF2B5EF4-FFF2-40B4-BE49-F238E27FC236}">
                  <a16:creationId xmlns:a16="http://schemas.microsoft.com/office/drawing/2014/main" id="{8210DBBA-006A-EA31-6453-C7C02A86935D}"/>
                </a:ext>
              </a:extLst>
            </p:cNvPr>
            <p:cNvSpPr/>
            <p:nvPr/>
          </p:nvSpPr>
          <p:spPr>
            <a:xfrm>
              <a:off x="9552384" y="1700808"/>
              <a:ext cx="384282" cy="384282"/>
            </a:xfrm>
            <a:prstGeom prst="ellipse">
              <a:avLst/>
            </a:prstGeom>
            <a:gradFill>
              <a:gsLst>
                <a:gs pos="0">
                  <a:srgbClr val="EF0000"/>
                </a:gs>
                <a:gs pos="83000">
                  <a:srgbClr val="EF0000">
                    <a:lumMod val="50000"/>
                  </a:srgbClr>
                </a:gs>
              </a:gsLst>
              <a:lin ang="600000" scaled="0"/>
            </a:gradFill>
            <a:ln w="12700">
              <a:solidFill>
                <a:schemeClr val="bg1"/>
              </a:solidFill>
            </a:ln>
            <a:effectLst/>
          </p:spPr>
          <p:txBody>
            <a:bodyPr wrap="square" tIns="0" bIns="0" rtlCol="0" anchor="ctr">
              <a:noAutofit/>
            </a:bodyPr>
            <a:lstStyle/>
            <a:p>
              <a:pPr algn="ctr"/>
              <a:endParaRPr lang="de-DE" sz="4400" b="1" dirty="0">
                <a:solidFill>
                  <a:schemeClr val="bg1"/>
                </a:solidFill>
              </a:endParaRPr>
            </a:p>
          </p:txBody>
        </p:sp>
        <p:pic>
          <p:nvPicPr>
            <p:cNvPr id="43" name="Grafik 71">
              <a:extLst>
                <a:ext uri="{FF2B5EF4-FFF2-40B4-BE49-F238E27FC236}">
                  <a16:creationId xmlns:a16="http://schemas.microsoft.com/office/drawing/2014/main" id="{E81AB8F0-9B92-9BA3-1E5A-9BE6874DD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012" y="1740137"/>
              <a:ext cx="203027" cy="281814"/>
            </a:xfrm>
            <a:prstGeom prst="rect">
              <a:avLst/>
            </a:prstGeom>
          </p:spPr>
        </p:pic>
      </p:grpSp>
      <p:sp>
        <p:nvSpPr>
          <p:cNvPr id="44" name="Rectangle: Rounded Corners 43">
            <a:extLst>
              <a:ext uri="{FF2B5EF4-FFF2-40B4-BE49-F238E27FC236}">
                <a16:creationId xmlns:a16="http://schemas.microsoft.com/office/drawing/2014/main" id="{41FB41C1-CF7B-B3BB-BF2C-29C7145CA2A0}"/>
              </a:ext>
            </a:extLst>
          </p:cNvPr>
          <p:cNvSpPr/>
          <p:nvPr/>
        </p:nvSpPr>
        <p:spPr>
          <a:xfrm>
            <a:off x="10278422" y="5208709"/>
            <a:ext cx="1566442" cy="974015"/>
          </a:xfrm>
          <a:prstGeom prst="roundRect">
            <a:avLst/>
          </a:prstGeom>
          <a:solidFill>
            <a:schemeClr val="bg1">
              <a:lumMod val="85000"/>
            </a:schemeClr>
          </a:solidFill>
          <a:ln w="6350">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algn="ctr">
              <a:spcBef>
                <a:spcPts val="600"/>
              </a:spcBef>
            </a:pPr>
            <a:r>
              <a:rPr lang="de-DE" sz="1200">
                <a:solidFill>
                  <a:schemeClr val="tx1"/>
                </a:solidFill>
                <a:latin typeface="+mj-lt"/>
                <a:cs typeface="Arial" pitchFamily="34" charset="0"/>
              </a:rPr>
              <a:t>3rd-Party application</a:t>
            </a:r>
            <a:endParaRPr lang="en-US" sz="1200" dirty="0">
              <a:solidFill>
                <a:schemeClr val="tx1"/>
              </a:solidFill>
              <a:latin typeface="+mj-lt"/>
              <a:cs typeface="Arial" pitchFamily="34" charset="0"/>
            </a:endParaRPr>
          </a:p>
        </p:txBody>
      </p:sp>
      <p:sp>
        <p:nvSpPr>
          <p:cNvPr id="45" name="Abgerundetes Rechteck 18">
            <a:extLst>
              <a:ext uri="{FF2B5EF4-FFF2-40B4-BE49-F238E27FC236}">
                <a16:creationId xmlns:a16="http://schemas.microsoft.com/office/drawing/2014/main" id="{1AFE2E8E-7FDF-D0B8-4433-D4E3C86FD6C7}"/>
              </a:ext>
            </a:extLst>
          </p:cNvPr>
          <p:cNvSpPr/>
          <p:nvPr/>
        </p:nvSpPr>
        <p:spPr>
          <a:xfrm>
            <a:off x="6485935" y="5208709"/>
            <a:ext cx="2238692" cy="974015"/>
          </a:xfrm>
          <a:prstGeom prst="roundRect">
            <a:avLst/>
          </a:prstGeom>
          <a:solidFill>
            <a:srgbClr val="86405C"/>
          </a:solidFill>
          <a:ln>
            <a:no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r>
              <a:rPr lang="de-DE" sz="1200" dirty="0">
                <a:solidFill>
                  <a:schemeClr val="bg1"/>
                </a:solidFill>
              </a:rPr>
              <a:t>TF6105 OPC UA Pub/Sub</a:t>
            </a:r>
          </a:p>
        </p:txBody>
      </p:sp>
      <p:pic>
        <p:nvPicPr>
          <p:cNvPr id="46" name="Grafik 44">
            <a:extLst>
              <a:ext uri="{FF2B5EF4-FFF2-40B4-BE49-F238E27FC236}">
                <a16:creationId xmlns:a16="http://schemas.microsoft.com/office/drawing/2014/main" id="{9D739EDA-9F41-01DD-C2C9-F38F3633E7AB}"/>
              </a:ext>
            </a:extLst>
          </p:cNvPr>
          <p:cNvPicPr>
            <a:picLocks noChangeAspect="1"/>
          </p:cNvPicPr>
          <p:nvPr/>
        </p:nvPicPr>
        <p:blipFill>
          <a:blip r:embed="rId3"/>
          <a:stretch>
            <a:fillRect/>
          </a:stretch>
        </p:blipFill>
        <p:spPr>
          <a:xfrm>
            <a:off x="6659067" y="5030560"/>
            <a:ext cx="472694" cy="335407"/>
          </a:xfrm>
          <a:prstGeom prst="rect">
            <a:avLst/>
          </a:prstGeom>
          <a:effectLst>
            <a:outerShdw blurRad="50800" dist="38100" dir="2700000" algn="tl" rotWithShape="0">
              <a:prstClr val="black">
                <a:alpha val="40000"/>
              </a:prstClr>
            </a:outerShdw>
          </a:effectLst>
        </p:spPr>
      </p:pic>
      <p:grpSp>
        <p:nvGrpSpPr>
          <p:cNvPr id="48" name="Group 47">
            <a:extLst>
              <a:ext uri="{FF2B5EF4-FFF2-40B4-BE49-F238E27FC236}">
                <a16:creationId xmlns:a16="http://schemas.microsoft.com/office/drawing/2014/main" id="{76B6A3D0-3055-09C9-D7AD-F7D0F782A9CA}"/>
              </a:ext>
            </a:extLst>
          </p:cNvPr>
          <p:cNvGrpSpPr>
            <a:grpSpLocks noChangeAspect="1"/>
          </p:cNvGrpSpPr>
          <p:nvPr/>
        </p:nvGrpSpPr>
        <p:grpSpPr>
          <a:xfrm>
            <a:off x="8265343" y="5029647"/>
            <a:ext cx="318242" cy="322887"/>
            <a:chOff x="8589297" y="3284984"/>
            <a:chExt cx="2116803" cy="2147695"/>
          </a:xfrm>
          <a:effectLst>
            <a:outerShdw blurRad="50800" dist="38100" dir="2700000" algn="tl" rotWithShape="0">
              <a:prstClr val="black">
                <a:alpha val="40000"/>
              </a:prstClr>
            </a:outerShdw>
          </a:effectLst>
        </p:grpSpPr>
        <p:pic>
          <p:nvPicPr>
            <p:cNvPr id="49" name="Picture 89">
              <a:extLst>
                <a:ext uri="{FF2B5EF4-FFF2-40B4-BE49-F238E27FC236}">
                  <a16:creationId xmlns:a16="http://schemas.microsoft.com/office/drawing/2014/main" id="{5EE1A491-65C8-02DD-647A-7A13EB6B8A36}"/>
                </a:ext>
              </a:extLst>
            </p:cNvPr>
            <p:cNvPicPr>
              <a:picLocks noChangeAspect="1"/>
            </p:cNvPicPr>
            <p:nvPr/>
          </p:nvPicPr>
          <p:blipFill rotWithShape="1">
            <a:blip r:embed="rId4"/>
            <a:srcRect l="35549" t="30354"/>
            <a:stretch/>
          </p:blipFill>
          <p:spPr>
            <a:xfrm>
              <a:off x="8589297" y="3284984"/>
              <a:ext cx="2113951" cy="2147695"/>
            </a:xfrm>
            <a:prstGeom prst="rect">
              <a:avLst/>
            </a:prstGeom>
          </p:spPr>
        </p:pic>
        <p:pic>
          <p:nvPicPr>
            <p:cNvPr id="54" name="Picture Placeholder 1">
              <a:extLst>
                <a:ext uri="{FF2B5EF4-FFF2-40B4-BE49-F238E27FC236}">
                  <a16:creationId xmlns:a16="http://schemas.microsoft.com/office/drawing/2014/main" id="{7637CC91-A4F2-5BBE-684E-8618EF8BDFD0}"/>
                </a:ext>
              </a:extLst>
            </p:cNvPr>
            <p:cNvPicPr>
              <a:picLocks noChangeAspect="1"/>
            </p:cNvPicPr>
            <p:nvPr/>
          </p:nvPicPr>
          <p:blipFill>
            <a:blip r:embed="rId5"/>
            <a:srcRect/>
            <a:stretch>
              <a:fillRect/>
            </a:stretch>
          </p:blipFill>
          <p:spPr>
            <a:xfrm>
              <a:off x="10180638" y="3330575"/>
              <a:ext cx="525462" cy="525463"/>
            </a:xfrm>
            <a:prstGeom prst="rect">
              <a:avLst/>
            </a:prstGeom>
          </p:spPr>
        </p:pic>
        <p:pic>
          <p:nvPicPr>
            <p:cNvPr id="55" name="Picture Placeholder 2">
              <a:extLst>
                <a:ext uri="{FF2B5EF4-FFF2-40B4-BE49-F238E27FC236}">
                  <a16:creationId xmlns:a16="http://schemas.microsoft.com/office/drawing/2014/main" id="{B514B55D-C450-4925-0E87-E8C0BC6D8F8B}"/>
                </a:ext>
              </a:extLst>
            </p:cNvPr>
            <p:cNvPicPr>
              <a:picLocks noChangeAspect="1"/>
            </p:cNvPicPr>
            <p:nvPr/>
          </p:nvPicPr>
          <p:blipFill>
            <a:blip r:embed="rId6"/>
            <a:srcRect/>
            <a:stretch/>
          </p:blipFill>
          <p:spPr>
            <a:xfrm>
              <a:off x="9655175" y="3330575"/>
              <a:ext cx="525463" cy="525463"/>
            </a:xfrm>
            <a:prstGeom prst="rect">
              <a:avLst/>
            </a:prstGeom>
          </p:spPr>
        </p:pic>
        <p:pic>
          <p:nvPicPr>
            <p:cNvPr id="56" name="Picture Placeholder 3">
              <a:extLst>
                <a:ext uri="{FF2B5EF4-FFF2-40B4-BE49-F238E27FC236}">
                  <a16:creationId xmlns:a16="http://schemas.microsoft.com/office/drawing/2014/main" id="{B689FB51-4D9E-4835-F75E-D0C6A86B8939}"/>
                </a:ext>
              </a:extLst>
            </p:cNvPr>
            <p:cNvPicPr>
              <a:picLocks noChangeAspect="1"/>
            </p:cNvPicPr>
            <p:nvPr/>
          </p:nvPicPr>
          <p:blipFill>
            <a:blip r:embed="rId7"/>
            <a:srcRect/>
            <a:stretch/>
          </p:blipFill>
          <p:spPr>
            <a:xfrm>
              <a:off x="10180638" y="4906963"/>
              <a:ext cx="525462" cy="525462"/>
            </a:xfrm>
            <a:prstGeom prst="rect">
              <a:avLst/>
            </a:prstGeom>
          </p:spPr>
        </p:pic>
        <p:pic>
          <p:nvPicPr>
            <p:cNvPr id="57" name="Picture Placeholder 4">
              <a:extLst>
                <a:ext uri="{FF2B5EF4-FFF2-40B4-BE49-F238E27FC236}">
                  <a16:creationId xmlns:a16="http://schemas.microsoft.com/office/drawing/2014/main" id="{4D3FF999-1914-D585-90C6-0F391A963CF6}"/>
                </a:ext>
              </a:extLst>
            </p:cNvPr>
            <p:cNvPicPr>
              <a:picLocks noChangeAspect="1"/>
            </p:cNvPicPr>
            <p:nvPr/>
          </p:nvPicPr>
          <p:blipFill>
            <a:blip r:embed="rId8"/>
            <a:srcRect/>
            <a:stretch/>
          </p:blipFill>
          <p:spPr>
            <a:xfrm>
              <a:off x="9655175" y="4906963"/>
              <a:ext cx="525463" cy="525462"/>
            </a:xfrm>
            <a:prstGeom prst="rect">
              <a:avLst/>
            </a:prstGeom>
          </p:spPr>
        </p:pic>
        <p:pic>
          <p:nvPicPr>
            <p:cNvPr id="58" name="Picture Placeholder 5">
              <a:extLst>
                <a:ext uri="{FF2B5EF4-FFF2-40B4-BE49-F238E27FC236}">
                  <a16:creationId xmlns:a16="http://schemas.microsoft.com/office/drawing/2014/main" id="{F31A57E4-D18F-4D1C-BCF3-094DD9BFD425}"/>
                </a:ext>
              </a:extLst>
            </p:cNvPr>
            <p:cNvPicPr>
              <a:picLocks noChangeAspect="1"/>
            </p:cNvPicPr>
            <p:nvPr/>
          </p:nvPicPr>
          <p:blipFill>
            <a:blip r:embed="rId9"/>
            <a:srcRect/>
            <a:stretch/>
          </p:blipFill>
          <p:spPr>
            <a:xfrm>
              <a:off x="9655175" y="3856038"/>
              <a:ext cx="525463" cy="525462"/>
            </a:xfrm>
            <a:prstGeom prst="rect">
              <a:avLst/>
            </a:prstGeom>
          </p:spPr>
        </p:pic>
        <p:pic>
          <p:nvPicPr>
            <p:cNvPr id="59" name="Picture Placeholder 6">
              <a:extLst>
                <a:ext uri="{FF2B5EF4-FFF2-40B4-BE49-F238E27FC236}">
                  <a16:creationId xmlns:a16="http://schemas.microsoft.com/office/drawing/2014/main" id="{ADB2068C-5084-56BC-1F18-A0BA44C79C96}"/>
                </a:ext>
              </a:extLst>
            </p:cNvPr>
            <p:cNvPicPr>
              <a:picLocks noChangeAspect="1"/>
            </p:cNvPicPr>
            <p:nvPr/>
          </p:nvPicPr>
          <p:blipFill>
            <a:blip r:embed="rId10"/>
            <a:srcRect/>
            <a:stretch/>
          </p:blipFill>
          <p:spPr>
            <a:xfrm>
              <a:off x="8605838" y="3856038"/>
              <a:ext cx="525462" cy="525462"/>
            </a:xfrm>
            <a:prstGeom prst="rect">
              <a:avLst/>
            </a:prstGeom>
          </p:spPr>
        </p:pic>
        <p:pic>
          <p:nvPicPr>
            <p:cNvPr id="60" name="Picture Placeholder 9">
              <a:extLst>
                <a:ext uri="{FF2B5EF4-FFF2-40B4-BE49-F238E27FC236}">
                  <a16:creationId xmlns:a16="http://schemas.microsoft.com/office/drawing/2014/main" id="{5E973FAC-B473-FFDD-E15E-B5A68787922E}"/>
                </a:ext>
              </a:extLst>
            </p:cNvPr>
            <p:cNvPicPr>
              <a:picLocks noChangeAspect="1"/>
            </p:cNvPicPr>
            <p:nvPr/>
          </p:nvPicPr>
          <p:blipFill>
            <a:blip r:embed="rId11"/>
            <a:srcRect/>
            <a:stretch/>
          </p:blipFill>
          <p:spPr>
            <a:xfrm>
              <a:off x="10180638" y="3856038"/>
              <a:ext cx="525462" cy="525462"/>
            </a:xfrm>
            <a:prstGeom prst="rect">
              <a:avLst/>
            </a:prstGeom>
          </p:spPr>
        </p:pic>
        <p:pic>
          <p:nvPicPr>
            <p:cNvPr id="61" name="Picture Placeholder 10">
              <a:extLst>
                <a:ext uri="{FF2B5EF4-FFF2-40B4-BE49-F238E27FC236}">
                  <a16:creationId xmlns:a16="http://schemas.microsoft.com/office/drawing/2014/main" id="{B7B6905A-D6BC-C79D-EB37-8039105C1D60}"/>
                </a:ext>
              </a:extLst>
            </p:cNvPr>
            <p:cNvPicPr>
              <a:picLocks noChangeAspect="1"/>
            </p:cNvPicPr>
            <p:nvPr/>
          </p:nvPicPr>
          <p:blipFill>
            <a:blip r:embed="rId12"/>
            <a:srcRect/>
            <a:stretch/>
          </p:blipFill>
          <p:spPr>
            <a:xfrm>
              <a:off x="8605838" y="4906963"/>
              <a:ext cx="525462" cy="525462"/>
            </a:xfrm>
            <a:prstGeom prst="rect">
              <a:avLst/>
            </a:prstGeom>
          </p:spPr>
        </p:pic>
        <p:pic>
          <p:nvPicPr>
            <p:cNvPr id="62" name="Picture Placeholder 11">
              <a:extLst>
                <a:ext uri="{FF2B5EF4-FFF2-40B4-BE49-F238E27FC236}">
                  <a16:creationId xmlns:a16="http://schemas.microsoft.com/office/drawing/2014/main" id="{5468DB07-FE36-E660-83F3-3A60356954CE}"/>
                </a:ext>
              </a:extLst>
            </p:cNvPr>
            <p:cNvPicPr>
              <a:picLocks noChangeAspect="1"/>
            </p:cNvPicPr>
            <p:nvPr/>
          </p:nvPicPr>
          <p:blipFill>
            <a:blip r:embed="rId13"/>
            <a:srcRect t="151" b="151"/>
            <a:stretch/>
          </p:blipFill>
          <p:spPr bwMode="gray">
            <a:xfrm>
              <a:off x="9129713" y="3856038"/>
              <a:ext cx="527050" cy="525462"/>
            </a:xfrm>
            <a:prstGeom prst="rect">
              <a:avLst/>
            </a:prstGeom>
          </p:spPr>
        </p:pic>
        <p:pic>
          <p:nvPicPr>
            <p:cNvPr id="63" name="Picture Placeholder 12">
              <a:extLst>
                <a:ext uri="{FF2B5EF4-FFF2-40B4-BE49-F238E27FC236}">
                  <a16:creationId xmlns:a16="http://schemas.microsoft.com/office/drawing/2014/main" id="{F08D3A3A-4067-0A94-1F44-B4BCDE0B5F9D}"/>
                </a:ext>
              </a:extLst>
            </p:cNvPr>
            <p:cNvPicPr>
              <a:picLocks noChangeAspect="1"/>
            </p:cNvPicPr>
            <p:nvPr/>
          </p:nvPicPr>
          <p:blipFill>
            <a:blip r:embed="rId14"/>
            <a:srcRect t="151" b="151"/>
            <a:stretch/>
          </p:blipFill>
          <p:spPr>
            <a:xfrm>
              <a:off x="9129713" y="4906963"/>
              <a:ext cx="527050" cy="525462"/>
            </a:xfrm>
            <a:prstGeom prst="rect">
              <a:avLst/>
            </a:prstGeom>
          </p:spPr>
        </p:pic>
      </p:grpSp>
      <p:sp>
        <p:nvSpPr>
          <p:cNvPr id="64" name="Rectangle: Rounded Corners 63">
            <a:extLst>
              <a:ext uri="{FF2B5EF4-FFF2-40B4-BE49-F238E27FC236}">
                <a16:creationId xmlns:a16="http://schemas.microsoft.com/office/drawing/2014/main" id="{117F157A-9DD1-1A44-6190-2FF22272CA0B}"/>
              </a:ext>
            </a:extLst>
          </p:cNvPr>
          <p:cNvSpPr/>
          <p:nvPr/>
        </p:nvSpPr>
        <p:spPr>
          <a:xfrm>
            <a:off x="6485935" y="1319564"/>
            <a:ext cx="2238693" cy="688226"/>
          </a:xfrm>
          <a:prstGeom prst="roundRect">
            <a:avLst/>
          </a:prstGeom>
          <a:solidFill>
            <a:schemeClr val="bg1">
              <a:lumMod val="85000"/>
            </a:schemeClr>
          </a:solidFill>
          <a:ln w="6350">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algn="ctr">
              <a:spcBef>
                <a:spcPts val="600"/>
              </a:spcBef>
            </a:pPr>
            <a:r>
              <a:rPr lang="de-DE" sz="1200">
                <a:solidFill>
                  <a:schemeClr val="tx1"/>
                </a:solidFill>
                <a:latin typeface="+mj-lt"/>
                <a:cs typeface="Arial" pitchFamily="34" charset="0"/>
              </a:rPr>
              <a:t>3rd-party application</a:t>
            </a:r>
            <a:endParaRPr lang="en-US" sz="1200" dirty="0">
              <a:solidFill>
                <a:schemeClr val="tx1"/>
              </a:solidFill>
              <a:latin typeface="+mj-lt"/>
              <a:cs typeface="Arial" pitchFamily="34" charset="0"/>
            </a:endParaRPr>
          </a:p>
        </p:txBody>
      </p:sp>
      <p:cxnSp>
        <p:nvCxnSpPr>
          <p:cNvPr id="65" name="Straight Arrow Connector 64">
            <a:extLst>
              <a:ext uri="{FF2B5EF4-FFF2-40B4-BE49-F238E27FC236}">
                <a16:creationId xmlns:a16="http://schemas.microsoft.com/office/drawing/2014/main" id="{28029AFD-254B-806C-AD3A-D8F56707827A}"/>
              </a:ext>
            </a:extLst>
          </p:cNvPr>
          <p:cNvCxnSpPr>
            <a:cxnSpLocks/>
          </p:cNvCxnSpPr>
          <p:nvPr/>
        </p:nvCxnSpPr>
        <p:spPr>
          <a:xfrm flipV="1">
            <a:off x="7638703" y="2064916"/>
            <a:ext cx="0" cy="786058"/>
          </a:xfrm>
          <a:prstGeom prst="straightConnector1">
            <a:avLst/>
          </a:prstGeom>
          <a:ln w="38100">
            <a:solidFill>
              <a:schemeClr val="accent4"/>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6" name="Textfeld 53">
            <a:extLst>
              <a:ext uri="{FF2B5EF4-FFF2-40B4-BE49-F238E27FC236}">
                <a16:creationId xmlns:a16="http://schemas.microsoft.com/office/drawing/2014/main" id="{C3DD940B-F95B-2904-64F3-77B60E0DFEF6}"/>
              </a:ext>
            </a:extLst>
          </p:cNvPr>
          <p:cNvSpPr txBox="1"/>
          <p:nvPr/>
        </p:nvSpPr>
        <p:spPr>
          <a:xfrm>
            <a:off x="7764703" y="2398883"/>
            <a:ext cx="2001217" cy="276999"/>
          </a:xfrm>
          <a:prstGeom prst="rect">
            <a:avLst/>
          </a:prstGeom>
          <a:noFill/>
        </p:spPr>
        <p:txBody>
          <a:bodyPr wrap="square" rtlCol="0">
            <a:spAutoFit/>
          </a:bodyPr>
          <a:lstStyle/>
          <a:p>
            <a:r>
              <a:rPr lang="de-DE" sz="1200"/>
              <a:t>Pub/Sub </a:t>
            </a:r>
            <a:r>
              <a:rPr lang="de-DE" sz="1200">
                <a:solidFill>
                  <a:srgbClr val="C00000"/>
                </a:solidFill>
              </a:rPr>
              <a:t>MQTT</a:t>
            </a:r>
            <a:endParaRPr lang="de-DE" sz="1200" dirty="0">
              <a:solidFill>
                <a:srgbClr val="C00000"/>
              </a:solidFill>
            </a:endParaRPr>
          </a:p>
        </p:txBody>
      </p:sp>
      <p:grpSp>
        <p:nvGrpSpPr>
          <p:cNvPr id="67" name="Gruppieren 69">
            <a:extLst>
              <a:ext uri="{FF2B5EF4-FFF2-40B4-BE49-F238E27FC236}">
                <a16:creationId xmlns:a16="http://schemas.microsoft.com/office/drawing/2014/main" id="{200AE0E4-965C-BD9C-DCEB-A7508444C2E1}"/>
              </a:ext>
            </a:extLst>
          </p:cNvPr>
          <p:cNvGrpSpPr>
            <a:grpSpLocks noChangeAspect="1"/>
          </p:cNvGrpSpPr>
          <p:nvPr/>
        </p:nvGrpSpPr>
        <p:grpSpPr>
          <a:xfrm>
            <a:off x="7512703" y="2319280"/>
            <a:ext cx="252000" cy="252000"/>
            <a:chOff x="9552384" y="1700808"/>
            <a:chExt cx="384282" cy="384282"/>
          </a:xfrm>
          <a:effectLst>
            <a:outerShdw blurRad="50800" dist="38100" dir="2700000" algn="tl" rotWithShape="0">
              <a:prstClr val="black">
                <a:alpha val="40000"/>
              </a:prstClr>
            </a:outerShdw>
          </a:effectLst>
        </p:grpSpPr>
        <p:sp>
          <p:nvSpPr>
            <p:cNvPr id="68" name="Ellipse 70">
              <a:extLst>
                <a:ext uri="{FF2B5EF4-FFF2-40B4-BE49-F238E27FC236}">
                  <a16:creationId xmlns:a16="http://schemas.microsoft.com/office/drawing/2014/main" id="{237025E0-5FFE-A874-1CA7-1E9A75BC9A5D}"/>
                </a:ext>
              </a:extLst>
            </p:cNvPr>
            <p:cNvSpPr/>
            <p:nvPr/>
          </p:nvSpPr>
          <p:spPr>
            <a:xfrm>
              <a:off x="9552384" y="1700808"/>
              <a:ext cx="384282" cy="384282"/>
            </a:xfrm>
            <a:prstGeom prst="ellipse">
              <a:avLst/>
            </a:prstGeom>
            <a:gradFill>
              <a:gsLst>
                <a:gs pos="0">
                  <a:srgbClr val="EF0000"/>
                </a:gs>
                <a:gs pos="83000">
                  <a:srgbClr val="EF0000">
                    <a:lumMod val="50000"/>
                  </a:srgbClr>
                </a:gs>
              </a:gsLst>
              <a:lin ang="600000" scaled="0"/>
            </a:gradFill>
            <a:ln w="12700">
              <a:solidFill>
                <a:schemeClr val="bg1"/>
              </a:solidFill>
            </a:ln>
            <a:effectLst/>
          </p:spPr>
          <p:txBody>
            <a:bodyPr wrap="square" tIns="0" bIns="0" rtlCol="0" anchor="ctr">
              <a:noAutofit/>
            </a:bodyPr>
            <a:lstStyle/>
            <a:p>
              <a:pPr algn="ctr"/>
              <a:endParaRPr lang="de-DE" sz="4400" b="1" dirty="0">
                <a:solidFill>
                  <a:schemeClr val="bg1"/>
                </a:solidFill>
              </a:endParaRPr>
            </a:p>
          </p:txBody>
        </p:sp>
        <p:pic>
          <p:nvPicPr>
            <p:cNvPr id="69" name="Grafik 71">
              <a:extLst>
                <a:ext uri="{FF2B5EF4-FFF2-40B4-BE49-F238E27FC236}">
                  <a16:creationId xmlns:a16="http://schemas.microsoft.com/office/drawing/2014/main" id="{62B65E52-C53F-DE0C-3F29-0624E4DC60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012" y="1740137"/>
              <a:ext cx="203027" cy="281814"/>
            </a:xfrm>
            <a:prstGeom prst="rect">
              <a:avLst/>
            </a:prstGeom>
          </p:spPr>
        </p:pic>
      </p:grpSp>
      <p:pic>
        <p:nvPicPr>
          <p:cNvPr id="71" name="Picture 70">
            <a:extLst>
              <a:ext uri="{FF2B5EF4-FFF2-40B4-BE49-F238E27FC236}">
                <a16:creationId xmlns:a16="http://schemas.microsoft.com/office/drawing/2014/main" id="{F506C001-8CB0-412D-83D9-33BAD4BF7F4E}"/>
              </a:ext>
            </a:extLst>
          </p:cNvPr>
          <p:cNvPicPr>
            <a:picLocks noChangeAspect="1"/>
          </p:cNvPicPr>
          <p:nvPr/>
        </p:nvPicPr>
        <p:blipFill>
          <a:blip r:embed="rId15"/>
          <a:stretch>
            <a:fillRect/>
          </a:stretch>
        </p:blipFill>
        <p:spPr>
          <a:xfrm>
            <a:off x="7842197" y="2237798"/>
            <a:ext cx="842149" cy="184805"/>
          </a:xfrm>
          <a:prstGeom prst="rect">
            <a:avLst/>
          </a:prstGeom>
        </p:spPr>
      </p:pic>
      <p:sp>
        <p:nvSpPr>
          <p:cNvPr id="72" name="Textfeld 53">
            <a:extLst>
              <a:ext uri="{FF2B5EF4-FFF2-40B4-BE49-F238E27FC236}">
                <a16:creationId xmlns:a16="http://schemas.microsoft.com/office/drawing/2014/main" id="{CF1A7C10-D19D-5DA3-3B86-19221C2B67C6}"/>
              </a:ext>
            </a:extLst>
          </p:cNvPr>
          <p:cNvSpPr txBox="1"/>
          <p:nvPr/>
        </p:nvSpPr>
        <p:spPr>
          <a:xfrm>
            <a:off x="7769261" y="4708457"/>
            <a:ext cx="2001217" cy="276999"/>
          </a:xfrm>
          <a:prstGeom prst="rect">
            <a:avLst/>
          </a:prstGeom>
          <a:noFill/>
        </p:spPr>
        <p:txBody>
          <a:bodyPr wrap="square" rtlCol="0">
            <a:spAutoFit/>
          </a:bodyPr>
          <a:lstStyle/>
          <a:p>
            <a:r>
              <a:rPr lang="de-DE" sz="1200"/>
              <a:t>Pub/Sub </a:t>
            </a:r>
            <a:r>
              <a:rPr lang="de-DE" sz="1200">
                <a:solidFill>
                  <a:srgbClr val="C00000"/>
                </a:solidFill>
              </a:rPr>
              <a:t>MQTT</a:t>
            </a:r>
            <a:endParaRPr lang="de-DE" sz="1200" dirty="0">
              <a:solidFill>
                <a:srgbClr val="C00000"/>
              </a:solidFill>
            </a:endParaRPr>
          </a:p>
        </p:txBody>
      </p:sp>
      <p:pic>
        <p:nvPicPr>
          <p:cNvPr id="73" name="Picture 72">
            <a:extLst>
              <a:ext uri="{FF2B5EF4-FFF2-40B4-BE49-F238E27FC236}">
                <a16:creationId xmlns:a16="http://schemas.microsoft.com/office/drawing/2014/main" id="{6BD6F01C-7675-8AA5-F163-3F3612EC556C}"/>
              </a:ext>
            </a:extLst>
          </p:cNvPr>
          <p:cNvPicPr>
            <a:picLocks noChangeAspect="1"/>
          </p:cNvPicPr>
          <p:nvPr/>
        </p:nvPicPr>
        <p:blipFill>
          <a:blip r:embed="rId15"/>
          <a:stretch>
            <a:fillRect/>
          </a:stretch>
        </p:blipFill>
        <p:spPr>
          <a:xfrm>
            <a:off x="7846755" y="4547372"/>
            <a:ext cx="842149" cy="184805"/>
          </a:xfrm>
          <a:prstGeom prst="rect">
            <a:avLst/>
          </a:prstGeom>
        </p:spPr>
      </p:pic>
      <p:sp>
        <p:nvSpPr>
          <p:cNvPr id="74" name="Textfeld 53">
            <a:extLst>
              <a:ext uri="{FF2B5EF4-FFF2-40B4-BE49-F238E27FC236}">
                <a16:creationId xmlns:a16="http://schemas.microsoft.com/office/drawing/2014/main" id="{E6E8640B-1CA0-4B2D-7AF3-AE3073815345}"/>
              </a:ext>
            </a:extLst>
          </p:cNvPr>
          <p:cNvSpPr txBox="1"/>
          <p:nvPr/>
        </p:nvSpPr>
        <p:spPr>
          <a:xfrm>
            <a:off x="8946750" y="6054870"/>
            <a:ext cx="2001217" cy="276999"/>
          </a:xfrm>
          <a:prstGeom prst="rect">
            <a:avLst/>
          </a:prstGeom>
          <a:noFill/>
        </p:spPr>
        <p:txBody>
          <a:bodyPr wrap="square" rtlCol="0">
            <a:spAutoFit/>
          </a:bodyPr>
          <a:lstStyle/>
          <a:p>
            <a:r>
              <a:rPr lang="de-DE" sz="1200"/>
              <a:t>Pub/Sub </a:t>
            </a:r>
            <a:r>
              <a:rPr lang="de-DE" sz="1200">
                <a:solidFill>
                  <a:srgbClr val="C00000"/>
                </a:solidFill>
              </a:rPr>
              <a:t>UDP</a:t>
            </a:r>
            <a:endParaRPr lang="de-DE" sz="1200" dirty="0">
              <a:solidFill>
                <a:srgbClr val="C00000"/>
              </a:solidFill>
            </a:endParaRPr>
          </a:p>
        </p:txBody>
      </p:sp>
      <p:pic>
        <p:nvPicPr>
          <p:cNvPr id="75" name="Picture 74">
            <a:extLst>
              <a:ext uri="{FF2B5EF4-FFF2-40B4-BE49-F238E27FC236}">
                <a16:creationId xmlns:a16="http://schemas.microsoft.com/office/drawing/2014/main" id="{09CBD7D1-D5B4-7DA3-28D2-287C15EB659C}"/>
              </a:ext>
            </a:extLst>
          </p:cNvPr>
          <p:cNvPicPr>
            <a:picLocks noChangeAspect="1"/>
          </p:cNvPicPr>
          <p:nvPr/>
        </p:nvPicPr>
        <p:blipFill>
          <a:blip r:embed="rId15"/>
          <a:stretch>
            <a:fillRect/>
          </a:stretch>
        </p:blipFill>
        <p:spPr>
          <a:xfrm>
            <a:off x="9024244" y="5893785"/>
            <a:ext cx="842149" cy="184805"/>
          </a:xfrm>
          <a:prstGeom prst="rect">
            <a:avLst/>
          </a:prstGeom>
        </p:spPr>
      </p:pic>
    </p:spTree>
    <p:extLst>
      <p:ext uri="{BB962C8B-B14F-4D97-AF65-F5344CB8AC3E}">
        <p14:creationId xmlns:p14="http://schemas.microsoft.com/office/powerpoint/2010/main" val="4195812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F9EFBE-0B44-7513-DF9B-57953F0E8156}"/>
              </a:ext>
            </a:extLst>
          </p:cNvPr>
          <p:cNvSpPr>
            <a:spLocks noGrp="1"/>
          </p:cNvSpPr>
          <p:nvPr>
            <p:ph type="body" sz="quarter" idx="15"/>
          </p:nvPr>
        </p:nvSpPr>
        <p:spPr>
          <a:xfrm>
            <a:off x="2" y="1090799"/>
            <a:ext cx="7941453" cy="5331600"/>
          </a:xfrm>
        </p:spPr>
        <p:txBody>
          <a:bodyPr/>
          <a:lstStyle/>
          <a:p>
            <a:r>
              <a:rPr lang="de-DE" dirty="0"/>
              <a:t>OPC UA has had a client/server architecture since its beginning in 2006</a:t>
            </a:r>
          </a:p>
          <a:p>
            <a:r>
              <a:rPr lang="de-DE" dirty="0"/>
              <a:t>This </a:t>
            </a:r>
            <a:r>
              <a:rPr lang="de-DE" dirty="0" err="1"/>
              <a:t>has</a:t>
            </a:r>
            <a:r>
              <a:rPr lang="de-DE" dirty="0"/>
              <a:t> </a:t>
            </a:r>
            <a:r>
              <a:rPr lang="de-DE" dirty="0" err="1"/>
              <a:t>been</a:t>
            </a:r>
            <a:r>
              <a:rPr lang="de-DE" dirty="0"/>
              <a:t> </a:t>
            </a:r>
            <a:r>
              <a:rPr lang="de-DE" dirty="0" err="1"/>
              <a:t>perfectly</a:t>
            </a:r>
            <a:r>
              <a:rPr lang="de-DE" dirty="0"/>
              <a:t> </a:t>
            </a:r>
            <a:r>
              <a:rPr lang="de-DE" dirty="0" err="1"/>
              <a:t>suited</a:t>
            </a:r>
            <a:r>
              <a:rPr lang="de-DE" dirty="0"/>
              <a:t> </a:t>
            </a:r>
            <a:r>
              <a:rPr lang="de-DE" dirty="0" err="1"/>
              <a:t>for</a:t>
            </a:r>
            <a:r>
              <a:rPr lang="de-DE" dirty="0"/>
              <a:t> </a:t>
            </a:r>
            <a:r>
              <a:rPr lang="de-DE" u="sng" dirty="0" err="1"/>
              <a:t>direct</a:t>
            </a:r>
            <a:r>
              <a:rPr lang="de-DE" u="sng" dirty="0"/>
              <a:t> </a:t>
            </a:r>
            <a:r>
              <a:rPr lang="de-DE" u="sng" dirty="0" err="1"/>
              <a:t>communication</a:t>
            </a:r>
            <a:r>
              <a:rPr lang="de-DE" dirty="0"/>
              <a:t> </a:t>
            </a:r>
            <a:r>
              <a:rPr lang="de-DE" dirty="0" err="1"/>
              <a:t>between</a:t>
            </a:r>
            <a:r>
              <a:rPr lang="de-DE" dirty="0"/>
              <a:t> </a:t>
            </a:r>
            <a:r>
              <a:rPr lang="de-DE" dirty="0" err="1"/>
              <a:t>devices</a:t>
            </a:r>
            <a:r>
              <a:rPr lang="de-DE" dirty="0"/>
              <a:t>, e.g. an HMI </a:t>
            </a:r>
            <a:r>
              <a:rPr lang="de-DE" dirty="0" err="1"/>
              <a:t>that</a:t>
            </a:r>
            <a:r>
              <a:rPr lang="de-DE" dirty="0"/>
              <a:t> </a:t>
            </a:r>
            <a:r>
              <a:rPr lang="de-DE" dirty="0" err="1"/>
              <a:t>directly</a:t>
            </a:r>
            <a:r>
              <a:rPr lang="de-DE" dirty="0"/>
              <a:t> </a:t>
            </a:r>
            <a:r>
              <a:rPr lang="de-DE" dirty="0" err="1"/>
              <a:t>connects</a:t>
            </a:r>
            <a:r>
              <a:rPr lang="de-DE" dirty="0"/>
              <a:t> </a:t>
            </a:r>
            <a:r>
              <a:rPr lang="de-DE" dirty="0" err="1"/>
              <a:t>to</a:t>
            </a:r>
            <a:r>
              <a:rPr lang="de-DE" dirty="0"/>
              <a:t> </a:t>
            </a:r>
            <a:r>
              <a:rPr lang="de-DE" dirty="0" err="1"/>
              <a:t>the</a:t>
            </a:r>
            <a:r>
              <a:rPr lang="de-DE" dirty="0"/>
              <a:t> PLC </a:t>
            </a:r>
            <a:r>
              <a:rPr lang="de-DE" dirty="0" err="1"/>
              <a:t>to</a:t>
            </a:r>
            <a:r>
              <a:rPr lang="de-DE" dirty="0"/>
              <a:t> </a:t>
            </a:r>
            <a:r>
              <a:rPr lang="de-DE" dirty="0" err="1"/>
              <a:t>read</a:t>
            </a:r>
            <a:r>
              <a:rPr lang="de-DE" dirty="0"/>
              <a:t> </a:t>
            </a:r>
            <a:r>
              <a:rPr lang="de-DE" dirty="0" err="1"/>
              <a:t>data</a:t>
            </a:r>
            <a:endParaRPr lang="de-DE" dirty="0"/>
          </a:p>
          <a:p>
            <a:r>
              <a:rPr lang="de-DE" dirty="0" err="1"/>
              <a:t>However</a:t>
            </a:r>
            <a:r>
              <a:rPr lang="de-DE" dirty="0"/>
              <a:t> </a:t>
            </a:r>
            <a:r>
              <a:rPr lang="de-DE" dirty="0" err="1"/>
              <a:t>there</a:t>
            </a:r>
            <a:r>
              <a:rPr lang="de-DE" dirty="0"/>
              <a:t> </a:t>
            </a:r>
            <a:r>
              <a:rPr lang="de-DE" dirty="0" err="1"/>
              <a:t>are</a:t>
            </a:r>
            <a:r>
              <a:rPr lang="de-DE" dirty="0"/>
              <a:t> </a:t>
            </a:r>
            <a:r>
              <a:rPr lang="de-DE" dirty="0" err="1"/>
              <a:t>challenges</a:t>
            </a:r>
            <a:r>
              <a:rPr lang="de-DE" dirty="0"/>
              <a:t>:</a:t>
            </a:r>
          </a:p>
          <a:p>
            <a:pPr lvl="1"/>
            <a:r>
              <a:rPr lang="de-DE" dirty="0"/>
              <a:t>Firewalls </a:t>
            </a:r>
            <a:r>
              <a:rPr lang="de-DE" dirty="0" err="1"/>
              <a:t>that</a:t>
            </a:r>
            <a:r>
              <a:rPr lang="de-DE" dirty="0"/>
              <a:t> </a:t>
            </a:r>
            <a:r>
              <a:rPr lang="de-DE" dirty="0" err="1"/>
              <a:t>need</a:t>
            </a:r>
            <a:r>
              <a:rPr lang="de-DE" dirty="0"/>
              <a:t> </a:t>
            </a:r>
            <a:r>
              <a:rPr lang="de-DE" dirty="0" err="1"/>
              <a:t>to</a:t>
            </a:r>
            <a:r>
              <a:rPr lang="de-DE" dirty="0"/>
              <a:t> </a:t>
            </a:r>
            <a:r>
              <a:rPr lang="de-DE" dirty="0" err="1"/>
              <a:t>be</a:t>
            </a:r>
            <a:r>
              <a:rPr lang="de-DE" dirty="0"/>
              <a:t> </a:t>
            </a:r>
            <a:r>
              <a:rPr lang="de-DE" dirty="0" err="1"/>
              <a:t>configured</a:t>
            </a:r>
            <a:r>
              <a:rPr lang="de-DE" dirty="0"/>
              <a:t> in </a:t>
            </a:r>
            <a:r>
              <a:rPr lang="de-DE" dirty="0" err="1"/>
              <a:t>order</a:t>
            </a:r>
            <a:r>
              <a:rPr lang="de-DE" dirty="0"/>
              <a:t> </a:t>
            </a:r>
            <a:r>
              <a:rPr lang="de-DE" dirty="0" err="1"/>
              <a:t>to</a:t>
            </a:r>
            <a:r>
              <a:rPr lang="de-DE" dirty="0"/>
              <a:t> </a:t>
            </a:r>
            <a:r>
              <a:rPr lang="de-DE" dirty="0" err="1"/>
              <a:t>allow</a:t>
            </a:r>
            <a:r>
              <a:rPr lang="de-DE" dirty="0"/>
              <a:t> </a:t>
            </a:r>
            <a:r>
              <a:rPr lang="de-DE" dirty="0" err="1"/>
              <a:t>access</a:t>
            </a:r>
            <a:endParaRPr lang="de-DE" dirty="0"/>
          </a:p>
          <a:p>
            <a:pPr lvl="1"/>
            <a:r>
              <a:rPr lang="de-DE" dirty="0"/>
              <a:t>Poor </a:t>
            </a:r>
            <a:r>
              <a:rPr lang="de-DE" dirty="0" err="1"/>
              <a:t>scalability</a:t>
            </a:r>
            <a:r>
              <a:rPr lang="de-DE" dirty="0"/>
              <a:t> </a:t>
            </a:r>
            <a:r>
              <a:rPr lang="de-DE" dirty="0" err="1"/>
              <a:t>to</a:t>
            </a:r>
            <a:r>
              <a:rPr lang="de-DE" dirty="0"/>
              <a:t> </a:t>
            </a:r>
            <a:r>
              <a:rPr lang="de-DE" dirty="0" err="1"/>
              <a:t>hundreds</a:t>
            </a:r>
            <a:r>
              <a:rPr lang="de-DE" dirty="0"/>
              <a:t> </a:t>
            </a:r>
            <a:r>
              <a:rPr lang="de-DE" dirty="0" err="1"/>
              <a:t>or</a:t>
            </a:r>
            <a:r>
              <a:rPr lang="de-DE" dirty="0"/>
              <a:t> </a:t>
            </a:r>
            <a:r>
              <a:rPr lang="de-DE" dirty="0" err="1"/>
              <a:t>even</a:t>
            </a:r>
            <a:r>
              <a:rPr lang="de-DE" dirty="0"/>
              <a:t> </a:t>
            </a:r>
            <a:r>
              <a:rPr lang="de-DE" dirty="0" err="1"/>
              <a:t>thousands</a:t>
            </a:r>
            <a:r>
              <a:rPr lang="de-DE" dirty="0"/>
              <a:t> </a:t>
            </a:r>
            <a:r>
              <a:rPr lang="de-DE" dirty="0" err="1"/>
              <a:t>of</a:t>
            </a:r>
            <a:r>
              <a:rPr lang="de-DE" dirty="0"/>
              <a:t> </a:t>
            </a:r>
            <a:r>
              <a:rPr lang="de-DE" dirty="0" err="1"/>
              <a:t>devices</a:t>
            </a:r>
            <a:endParaRPr lang="de-DE" dirty="0"/>
          </a:p>
          <a:p>
            <a:pPr lvl="1"/>
            <a:r>
              <a:rPr lang="de-DE" dirty="0"/>
              <a:t>Poor </a:t>
            </a:r>
            <a:r>
              <a:rPr lang="de-DE" dirty="0" err="1"/>
              <a:t>performance</a:t>
            </a:r>
            <a:r>
              <a:rPr lang="de-DE" dirty="0"/>
              <a:t> </a:t>
            </a:r>
            <a:r>
              <a:rPr lang="de-DE" dirty="0" err="1"/>
              <a:t>because</a:t>
            </a:r>
            <a:r>
              <a:rPr lang="de-DE" dirty="0"/>
              <a:t> </a:t>
            </a:r>
            <a:r>
              <a:rPr lang="de-DE" dirty="0" err="1"/>
              <a:t>of</a:t>
            </a:r>
            <a:r>
              <a:rPr lang="de-DE" dirty="0"/>
              <a:t> </a:t>
            </a:r>
            <a:r>
              <a:rPr lang="de-DE" dirty="0" err="1"/>
              <a:t>the</a:t>
            </a:r>
            <a:r>
              <a:rPr lang="de-DE" dirty="0"/>
              <a:t> </a:t>
            </a:r>
            <a:r>
              <a:rPr lang="de-DE" dirty="0" err="1"/>
              <a:t>underlying</a:t>
            </a:r>
            <a:r>
              <a:rPr lang="de-DE" dirty="0"/>
              <a:t> TCP </a:t>
            </a:r>
            <a:r>
              <a:rPr lang="de-DE" dirty="0" err="1"/>
              <a:t>channel</a:t>
            </a:r>
            <a:r>
              <a:rPr lang="de-DE" dirty="0"/>
              <a:t> </a:t>
            </a:r>
            <a:r>
              <a:rPr lang="de-DE" dirty="0" err="1"/>
              <a:t>that</a:t>
            </a:r>
            <a:r>
              <a:rPr lang="de-DE" dirty="0"/>
              <a:t> </a:t>
            </a:r>
            <a:r>
              <a:rPr lang="de-DE" dirty="0" err="1"/>
              <a:t>is</a:t>
            </a:r>
            <a:r>
              <a:rPr lang="de-DE" dirty="0"/>
              <a:t> </a:t>
            </a:r>
            <a:r>
              <a:rPr lang="de-DE" dirty="0" err="1"/>
              <a:t>used</a:t>
            </a:r>
            <a:r>
              <a:rPr lang="de-DE" dirty="0"/>
              <a:t> </a:t>
            </a:r>
            <a:r>
              <a:rPr lang="de-DE" dirty="0" err="1"/>
              <a:t>for</a:t>
            </a:r>
            <a:r>
              <a:rPr lang="de-DE" dirty="0"/>
              <a:t> </a:t>
            </a:r>
            <a:r>
              <a:rPr lang="de-DE" dirty="0" err="1"/>
              <a:t>client</a:t>
            </a:r>
            <a:r>
              <a:rPr lang="de-DE" dirty="0"/>
              <a:t>/</a:t>
            </a:r>
            <a:r>
              <a:rPr lang="de-DE" dirty="0" err="1"/>
              <a:t>server</a:t>
            </a:r>
            <a:endParaRPr lang="de-DE" dirty="0"/>
          </a:p>
        </p:txBody>
      </p:sp>
      <p:sp>
        <p:nvSpPr>
          <p:cNvPr id="3" name="Title 2">
            <a:extLst>
              <a:ext uri="{FF2B5EF4-FFF2-40B4-BE49-F238E27FC236}">
                <a16:creationId xmlns:a16="http://schemas.microsoft.com/office/drawing/2014/main" id="{E315791F-7795-2F75-617B-61F51937B87C}"/>
              </a:ext>
            </a:extLst>
          </p:cNvPr>
          <p:cNvSpPr>
            <a:spLocks noGrp="1"/>
          </p:cNvSpPr>
          <p:nvPr>
            <p:ph type="title"/>
          </p:nvPr>
        </p:nvSpPr>
        <p:spPr/>
        <p:txBody>
          <a:bodyPr/>
          <a:lstStyle/>
          <a:p>
            <a:r>
              <a:rPr lang="en-US"/>
              <a:t>Client/Server vs. Pub/Sub</a:t>
            </a:r>
            <a:endParaRPr lang="en-US" dirty="0"/>
          </a:p>
        </p:txBody>
      </p:sp>
      <p:cxnSp>
        <p:nvCxnSpPr>
          <p:cNvPr id="31" name="Straight Arrow Connector 30">
            <a:extLst>
              <a:ext uri="{FF2B5EF4-FFF2-40B4-BE49-F238E27FC236}">
                <a16:creationId xmlns:a16="http://schemas.microsoft.com/office/drawing/2014/main" id="{73810824-ED2A-F918-3654-8C9142AF22E4}"/>
              </a:ext>
            </a:extLst>
          </p:cNvPr>
          <p:cNvCxnSpPr>
            <a:cxnSpLocks/>
          </p:cNvCxnSpPr>
          <p:nvPr/>
        </p:nvCxnSpPr>
        <p:spPr>
          <a:xfrm flipV="1">
            <a:off x="8994306" y="2305146"/>
            <a:ext cx="0" cy="1905181"/>
          </a:xfrm>
          <a:prstGeom prst="straightConnector1">
            <a:avLst/>
          </a:prstGeom>
          <a:ln w="38100">
            <a:solidFill>
              <a:schemeClr val="accent4"/>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35" name="Gruppieren 69">
            <a:extLst>
              <a:ext uri="{FF2B5EF4-FFF2-40B4-BE49-F238E27FC236}">
                <a16:creationId xmlns:a16="http://schemas.microsoft.com/office/drawing/2014/main" id="{C448C14C-0148-85C1-D348-62E6075F9C3F}"/>
              </a:ext>
            </a:extLst>
          </p:cNvPr>
          <p:cNvGrpSpPr>
            <a:grpSpLocks noChangeAspect="1"/>
          </p:cNvGrpSpPr>
          <p:nvPr/>
        </p:nvGrpSpPr>
        <p:grpSpPr>
          <a:xfrm>
            <a:off x="8868306" y="3109530"/>
            <a:ext cx="252000" cy="252000"/>
            <a:chOff x="9552384" y="1700808"/>
            <a:chExt cx="384282" cy="384282"/>
          </a:xfrm>
          <a:effectLst>
            <a:outerShdw blurRad="50800" dist="38100" dir="2700000" algn="tl" rotWithShape="0">
              <a:prstClr val="black">
                <a:alpha val="40000"/>
              </a:prstClr>
            </a:outerShdw>
          </a:effectLst>
        </p:grpSpPr>
        <p:sp>
          <p:nvSpPr>
            <p:cNvPr id="36" name="Ellipse 70">
              <a:extLst>
                <a:ext uri="{FF2B5EF4-FFF2-40B4-BE49-F238E27FC236}">
                  <a16:creationId xmlns:a16="http://schemas.microsoft.com/office/drawing/2014/main" id="{E4EF5899-DD41-EECE-9002-5C570FEADBC1}"/>
                </a:ext>
              </a:extLst>
            </p:cNvPr>
            <p:cNvSpPr/>
            <p:nvPr/>
          </p:nvSpPr>
          <p:spPr>
            <a:xfrm>
              <a:off x="9552384" y="1700808"/>
              <a:ext cx="384282" cy="384282"/>
            </a:xfrm>
            <a:prstGeom prst="ellipse">
              <a:avLst/>
            </a:prstGeom>
            <a:gradFill>
              <a:gsLst>
                <a:gs pos="0">
                  <a:srgbClr val="EF0000"/>
                </a:gs>
                <a:gs pos="83000">
                  <a:srgbClr val="EF0000">
                    <a:lumMod val="50000"/>
                  </a:srgbClr>
                </a:gs>
              </a:gsLst>
              <a:lin ang="600000" scaled="0"/>
            </a:gradFill>
            <a:ln w="12700">
              <a:solidFill>
                <a:schemeClr val="bg1"/>
              </a:solidFill>
            </a:ln>
            <a:effectLst/>
          </p:spPr>
          <p:txBody>
            <a:bodyPr wrap="square" tIns="0" bIns="0" rtlCol="0" anchor="ctr">
              <a:noAutofit/>
            </a:bodyPr>
            <a:lstStyle/>
            <a:p>
              <a:pPr algn="ctr"/>
              <a:endParaRPr lang="de-DE" sz="4400" b="1" dirty="0">
                <a:solidFill>
                  <a:schemeClr val="bg1"/>
                </a:solidFill>
              </a:endParaRPr>
            </a:p>
          </p:txBody>
        </p:sp>
        <p:pic>
          <p:nvPicPr>
            <p:cNvPr id="37" name="Grafik 71">
              <a:extLst>
                <a:ext uri="{FF2B5EF4-FFF2-40B4-BE49-F238E27FC236}">
                  <a16:creationId xmlns:a16="http://schemas.microsoft.com/office/drawing/2014/main" id="{1620B5ED-BA01-6D9F-1EDD-0D3B7B8D9A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012" y="1740137"/>
              <a:ext cx="203027" cy="281814"/>
            </a:xfrm>
            <a:prstGeom prst="rect">
              <a:avLst/>
            </a:prstGeom>
          </p:spPr>
        </p:pic>
      </p:grpSp>
      <p:sp>
        <p:nvSpPr>
          <p:cNvPr id="38" name="Abgerundetes Rechteck 18">
            <a:extLst>
              <a:ext uri="{FF2B5EF4-FFF2-40B4-BE49-F238E27FC236}">
                <a16:creationId xmlns:a16="http://schemas.microsoft.com/office/drawing/2014/main" id="{881ACE82-0353-C120-28F9-12AF5A010513}"/>
              </a:ext>
            </a:extLst>
          </p:cNvPr>
          <p:cNvSpPr/>
          <p:nvPr/>
        </p:nvSpPr>
        <p:spPr>
          <a:xfrm>
            <a:off x="8077200" y="4267454"/>
            <a:ext cx="1841898" cy="747257"/>
          </a:xfrm>
          <a:prstGeom prst="roundRect">
            <a:avLst/>
          </a:prstGeom>
          <a:solidFill>
            <a:srgbClr val="86405C"/>
          </a:solidFill>
          <a:ln>
            <a:no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r>
              <a:rPr lang="de-DE" sz="1200" dirty="0">
                <a:solidFill>
                  <a:schemeClr val="bg1"/>
                </a:solidFill>
              </a:rPr>
              <a:t>TF6100 OPC UA Client/Server</a:t>
            </a:r>
          </a:p>
        </p:txBody>
      </p:sp>
      <p:pic>
        <p:nvPicPr>
          <p:cNvPr id="39" name="Grafik 44">
            <a:extLst>
              <a:ext uri="{FF2B5EF4-FFF2-40B4-BE49-F238E27FC236}">
                <a16:creationId xmlns:a16="http://schemas.microsoft.com/office/drawing/2014/main" id="{F617E128-046C-B8BA-FD15-9CE5770E75EA}"/>
              </a:ext>
            </a:extLst>
          </p:cNvPr>
          <p:cNvPicPr>
            <a:picLocks noChangeAspect="1"/>
          </p:cNvPicPr>
          <p:nvPr/>
        </p:nvPicPr>
        <p:blipFill>
          <a:blip r:embed="rId3"/>
          <a:stretch>
            <a:fillRect/>
          </a:stretch>
        </p:blipFill>
        <p:spPr>
          <a:xfrm>
            <a:off x="8216546" y="4089305"/>
            <a:ext cx="472694" cy="335407"/>
          </a:xfrm>
          <a:prstGeom prst="rect">
            <a:avLst/>
          </a:prstGeom>
          <a:effectLst>
            <a:outerShdw blurRad="50800" dist="38100" dir="2700000" algn="tl" rotWithShape="0">
              <a:prstClr val="black">
                <a:alpha val="40000"/>
              </a:prstClr>
            </a:outerShdw>
          </a:effectLst>
        </p:spPr>
      </p:pic>
      <p:grpSp>
        <p:nvGrpSpPr>
          <p:cNvPr id="40" name="Group 39">
            <a:extLst>
              <a:ext uri="{FF2B5EF4-FFF2-40B4-BE49-F238E27FC236}">
                <a16:creationId xmlns:a16="http://schemas.microsoft.com/office/drawing/2014/main" id="{BA556F2B-94B9-7372-AE12-D397B033462D}"/>
              </a:ext>
            </a:extLst>
          </p:cNvPr>
          <p:cNvGrpSpPr>
            <a:grpSpLocks noChangeAspect="1"/>
          </p:cNvGrpSpPr>
          <p:nvPr/>
        </p:nvGrpSpPr>
        <p:grpSpPr>
          <a:xfrm>
            <a:off x="9464464" y="4088392"/>
            <a:ext cx="318242" cy="322887"/>
            <a:chOff x="8589297" y="3284984"/>
            <a:chExt cx="2116803" cy="2147695"/>
          </a:xfrm>
          <a:effectLst>
            <a:outerShdw blurRad="50800" dist="38100" dir="2700000" algn="tl" rotWithShape="0">
              <a:prstClr val="black">
                <a:alpha val="40000"/>
              </a:prstClr>
            </a:outerShdw>
          </a:effectLst>
        </p:grpSpPr>
        <p:pic>
          <p:nvPicPr>
            <p:cNvPr id="41" name="Picture 89">
              <a:extLst>
                <a:ext uri="{FF2B5EF4-FFF2-40B4-BE49-F238E27FC236}">
                  <a16:creationId xmlns:a16="http://schemas.microsoft.com/office/drawing/2014/main" id="{C829F4C3-D9EA-D06C-21F6-B4451BDE0D1A}"/>
                </a:ext>
              </a:extLst>
            </p:cNvPr>
            <p:cNvPicPr>
              <a:picLocks noChangeAspect="1"/>
            </p:cNvPicPr>
            <p:nvPr/>
          </p:nvPicPr>
          <p:blipFill rotWithShape="1">
            <a:blip r:embed="rId4"/>
            <a:srcRect l="35549" t="30354"/>
            <a:stretch/>
          </p:blipFill>
          <p:spPr>
            <a:xfrm>
              <a:off x="8589297" y="3284984"/>
              <a:ext cx="2113951" cy="2147695"/>
            </a:xfrm>
            <a:prstGeom prst="rect">
              <a:avLst/>
            </a:prstGeom>
          </p:spPr>
        </p:pic>
        <p:pic>
          <p:nvPicPr>
            <p:cNvPr id="42" name="Picture Placeholder 1">
              <a:extLst>
                <a:ext uri="{FF2B5EF4-FFF2-40B4-BE49-F238E27FC236}">
                  <a16:creationId xmlns:a16="http://schemas.microsoft.com/office/drawing/2014/main" id="{DB837C36-C3A1-4B99-A059-2A140DE452C5}"/>
                </a:ext>
              </a:extLst>
            </p:cNvPr>
            <p:cNvPicPr>
              <a:picLocks noChangeAspect="1"/>
            </p:cNvPicPr>
            <p:nvPr/>
          </p:nvPicPr>
          <p:blipFill>
            <a:blip r:embed="rId5"/>
            <a:srcRect/>
            <a:stretch>
              <a:fillRect/>
            </a:stretch>
          </p:blipFill>
          <p:spPr>
            <a:xfrm>
              <a:off x="10180638" y="3330575"/>
              <a:ext cx="525462" cy="525463"/>
            </a:xfrm>
            <a:prstGeom prst="rect">
              <a:avLst/>
            </a:prstGeom>
          </p:spPr>
        </p:pic>
        <p:pic>
          <p:nvPicPr>
            <p:cNvPr id="43" name="Picture Placeholder 2">
              <a:extLst>
                <a:ext uri="{FF2B5EF4-FFF2-40B4-BE49-F238E27FC236}">
                  <a16:creationId xmlns:a16="http://schemas.microsoft.com/office/drawing/2014/main" id="{6CAE91D0-DAB6-D8AC-8CF1-6EAB71184F59}"/>
                </a:ext>
              </a:extLst>
            </p:cNvPr>
            <p:cNvPicPr>
              <a:picLocks noChangeAspect="1"/>
            </p:cNvPicPr>
            <p:nvPr/>
          </p:nvPicPr>
          <p:blipFill>
            <a:blip r:embed="rId6"/>
            <a:srcRect/>
            <a:stretch/>
          </p:blipFill>
          <p:spPr>
            <a:xfrm>
              <a:off x="9655175" y="3330575"/>
              <a:ext cx="525463" cy="525463"/>
            </a:xfrm>
            <a:prstGeom prst="rect">
              <a:avLst/>
            </a:prstGeom>
          </p:spPr>
        </p:pic>
        <p:pic>
          <p:nvPicPr>
            <p:cNvPr id="44" name="Picture Placeholder 3">
              <a:extLst>
                <a:ext uri="{FF2B5EF4-FFF2-40B4-BE49-F238E27FC236}">
                  <a16:creationId xmlns:a16="http://schemas.microsoft.com/office/drawing/2014/main" id="{B43EC5DA-9D7C-ACFB-2E18-2F4999E21A57}"/>
                </a:ext>
              </a:extLst>
            </p:cNvPr>
            <p:cNvPicPr>
              <a:picLocks noChangeAspect="1"/>
            </p:cNvPicPr>
            <p:nvPr/>
          </p:nvPicPr>
          <p:blipFill>
            <a:blip r:embed="rId7"/>
            <a:srcRect/>
            <a:stretch/>
          </p:blipFill>
          <p:spPr>
            <a:xfrm>
              <a:off x="10180638" y="4906963"/>
              <a:ext cx="525462" cy="525462"/>
            </a:xfrm>
            <a:prstGeom prst="rect">
              <a:avLst/>
            </a:prstGeom>
          </p:spPr>
        </p:pic>
        <p:pic>
          <p:nvPicPr>
            <p:cNvPr id="45" name="Picture Placeholder 4">
              <a:extLst>
                <a:ext uri="{FF2B5EF4-FFF2-40B4-BE49-F238E27FC236}">
                  <a16:creationId xmlns:a16="http://schemas.microsoft.com/office/drawing/2014/main" id="{B5DD2943-AD5B-EDCD-D2F9-8FD5670D8597}"/>
                </a:ext>
              </a:extLst>
            </p:cNvPr>
            <p:cNvPicPr>
              <a:picLocks noChangeAspect="1"/>
            </p:cNvPicPr>
            <p:nvPr/>
          </p:nvPicPr>
          <p:blipFill>
            <a:blip r:embed="rId8"/>
            <a:srcRect/>
            <a:stretch/>
          </p:blipFill>
          <p:spPr>
            <a:xfrm>
              <a:off x="9655175" y="4906963"/>
              <a:ext cx="525463" cy="525462"/>
            </a:xfrm>
            <a:prstGeom prst="rect">
              <a:avLst/>
            </a:prstGeom>
          </p:spPr>
        </p:pic>
        <p:pic>
          <p:nvPicPr>
            <p:cNvPr id="46" name="Picture Placeholder 5">
              <a:extLst>
                <a:ext uri="{FF2B5EF4-FFF2-40B4-BE49-F238E27FC236}">
                  <a16:creationId xmlns:a16="http://schemas.microsoft.com/office/drawing/2014/main" id="{5F124B2F-0285-991B-1CE7-9E1A7F4EF400}"/>
                </a:ext>
              </a:extLst>
            </p:cNvPr>
            <p:cNvPicPr>
              <a:picLocks noChangeAspect="1"/>
            </p:cNvPicPr>
            <p:nvPr/>
          </p:nvPicPr>
          <p:blipFill>
            <a:blip r:embed="rId9"/>
            <a:srcRect/>
            <a:stretch/>
          </p:blipFill>
          <p:spPr>
            <a:xfrm>
              <a:off x="9655175" y="3856038"/>
              <a:ext cx="525463" cy="525462"/>
            </a:xfrm>
            <a:prstGeom prst="rect">
              <a:avLst/>
            </a:prstGeom>
          </p:spPr>
        </p:pic>
        <p:pic>
          <p:nvPicPr>
            <p:cNvPr id="47" name="Picture Placeholder 6">
              <a:extLst>
                <a:ext uri="{FF2B5EF4-FFF2-40B4-BE49-F238E27FC236}">
                  <a16:creationId xmlns:a16="http://schemas.microsoft.com/office/drawing/2014/main" id="{571D8FBC-C619-38BF-FB1E-0AD3CD0DEA2B}"/>
                </a:ext>
              </a:extLst>
            </p:cNvPr>
            <p:cNvPicPr>
              <a:picLocks noChangeAspect="1"/>
            </p:cNvPicPr>
            <p:nvPr/>
          </p:nvPicPr>
          <p:blipFill>
            <a:blip r:embed="rId10"/>
            <a:srcRect/>
            <a:stretch/>
          </p:blipFill>
          <p:spPr>
            <a:xfrm>
              <a:off x="8605838" y="3856038"/>
              <a:ext cx="525462" cy="525462"/>
            </a:xfrm>
            <a:prstGeom prst="rect">
              <a:avLst/>
            </a:prstGeom>
          </p:spPr>
        </p:pic>
        <p:pic>
          <p:nvPicPr>
            <p:cNvPr id="48" name="Picture Placeholder 9">
              <a:extLst>
                <a:ext uri="{FF2B5EF4-FFF2-40B4-BE49-F238E27FC236}">
                  <a16:creationId xmlns:a16="http://schemas.microsoft.com/office/drawing/2014/main" id="{D1A8B870-4500-3111-1FDC-1EBE08E8A946}"/>
                </a:ext>
              </a:extLst>
            </p:cNvPr>
            <p:cNvPicPr>
              <a:picLocks noChangeAspect="1"/>
            </p:cNvPicPr>
            <p:nvPr/>
          </p:nvPicPr>
          <p:blipFill>
            <a:blip r:embed="rId11"/>
            <a:srcRect/>
            <a:stretch/>
          </p:blipFill>
          <p:spPr>
            <a:xfrm>
              <a:off x="10180638" y="3856038"/>
              <a:ext cx="525462" cy="525462"/>
            </a:xfrm>
            <a:prstGeom prst="rect">
              <a:avLst/>
            </a:prstGeom>
          </p:spPr>
        </p:pic>
        <p:pic>
          <p:nvPicPr>
            <p:cNvPr id="49" name="Picture Placeholder 10">
              <a:extLst>
                <a:ext uri="{FF2B5EF4-FFF2-40B4-BE49-F238E27FC236}">
                  <a16:creationId xmlns:a16="http://schemas.microsoft.com/office/drawing/2014/main" id="{174CE6DE-852B-E44A-639B-3FFFE514107A}"/>
                </a:ext>
              </a:extLst>
            </p:cNvPr>
            <p:cNvPicPr>
              <a:picLocks noChangeAspect="1"/>
            </p:cNvPicPr>
            <p:nvPr/>
          </p:nvPicPr>
          <p:blipFill>
            <a:blip r:embed="rId12"/>
            <a:srcRect/>
            <a:stretch/>
          </p:blipFill>
          <p:spPr>
            <a:xfrm>
              <a:off x="8605838" y="4906963"/>
              <a:ext cx="525462" cy="525462"/>
            </a:xfrm>
            <a:prstGeom prst="rect">
              <a:avLst/>
            </a:prstGeom>
          </p:spPr>
        </p:pic>
        <p:pic>
          <p:nvPicPr>
            <p:cNvPr id="50" name="Picture Placeholder 11">
              <a:extLst>
                <a:ext uri="{FF2B5EF4-FFF2-40B4-BE49-F238E27FC236}">
                  <a16:creationId xmlns:a16="http://schemas.microsoft.com/office/drawing/2014/main" id="{452EA82B-0A98-42F3-0C79-7993D48B6AB3}"/>
                </a:ext>
              </a:extLst>
            </p:cNvPr>
            <p:cNvPicPr>
              <a:picLocks noChangeAspect="1"/>
            </p:cNvPicPr>
            <p:nvPr/>
          </p:nvPicPr>
          <p:blipFill>
            <a:blip r:embed="rId13"/>
            <a:srcRect t="151" b="151"/>
            <a:stretch/>
          </p:blipFill>
          <p:spPr bwMode="gray">
            <a:xfrm>
              <a:off x="9129713" y="3856038"/>
              <a:ext cx="527050" cy="525462"/>
            </a:xfrm>
            <a:prstGeom prst="rect">
              <a:avLst/>
            </a:prstGeom>
          </p:spPr>
        </p:pic>
        <p:pic>
          <p:nvPicPr>
            <p:cNvPr id="51" name="Picture Placeholder 12">
              <a:extLst>
                <a:ext uri="{FF2B5EF4-FFF2-40B4-BE49-F238E27FC236}">
                  <a16:creationId xmlns:a16="http://schemas.microsoft.com/office/drawing/2014/main" id="{DAF4691C-8C8E-A12C-CB38-5A95BBF1F27D}"/>
                </a:ext>
              </a:extLst>
            </p:cNvPr>
            <p:cNvPicPr>
              <a:picLocks noChangeAspect="1"/>
            </p:cNvPicPr>
            <p:nvPr/>
          </p:nvPicPr>
          <p:blipFill>
            <a:blip r:embed="rId14"/>
            <a:srcRect t="151" b="151"/>
            <a:stretch/>
          </p:blipFill>
          <p:spPr>
            <a:xfrm>
              <a:off x="9129713" y="4906963"/>
              <a:ext cx="527050" cy="525462"/>
            </a:xfrm>
            <a:prstGeom prst="rect">
              <a:avLst/>
            </a:prstGeom>
          </p:spPr>
        </p:pic>
      </p:grpSp>
      <p:sp>
        <p:nvSpPr>
          <p:cNvPr id="52" name="Rectangle: Rounded Corners 51">
            <a:extLst>
              <a:ext uri="{FF2B5EF4-FFF2-40B4-BE49-F238E27FC236}">
                <a16:creationId xmlns:a16="http://schemas.microsoft.com/office/drawing/2014/main" id="{ADED2605-7C0A-8C82-1EC0-70C87DADF011}"/>
              </a:ext>
            </a:extLst>
          </p:cNvPr>
          <p:cNvSpPr/>
          <p:nvPr/>
        </p:nvSpPr>
        <p:spPr>
          <a:xfrm>
            <a:off x="8077200" y="1456958"/>
            <a:ext cx="1841898" cy="752842"/>
          </a:xfrm>
          <a:prstGeom prst="roundRect">
            <a:avLst/>
          </a:prstGeom>
          <a:solidFill>
            <a:schemeClr val="bg1">
              <a:lumMod val="85000"/>
            </a:schemeClr>
          </a:solidFill>
          <a:ln w="6350">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algn="ctr">
              <a:spcBef>
                <a:spcPts val="600"/>
              </a:spcBef>
            </a:pPr>
            <a:r>
              <a:rPr lang="de-DE" sz="1200" dirty="0">
                <a:solidFill>
                  <a:schemeClr val="tx1"/>
                </a:solidFill>
                <a:latin typeface="+mj-lt"/>
                <a:cs typeface="Arial" pitchFamily="34" charset="0"/>
              </a:rPr>
              <a:t>3rd Party OPC UA Client/Server</a:t>
            </a:r>
            <a:endParaRPr lang="en-US" sz="1200" dirty="0">
              <a:solidFill>
                <a:schemeClr val="tx1"/>
              </a:solidFill>
              <a:latin typeface="+mj-lt"/>
              <a:cs typeface="Arial" pitchFamily="34" charset="0"/>
            </a:endParaRPr>
          </a:p>
        </p:txBody>
      </p:sp>
      <p:sp>
        <p:nvSpPr>
          <p:cNvPr id="53" name="Rectangle: Rounded Corners 52">
            <a:extLst>
              <a:ext uri="{FF2B5EF4-FFF2-40B4-BE49-F238E27FC236}">
                <a16:creationId xmlns:a16="http://schemas.microsoft.com/office/drawing/2014/main" id="{6593393E-63A0-98FA-7F1A-D4E315A70BC4}"/>
              </a:ext>
            </a:extLst>
          </p:cNvPr>
          <p:cNvSpPr/>
          <p:nvPr/>
        </p:nvSpPr>
        <p:spPr>
          <a:xfrm>
            <a:off x="10071498" y="1456958"/>
            <a:ext cx="1841898" cy="752842"/>
          </a:xfrm>
          <a:prstGeom prst="roundRect">
            <a:avLst/>
          </a:prstGeom>
          <a:solidFill>
            <a:schemeClr val="bg1">
              <a:lumMod val="85000"/>
            </a:schemeClr>
          </a:solidFill>
          <a:ln w="6350">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algn="ctr">
              <a:spcBef>
                <a:spcPts val="600"/>
              </a:spcBef>
            </a:pPr>
            <a:r>
              <a:rPr lang="de-DE" sz="1200" dirty="0">
                <a:solidFill>
                  <a:schemeClr val="tx1"/>
                </a:solidFill>
                <a:latin typeface="+mj-lt"/>
                <a:cs typeface="Arial" pitchFamily="34" charset="0"/>
              </a:rPr>
              <a:t>3rd Party OPC UA Client/Server</a:t>
            </a:r>
            <a:endParaRPr lang="en-US" sz="1200" dirty="0">
              <a:solidFill>
                <a:schemeClr val="tx1"/>
              </a:solidFill>
              <a:latin typeface="+mj-lt"/>
              <a:cs typeface="Arial" pitchFamily="34" charset="0"/>
            </a:endParaRPr>
          </a:p>
        </p:txBody>
      </p:sp>
      <p:cxnSp>
        <p:nvCxnSpPr>
          <p:cNvPr id="54" name="Straight Arrow Connector 53">
            <a:extLst>
              <a:ext uri="{FF2B5EF4-FFF2-40B4-BE49-F238E27FC236}">
                <a16:creationId xmlns:a16="http://schemas.microsoft.com/office/drawing/2014/main" id="{3952AECD-6409-8F51-0383-6E61EFCFC6B0}"/>
              </a:ext>
            </a:extLst>
          </p:cNvPr>
          <p:cNvCxnSpPr>
            <a:cxnSpLocks/>
          </p:cNvCxnSpPr>
          <p:nvPr/>
        </p:nvCxnSpPr>
        <p:spPr>
          <a:xfrm flipV="1">
            <a:off x="9919098" y="2269064"/>
            <a:ext cx="1073349" cy="1980771"/>
          </a:xfrm>
          <a:prstGeom prst="straightConnector1">
            <a:avLst/>
          </a:prstGeom>
          <a:ln w="38100">
            <a:solidFill>
              <a:schemeClr val="accent4"/>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57" name="Gruppieren 69">
            <a:extLst>
              <a:ext uri="{FF2B5EF4-FFF2-40B4-BE49-F238E27FC236}">
                <a16:creationId xmlns:a16="http://schemas.microsoft.com/office/drawing/2014/main" id="{96779F5A-043F-235F-E258-9A506138D228}"/>
              </a:ext>
            </a:extLst>
          </p:cNvPr>
          <p:cNvGrpSpPr>
            <a:grpSpLocks noChangeAspect="1"/>
          </p:cNvGrpSpPr>
          <p:nvPr/>
        </p:nvGrpSpPr>
        <p:grpSpPr>
          <a:xfrm>
            <a:off x="10315020" y="3128646"/>
            <a:ext cx="252000" cy="252000"/>
            <a:chOff x="9552384" y="1700808"/>
            <a:chExt cx="384282" cy="384282"/>
          </a:xfrm>
          <a:effectLst>
            <a:outerShdw blurRad="50800" dist="38100" dir="2700000" algn="tl" rotWithShape="0">
              <a:prstClr val="black">
                <a:alpha val="40000"/>
              </a:prstClr>
            </a:outerShdw>
          </a:effectLst>
        </p:grpSpPr>
        <p:sp>
          <p:nvSpPr>
            <p:cNvPr id="58" name="Ellipse 70">
              <a:extLst>
                <a:ext uri="{FF2B5EF4-FFF2-40B4-BE49-F238E27FC236}">
                  <a16:creationId xmlns:a16="http://schemas.microsoft.com/office/drawing/2014/main" id="{9F40CDB3-6685-842D-3DE5-893A0A1BD17D}"/>
                </a:ext>
              </a:extLst>
            </p:cNvPr>
            <p:cNvSpPr/>
            <p:nvPr/>
          </p:nvSpPr>
          <p:spPr>
            <a:xfrm>
              <a:off x="9552384" y="1700808"/>
              <a:ext cx="384282" cy="384282"/>
            </a:xfrm>
            <a:prstGeom prst="ellipse">
              <a:avLst/>
            </a:prstGeom>
            <a:gradFill>
              <a:gsLst>
                <a:gs pos="0">
                  <a:srgbClr val="EF0000"/>
                </a:gs>
                <a:gs pos="83000">
                  <a:srgbClr val="EF0000">
                    <a:lumMod val="50000"/>
                  </a:srgbClr>
                </a:gs>
              </a:gsLst>
              <a:lin ang="600000" scaled="0"/>
            </a:gradFill>
            <a:ln w="12700">
              <a:solidFill>
                <a:schemeClr val="bg1"/>
              </a:solidFill>
            </a:ln>
            <a:effectLst/>
          </p:spPr>
          <p:txBody>
            <a:bodyPr wrap="square" tIns="0" bIns="0" rtlCol="0" anchor="ctr">
              <a:noAutofit/>
            </a:bodyPr>
            <a:lstStyle/>
            <a:p>
              <a:pPr algn="ctr"/>
              <a:endParaRPr lang="de-DE" sz="4400" b="1" dirty="0">
                <a:solidFill>
                  <a:schemeClr val="bg1"/>
                </a:solidFill>
              </a:endParaRPr>
            </a:p>
          </p:txBody>
        </p:sp>
        <p:pic>
          <p:nvPicPr>
            <p:cNvPr id="59" name="Grafik 71">
              <a:extLst>
                <a:ext uri="{FF2B5EF4-FFF2-40B4-BE49-F238E27FC236}">
                  <a16:creationId xmlns:a16="http://schemas.microsoft.com/office/drawing/2014/main" id="{AF75D705-84EA-2770-80B7-578A90F975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012" y="1740137"/>
              <a:ext cx="203027" cy="281814"/>
            </a:xfrm>
            <a:prstGeom prst="rect">
              <a:avLst/>
            </a:prstGeom>
          </p:spPr>
        </p:pic>
      </p:grpSp>
      <p:pic>
        <p:nvPicPr>
          <p:cNvPr id="4" name="Picture 3">
            <a:extLst>
              <a:ext uri="{FF2B5EF4-FFF2-40B4-BE49-F238E27FC236}">
                <a16:creationId xmlns:a16="http://schemas.microsoft.com/office/drawing/2014/main" id="{AEC6D546-5789-DE74-9FC0-0C648E0175F2}"/>
              </a:ext>
            </a:extLst>
          </p:cNvPr>
          <p:cNvPicPr>
            <a:picLocks noChangeAspect="1"/>
          </p:cNvPicPr>
          <p:nvPr/>
        </p:nvPicPr>
        <p:blipFill>
          <a:blip r:embed="rId15"/>
          <a:stretch>
            <a:fillRect/>
          </a:stretch>
        </p:blipFill>
        <p:spPr>
          <a:xfrm>
            <a:off x="9241072" y="3143127"/>
            <a:ext cx="842149" cy="184805"/>
          </a:xfrm>
          <a:prstGeom prst="rect">
            <a:avLst/>
          </a:prstGeom>
        </p:spPr>
      </p:pic>
      <p:pic>
        <p:nvPicPr>
          <p:cNvPr id="5" name="Picture 4">
            <a:extLst>
              <a:ext uri="{FF2B5EF4-FFF2-40B4-BE49-F238E27FC236}">
                <a16:creationId xmlns:a16="http://schemas.microsoft.com/office/drawing/2014/main" id="{3D9E16EA-D699-EB88-2C1D-EF3EC1A10EAB}"/>
              </a:ext>
            </a:extLst>
          </p:cNvPr>
          <p:cNvPicPr>
            <a:picLocks noChangeAspect="1"/>
          </p:cNvPicPr>
          <p:nvPr/>
        </p:nvPicPr>
        <p:blipFill>
          <a:blip r:embed="rId15"/>
          <a:stretch>
            <a:fillRect/>
          </a:stretch>
        </p:blipFill>
        <p:spPr>
          <a:xfrm>
            <a:off x="10707764" y="3143126"/>
            <a:ext cx="842149" cy="184805"/>
          </a:xfrm>
          <a:prstGeom prst="rect">
            <a:avLst/>
          </a:prstGeom>
        </p:spPr>
      </p:pic>
    </p:spTree>
    <p:extLst>
      <p:ext uri="{BB962C8B-B14F-4D97-AF65-F5344CB8AC3E}">
        <p14:creationId xmlns:p14="http://schemas.microsoft.com/office/powerpoint/2010/main" val="1388590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F9EFBE-0B44-7513-DF9B-57953F0E8156}"/>
              </a:ext>
            </a:extLst>
          </p:cNvPr>
          <p:cNvSpPr>
            <a:spLocks noGrp="1"/>
          </p:cNvSpPr>
          <p:nvPr>
            <p:ph type="body" sz="quarter" idx="15"/>
          </p:nvPr>
        </p:nvSpPr>
        <p:spPr>
          <a:xfrm>
            <a:off x="3" y="1090799"/>
            <a:ext cx="6912148" cy="5331600"/>
          </a:xfrm>
        </p:spPr>
        <p:txBody>
          <a:bodyPr/>
          <a:lstStyle/>
          <a:p>
            <a:r>
              <a:rPr lang="de-DE"/>
              <a:t>Inhomogeneous environments with different vendors make  interoperability a challenge</a:t>
            </a:r>
          </a:p>
          <a:p>
            <a:r>
              <a:rPr lang="de-DE"/>
              <a:t>Remember: MQTT only standardizes transport, the data format is up to the application</a:t>
            </a:r>
          </a:p>
          <a:p>
            <a:r>
              <a:rPr lang="de-DE"/>
              <a:t>Therefore OPC </a:t>
            </a:r>
            <a:r>
              <a:rPr lang="de-DE" dirty="0"/>
              <a:t>UA Pub/Sub and MQTT </a:t>
            </a:r>
            <a:r>
              <a:rPr lang="de-DE" dirty="0" err="1"/>
              <a:t>complement</a:t>
            </a:r>
            <a:r>
              <a:rPr lang="de-DE" dirty="0"/>
              <a:t> </a:t>
            </a:r>
            <a:r>
              <a:rPr lang="de-DE" err="1"/>
              <a:t>each</a:t>
            </a:r>
            <a:r>
              <a:rPr lang="de-DE"/>
              <a:t> other very well:</a:t>
            </a:r>
          </a:p>
          <a:p>
            <a:pPr lvl="1"/>
            <a:r>
              <a:rPr lang="de-DE"/>
              <a:t>MQTT provides standardized transport</a:t>
            </a:r>
          </a:p>
          <a:p>
            <a:pPr lvl="1"/>
            <a:r>
              <a:rPr lang="de-DE"/>
              <a:t>OPC UA provides standardized data format</a:t>
            </a:r>
            <a:endParaRPr lang="de-DE" dirty="0"/>
          </a:p>
        </p:txBody>
      </p:sp>
      <p:sp>
        <p:nvSpPr>
          <p:cNvPr id="3" name="Title 2">
            <a:extLst>
              <a:ext uri="{FF2B5EF4-FFF2-40B4-BE49-F238E27FC236}">
                <a16:creationId xmlns:a16="http://schemas.microsoft.com/office/drawing/2014/main" id="{E315791F-7795-2F75-617B-61F51937B87C}"/>
              </a:ext>
            </a:extLst>
          </p:cNvPr>
          <p:cNvSpPr>
            <a:spLocks noGrp="1"/>
          </p:cNvSpPr>
          <p:nvPr>
            <p:ph type="title"/>
          </p:nvPr>
        </p:nvSpPr>
        <p:spPr/>
        <p:txBody>
          <a:bodyPr/>
          <a:lstStyle/>
          <a:p>
            <a:r>
              <a:rPr lang="de-DE" dirty="0" err="1"/>
              <a:t>Should</a:t>
            </a:r>
            <a:r>
              <a:rPr lang="de-DE" dirty="0"/>
              <a:t> I </a:t>
            </a:r>
            <a:r>
              <a:rPr lang="de-DE" dirty="0" err="1"/>
              <a:t>use</a:t>
            </a:r>
            <a:r>
              <a:rPr lang="de-DE" dirty="0"/>
              <a:t> OPC UA Pub/Sub </a:t>
            </a:r>
            <a:r>
              <a:rPr lang="de-DE" dirty="0" err="1"/>
              <a:t>or</a:t>
            </a:r>
            <a:r>
              <a:rPr lang="de-DE" dirty="0"/>
              <a:t> MQTT?</a:t>
            </a:r>
            <a:endParaRPr lang="en-US" dirty="0"/>
          </a:p>
        </p:txBody>
      </p:sp>
      <p:cxnSp>
        <p:nvCxnSpPr>
          <p:cNvPr id="6" name="Straight Arrow Connector 41">
            <a:extLst>
              <a:ext uri="{FF2B5EF4-FFF2-40B4-BE49-F238E27FC236}">
                <a16:creationId xmlns:a16="http://schemas.microsoft.com/office/drawing/2014/main" id="{7B2A1715-ECD5-0877-9243-A857393105B1}"/>
              </a:ext>
            </a:extLst>
          </p:cNvPr>
          <p:cNvCxnSpPr/>
          <p:nvPr/>
        </p:nvCxnSpPr>
        <p:spPr>
          <a:xfrm flipV="1">
            <a:off x="7671048" y="3352800"/>
            <a:ext cx="0" cy="1512167"/>
          </a:xfrm>
          <a:prstGeom prst="straightConnector1">
            <a:avLst/>
          </a:prstGeom>
          <a:ln w="25400">
            <a:solidFill>
              <a:schemeClr val="accent4"/>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 name="Rounded Rectangle 66">
            <a:extLst>
              <a:ext uri="{FF2B5EF4-FFF2-40B4-BE49-F238E27FC236}">
                <a16:creationId xmlns:a16="http://schemas.microsoft.com/office/drawing/2014/main" id="{9B02DA5B-7269-B15F-21E5-7F8D15CF9128}"/>
              </a:ext>
            </a:extLst>
          </p:cNvPr>
          <p:cNvSpPr/>
          <p:nvPr/>
        </p:nvSpPr>
        <p:spPr>
          <a:xfrm>
            <a:off x="7810759" y="3794639"/>
            <a:ext cx="1016721" cy="828348"/>
          </a:xfrm>
          <a:prstGeom prst="roundRect">
            <a:avLst/>
          </a:prstGeom>
          <a:ln w="12700"/>
        </p:spPr>
        <p:style>
          <a:lnRef idx="2">
            <a:schemeClr val="accent1"/>
          </a:lnRef>
          <a:fillRef idx="1">
            <a:schemeClr val="lt1"/>
          </a:fillRef>
          <a:effectRef idx="0">
            <a:schemeClr val="accent1"/>
          </a:effectRef>
          <a:fontRef idx="minor">
            <a:schemeClr val="dk1"/>
          </a:fontRef>
        </p:style>
        <p:txBody>
          <a:bodyPr lIns="0" tIns="0" rIns="0" bIns="0" rtlCol="0" anchor="ctr"/>
          <a:lstStyle/>
          <a:p>
            <a:r>
              <a:rPr lang="de-DE" sz="800" dirty="0">
                <a:solidFill>
                  <a:schemeClr val="tx1"/>
                </a:solidFill>
                <a:latin typeface="Consolas" panose="020B0609020204030204" pitchFamily="49" charset="0"/>
              </a:rPr>
              <a:t>{</a:t>
            </a:r>
          </a:p>
          <a:p>
            <a:r>
              <a:rPr lang="de-DE" sz="800" dirty="0">
                <a:solidFill>
                  <a:schemeClr val="tx1"/>
                </a:solidFill>
                <a:latin typeface="Consolas" panose="020B0609020204030204" pitchFamily="49" charset="0"/>
              </a:rPr>
              <a:t>  </a:t>
            </a:r>
            <a:r>
              <a:rPr lang="de-DE" sz="800" dirty="0" err="1">
                <a:solidFill>
                  <a:schemeClr val="tx1"/>
                </a:solidFill>
                <a:latin typeface="Consolas" panose="020B0609020204030204" pitchFamily="49" charset="0"/>
              </a:rPr>
              <a:t>Timestamp</a:t>
            </a:r>
            <a:r>
              <a:rPr lang="de-DE" sz="800" dirty="0">
                <a:solidFill>
                  <a:schemeClr val="tx1"/>
                </a:solidFill>
                <a:latin typeface="Consolas" panose="020B0609020204030204" pitchFamily="49" charset="0"/>
              </a:rPr>
              <a:t> : x,</a:t>
            </a:r>
          </a:p>
          <a:p>
            <a:r>
              <a:rPr lang="de-DE" sz="800" dirty="0">
                <a:solidFill>
                  <a:schemeClr val="tx1"/>
                </a:solidFill>
                <a:latin typeface="Consolas" panose="020B0609020204030204" pitchFamily="49" charset="0"/>
              </a:rPr>
              <a:t>  Values : {</a:t>
            </a:r>
          </a:p>
          <a:p>
            <a:r>
              <a:rPr lang="de-DE" sz="800" dirty="0">
                <a:solidFill>
                  <a:schemeClr val="tx1"/>
                </a:solidFill>
                <a:latin typeface="Consolas" panose="020B0609020204030204" pitchFamily="49" charset="0"/>
              </a:rPr>
              <a:t>  Var1 : 42</a:t>
            </a:r>
          </a:p>
          <a:p>
            <a:r>
              <a:rPr lang="de-DE" sz="800" dirty="0">
                <a:solidFill>
                  <a:schemeClr val="tx1"/>
                </a:solidFill>
                <a:latin typeface="Consolas" panose="020B0609020204030204" pitchFamily="49" charset="0"/>
              </a:rPr>
              <a:t>  }</a:t>
            </a:r>
          </a:p>
          <a:p>
            <a:r>
              <a:rPr lang="de-DE" sz="800" dirty="0">
                <a:solidFill>
                  <a:schemeClr val="tx1"/>
                </a:solidFill>
                <a:latin typeface="Consolas" panose="020B0609020204030204" pitchFamily="49" charset="0"/>
              </a:rPr>
              <a:t>}</a:t>
            </a:r>
            <a:endParaRPr lang="en-US" sz="800" dirty="0">
              <a:solidFill>
                <a:schemeClr val="tx1"/>
              </a:solidFill>
              <a:latin typeface="Consolas" panose="020B0609020204030204" pitchFamily="49" charset="0"/>
            </a:endParaRPr>
          </a:p>
        </p:txBody>
      </p:sp>
      <p:cxnSp>
        <p:nvCxnSpPr>
          <p:cNvPr id="9" name="Straight Arrow Connector 41">
            <a:extLst>
              <a:ext uri="{FF2B5EF4-FFF2-40B4-BE49-F238E27FC236}">
                <a16:creationId xmlns:a16="http://schemas.microsoft.com/office/drawing/2014/main" id="{B85D83D6-552F-8FB2-C963-E5C1015DC219}"/>
              </a:ext>
            </a:extLst>
          </p:cNvPr>
          <p:cNvCxnSpPr/>
          <p:nvPr/>
        </p:nvCxnSpPr>
        <p:spPr>
          <a:xfrm flipV="1">
            <a:off x="9187520" y="3352800"/>
            <a:ext cx="0" cy="1512167"/>
          </a:xfrm>
          <a:prstGeom prst="straightConnector1">
            <a:avLst/>
          </a:prstGeom>
          <a:ln w="25400">
            <a:solidFill>
              <a:schemeClr val="accent4"/>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0" name="Rounded Rectangle 66">
            <a:extLst>
              <a:ext uri="{FF2B5EF4-FFF2-40B4-BE49-F238E27FC236}">
                <a16:creationId xmlns:a16="http://schemas.microsoft.com/office/drawing/2014/main" id="{E2EED888-2B9A-7B29-A8F7-C03F5E7C35B2}"/>
              </a:ext>
            </a:extLst>
          </p:cNvPr>
          <p:cNvSpPr/>
          <p:nvPr/>
        </p:nvSpPr>
        <p:spPr>
          <a:xfrm>
            <a:off x="9327230" y="3789315"/>
            <a:ext cx="1016721" cy="833671"/>
          </a:xfrm>
          <a:prstGeom prst="roundRect">
            <a:avLst/>
          </a:prstGeom>
          <a:ln w="12700"/>
        </p:spPr>
        <p:style>
          <a:lnRef idx="2">
            <a:schemeClr val="accent1"/>
          </a:lnRef>
          <a:fillRef idx="1">
            <a:schemeClr val="lt1"/>
          </a:fillRef>
          <a:effectRef idx="0">
            <a:schemeClr val="accent1"/>
          </a:effectRef>
          <a:fontRef idx="minor">
            <a:schemeClr val="dk1"/>
          </a:fontRef>
        </p:style>
        <p:txBody>
          <a:bodyPr lIns="0" tIns="0" rIns="0" bIns="0" rtlCol="0" anchor="ctr"/>
          <a:lstStyle/>
          <a:p>
            <a:r>
              <a:rPr lang="de-DE" sz="800" dirty="0">
                <a:solidFill>
                  <a:schemeClr val="tx1"/>
                </a:solidFill>
                <a:latin typeface="Consolas" panose="020B0609020204030204" pitchFamily="49" charset="0"/>
              </a:rPr>
              <a:t>{</a:t>
            </a:r>
          </a:p>
          <a:p>
            <a:r>
              <a:rPr lang="de-DE" sz="800" dirty="0">
                <a:solidFill>
                  <a:schemeClr val="tx1"/>
                </a:solidFill>
                <a:latin typeface="Consolas" panose="020B0609020204030204" pitchFamily="49" charset="0"/>
              </a:rPr>
              <a:t>  </a:t>
            </a:r>
            <a:r>
              <a:rPr lang="de-DE" sz="800" dirty="0" err="1">
                <a:solidFill>
                  <a:schemeClr val="tx1"/>
                </a:solidFill>
                <a:latin typeface="Consolas" panose="020B0609020204030204" pitchFamily="49" charset="0"/>
              </a:rPr>
              <a:t>DayTime</a:t>
            </a:r>
            <a:r>
              <a:rPr lang="de-DE" sz="800" dirty="0">
                <a:solidFill>
                  <a:schemeClr val="tx1"/>
                </a:solidFill>
                <a:latin typeface="Consolas" panose="020B0609020204030204" pitchFamily="49" charset="0"/>
              </a:rPr>
              <a:t> : x,</a:t>
            </a:r>
          </a:p>
          <a:p>
            <a:r>
              <a:rPr lang="de-DE" sz="800" dirty="0">
                <a:solidFill>
                  <a:schemeClr val="tx1"/>
                </a:solidFill>
                <a:latin typeface="Consolas" panose="020B0609020204030204" pitchFamily="49" charset="0"/>
              </a:rPr>
              <a:t>  Var1 : 42.0</a:t>
            </a:r>
          </a:p>
          <a:p>
            <a:r>
              <a:rPr lang="de-DE" sz="800" dirty="0">
                <a:solidFill>
                  <a:schemeClr val="tx1"/>
                </a:solidFill>
                <a:latin typeface="Consolas" panose="020B0609020204030204" pitchFamily="49" charset="0"/>
              </a:rPr>
              <a:t>}</a:t>
            </a:r>
            <a:endParaRPr lang="en-US" sz="800" dirty="0">
              <a:solidFill>
                <a:schemeClr val="tx1"/>
              </a:solidFill>
              <a:latin typeface="Consolas" panose="020B0609020204030204" pitchFamily="49" charset="0"/>
            </a:endParaRPr>
          </a:p>
        </p:txBody>
      </p:sp>
      <p:cxnSp>
        <p:nvCxnSpPr>
          <p:cNvPr id="12" name="Straight Arrow Connector 41">
            <a:extLst>
              <a:ext uri="{FF2B5EF4-FFF2-40B4-BE49-F238E27FC236}">
                <a16:creationId xmlns:a16="http://schemas.microsoft.com/office/drawing/2014/main" id="{FB40D254-A288-5312-5B7D-C76A9E357FB9}"/>
              </a:ext>
            </a:extLst>
          </p:cNvPr>
          <p:cNvCxnSpPr/>
          <p:nvPr/>
        </p:nvCxnSpPr>
        <p:spPr>
          <a:xfrm flipV="1">
            <a:off x="10699425" y="3352800"/>
            <a:ext cx="0" cy="1512167"/>
          </a:xfrm>
          <a:prstGeom prst="straightConnector1">
            <a:avLst/>
          </a:prstGeom>
          <a:ln w="25400">
            <a:solidFill>
              <a:schemeClr val="accent4"/>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3" name="Rounded Rectangle 66">
            <a:extLst>
              <a:ext uri="{FF2B5EF4-FFF2-40B4-BE49-F238E27FC236}">
                <a16:creationId xmlns:a16="http://schemas.microsoft.com/office/drawing/2014/main" id="{EB14B2C8-CFFA-87B9-2F44-42CC395A0E85}"/>
              </a:ext>
            </a:extLst>
          </p:cNvPr>
          <p:cNvSpPr/>
          <p:nvPr/>
        </p:nvSpPr>
        <p:spPr>
          <a:xfrm>
            <a:off x="10839136" y="3794639"/>
            <a:ext cx="1016721" cy="828348"/>
          </a:xfrm>
          <a:prstGeom prst="roundRect">
            <a:avLst/>
          </a:prstGeom>
          <a:ln w="12700"/>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de-DE" sz="800" dirty="0">
                <a:solidFill>
                  <a:schemeClr val="tx1"/>
                </a:solidFill>
                <a:latin typeface="Consolas" panose="020B0609020204030204" pitchFamily="49" charset="0"/>
              </a:rPr>
              <a:t>OPC UA </a:t>
            </a:r>
            <a:r>
              <a:rPr lang="de-DE" sz="800" dirty="0" err="1">
                <a:solidFill>
                  <a:schemeClr val="tx1"/>
                </a:solidFill>
                <a:latin typeface="Consolas" panose="020B0609020204030204" pitchFamily="49" charset="0"/>
              </a:rPr>
              <a:t>object</a:t>
            </a:r>
            <a:endParaRPr lang="de-DE" sz="800" dirty="0">
              <a:solidFill>
                <a:schemeClr val="tx1"/>
              </a:solidFill>
              <a:latin typeface="Consolas" panose="020B0609020204030204" pitchFamily="49" charset="0"/>
            </a:endParaRPr>
          </a:p>
          <a:p>
            <a:pPr algn="ctr"/>
            <a:r>
              <a:rPr lang="de-DE" sz="800" dirty="0">
                <a:solidFill>
                  <a:schemeClr val="tx1"/>
                </a:solidFill>
                <a:latin typeface="Consolas" panose="020B0609020204030204" pitchFamily="49" charset="0"/>
              </a:rPr>
              <a:t>(Binary, JSON)</a:t>
            </a:r>
            <a:endParaRPr lang="en-US" sz="800" dirty="0">
              <a:solidFill>
                <a:schemeClr val="tx1"/>
              </a:solidFill>
              <a:latin typeface="Consolas" panose="020B0609020204030204" pitchFamily="49" charset="0"/>
            </a:endParaRPr>
          </a:p>
        </p:txBody>
      </p:sp>
      <p:sp>
        <p:nvSpPr>
          <p:cNvPr id="16" name="Rechteck 13">
            <a:extLst>
              <a:ext uri="{FF2B5EF4-FFF2-40B4-BE49-F238E27FC236}">
                <a16:creationId xmlns:a16="http://schemas.microsoft.com/office/drawing/2014/main" id="{08F80C20-FE58-2A22-B194-918824452A44}"/>
              </a:ext>
            </a:extLst>
          </p:cNvPr>
          <p:cNvSpPr/>
          <p:nvPr/>
        </p:nvSpPr>
        <p:spPr>
          <a:xfrm>
            <a:off x="7849999" y="3573872"/>
            <a:ext cx="926857" cy="215444"/>
          </a:xfrm>
          <a:prstGeom prst="rect">
            <a:avLst/>
          </a:prstGeom>
        </p:spPr>
        <p:txBody>
          <a:bodyPr wrap="none">
            <a:spAutoFit/>
          </a:bodyPr>
          <a:lstStyle/>
          <a:p>
            <a:pPr algn="ctr"/>
            <a:r>
              <a:rPr lang="de-DE" sz="800" dirty="0"/>
              <a:t>MQTT </a:t>
            </a:r>
            <a:r>
              <a:rPr lang="de-DE" sz="800" dirty="0" err="1"/>
              <a:t>payload</a:t>
            </a:r>
            <a:r>
              <a:rPr lang="de-DE" sz="800" dirty="0"/>
              <a:t>:</a:t>
            </a:r>
          </a:p>
        </p:txBody>
      </p:sp>
      <p:sp>
        <p:nvSpPr>
          <p:cNvPr id="24" name="Rectangle: Rounded Corners 23">
            <a:extLst>
              <a:ext uri="{FF2B5EF4-FFF2-40B4-BE49-F238E27FC236}">
                <a16:creationId xmlns:a16="http://schemas.microsoft.com/office/drawing/2014/main" id="{8BA49FA5-1CBD-237D-86CC-A19B0784008D}"/>
              </a:ext>
            </a:extLst>
          </p:cNvPr>
          <p:cNvSpPr/>
          <p:nvPr/>
        </p:nvSpPr>
        <p:spPr>
          <a:xfrm>
            <a:off x="8673561" y="4912556"/>
            <a:ext cx="1016721" cy="610212"/>
          </a:xfrm>
          <a:prstGeom prst="roundRect">
            <a:avLst/>
          </a:prstGeom>
          <a:solidFill>
            <a:schemeClr val="bg1">
              <a:lumMod val="85000"/>
            </a:schemeClr>
          </a:solidFill>
          <a:ln w="6350">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algn="ctr">
              <a:spcBef>
                <a:spcPts val="600"/>
              </a:spcBef>
            </a:pPr>
            <a:r>
              <a:rPr lang="de-DE" sz="1200">
                <a:solidFill>
                  <a:schemeClr val="tx1"/>
                </a:solidFill>
                <a:latin typeface="+mj-lt"/>
                <a:cs typeface="Arial" pitchFamily="34" charset="0"/>
              </a:rPr>
              <a:t>3rd</a:t>
            </a:r>
            <a:r>
              <a:rPr lang="de-DE" sz="1200" dirty="0">
                <a:solidFill>
                  <a:schemeClr val="tx1"/>
                </a:solidFill>
                <a:latin typeface="+mj-lt"/>
                <a:cs typeface="Arial" pitchFamily="34" charset="0"/>
              </a:rPr>
              <a:t> Party</a:t>
            </a:r>
            <a:endParaRPr lang="en-US" sz="1200" dirty="0">
              <a:solidFill>
                <a:schemeClr val="tx1"/>
              </a:solidFill>
              <a:latin typeface="+mj-lt"/>
              <a:cs typeface="Arial" pitchFamily="34" charset="0"/>
            </a:endParaRPr>
          </a:p>
        </p:txBody>
      </p:sp>
      <p:sp>
        <p:nvSpPr>
          <p:cNvPr id="25" name="Rechteck 13">
            <a:extLst>
              <a:ext uri="{FF2B5EF4-FFF2-40B4-BE49-F238E27FC236}">
                <a16:creationId xmlns:a16="http://schemas.microsoft.com/office/drawing/2014/main" id="{4A55BAE5-528E-1DE6-6726-34FAFB98EA14}"/>
              </a:ext>
            </a:extLst>
          </p:cNvPr>
          <p:cNvSpPr/>
          <p:nvPr/>
        </p:nvSpPr>
        <p:spPr>
          <a:xfrm>
            <a:off x="9369518" y="3573871"/>
            <a:ext cx="926857" cy="215444"/>
          </a:xfrm>
          <a:prstGeom prst="rect">
            <a:avLst/>
          </a:prstGeom>
        </p:spPr>
        <p:txBody>
          <a:bodyPr wrap="none">
            <a:spAutoFit/>
          </a:bodyPr>
          <a:lstStyle/>
          <a:p>
            <a:pPr algn="ctr"/>
            <a:r>
              <a:rPr lang="de-DE" sz="800" dirty="0"/>
              <a:t>MQTT </a:t>
            </a:r>
            <a:r>
              <a:rPr lang="de-DE" sz="800" dirty="0" err="1"/>
              <a:t>payload</a:t>
            </a:r>
            <a:r>
              <a:rPr lang="de-DE" sz="800" dirty="0"/>
              <a:t>:</a:t>
            </a:r>
          </a:p>
        </p:txBody>
      </p:sp>
      <p:sp>
        <p:nvSpPr>
          <p:cNvPr id="26" name="Rechteck 13">
            <a:extLst>
              <a:ext uri="{FF2B5EF4-FFF2-40B4-BE49-F238E27FC236}">
                <a16:creationId xmlns:a16="http://schemas.microsoft.com/office/drawing/2014/main" id="{E2488476-222B-9ABB-746A-A0212419683B}"/>
              </a:ext>
            </a:extLst>
          </p:cNvPr>
          <p:cNvSpPr/>
          <p:nvPr/>
        </p:nvSpPr>
        <p:spPr>
          <a:xfrm>
            <a:off x="10884067" y="3573871"/>
            <a:ext cx="926857" cy="215444"/>
          </a:xfrm>
          <a:prstGeom prst="rect">
            <a:avLst/>
          </a:prstGeom>
        </p:spPr>
        <p:txBody>
          <a:bodyPr wrap="none">
            <a:spAutoFit/>
          </a:bodyPr>
          <a:lstStyle/>
          <a:p>
            <a:pPr algn="ctr"/>
            <a:r>
              <a:rPr lang="de-DE" sz="800" dirty="0"/>
              <a:t>MQTT </a:t>
            </a:r>
            <a:r>
              <a:rPr lang="de-DE" sz="800" dirty="0" err="1"/>
              <a:t>payload</a:t>
            </a:r>
            <a:r>
              <a:rPr lang="de-DE" sz="800" dirty="0"/>
              <a:t>:</a:t>
            </a:r>
          </a:p>
        </p:txBody>
      </p:sp>
      <p:sp>
        <p:nvSpPr>
          <p:cNvPr id="27" name="Rectangle: Rounded Corners 26">
            <a:extLst>
              <a:ext uri="{FF2B5EF4-FFF2-40B4-BE49-F238E27FC236}">
                <a16:creationId xmlns:a16="http://schemas.microsoft.com/office/drawing/2014/main" id="{5450B8EB-8176-8E64-A0B4-A68910930AA1}"/>
              </a:ext>
            </a:extLst>
          </p:cNvPr>
          <p:cNvSpPr/>
          <p:nvPr/>
        </p:nvSpPr>
        <p:spPr>
          <a:xfrm>
            <a:off x="7239000" y="1447800"/>
            <a:ext cx="3885845" cy="336281"/>
          </a:xfrm>
          <a:prstGeom prst="roundRect">
            <a:avLst/>
          </a:prstGeom>
          <a:solidFill>
            <a:schemeClr val="bg1">
              <a:lumMod val="85000"/>
            </a:schemeClr>
          </a:solidFill>
          <a:ln w="6350">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algn="ctr">
              <a:spcBef>
                <a:spcPts val="600"/>
              </a:spcBef>
            </a:pPr>
            <a:r>
              <a:rPr lang="de-DE" sz="1200">
                <a:solidFill>
                  <a:schemeClr val="tx1"/>
                </a:solidFill>
                <a:latin typeface="+mj-lt"/>
                <a:cs typeface="Arial" pitchFamily="34" charset="0"/>
              </a:rPr>
              <a:t>Application</a:t>
            </a:r>
            <a:endParaRPr lang="de-DE" sz="1200" dirty="0">
              <a:solidFill>
                <a:schemeClr val="tx1"/>
              </a:solidFill>
              <a:latin typeface="+mj-lt"/>
              <a:cs typeface="Arial" pitchFamily="34" charset="0"/>
            </a:endParaRPr>
          </a:p>
        </p:txBody>
      </p:sp>
      <p:cxnSp>
        <p:nvCxnSpPr>
          <p:cNvPr id="28" name="Straight Arrow Connector 41">
            <a:extLst>
              <a:ext uri="{FF2B5EF4-FFF2-40B4-BE49-F238E27FC236}">
                <a16:creationId xmlns:a16="http://schemas.microsoft.com/office/drawing/2014/main" id="{95DDCDCC-46CE-10D6-7410-FB72AB5CD364}"/>
              </a:ext>
            </a:extLst>
          </p:cNvPr>
          <p:cNvCxnSpPr>
            <a:cxnSpLocks/>
          </p:cNvCxnSpPr>
          <p:nvPr/>
        </p:nvCxnSpPr>
        <p:spPr>
          <a:xfrm flipV="1">
            <a:off x="9181923" y="1820613"/>
            <a:ext cx="0" cy="312987"/>
          </a:xfrm>
          <a:prstGeom prst="straightConnector1">
            <a:avLst/>
          </a:prstGeom>
          <a:ln w="25400">
            <a:solidFill>
              <a:schemeClr val="accent4"/>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32" name="Grafik 76">
            <a:extLst>
              <a:ext uri="{FF2B5EF4-FFF2-40B4-BE49-F238E27FC236}">
                <a16:creationId xmlns:a16="http://schemas.microsoft.com/office/drawing/2014/main" id="{21BAD809-129C-7ED3-31B8-F143B5871F64}"/>
              </a:ext>
            </a:extLst>
          </p:cNvPr>
          <p:cNvPicPr>
            <a:picLocks noChangeAspect="1"/>
          </p:cNvPicPr>
          <p:nvPr/>
        </p:nvPicPr>
        <p:blipFill>
          <a:blip r:embed="rId2"/>
          <a:stretch>
            <a:fillRect/>
          </a:stretch>
        </p:blipFill>
        <p:spPr>
          <a:xfrm>
            <a:off x="7239000" y="4912708"/>
            <a:ext cx="864096" cy="610212"/>
          </a:xfrm>
          <a:prstGeom prst="rect">
            <a:avLst/>
          </a:prstGeom>
          <a:effectLst>
            <a:outerShdw blurRad="50800" dist="38100" dir="2700000" algn="tl" rotWithShape="0">
              <a:prstClr val="black">
                <a:alpha val="40000"/>
              </a:prstClr>
            </a:outerShdw>
          </a:effectLst>
        </p:spPr>
      </p:pic>
      <p:pic>
        <p:nvPicPr>
          <p:cNvPr id="33" name="Grafik 76">
            <a:extLst>
              <a:ext uri="{FF2B5EF4-FFF2-40B4-BE49-F238E27FC236}">
                <a16:creationId xmlns:a16="http://schemas.microsoft.com/office/drawing/2014/main" id="{AC3140D8-A174-CE4E-89DF-C29B9FF098BD}"/>
              </a:ext>
            </a:extLst>
          </p:cNvPr>
          <p:cNvPicPr>
            <a:picLocks noChangeAspect="1"/>
          </p:cNvPicPr>
          <p:nvPr/>
        </p:nvPicPr>
        <p:blipFill>
          <a:blip r:embed="rId2"/>
          <a:stretch>
            <a:fillRect/>
          </a:stretch>
        </p:blipFill>
        <p:spPr>
          <a:xfrm>
            <a:off x="10260751" y="4912556"/>
            <a:ext cx="864096" cy="610212"/>
          </a:xfrm>
          <a:prstGeom prst="rect">
            <a:avLst/>
          </a:prstGeom>
          <a:effectLst>
            <a:outerShdw blurRad="50800" dist="38100" dir="2700000" algn="tl" rotWithShape="0">
              <a:prstClr val="black">
                <a:alpha val="40000"/>
              </a:prstClr>
            </a:outerShdw>
          </a:effectLst>
        </p:spPr>
      </p:pic>
      <p:sp>
        <p:nvSpPr>
          <p:cNvPr id="4" name="Freihandform 3">
            <a:extLst>
              <a:ext uri="{FF2B5EF4-FFF2-40B4-BE49-F238E27FC236}">
                <a16:creationId xmlns:a16="http://schemas.microsoft.com/office/drawing/2014/main" id="{F3AC5BCE-469F-4EFC-ADCF-E9F19EA6D233}"/>
              </a:ext>
            </a:extLst>
          </p:cNvPr>
          <p:cNvSpPr>
            <a:spLocks noChangeAspect="1"/>
          </p:cNvSpPr>
          <p:nvPr/>
        </p:nvSpPr>
        <p:spPr>
          <a:xfrm>
            <a:off x="7239001" y="2133600"/>
            <a:ext cx="3885846" cy="1173069"/>
          </a:xfrm>
          <a:custGeom>
            <a:avLst/>
            <a:gdLst>
              <a:gd name="connsiteX0" fmla="*/ 187377 w 3762531"/>
              <a:gd name="connsiteY0" fmla="*/ 262328 h 2488367"/>
              <a:gd name="connsiteX1" fmla="*/ 1109272 w 3762531"/>
              <a:gd name="connsiteY1" fmla="*/ 0 h 2488367"/>
              <a:gd name="connsiteX2" fmla="*/ 3642610 w 3762531"/>
              <a:gd name="connsiteY2" fmla="*/ 239843 h 2488367"/>
              <a:gd name="connsiteX3" fmla="*/ 3762531 w 3762531"/>
              <a:gd name="connsiteY3" fmla="*/ 2488367 h 2488367"/>
              <a:gd name="connsiteX4" fmla="*/ 0 w 3762531"/>
              <a:gd name="connsiteY4" fmla="*/ 2488367 h 2488367"/>
              <a:gd name="connsiteX5" fmla="*/ 187377 w 3762531"/>
              <a:gd name="connsiteY5" fmla="*/ 262328 h 2488367"/>
              <a:gd name="connsiteX0" fmla="*/ 187377 w 3762531"/>
              <a:gd name="connsiteY0" fmla="*/ 361158 h 2587197"/>
              <a:gd name="connsiteX1" fmla="*/ 1109272 w 3762531"/>
              <a:gd name="connsiteY1" fmla="*/ 98830 h 2587197"/>
              <a:gd name="connsiteX2" fmla="*/ 3642610 w 3762531"/>
              <a:gd name="connsiteY2" fmla="*/ 338673 h 2587197"/>
              <a:gd name="connsiteX3" fmla="*/ 3762531 w 3762531"/>
              <a:gd name="connsiteY3" fmla="*/ 2587197 h 2587197"/>
              <a:gd name="connsiteX4" fmla="*/ 0 w 3762531"/>
              <a:gd name="connsiteY4" fmla="*/ 2587197 h 2587197"/>
              <a:gd name="connsiteX5" fmla="*/ 187377 w 3762531"/>
              <a:gd name="connsiteY5" fmla="*/ 361158 h 2587197"/>
              <a:gd name="connsiteX0" fmla="*/ 870238 w 4445392"/>
              <a:gd name="connsiteY0" fmla="*/ 361158 h 2587197"/>
              <a:gd name="connsiteX1" fmla="*/ 1792133 w 4445392"/>
              <a:gd name="connsiteY1" fmla="*/ 98830 h 2587197"/>
              <a:gd name="connsiteX2" fmla="*/ 4325471 w 4445392"/>
              <a:gd name="connsiteY2" fmla="*/ 338673 h 2587197"/>
              <a:gd name="connsiteX3" fmla="*/ 4445392 w 4445392"/>
              <a:gd name="connsiteY3" fmla="*/ 2587197 h 2587197"/>
              <a:gd name="connsiteX4" fmla="*/ 682861 w 4445392"/>
              <a:gd name="connsiteY4" fmla="*/ 2587197 h 2587197"/>
              <a:gd name="connsiteX5" fmla="*/ 870238 w 4445392"/>
              <a:gd name="connsiteY5" fmla="*/ 361158 h 2587197"/>
              <a:gd name="connsiteX0" fmla="*/ 1283861 w 4859015"/>
              <a:gd name="connsiteY0" fmla="*/ 361158 h 2587197"/>
              <a:gd name="connsiteX1" fmla="*/ 2205756 w 4859015"/>
              <a:gd name="connsiteY1" fmla="*/ 98830 h 2587197"/>
              <a:gd name="connsiteX2" fmla="*/ 4739094 w 4859015"/>
              <a:gd name="connsiteY2" fmla="*/ 338673 h 2587197"/>
              <a:gd name="connsiteX3" fmla="*/ 4859015 w 4859015"/>
              <a:gd name="connsiteY3" fmla="*/ 2587197 h 2587197"/>
              <a:gd name="connsiteX4" fmla="*/ 1096484 w 4859015"/>
              <a:gd name="connsiteY4" fmla="*/ 2587197 h 2587197"/>
              <a:gd name="connsiteX5" fmla="*/ 1283861 w 4859015"/>
              <a:gd name="connsiteY5" fmla="*/ 361158 h 2587197"/>
              <a:gd name="connsiteX0" fmla="*/ 1283861 w 4859015"/>
              <a:gd name="connsiteY0" fmla="*/ 413104 h 2639143"/>
              <a:gd name="connsiteX1" fmla="*/ 2205756 w 4859015"/>
              <a:gd name="connsiteY1" fmla="*/ 150776 h 2639143"/>
              <a:gd name="connsiteX2" fmla="*/ 4739094 w 4859015"/>
              <a:gd name="connsiteY2" fmla="*/ 390619 h 2639143"/>
              <a:gd name="connsiteX3" fmla="*/ 4859015 w 4859015"/>
              <a:gd name="connsiteY3" fmla="*/ 2639143 h 2639143"/>
              <a:gd name="connsiteX4" fmla="*/ 1096484 w 4859015"/>
              <a:gd name="connsiteY4" fmla="*/ 2639143 h 2639143"/>
              <a:gd name="connsiteX5" fmla="*/ 1283861 w 4859015"/>
              <a:gd name="connsiteY5" fmla="*/ 413104 h 2639143"/>
              <a:gd name="connsiteX0" fmla="*/ 1283861 w 4859015"/>
              <a:gd name="connsiteY0" fmla="*/ 639949 h 2865988"/>
              <a:gd name="connsiteX1" fmla="*/ 2205756 w 4859015"/>
              <a:gd name="connsiteY1" fmla="*/ 377621 h 2865988"/>
              <a:gd name="connsiteX2" fmla="*/ 4739094 w 4859015"/>
              <a:gd name="connsiteY2" fmla="*/ 617464 h 2865988"/>
              <a:gd name="connsiteX3" fmla="*/ 4859015 w 4859015"/>
              <a:gd name="connsiteY3" fmla="*/ 2865988 h 2865988"/>
              <a:gd name="connsiteX4" fmla="*/ 1096484 w 4859015"/>
              <a:gd name="connsiteY4" fmla="*/ 2865988 h 2865988"/>
              <a:gd name="connsiteX5" fmla="*/ 1283861 w 4859015"/>
              <a:gd name="connsiteY5" fmla="*/ 639949 h 2865988"/>
              <a:gd name="connsiteX0" fmla="*/ 1283861 w 4859015"/>
              <a:gd name="connsiteY0" fmla="*/ 805598 h 3031637"/>
              <a:gd name="connsiteX1" fmla="*/ 2205756 w 4859015"/>
              <a:gd name="connsiteY1" fmla="*/ 543270 h 3031637"/>
              <a:gd name="connsiteX2" fmla="*/ 4739094 w 4859015"/>
              <a:gd name="connsiteY2" fmla="*/ 783113 h 3031637"/>
              <a:gd name="connsiteX3" fmla="*/ 4859015 w 4859015"/>
              <a:gd name="connsiteY3" fmla="*/ 3031637 h 3031637"/>
              <a:gd name="connsiteX4" fmla="*/ 1096484 w 4859015"/>
              <a:gd name="connsiteY4" fmla="*/ 3031637 h 3031637"/>
              <a:gd name="connsiteX5" fmla="*/ 1283861 w 4859015"/>
              <a:gd name="connsiteY5" fmla="*/ 805598 h 3031637"/>
              <a:gd name="connsiteX0" fmla="*/ 1283861 w 5259884"/>
              <a:gd name="connsiteY0" fmla="*/ 805598 h 3031637"/>
              <a:gd name="connsiteX1" fmla="*/ 2205756 w 5259884"/>
              <a:gd name="connsiteY1" fmla="*/ 543270 h 3031637"/>
              <a:gd name="connsiteX2" fmla="*/ 4739094 w 5259884"/>
              <a:gd name="connsiteY2" fmla="*/ 783113 h 3031637"/>
              <a:gd name="connsiteX3" fmla="*/ 4859015 w 5259884"/>
              <a:gd name="connsiteY3" fmla="*/ 3031637 h 3031637"/>
              <a:gd name="connsiteX4" fmla="*/ 1096484 w 5259884"/>
              <a:gd name="connsiteY4" fmla="*/ 3031637 h 3031637"/>
              <a:gd name="connsiteX5" fmla="*/ 1283861 w 5259884"/>
              <a:gd name="connsiteY5" fmla="*/ 805598 h 3031637"/>
              <a:gd name="connsiteX0" fmla="*/ 1283861 w 5871218"/>
              <a:gd name="connsiteY0" fmla="*/ 805598 h 3031637"/>
              <a:gd name="connsiteX1" fmla="*/ 2205756 w 5871218"/>
              <a:gd name="connsiteY1" fmla="*/ 543270 h 3031637"/>
              <a:gd name="connsiteX2" fmla="*/ 4739094 w 5871218"/>
              <a:gd name="connsiteY2" fmla="*/ 783113 h 3031637"/>
              <a:gd name="connsiteX3" fmla="*/ 4859015 w 5871218"/>
              <a:gd name="connsiteY3" fmla="*/ 3031637 h 3031637"/>
              <a:gd name="connsiteX4" fmla="*/ 1096484 w 5871218"/>
              <a:gd name="connsiteY4" fmla="*/ 3031637 h 3031637"/>
              <a:gd name="connsiteX5" fmla="*/ 1283861 w 5871218"/>
              <a:gd name="connsiteY5" fmla="*/ 805598 h 3031637"/>
              <a:gd name="connsiteX0" fmla="*/ 1283861 w 5924778"/>
              <a:gd name="connsiteY0" fmla="*/ 805598 h 3031637"/>
              <a:gd name="connsiteX1" fmla="*/ 2205756 w 5924778"/>
              <a:gd name="connsiteY1" fmla="*/ 543270 h 3031637"/>
              <a:gd name="connsiteX2" fmla="*/ 4739094 w 5924778"/>
              <a:gd name="connsiteY2" fmla="*/ 783113 h 3031637"/>
              <a:gd name="connsiteX3" fmla="*/ 4859015 w 5924778"/>
              <a:gd name="connsiteY3" fmla="*/ 3031637 h 3031637"/>
              <a:gd name="connsiteX4" fmla="*/ 1096484 w 5924778"/>
              <a:gd name="connsiteY4" fmla="*/ 3031637 h 3031637"/>
              <a:gd name="connsiteX5" fmla="*/ 1283861 w 5924778"/>
              <a:gd name="connsiteY5" fmla="*/ 805598 h 3031637"/>
              <a:gd name="connsiteX0" fmla="*/ 1283861 w 5924778"/>
              <a:gd name="connsiteY0" fmla="*/ 816848 h 3042887"/>
              <a:gd name="connsiteX1" fmla="*/ 2205756 w 5924778"/>
              <a:gd name="connsiteY1" fmla="*/ 554520 h 3042887"/>
              <a:gd name="connsiteX2" fmla="*/ 4739094 w 5924778"/>
              <a:gd name="connsiteY2" fmla="*/ 794363 h 3042887"/>
              <a:gd name="connsiteX3" fmla="*/ 4859015 w 5924778"/>
              <a:gd name="connsiteY3" fmla="*/ 3042887 h 3042887"/>
              <a:gd name="connsiteX4" fmla="*/ 1096484 w 5924778"/>
              <a:gd name="connsiteY4" fmla="*/ 3042887 h 3042887"/>
              <a:gd name="connsiteX5" fmla="*/ 1283861 w 5924778"/>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918987"/>
              <a:gd name="connsiteY0" fmla="*/ 816848 h 3042887"/>
              <a:gd name="connsiteX1" fmla="*/ 2199965 w 5918987"/>
              <a:gd name="connsiteY1" fmla="*/ 554520 h 3042887"/>
              <a:gd name="connsiteX2" fmla="*/ 4733303 w 5918987"/>
              <a:gd name="connsiteY2" fmla="*/ 794363 h 3042887"/>
              <a:gd name="connsiteX3" fmla="*/ 4853224 w 5918987"/>
              <a:gd name="connsiteY3" fmla="*/ 3042887 h 3042887"/>
              <a:gd name="connsiteX4" fmla="*/ 1090693 w 5918987"/>
              <a:gd name="connsiteY4" fmla="*/ 3042887 h 3042887"/>
              <a:gd name="connsiteX5" fmla="*/ 1278070 w 5918987"/>
              <a:gd name="connsiteY5" fmla="*/ 816848 h 3042887"/>
              <a:gd name="connsiteX0" fmla="*/ 1278070 w 5872028"/>
              <a:gd name="connsiteY0" fmla="*/ 816848 h 3042887"/>
              <a:gd name="connsiteX1" fmla="*/ 2199965 w 5872028"/>
              <a:gd name="connsiteY1" fmla="*/ 554520 h 3042887"/>
              <a:gd name="connsiteX2" fmla="*/ 4733303 w 5872028"/>
              <a:gd name="connsiteY2" fmla="*/ 794363 h 3042887"/>
              <a:gd name="connsiteX3" fmla="*/ 4853224 w 5872028"/>
              <a:gd name="connsiteY3" fmla="*/ 3042887 h 3042887"/>
              <a:gd name="connsiteX4" fmla="*/ 1090693 w 5872028"/>
              <a:gd name="connsiteY4" fmla="*/ 3042887 h 3042887"/>
              <a:gd name="connsiteX5" fmla="*/ 1278070 w 5872028"/>
              <a:gd name="connsiteY5" fmla="*/ 816848 h 3042887"/>
              <a:gd name="connsiteX0" fmla="*/ 1278070 w 5772302"/>
              <a:gd name="connsiteY0" fmla="*/ 816848 h 3042887"/>
              <a:gd name="connsiteX1" fmla="*/ 2199965 w 5772302"/>
              <a:gd name="connsiteY1" fmla="*/ 554520 h 3042887"/>
              <a:gd name="connsiteX2" fmla="*/ 4733303 w 5772302"/>
              <a:gd name="connsiteY2" fmla="*/ 794363 h 3042887"/>
              <a:gd name="connsiteX3" fmla="*/ 4670002 w 5772302"/>
              <a:gd name="connsiteY3" fmla="*/ 3037652 h 3042887"/>
              <a:gd name="connsiteX4" fmla="*/ 1090693 w 5772302"/>
              <a:gd name="connsiteY4" fmla="*/ 3042887 h 3042887"/>
              <a:gd name="connsiteX5" fmla="*/ 1278070 w 5772302"/>
              <a:gd name="connsiteY5" fmla="*/ 816848 h 3042887"/>
              <a:gd name="connsiteX0" fmla="*/ 1278070 w 5812783"/>
              <a:gd name="connsiteY0" fmla="*/ 816848 h 3042887"/>
              <a:gd name="connsiteX1" fmla="*/ 2199965 w 5812783"/>
              <a:gd name="connsiteY1" fmla="*/ 554520 h 3042887"/>
              <a:gd name="connsiteX2" fmla="*/ 4733303 w 5812783"/>
              <a:gd name="connsiteY2" fmla="*/ 794363 h 3042887"/>
              <a:gd name="connsiteX3" fmla="*/ 4670002 w 5812783"/>
              <a:gd name="connsiteY3" fmla="*/ 3037652 h 3042887"/>
              <a:gd name="connsiteX4" fmla="*/ 1090693 w 5812783"/>
              <a:gd name="connsiteY4" fmla="*/ 3042887 h 3042887"/>
              <a:gd name="connsiteX5" fmla="*/ 1278070 w 5812783"/>
              <a:gd name="connsiteY5" fmla="*/ 816848 h 3042887"/>
              <a:gd name="connsiteX0" fmla="*/ 1278070 w 5894253"/>
              <a:gd name="connsiteY0" fmla="*/ 816848 h 3042887"/>
              <a:gd name="connsiteX1" fmla="*/ 2199965 w 5894253"/>
              <a:gd name="connsiteY1" fmla="*/ 554520 h 3042887"/>
              <a:gd name="connsiteX2" fmla="*/ 4733303 w 5894253"/>
              <a:gd name="connsiteY2" fmla="*/ 794363 h 3042887"/>
              <a:gd name="connsiteX3" fmla="*/ 4670002 w 5894253"/>
              <a:gd name="connsiteY3" fmla="*/ 3037652 h 3042887"/>
              <a:gd name="connsiteX4" fmla="*/ 1090693 w 5894253"/>
              <a:gd name="connsiteY4" fmla="*/ 3042887 h 3042887"/>
              <a:gd name="connsiteX5" fmla="*/ 1278070 w 5894253"/>
              <a:gd name="connsiteY5" fmla="*/ 816848 h 304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4253" h="3042887">
                <a:moveTo>
                  <a:pt x="1278070" y="816848"/>
                </a:moveTo>
                <a:cubicBezTo>
                  <a:pt x="1465446" y="167274"/>
                  <a:pt x="2080044" y="447091"/>
                  <a:pt x="2199965" y="554520"/>
                </a:cubicBezTo>
                <a:cubicBezTo>
                  <a:pt x="2976955" y="-384863"/>
                  <a:pt x="4353552" y="-12608"/>
                  <a:pt x="4733303" y="794363"/>
                </a:cubicBezTo>
                <a:cubicBezTo>
                  <a:pt x="6240379" y="843022"/>
                  <a:pt x="6343074" y="2920642"/>
                  <a:pt x="4670002" y="3037652"/>
                </a:cubicBezTo>
                <a:lnTo>
                  <a:pt x="1090693" y="3042887"/>
                </a:lnTo>
                <a:cubicBezTo>
                  <a:pt x="-203458" y="3035392"/>
                  <a:pt x="-583208" y="809353"/>
                  <a:pt x="1278070" y="816848"/>
                </a:cubicBezTo>
                <a:close/>
              </a:path>
            </a:pathLst>
          </a:cu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252000" rIns="0" bIns="0" numCol="1" spcCol="0" rtlCol="0" fromWordArt="0" anchor="ctr" anchorCtr="0" forceAA="0" compatLnSpc="1">
            <a:prstTxWarp prst="textNoShape">
              <a:avLst/>
            </a:prstTxWarp>
            <a:noAutofit/>
          </a:bodyPr>
          <a:lstStyle/>
          <a:p>
            <a:pPr algn="ctr"/>
            <a:r>
              <a:rPr lang="de-DE" sz="1200" dirty="0">
                <a:solidFill>
                  <a:schemeClr val="tx1"/>
                </a:solidFill>
                <a:latin typeface="Arial" pitchFamily="34" charset="0"/>
                <a:cs typeface="Arial" pitchFamily="34" charset="0"/>
              </a:rPr>
              <a:t>Message Broker</a:t>
            </a:r>
          </a:p>
        </p:txBody>
      </p:sp>
    </p:spTree>
    <p:extLst>
      <p:ext uri="{BB962C8B-B14F-4D97-AF65-F5344CB8AC3E}">
        <p14:creationId xmlns:p14="http://schemas.microsoft.com/office/powerpoint/2010/main" val="1448788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9D9160-6663-26E0-658E-B5EB8F4FF150}"/>
              </a:ext>
            </a:extLst>
          </p:cNvPr>
          <p:cNvSpPr>
            <a:spLocks noGrp="1"/>
          </p:cNvSpPr>
          <p:nvPr>
            <p:ph type="title"/>
          </p:nvPr>
        </p:nvSpPr>
        <p:spPr/>
        <p:txBody>
          <a:bodyPr/>
          <a:lstStyle/>
          <a:p>
            <a:r>
              <a:rPr lang="en-US" noProof="0" dirty="0"/>
              <a:t>TwinCAT Cloud Engineering</a:t>
            </a:r>
          </a:p>
        </p:txBody>
      </p:sp>
      <p:sp>
        <p:nvSpPr>
          <p:cNvPr id="5" name="Text Placeholder 1">
            <a:extLst>
              <a:ext uri="{FF2B5EF4-FFF2-40B4-BE49-F238E27FC236}">
                <a16:creationId xmlns:a16="http://schemas.microsoft.com/office/drawing/2014/main" id="{1DECC23B-14BB-3418-5614-E6395D977DE3}"/>
              </a:ext>
            </a:extLst>
          </p:cNvPr>
          <p:cNvSpPr txBox="1">
            <a:spLocks/>
          </p:cNvSpPr>
          <p:nvPr/>
        </p:nvSpPr>
        <p:spPr bwMode="gray">
          <a:xfrm>
            <a:off x="3" y="1090800"/>
            <a:ext cx="6095997" cy="5331600"/>
          </a:xfrm>
          <a:prstGeom prst="rect">
            <a:avLst/>
          </a:prstGeom>
        </p:spPr>
        <p:txBody>
          <a:bodyPr vert="horz" lIns="450000" tIns="190800" rIns="91440" bIns="45720" rtlCol="0">
            <a:noAutofit/>
          </a:bodyPr>
          <a:lst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lang="en-US" sz="2200" kern="1200" baseline="0" noProof="0" dirty="0" smtClean="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lang="en-US" sz="2200" kern="1200" noProof="0" dirty="0" smtClean="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lang="en-US" sz="2200" kern="1200" noProof="0" dirty="0" smtClean="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lang="en-US" sz="2200" kern="1200" noProof="0" dirty="0" smtClean="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lang="en-US" sz="2200" kern="1200" noProof="0" dirty="0" smtClean="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r>
              <a:rPr lang="en-US" noProof="0" dirty="0"/>
              <a:t>TwinCAT Cloud Engineering is a cloud service that provides virtual-machines with pre-installed TwinCAT + Functions</a:t>
            </a:r>
          </a:p>
          <a:p>
            <a:r>
              <a:rPr lang="en-US" noProof="0" dirty="0"/>
              <a:t>Platform-independent, secure access to the virtual machine via regular web browser</a:t>
            </a:r>
          </a:p>
          <a:p>
            <a:r>
              <a:rPr lang="en-US" noProof="0" dirty="0"/>
              <a:t>Secure access to physical controller via ADS-over-MQTT - perfectly suited for remote maintenance</a:t>
            </a:r>
          </a:p>
          <a:p>
            <a:endParaRPr lang="en-US" noProof="0" dirty="0"/>
          </a:p>
          <a:p>
            <a:endParaRPr lang="en-US" noProof="0" dirty="0"/>
          </a:p>
          <a:p>
            <a:pPr lvl="1"/>
            <a:endParaRPr lang="en-US" noProof="0" dirty="0"/>
          </a:p>
          <a:p>
            <a:pPr lvl="1"/>
            <a:endParaRPr lang="en-US" noProof="0" dirty="0"/>
          </a:p>
        </p:txBody>
      </p:sp>
      <p:sp>
        <p:nvSpPr>
          <p:cNvPr id="6" name="TextBox 5">
            <a:extLst>
              <a:ext uri="{FF2B5EF4-FFF2-40B4-BE49-F238E27FC236}">
                <a16:creationId xmlns:a16="http://schemas.microsoft.com/office/drawing/2014/main" id="{4ACCEAFA-2EE9-2270-25AE-A57382E3529A}"/>
              </a:ext>
            </a:extLst>
          </p:cNvPr>
          <p:cNvSpPr txBox="1"/>
          <p:nvPr/>
        </p:nvSpPr>
        <p:spPr>
          <a:xfrm>
            <a:off x="6695816" y="5557356"/>
            <a:ext cx="1776448" cy="307777"/>
          </a:xfrm>
          <a:prstGeom prst="rect">
            <a:avLst/>
          </a:prstGeom>
          <a:noFill/>
        </p:spPr>
        <p:txBody>
          <a:bodyPr wrap="none" rtlCol="0">
            <a:spAutoFit/>
          </a:bodyPr>
          <a:lstStyle/>
          <a:p>
            <a:pPr algn="ctr"/>
            <a:r>
              <a:rPr lang="en-US" sz="1400" noProof="0" dirty="0"/>
              <a:t>Connected machine</a:t>
            </a:r>
          </a:p>
        </p:txBody>
      </p:sp>
      <p:cxnSp>
        <p:nvCxnSpPr>
          <p:cNvPr id="7" name="Straight Arrow Connector 6">
            <a:extLst>
              <a:ext uri="{FF2B5EF4-FFF2-40B4-BE49-F238E27FC236}">
                <a16:creationId xmlns:a16="http://schemas.microsoft.com/office/drawing/2014/main" id="{1AB38C6D-B55C-B3BC-C875-ABFA630AF01F}"/>
              </a:ext>
            </a:extLst>
          </p:cNvPr>
          <p:cNvCxnSpPr>
            <a:cxnSpLocks/>
          </p:cNvCxnSpPr>
          <p:nvPr/>
        </p:nvCxnSpPr>
        <p:spPr>
          <a:xfrm flipH="1" flipV="1">
            <a:off x="7546544" y="3824877"/>
            <a:ext cx="7108" cy="792088"/>
          </a:xfrm>
          <a:prstGeom prst="straightConnector1">
            <a:avLst/>
          </a:prstGeom>
          <a:ln w="28575">
            <a:solidFill>
              <a:schemeClr val="tx1"/>
            </a:solidFill>
            <a:prstDash val="sysDash"/>
            <a:miter lim="800000"/>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0289A929-23ED-F692-C800-B289A000CA44}"/>
              </a:ext>
            </a:extLst>
          </p:cNvPr>
          <p:cNvGrpSpPr/>
          <p:nvPr/>
        </p:nvGrpSpPr>
        <p:grpSpPr>
          <a:xfrm>
            <a:off x="7138909" y="4682615"/>
            <a:ext cx="864096" cy="864096"/>
            <a:chOff x="7138909" y="4750343"/>
            <a:chExt cx="864096" cy="864096"/>
          </a:xfrm>
          <a:effectLst>
            <a:outerShdw blurRad="50800" dist="38100" dir="2700000" algn="tl" rotWithShape="0">
              <a:prstClr val="black">
                <a:alpha val="40000"/>
              </a:prstClr>
            </a:outerShdw>
          </a:effectLst>
        </p:grpSpPr>
        <p:sp>
          <p:nvSpPr>
            <p:cNvPr id="9" name="Oval 8">
              <a:extLst>
                <a:ext uri="{FF2B5EF4-FFF2-40B4-BE49-F238E27FC236}">
                  <a16:creationId xmlns:a16="http://schemas.microsoft.com/office/drawing/2014/main" id="{E837F45B-B601-113C-43CC-C5A8E2FACC58}"/>
                </a:ext>
              </a:extLst>
            </p:cNvPr>
            <p:cNvSpPr>
              <a:spLocks noChangeAspect="1"/>
            </p:cNvSpPr>
            <p:nvPr/>
          </p:nvSpPr>
          <p:spPr>
            <a:xfrm>
              <a:off x="7138909" y="4750343"/>
              <a:ext cx="864096" cy="864096"/>
            </a:xfrm>
            <a:prstGeom prst="ellipse">
              <a:avLst/>
            </a:prstGeom>
            <a:solidFill>
              <a:schemeClr val="bg1"/>
            </a:solidFill>
            <a:ln w="28575">
              <a:solidFill>
                <a:srgbClr val="86405C"/>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buFont typeface="Wingdings" panose="05000000000000000000" pitchFamily="2" charset="2"/>
                <a:buNone/>
              </a:pPr>
              <a:endParaRPr lang="en-US" sz="2200" noProof="0" dirty="0">
                <a:solidFill>
                  <a:schemeClr val="bg1"/>
                </a:solidFill>
                <a:latin typeface="Arial" pitchFamily="34" charset="0"/>
                <a:cs typeface="Arial" pitchFamily="34" charset="0"/>
              </a:endParaRPr>
            </a:p>
          </p:txBody>
        </p:sp>
        <p:grpSp>
          <p:nvGrpSpPr>
            <p:cNvPr id="10" name="Gruppieren 14">
              <a:extLst>
                <a:ext uri="{FF2B5EF4-FFF2-40B4-BE49-F238E27FC236}">
                  <a16:creationId xmlns:a16="http://schemas.microsoft.com/office/drawing/2014/main" id="{C8CD55C0-A4FF-159C-C9E9-C4A127C1D427}"/>
                </a:ext>
              </a:extLst>
            </p:cNvPr>
            <p:cNvGrpSpPr>
              <a:grpSpLocks noChangeAspect="1"/>
            </p:cNvGrpSpPr>
            <p:nvPr/>
          </p:nvGrpSpPr>
          <p:grpSpPr>
            <a:xfrm rot="5400000">
              <a:off x="7280957" y="4858010"/>
              <a:ext cx="615194" cy="571831"/>
              <a:chOff x="591720" y="4289375"/>
              <a:chExt cx="1607951" cy="1494613"/>
            </a:xfrm>
            <a:solidFill>
              <a:schemeClr val="accent3"/>
            </a:solidFill>
          </p:grpSpPr>
          <p:sp>
            <p:nvSpPr>
              <p:cNvPr id="11" name="Freihandform: Form 15">
                <a:extLst>
                  <a:ext uri="{FF2B5EF4-FFF2-40B4-BE49-F238E27FC236}">
                    <a16:creationId xmlns:a16="http://schemas.microsoft.com/office/drawing/2014/main" id="{29FF6615-03CC-E9AC-6030-5ADE72D13256}"/>
                  </a:ext>
                </a:extLst>
              </p:cNvPr>
              <p:cNvSpPr/>
              <p:nvPr/>
            </p:nvSpPr>
            <p:spPr>
              <a:xfrm>
                <a:off x="1596551" y="4577748"/>
                <a:ext cx="603120" cy="1206240"/>
              </a:xfrm>
              <a:custGeom>
                <a:avLst/>
                <a:gdLst>
                  <a:gd name="connsiteX0" fmla="*/ 228600 w 266700"/>
                  <a:gd name="connsiteY0" fmla="*/ 95250 h 533400"/>
                  <a:gd name="connsiteX1" fmla="*/ 38100 w 266700"/>
                  <a:gd name="connsiteY1" fmla="*/ 95250 h 533400"/>
                  <a:gd name="connsiteX2" fmla="*/ 38100 w 266700"/>
                  <a:gd name="connsiteY2" fmla="*/ 38100 h 533400"/>
                  <a:gd name="connsiteX3" fmla="*/ 228600 w 266700"/>
                  <a:gd name="connsiteY3" fmla="*/ 38100 h 533400"/>
                  <a:gd name="connsiteX4" fmla="*/ 228600 w 266700"/>
                  <a:gd name="connsiteY4" fmla="*/ 95250 h 533400"/>
                  <a:gd name="connsiteX5" fmla="*/ 228600 w 266700"/>
                  <a:gd name="connsiteY5" fmla="*/ 190500 h 533400"/>
                  <a:gd name="connsiteX6" fmla="*/ 38100 w 266700"/>
                  <a:gd name="connsiteY6" fmla="*/ 190500 h 533400"/>
                  <a:gd name="connsiteX7" fmla="*/ 38100 w 266700"/>
                  <a:gd name="connsiteY7" fmla="*/ 133350 h 533400"/>
                  <a:gd name="connsiteX8" fmla="*/ 228600 w 266700"/>
                  <a:gd name="connsiteY8" fmla="*/ 133350 h 533400"/>
                  <a:gd name="connsiteX9" fmla="*/ 228600 w 266700"/>
                  <a:gd name="connsiteY9" fmla="*/ 190500 h 533400"/>
                  <a:gd name="connsiteX10" fmla="*/ 133350 w 266700"/>
                  <a:gd name="connsiteY10" fmla="*/ 476250 h 533400"/>
                  <a:gd name="connsiteX11" fmla="*/ 104775 w 266700"/>
                  <a:gd name="connsiteY11" fmla="*/ 447675 h 533400"/>
                  <a:gd name="connsiteX12" fmla="*/ 133350 w 266700"/>
                  <a:gd name="connsiteY12" fmla="*/ 419100 h 533400"/>
                  <a:gd name="connsiteX13" fmla="*/ 161925 w 266700"/>
                  <a:gd name="connsiteY13" fmla="*/ 447675 h 533400"/>
                  <a:gd name="connsiteX14" fmla="*/ 133350 w 266700"/>
                  <a:gd name="connsiteY14" fmla="*/ 476250 h 533400"/>
                  <a:gd name="connsiteX15" fmla="*/ 228600 w 266700"/>
                  <a:gd name="connsiteY15" fmla="*/ 0 h 533400"/>
                  <a:gd name="connsiteX16" fmla="*/ 38100 w 266700"/>
                  <a:gd name="connsiteY16" fmla="*/ 0 h 533400"/>
                  <a:gd name="connsiteX17" fmla="*/ 0 w 266700"/>
                  <a:gd name="connsiteY17" fmla="*/ 38100 h 533400"/>
                  <a:gd name="connsiteX18" fmla="*/ 0 w 266700"/>
                  <a:gd name="connsiteY18" fmla="*/ 495300 h 533400"/>
                  <a:gd name="connsiteX19" fmla="*/ 38100 w 266700"/>
                  <a:gd name="connsiteY19" fmla="*/ 533400 h 533400"/>
                  <a:gd name="connsiteX20" fmla="*/ 228600 w 266700"/>
                  <a:gd name="connsiteY20" fmla="*/ 533400 h 533400"/>
                  <a:gd name="connsiteX21" fmla="*/ 266700 w 266700"/>
                  <a:gd name="connsiteY21" fmla="*/ 495300 h 533400"/>
                  <a:gd name="connsiteX22" fmla="*/ 266700 w 266700"/>
                  <a:gd name="connsiteY22" fmla="*/ 38100 h 533400"/>
                  <a:gd name="connsiteX23" fmla="*/ 228600 w 266700"/>
                  <a:gd name="connsiteY23" fmla="*/ 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6700" h="533400">
                    <a:moveTo>
                      <a:pt x="228600" y="95250"/>
                    </a:moveTo>
                    <a:lnTo>
                      <a:pt x="38100" y="95250"/>
                    </a:lnTo>
                    <a:lnTo>
                      <a:pt x="38100" y="38100"/>
                    </a:lnTo>
                    <a:lnTo>
                      <a:pt x="228600" y="38100"/>
                    </a:lnTo>
                    <a:lnTo>
                      <a:pt x="228600" y="95250"/>
                    </a:lnTo>
                    <a:close/>
                    <a:moveTo>
                      <a:pt x="228600" y="190500"/>
                    </a:moveTo>
                    <a:lnTo>
                      <a:pt x="38100" y="190500"/>
                    </a:lnTo>
                    <a:lnTo>
                      <a:pt x="38100" y="133350"/>
                    </a:lnTo>
                    <a:lnTo>
                      <a:pt x="228600" y="133350"/>
                    </a:lnTo>
                    <a:lnTo>
                      <a:pt x="228600" y="190500"/>
                    </a:lnTo>
                    <a:close/>
                    <a:moveTo>
                      <a:pt x="133350" y="476250"/>
                    </a:moveTo>
                    <a:cubicBezTo>
                      <a:pt x="117158" y="476250"/>
                      <a:pt x="104775" y="463867"/>
                      <a:pt x="104775" y="447675"/>
                    </a:cubicBezTo>
                    <a:cubicBezTo>
                      <a:pt x="104775" y="431483"/>
                      <a:pt x="117158" y="419100"/>
                      <a:pt x="133350" y="419100"/>
                    </a:cubicBezTo>
                    <a:cubicBezTo>
                      <a:pt x="149542" y="419100"/>
                      <a:pt x="161925" y="431483"/>
                      <a:pt x="161925" y="447675"/>
                    </a:cubicBezTo>
                    <a:cubicBezTo>
                      <a:pt x="161925" y="463867"/>
                      <a:pt x="149542" y="476250"/>
                      <a:pt x="133350" y="476250"/>
                    </a:cubicBezTo>
                    <a:close/>
                    <a:moveTo>
                      <a:pt x="228600" y="0"/>
                    </a:moveTo>
                    <a:lnTo>
                      <a:pt x="38100" y="0"/>
                    </a:lnTo>
                    <a:cubicBezTo>
                      <a:pt x="17145" y="0"/>
                      <a:pt x="0" y="17145"/>
                      <a:pt x="0" y="38100"/>
                    </a:cubicBezTo>
                    <a:lnTo>
                      <a:pt x="0" y="495300"/>
                    </a:lnTo>
                    <a:cubicBezTo>
                      <a:pt x="0" y="516255"/>
                      <a:pt x="17145" y="533400"/>
                      <a:pt x="38100" y="533400"/>
                    </a:cubicBezTo>
                    <a:lnTo>
                      <a:pt x="228600" y="533400"/>
                    </a:lnTo>
                    <a:cubicBezTo>
                      <a:pt x="249555" y="533400"/>
                      <a:pt x="266700" y="516255"/>
                      <a:pt x="266700" y="495300"/>
                    </a:cubicBezTo>
                    <a:lnTo>
                      <a:pt x="266700" y="38100"/>
                    </a:lnTo>
                    <a:cubicBezTo>
                      <a:pt x="266700" y="17145"/>
                      <a:pt x="249555" y="0"/>
                      <a:pt x="228600" y="0"/>
                    </a:cubicBezTo>
                    <a:close/>
                  </a:path>
                </a:pathLst>
              </a:custGeom>
              <a:grpFill/>
              <a:ln w="9525" cap="flat">
                <a:noFill/>
                <a:prstDash val="solid"/>
                <a:miter/>
              </a:ln>
            </p:spPr>
            <p:txBody>
              <a:bodyPr rtlCol="0" anchor="ctr"/>
              <a:lstStyle/>
              <a:p>
                <a:endParaRPr lang="en-US" noProof="0" dirty="0"/>
              </a:p>
            </p:txBody>
          </p:sp>
          <p:sp>
            <p:nvSpPr>
              <p:cNvPr id="12" name="Freihandform: Form 16">
                <a:extLst>
                  <a:ext uri="{FF2B5EF4-FFF2-40B4-BE49-F238E27FC236}">
                    <a16:creationId xmlns:a16="http://schemas.microsoft.com/office/drawing/2014/main" id="{25FECE2C-0CE2-4B6C-A9B1-5CB5E8DCF42F}"/>
                  </a:ext>
                </a:extLst>
              </p:cNvPr>
              <p:cNvSpPr/>
              <p:nvPr/>
            </p:nvSpPr>
            <p:spPr>
              <a:xfrm rot="16200000">
                <a:off x="715803" y="4276740"/>
                <a:ext cx="602421" cy="627691"/>
              </a:xfrm>
              <a:custGeom>
                <a:avLst/>
                <a:gdLst>
                  <a:gd name="connsiteX0" fmla="*/ 590176 w 602421"/>
                  <a:gd name="connsiteY0" fmla="*/ 264923 h 627691"/>
                  <a:gd name="connsiteX1" fmla="*/ 562916 w 602421"/>
                  <a:gd name="connsiteY1" fmla="*/ 233784 h 627691"/>
                  <a:gd name="connsiteX2" fmla="*/ 382199 w 602421"/>
                  <a:gd name="connsiteY2" fmla="*/ 196885 h 627691"/>
                  <a:gd name="connsiteX3" fmla="*/ 351214 w 602421"/>
                  <a:gd name="connsiteY3" fmla="*/ 206199 h 627691"/>
                  <a:gd name="connsiteX4" fmla="*/ 314708 w 602421"/>
                  <a:gd name="connsiteY4" fmla="*/ 242688 h 627691"/>
                  <a:gd name="connsiteX5" fmla="*/ 72020 w 602421"/>
                  <a:gd name="connsiteY5" fmla="*/ 0 h 627691"/>
                  <a:gd name="connsiteX6" fmla="*/ 0 w 602421"/>
                  <a:gd name="connsiteY6" fmla="*/ 121344 h 627691"/>
                  <a:gd name="connsiteX7" fmla="*/ 218026 w 602421"/>
                  <a:gd name="connsiteY7" fmla="*/ 339370 h 627691"/>
                  <a:gd name="connsiteX8" fmla="*/ 182768 w 602421"/>
                  <a:gd name="connsiteY8" fmla="*/ 374645 h 627691"/>
                  <a:gd name="connsiteX9" fmla="*/ 173368 w 602421"/>
                  <a:gd name="connsiteY9" fmla="*/ 405238 h 627691"/>
                  <a:gd name="connsiteX10" fmla="*/ 208319 w 602421"/>
                  <a:gd name="connsiteY10" fmla="*/ 587835 h 627691"/>
                  <a:gd name="connsiteX11" fmla="*/ 239612 w 602421"/>
                  <a:gd name="connsiteY11" fmla="*/ 615504 h 627691"/>
                  <a:gd name="connsiteX12" fmla="*/ 420876 w 602421"/>
                  <a:gd name="connsiteY12" fmla="*/ 627588 h 627691"/>
                  <a:gd name="connsiteX13" fmla="*/ 423183 w 602421"/>
                  <a:gd name="connsiteY13" fmla="*/ 627673 h 627691"/>
                  <a:gd name="connsiteX14" fmla="*/ 458484 w 602421"/>
                  <a:gd name="connsiteY14" fmla="*/ 594611 h 627691"/>
                  <a:gd name="connsiteX15" fmla="*/ 425422 w 602421"/>
                  <a:gd name="connsiteY15" fmla="*/ 559310 h 627691"/>
                  <a:gd name="connsiteX16" fmla="*/ 270477 w 602421"/>
                  <a:gd name="connsiteY16" fmla="*/ 549056 h 627691"/>
                  <a:gd name="connsiteX17" fmla="*/ 243901 w 602421"/>
                  <a:gd name="connsiteY17" fmla="*/ 410194 h 627691"/>
                  <a:gd name="connsiteX18" fmla="*/ 386557 w 602421"/>
                  <a:gd name="connsiteY18" fmla="*/ 267538 h 627691"/>
                  <a:gd name="connsiteX19" fmla="*/ 523727 w 602421"/>
                  <a:gd name="connsiteY19" fmla="*/ 295481 h 627691"/>
                  <a:gd name="connsiteX20" fmla="*/ 534084 w 602421"/>
                  <a:gd name="connsiteY20" fmla="*/ 450733 h 627691"/>
                  <a:gd name="connsiteX21" fmla="*/ 570488 w 602421"/>
                  <a:gd name="connsiteY21" fmla="*/ 482590 h 627691"/>
                  <a:gd name="connsiteX22" fmla="*/ 602345 w 602421"/>
                  <a:gd name="connsiteY22" fmla="*/ 446187 h 62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2421" h="627691">
                    <a:moveTo>
                      <a:pt x="590176" y="264923"/>
                    </a:moveTo>
                    <a:cubicBezTo>
                      <a:pt x="589120" y="249596"/>
                      <a:pt x="577968" y="236858"/>
                      <a:pt x="562916" y="233784"/>
                    </a:cubicBezTo>
                    <a:lnTo>
                      <a:pt x="382199" y="196885"/>
                    </a:lnTo>
                    <a:cubicBezTo>
                      <a:pt x="370960" y="194557"/>
                      <a:pt x="359306" y="198061"/>
                      <a:pt x="351214" y="206199"/>
                    </a:cubicBezTo>
                    <a:lnTo>
                      <a:pt x="314708" y="242688"/>
                    </a:lnTo>
                    <a:lnTo>
                      <a:pt x="72020" y="0"/>
                    </a:lnTo>
                    <a:cubicBezTo>
                      <a:pt x="69091" y="49727"/>
                      <a:pt x="42248" y="94952"/>
                      <a:pt x="0" y="121344"/>
                    </a:cubicBezTo>
                    <a:lnTo>
                      <a:pt x="218026" y="339370"/>
                    </a:lnTo>
                    <a:lnTo>
                      <a:pt x="182768" y="374645"/>
                    </a:lnTo>
                    <a:cubicBezTo>
                      <a:pt x="174759" y="382656"/>
                      <a:pt x="171239" y="394113"/>
                      <a:pt x="173368" y="405238"/>
                    </a:cubicBezTo>
                    <a:lnTo>
                      <a:pt x="208319" y="587835"/>
                    </a:lnTo>
                    <a:cubicBezTo>
                      <a:pt x="211244" y="603100"/>
                      <a:pt x="224103" y="614469"/>
                      <a:pt x="239612" y="615504"/>
                    </a:cubicBezTo>
                    <a:lnTo>
                      <a:pt x="420876" y="627588"/>
                    </a:lnTo>
                    <a:cubicBezTo>
                      <a:pt x="421645" y="627588"/>
                      <a:pt x="422414" y="627673"/>
                      <a:pt x="423183" y="627673"/>
                    </a:cubicBezTo>
                    <a:cubicBezTo>
                      <a:pt x="442061" y="628292"/>
                      <a:pt x="457865" y="613489"/>
                      <a:pt x="458484" y="594611"/>
                    </a:cubicBezTo>
                    <a:cubicBezTo>
                      <a:pt x="459102" y="575733"/>
                      <a:pt x="444300" y="559929"/>
                      <a:pt x="425422" y="559310"/>
                    </a:cubicBezTo>
                    <a:lnTo>
                      <a:pt x="270477" y="549056"/>
                    </a:lnTo>
                    <a:lnTo>
                      <a:pt x="243901" y="410194"/>
                    </a:lnTo>
                    <a:lnTo>
                      <a:pt x="386557" y="267538"/>
                    </a:lnTo>
                    <a:lnTo>
                      <a:pt x="523727" y="295481"/>
                    </a:lnTo>
                    <a:lnTo>
                      <a:pt x="534084" y="450733"/>
                    </a:lnTo>
                    <a:cubicBezTo>
                      <a:pt x="535340" y="469582"/>
                      <a:pt x="551638" y="483846"/>
                      <a:pt x="570488" y="482590"/>
                    </a:cubicBezTo>
                    <a:cubicBezTo>
                      <a:pt x="589337" y="481334"/>
                      <a:pt x="603599" y="465036"/>
                      <a:pt x="602345" y="446187"/>
                    </a:cubicBezTo>
                    <a:close/>
                  </a:path>
                </a:pathLst>
              </a:custGeom>
              <a:grpFill/>
              <a:ln w="17066" cap="flat">
                <a:noFill/>
                <a:prstDash val="solid"/>
                <a:miter/>
              </a:ln>
            </p:spPr>
            <p:txBody>
              <a:bodyPr rtlCol="0" anchor="ctr"/>
              <a:lstStyle/>
              <a:p>
                <a:endParaRPr lang="en-US" noProof="0" dirty="0"/>
              </a:p>
            </p:txBody>
          </p:sp>
          <p:sp>
            <p:nvSpPr>
              <p:cNvPr id="13" name="Freihandform: Form 17">
                <a:extLst>
                  <a:ext uri="{FF2B5EF4-FFF2-40B4-BE49-F238E27FC236}">
                    <a16:creationId xmlns:a16="http://schemas.microsoft.com/office/drawing/2014/main" id="{BBF3CFF2-D95B-3BAD-4BD2-CAA564B87426}"/>
                  </a:ext>
                </a:extLst>
              </p:cNvPr>
              <p:cNvSpPr/>
              <p:nvPr/>
            </p:nvSpPr>
            <p:spPr>
              <a:xfrm rot="16200000">
                <a:off x="947771" y="5123017"/>
                <a:ext cx="579049" cy="588825"/>
              </a:xfrm>
              <a:custGeom>
                <a:avLst/>
                <a:gdLst>
                  <a:gd name="connsiteX0" fmla="*/ 579050 w 579049"/>
                  <a:gd name="connsiteY0" fmla="*/ 263094 h 588825"/>
                  <a:gd name="connsiteX1" fmla="*/ 533777 w 579049"/>
                  <a:gd name="connsiteY1" fmla="*/ 108064 h 588825"/>
                  <a:gd name="connsiteX2" fmla="*/ 413185 w 579049"/>
                  <a:gd name="connsiteY2" fmla="*/ 252139 h 588825"/>
                  <a:gd name="connsiteX3" fmla="*/ 164763 w 579049"/>
                  <a:gd name="connsiteY3" fmla="*/ 274588 h 588825"/>
                  <a:gd name="connsiteX4" fmla="*/ 142314 w 579049"/>
                  <a:gd name="connsiteY4" fmla="*/ 26168 h 588825"/>
                  <a:gd name="connsiteX5" fmla="*/ 164754 w 579049"/>
                  <a:gd name="connsiteY5" fmla="*/ 3726 h 588825"/>
                  <a:gd name="connsiteX6" fmla="*/ 169198 w 579049"/>
                  <a:gd name="connsiteY6" fmla="*/ 0 h 588825"/>
                  <a:gd name="connsiteX7" fmla="*/ 0 w 579049"/>
                  <a:gd name="connsiteY7" fmla="*/ 263094 h 588825"/>
                  <a:gd name="connsiteX8" fmla="*/ 0 w 579049"/>
                  <a:gd name="connsiteY8" fmla="*/ 588826 h 588825"/>
                  <a:gd name="connsiteX9" fmla="*/ 579050 w 579049"/>
                  <a:gd name="connsiteY9" fmla="*/ 588826 h 58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9049" h="588825">
                    <a:moveTo>
                      <a:pt x="579050" y="263094"/>
                    </a:moveTo>
                    <a:cubicBezTo>
                      <a:pt x="579064" y="208156"/>
                      <a:pt x="563354" y="154361"/>
                      <a:pt x="533777" y="108064"/>
                    </a:cubicBezTo>
                    <a:lnTo>
                      <a:pt x="413185" y="252139"/>
                    </a:lnTo>
                    <a:cubicBezTo>
                      <a:pt x="350785" y="326938"/>
                      <a:pt x="239562" y="336989"/>
                      <a:pt x="164763" y="274588"/>
                    </a:cubicBezTo>
                    <a:cubicBezTo>
                      <a:pt x="89965" y="212188"/>
                      <a:pt x="79914" y="100965"/>
                      <a:pt x="142314" y="26168"/>
                    </a:cubicBezTo>
                    <a:cubicBezTo>
                      <a:pt x="149104" y="18027"/>
                      <a:pt x="156616" y="10516"/>
                      <a:pt x="164754" y="3726"/>
                    </a:cubicBezTo>
                    <a:lnTo>
                      <a:pt x="169198" y="0"/>
                    </a:lnTo>
                    <a:cubicBezTo>
                      <a:pt x="66163" y="47020"/>
                      <a:pt x="41" y="149838"/>
                      <a:pt x="0" y="263094"/>
                    </a:cubicBezTo>
                    <a:lnTo>
                      <a:pt x="0" y="588826"/>
                    </a:lnTo>
                    <a:lnTo>
                      <a:pt x="579050" y="588826"/>
                    </a:lnTo>
                    <a:close/>
                  </a:path>
                </a:pathLst>
              </a:custGeom>
              <a:grpFill/>
              <a:ln w="17066" cap="flat">
                <a:noFill/>
                <a:prstDash val="solid"/>
                <a:miter/>
              </a:ln>
            </p:spPr>
            <p:txBody>
              <a:bodyPr rtlCol="0" anchor="ctr"/>
              <a:lstStyle/>
              <a:p>
                <a:endParaRPr lang="en-US" noProof="0" dirty="0"/>
              </a:p>
            </p:txBody>
          </p:sp>
          <p:sp>
            <p:nvSpPr>
              <p:cNvPr id="14" name="Freihandform: Form 18">
                <a:extLst>
                  <a:ext uri="{FF2B5EF4-FFF2-40B4-BE49-F238E27FC236}">
                    <a16:creationId xmlns:a16="http://schemas.microsoft.com/office/drawing/2014/main" id="{CA80CC98-CA75-36AA-F8E4-BDA9842279B8}"/>
                  </a:ext>
                </a:extLst>
              </p:cNvPr>
              <p:cNvSpPr/>
              <p:nvPr/>
            </p:nvSpPr>
            <p:spPr>
              <a:xfrm rot="16200000">
                <a:off x="684010" y="5031188"/>
                <a:ext cx="502192" cy="543620"/>
              </a:xfrm>
              <a:custGeom>
                <a:avLst/>
                <a:gdLst>
                  <a:gd name="connsiteX0" fmla="*/ 427199 w 502192"/>
                  <a:gd name="connsiteY0" fmla="*/ 30968 h 543620"/>
                  <a:gd name="connsiteX1" fmla="*/ 430343 w 502192"/>
                  <a:gd name="connsiteY1" fmla="*/ 0 h 543620"/>
                  <a:gd name="connsiteX2" fmla="*/ 44760 w 502192"/>
                  <a:gd name="connsiteY2" fmla="*/ 322621 h 543620"/>
                  <a:gd name="connsiteX3" fmla="*/ 29215 w 502192"/>
                  <a:gd name="connsiteY3" fmla="*/ 498860 h 543620"/>
                  <a:gd name="connsiteX4" fmla="*/ 205454 w 502192"/>
                  <a:gd name="connsiteY4" fmla="*/ 514406 h 543620"/>
                  <a:gd name="connsiteX5" fmla="*/ 221000 w 502192"/>
                  <a:gd name="connsiteY5" fmla="*/ 498860 h 543620"/>
                  <a:gd name="connsiteX6" fmla="*/ 502193 w 502192"/>
                  <a:gd name="connsiteY6" fmla="*/ 162806 h 543620"/>
                  <a:gd name="connsiteX7" fmla="*/ 427199 w 502192"/>
                  <a:gd name="connsiteY7" fmla="*/ 30968 h 543620"/>
                  <a:gd name="connsiteX8" fmla="*/ 169522 w 502192"/>
                  <a:gd name="connsiteY8" fmla="*/ 422448 h 543620"/>
                  <a:gd name="connsiteX9" fmla="*/ 121183 w 502192"/>
                  <a:gd name="connsiteY9" fmla="*/ 422455 h 543620"/>
                  <a:gd name="connsiteX10" fmla="*/ 121174 w 502192"/>
                  <a:gd name="connsiteY10" fmla="*/ 374115 h 543620"/>
                  <a:gd name="connsiteX11" fmla="*/ 169516 w 502192"/>
                  <a:gd name="connsiteY11" fmla="*/ 374109 h 543620"/>
                  <a:gd name="connsiteX12" fmla="*/ 169522 w 502192"/>
                  <a:gd name="connsiteY12" fmla="*/ 374115 h 543620"/>
                  <a:gd name="connsiteX13" fmla="*/ 169522 w 502192"/>
                  <a:gd name="connsiteY13" fmla="*/ 422448 h 543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2192" h="543620">
                    <a:moveTo>
                      <a:pt x="427199" y="30968"/>
                    </a:moveTo>
                    <a:cubicBezTo>
                      <a:pt x="427199" y="20565"/>
                      <a:pt x="428252" y="10189"/>
                      <a:pt x="430343" y="0"/>
                    </a:cubicBezTo>
                    <a:lnTo>
                      <a:pt x="44760" y="322621"/>
                    </a:lnTo>
                    <a:cubicBezTo>
                      <a:pt x="-8200" y="366995"/>
                      <a:pt x="-15160" y="445900"/>
                      <a:pt x="29215" y="498860"/>
                    </a:cubicBezTo>
                    <a:cubicBezTo>
                      <a:pt x="73587" y="551821"/>
                      <a:pt x="152493" y="558780"/>
                      <a:pt x="205454" y="514406"/>
                    </a:cubicBezTo>
                    <a:cubicBezTo>
                      <a:pt x="211082" y="509691"/>
                      <a:pt x="216284" y="504488"/>
                      <a:pt x="221000" y="498860"/>
                    </a:cubicBezTo>
                    <a:lnTo>
                      <a:pt x="502193" y="162806"/>
                    </a:lnTo>
                    <a:cubicBezTo>
                      <a:pt x="455759" y="135097"/>
                      <a:pt x="427286" y="85042"/>
                      <a:pt x="427199" y="30968"/>
                    </a:cubicBezTo>
                    <a:close/>
                    <a:moveTo>
                      <a:pt x="169522" y="422448"/>
                    </a:moveTo>
                    <a:cubicBezTo>
                      <a:pt x="156176" y="435799"/>
                      <a:pt x="134533" y="435803"/>
                      <a:pt x="121183" y="422455"/>
                    </a:cubicBezTo>
                    <a:cubicBezTo>
                      <a:pt x="107832" y="409109"/>
                      <a:pt x="107828" y="387467"/>
                      <a:pt x="121174" y="374115"/>
                    </a:cubicBezTo>
                    <a:cubicBezTo>
                      <a:pt x="134522" y="360764"/>
                      <a:pt x="156164" y="360761"/>
                      <a:pt x="169516" y="374109"/>
                    </a:cubicBezTo>
                    <a:cubicBezTo>
                      <a:pt x="169517" y="374110"/>
                      <a:pt x="169521" y="374114"/>
                      <a:pt x="169522" y="374115"/>
                    </a:cubicBezTo>
                    <a:cubicBezTo>
                      <a:pt x="182867" y="387463"/>
                      <a:pt x="182867" y="409100"/>
                      <a:pt x="169522" y="422448"/>
                    </a:cubicBezTo>
                    <a:close/>
                  </a:path>
                </a:pathLst>
              </a:custGeom>
              <a:grpFill/>
              <a:ln w="17066" cap="flat">
                <a:noFill/>
                <a:prstDash val="solid"/>
                <a:miter/>
              </a:ln>
            </p:spPr>
            <p:txBody>
              <a:bodyPr rtlCol="0" anchor="ctr"/>
              <a:lstStyle/>
              <a:p>
                <a:endParaRPr lang="en-US" noProof="0" dirty="0"/>
              </a:p>
            </p:txBody>
          </p:sp>
          <p:sp>
            <p:nvSpPr>
              <p:cNvPr id="15" name="Freihandform: Form 19">
                <a:extLst>
                  <a:ext uri="{FF2B5EF4-FFF2-40B4-BE49-F238E27FC236}">
                    <a16:creationId xmlns:a16="http://schemas.microsoft.com/office/drawing/2014/main" id="{8B142210-5DF3-BB45-6C98-1FDA990F505D}"/>
                  </a:ext>
                </a:extLst>
              </p:cNvPr>
              <p:cNvSpPr/>
              <p:nvPr/>
            </p:nvSpPr>
            <p:spPr>
              <a:xfrm rot="16200000">
                <a:off x="1309529" y="5349075"/>
                <a:ext cx="717809" cy="136725"/>
              </a:xfrm>
              <a:custGeom>
                <a:avLst/>
                <a:gdLst>
                  <a:gd name="connsiteX0" fmla="*/ 649447 w 717809"/>
                  <a:gd name="connsiteY0" fmla="*/ 0 h 136725"/>
                  <a:gd name="connsiteX1" fmla="*/ 68363 w 717809"/>
                  <a:gd name="connsiteY1" fmla="*/ 0 h 136725"/>
                  <a:gd name="connsiteX2" fmla="*/ 0 w 717809"/>
                  <a:gd name="connsiteY2" fmla="*/ 68363 h 136725"/>
                  <a:gd name="connsiteX3" fmla="*/ 0 w 717809"/>
                  <a:gd name="connsiteY3" fmla="*/ 136726 h 136725"/>
                  <a:gd name="connsiteX4" fmla="*/ 717809 w 717809"/>
                  <a:gd name="connsiteY4" fmla="*/ 136726 h 136725"/>
                  <a:gd name="connsiteX5" fmla="*/ 717809 w 717809"/>
                  <a:gd name="connsiteY5" fmla="*/ 68363 h 136725"/>
                  <a:gd name="connsiteX6" fmla="*/ 649447 w 717809"/>
                  <a:gd name="connsiteY6" fmla="*/ 0 h 13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809" h="136725">
                    <a:moveTo>
                      <a:pt x="649447" y="0"/>
                    </a:moveTo>
                    <a:lnTo>
                      <a:pt x="68363" y="0"/>
                    </a:lnTo>
                    <a:cubicBezTo>
                      <a:pt x="30607" y="0"/>
                      <a:pt x="0" y="30608"/>
                      <a:pt x="0" y="68363"/>
                    </a:cubicBezTo>
                    <a:lnTo>
                      <a:pt x="0" y="136726"/>
                    </a:lnTo>
                    <a:lnTo>
                      <a:pt x="717809" y="136726"/>
                    </a:lnTo>
                    <a:lnTo>
                      <a:pt x="717809" y="68363"/>
                    </a:lnTo>
                    <a:cubicBezTo>
                      <a:pt x="717809" y="30608"/>
                      <a:pt x="687202" y="0"/>
                      <a:pt x="649447" y="0"/>
                    </a:cubicBezTo>
                    <a:close/>
                  </a:path>
                </a:pathLst>
              </a:custGeom>
              <a:grpFill/>
              <a:ln w="17066" cap="flat">
                <a:noFill/>
                <a:prstDash val="solid"/>
                <a:miter/>
              </a:ln>
            </p:spPr>
            <p:txBody>
              <a:bodyPr rtlCol="0" anchor="ctr"/>
              <a:lstStyle/>
              <a:p>
                <a:endParaRPr lang="en-US" noProof="0" dirty="0"/>
              </a:p>
            </p:txBody>
          </p:sp>
          <p:sp>
            <p:nvSpPr>
              <p:cNvPr id="16" name="Freihandform: Form 20">
                <a:extLst>
                  <a:ext uri="{FF2B5EF4-FFF2-40B4-BE49-F238E27FC236}">
                    <a16:creationId xmlns:a16="http://schemas.microsoft.com/office/drawing/2014/main" id="{E44B4E49-15CC-882B-4EC1-CC1E56B21E79}"/>
                  </a:ext>
                </a:extLst>
              </p:cNvPr>
              <p:cNvSpPr/>
              <p:nvPr/>
            </p:nvSpPr>
            <p:spPr>
              <a:xfrm rot="16200000">
                <a:off x="591720" y="4870535"/>
                <a:ext cx="205088" cy="205088"/>
              </a:xfrm>
              <a:custGeom>
                <a:avLst/>
                <a:gdLst>
                  <a:gd name="connsiteX0" fmla="*/ 102544 w 205088"/>
                  <a:gd name="connsiteY0" fmla="*/ 0 h 205088"/>
                  <a:gd name="connsiteX1" fmla="*/ 0 w 205088"/>
                  <a:gd name="connsiteY1" fmla="*/ 102544 h 205088"/>
                  <a:gd name="connsiteX2" fmla="*/ 102544 w 205088"/>
                  <a:gd name="connsiteY2" fmla="*/ 205088 h 205088"/>
                  <a:gd name="connsiteX3" fmla="*/ 205088 w 205088"/>
                  <a:gd name="connsiteY3" fmla="*/ 102544 h 205088"/>
                  <a:gd name="connsiteX4" fmla="*/ 102544 w 205088"/>
                  <a:gd name="connsiteY4" fmla="*/ 0 h 205088"/>
                  <a:gd name="connsiteX5" fmla="*/ 102544 w 205088"/>
                  <a:gd name="connsiteY5" fmla="*/ 128180 h 205088"/>
                  <a:gd name="connsiteX6" fmla="*/ 76908 w 205088"/>
                  <a:gd name="connsiteY6" fmla="*/ 102544 h 205088"/>
                  <a:gd name="connsiteX7" fmla="*/ 102544 w 205088"/>
                  <a:gd name="connsiteY7" fmla="*/ 76908 h 205088"/>
                  <a:gd name="connsiteX8" fmla="*/ 128180 w 205088"/>
                  <a:gd name="connsiteY8" fmla="*/ 102544 h 205088"/>
                  <a:gd name="connsiteX9" fmla="*/ 102544 w 205088"/>
                  <a:gd name="connsiteY9" fmla="*/ 128180 h 205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5088" h="205088">
                    <a:moveTo>
                      <a:pt x="102544" y="0"/>
                    </a:moveTo>
                    <a:cubicBezTo>
                      <a:pt x="45911" y="0"/>
                      <a:pt x="0" y="45911"/>
                      <a:pt x="0" y="102544"/>
                    </a:cubicBezTo>
                    <a:cubicBezTo>
                      <a:pt x="0" y="159178"/>
                      <a:pt x="45911" y="205088"/>
                      <a:pt x="102544" y="205088"/>
                    </a:cubicBezTo>
                    <a:cubicBezTo>
                      <a:pt x="159178" y="205088"/>
                      <a:pt x="205088" y="159178"/>
                      <a:pt x="205088" y="102544"/>
                    </a:cubicBezTo>
                    <a:cubicBezTo>
                      <a:pt x="205088" y="45911"/>
                      <a:pt x="159178" y="0"/>
                      <a:pt x="102544" y="0"/>
                    </a:cubicBezTo>
                    <a:close/>
                    <a:moveTo>
                      <a:pt x="102544" y="128180"/>
                    </a:moveTo>
                    <a:cubicBezTo>
                      <a:pt x="88386" y="128180"/>
                      <a:pt x="76908" y="116702"/>
                      <a:pt x="76908" y="102544"/>
                    </a:cubicBezTo>
                    <a:cubicBezTo>
                      <a:pt x="76908" y="88386"/>
                      <a:pt x="88386" y="76908"/>
                      <a:pt x="102544" y="76908"/>
                    </a:cubicBezTo>
                    <a:cubicBezTo>
                      <a:pt x="116702" y="76908"/>
                      <a:pt x="128180" y="88386"/>
                      <a:pt x="128180" y="102544"/>
                    </a:cubicBezTo>
                    <a:cubicBezTo>
                      <a:pt x="128180" y="116702"/>
                      <a:pt x="116702" y="128180"/>
                      <a:pt x="102544" y="128180"/>
                    </a:cubicBezTo>
                    <a:close/>
                  </a:path>
                </a:pathLst>
              </a:custGeom>
              <a:grpFill/>
              <a:ln w="17066" cap="flat">
                <a:noFill/>
                <a:prstDash val="solid"/>
                <a:miter/>
              </a:ln>
            </p:spPr>
            <p:txBody>
              <a:bodyPr rtlCol="0" anchor="ctr"/>
              <a:lstStyle/>
              <a:p>
                <a:endParaRPr lang="en-US" noProof="0" dirty="0"/>
              </a:p>
            </p:txBody>
          </p:sp>
        </p:grpSp>
      </p:grpSp>
      <p:grpSp>
        <p:nvGrpSpPr>
          <p:cNvPr id="17" name="Gruppieren 75">
            <a:extLst>
              <a:ext uri="{FF2B5EF4-FFF2-40B4-BE49-F238E27FC236}">
                <a16:creationId xmlns:a16="http://schemas.microsoft.com/office/drawing/2014/main" id="{49A47FD2-BDC6-8A76-EDC0-9C78C1C0ED06}"/>
              </a:ext>
            </a:extLst>
          </p:cNvPr>
          <p:cNvGrpSpPr>
            <a:grpSpLocks noChangeAspect="1"/>
          </p:cNvGrpSpPr>
          <p:nvPr/>
        </p:nvGrpSpPr>
        <p:grpSpPr>
          <a:xfrm>
            <a:off x="7394903" y="4120211"/>
            <a:ext cx="325245" cy="325245"/>
            <a:chOff x="9552384" y="1700808"/>
            <a:chExt cx="384282" cy="384282"/>
          </a:xfrm>
        </p:grpSpPr>
        <p:sp>
          <p:nvSpPr>
            <p:cNvPr id="18" name="Ellipse 76">
              <a:extLst>
                <a:ext uri="{FF2B5EF4-FFF2-40B4-BE49-F238E27FC236}">
                  <a16:creationId xmlns:a16="http://schemas.microsoft.com/office/drawing/2014/main" id="{D89A2A2F-8641-7F61-D572-56F3513F0895}"/>
                </a:ext>
              </a:extLst>
            </p:cNvPr>
            <p:cNvSpPr/>
            <p:nvPr/>
          </p:nvSpPr>
          <p:spPr>
            <a:xfrm>
              <a:off x="9552384" y="1700808"/>
              <a:ext cx="384282" cy="384282"/>
            </a:xfrm>
            <a:prstGeom prst="ellipse">
              <a:avLst/>
            </a:prstGeom>
            <a:gradFill>
              <a:gsLst>
                <a:gs pos="0">
                  <a:srgbClr val="EF0000"/>
                </a:gs>
                <a:gs pos="83000">
                  <a:srgbClr val="EF0000">
                    <a:lumMod val="50000"/>
                  </a:srgbClr>
                </a:gs>
              </a:gsLst>
              <a:lin ang="600000" scaled="0"/>
            </a:gradFill>
            <a:ln w="12700">
              <a:solidFill>
                <a:schemeClr val="bg1"/>
              </a:solidFill>
            </a:ln>
            <a:effectLst/>
          </p:spPr>
          <p:txBody>
            <a:bodyPr wrap="square" tIns="0" bIns="0" rtlCol="0" anchor="ctr">
              <a:noAutofit/>
            </a:bodyPr>
            <a:lstStyle/>
            <a:p>
              <a:pPr algn="ctr"/>
              <a:endParaRPr lang="en-US" sz="4400" b="1" noProof="0" dirty="0">
                <a:solidFill>
                  <a:schemeClr val="bg1"/>
                </a:solidFill>
              </a:endParaRPr>
            </a:p>
          </p:txBody>
        </p:sp>
        <p:pic>
          <p:nvPicPr>
            <p:cNvPr id="19" name="Grafik 77">
              <a:extLst>
                <a:ext uri="{FF2B5EF4-FFF2-40B4-BE49-F238E27FC236}">
                  <a16:creationId xmlns:a16="http://schemas.microsoft.com/office/drawing/2014/main" id="{DFC323DE-870C-5EE2-24BF-11568873D8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012" y="1740137"/>
              <a:ext cx="203027" cy="281814"/>
            </a:xfrm>
            <a:prstGeom prst="rect">
              <a:avLst/>
            </a:prstGeom>
          </p:spPr>
        </p:pic>
      </p:grpSp>
      <p:sp>
        <p:nvSpPr>
          <p:cNvPr id="20" name="TextBox 19">
            <a:extLst>
              <a:ext uri="{FF2B5EF4-FFF2-40B4-BE49-F238E27FC236}">
                <a16:creationId xmlns:a16="http://schemas.microsoft.com/office/drawing/2014/main" id="{6D9FF691-0FDE-13E3-0668-1ECB4108D249}"/>
              </a:ext>
            </a:extLst>
          </p:cNvPr>
          <p:cNvSpPr txBox="1"/>
          <p:nvPr/>
        </p:nvSpPr>
        <p:spPr>
          <a:xfrm>
            <a:off x="10159120" y="5550998"/>
            <a:ext cx="562976" cy="307777"/>
          </a:xfrm>
          <a:prstGeom prst="rect">
            <a:avLst/>
          </a:prstGeom>
          <a:noFill/>
        </p:spPr>
        <p:txBody>
          <a:bodyPr wrap="none" rtlCol="0">
            <a:spAutoFit/>
          </a:bodyPr>
          <a:lstStyle/>
          <a:p>
            <a:pPr algn="ctr"/>
            <a:r>
              <a:rPr lang="en-US" sz="1400" noProof="0" dirty="0"/>
              <a:t>User</a:t>
            </a:r>
          </a:p>
        </p:txBody>
      </p:sp>
      <p:cxnSp>
        <p:nvCxnSpPr>
          <p:cNvPr id="21" name="Straight Arrow Connector 20">
            <a:extLst>
              <a:ext uri="{FF2B5EF4-FFF2-40B4-BE49-F238E27FC236}">
                <a16:creationId xmlns:a16="http://schemas.microsoft.com/office/drawing/2014/main" id="{6B29D4B3-3D45-AB74-0AB6-F9FE9DAA9DC1}"/>
              </a:ext>
            </a:extLst>
          </p:cNvPr>
          <p:cNvCxnSpPr>
            <a:cxnSpLocks/>
          </p:cNvCxnSpPr>
          <p:nvPr/>
        </p:nvCxnSpPr>
        <p:spPr>
          <a:xfrm flipH="1" flipV="1">
            <a:off x="10403112" y="3818519"/>
            <a:ext cx="7108" cy="792088"/>
          </a:xfrm>
          <a:prstGeom prst="straightConnector1">
            <a:avLst/>
          </a:prstGeom>
          <a:ln w="28575">
            <a:solidFill>
              <a:schemeClr val="tx1"/>
            </a:solidFill>
            <a:prstDash val="sysDash"/>
            <a:miter lim="800000"/>
            <a:tailEnd type="triangle"/>
          </a:ln>
        </p:spPr>
        <p:style>
          <a:lnRef idx="1">
            <a:schemeClr val="accent1"/>
          </a:lnRef>
          <a:fillRef idx="0">
            <a:schemeClr val="accent1"/>
          </a:fillRef>
          <a:effectRef idx="0">
            <a:schemeClr val="accent1"/>
          </a:effectRef>
          <a:fontRef idx="minor">
            <a:schemeClr val="tx1"/>
          </a:fontRef>
        </p:style>
      </p:cxnSp>
      <p:grpSp>
        <p:nvGrpSpPr>
          <p:cNvPr id="31" name="Gruppieren 75">
            <a:extLst>
              <a:ext uri="{FF2B5EF4-FFF2-40B4-BE49-F238E27FC236}">
                <a16:creationId xmlns:a16="http://schemas.microsoft.com/office/drawing/2014/main" id="{00B016D9-97F5-125B-6C23-284F6AA62480}"/>
              </a:ext>
            </a:extLst>
          </p:cNvPr>
          <p:cNvGrpSpPr>
            <a:grpSpLocks noChangeAspect="1"/>
          </p:cNvGrpSpPr>
          <p:nvPr/>
        </p:nvGrpSpPr>
        <p:grpSpPr>
          <a:xfrm>
            <a:off x="10251471" y="4113853"/>
            <a:ext cx="325245" cy="325245"/>
            <a:chOff x="9552384" y="1700808"/>
            <a:chExt cx="384282" cy="384282"/>
          </a:xfrm>
        </p:grpSpPr>
        <p:sp>
          <p:nvSpPr>
            <p:cNvPr id="32" name="Ellipse 76">
              <a:extLst>
                <a:ext uri="{FF2B5EF4-FFF2-40B4-BE49-F238E27FC236}">
                  <a16:creationId xmlns:a16="http://schemas.microsoft.com/office/drawing/2014/main" id="{E0A025F1-39D2-1887-A96F-43B0F415544F}"/>
                </a:ext>
              </a:extLst>
            </p:cNvPr>
            <p:cNvSpPr/>
            <p:nvPr/>
          </p:nvSpPr>
          <p:spPr>
            <a:xfrm>
              <a:off x="9552384" y="1700808"/>
              <a:ext cx="384282" cy="384282"/>
            </a:xfrm>
            <a:prstGeom prst="ellipse">
              <a:avLst/>
            </a:prstGeom>
            <a:gradFill>
              <a:gsLst>
                <a:gs pos="0">
                  <a:srgbClr val="EF0000"/>
                </a:gs>
                <a:gs pos="83000">
                  <a:srgbClr val="EF0000">
                    <a:lumMod val="50000"/>
                  </a:srgbClr>
                </a:gs>
              </a:gsLst>
              <a:lin ang="600000" scaled="0"/>
            </a:gradFill>
            <a:ln w="12700">
              <a:solidFill>
                <a:schemeClr val="bg1"/>
              </a:solidFill>
            </a:ln>
            <a:effectLst/>
          </p:spPr>
          <p:txBody>
            <a:bodyPr wrap="square" tIns="0" bIns="0" rtlCol="0" anchor="ctr">
              <a:noAutofit/>
            </a:bodyPr>
            <a:lstStyle/>
            <a:p>
              <a:pPr algn="ctr"/>
              <a:endParaRPr lang="en-US" sz="4400" b="1" noProof="0" dirty="0">
                <a:solidFill>
                  <a:schemeClr val="bg1"/>
                </a:solidFill>
              </a:endParaRPr>
            </a:p>
          </p:txBody>
        </p:sp>
        <p:pic>
          <p:nvPicPr>
            <p:cNvPr id="33" name="Grafik 77">
              <a:extLst>
                <a:ext uri="{FF2B5EF4-FFF2-40B4-BE49-F238E27FC236}">
                  <a16:creationId xmlns:a16="http://schemas.microsoft.com/office/drawing/2014/main" id="{66990C0A-3D63-5F15-7490-8C23755280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012" y="1740137"/>
              <a:ext cx="203027" cy="281814"/>
            </a:xfrm>
            <a:prstGeom prst="rect">
              <a:avLst/>
            </a:prstGeom>
          </p:spPr>
        </p:pic>
      </p:grpSp>
      <p:sp>
        <p:nvSpPr>
          <p:cNvPr id="34" name="Rectangle 33">
            <a:extLst>
              <a:ext uri="{FF2B5EF4-FFF2-40B4-BE49-F238E27FC236}">
                <a16:creationId xmlns:a16="http://schemas.microsoft.com/office/drawing/2014/main" id="{DA120690-2F3E-D497-8164-374289853845}"/>
              </a:ext>
            </a:extLst>
          </p:cNvPr>
          <p:cNvSpPr/>
          <p:nvPr/>
        </p:nvSpPr>
        <p:spPr>
          <a:xfrm>
            <a:off x="6734703" y="1417056"/>
            <a:ext cx="4525459" cy="2376654"/>
          </a:xfrm>
          <a:prstGeom prst="rect">
            <a:avLst/>
          </a:prstGeom>
          <a:solidFill>
            <a:schemeClr val="bg1"/>
          </a:solidFill>
          <a:ln w="12700">
            <a:solidFill>
              <a:srgbClr val="80A44B"/>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400" noProof="0" dirty="0">
                <a:solidFill>
                  <a:sysClr val="windowText" lastClr="000000"/>
                </a:solidFill>
              </a:rPr>
              <a:t>TwinCAT Cloud Engineering</a:t>
            </a:r>
          </a:p>
        </p:txBody>
      </p:sp>
      <p:grpSp>
        <p:nvGrpSpPr>
          <p:cNvPr id="36" name="Group 35">
            <a:extLst>
              <a:ext uri="{FF2B5EF4-FFF2-40B4-BE49-F238E27FC236}">
                <a16:creationId xmlns:a16="http://schemas.microsoft.com/office/drawing/2014/main" id="{19F71082-5624-AF54-6CE1-5BC4B6E15494}"/>
              </a:ext>
            </a:extLst>
          </p:cNvPr>
          <p:cNvGrpSpPr/>
          <p:nvPr/>
        </p:nvGrpSpPr>
        <p:grpSpPr>
          <a:xfrm>
            <a:off x="7063887" y="2917053"/>
            <a:ext cx="747319" cy="833275"/>
            <a:chOff x="9008941" y="2346289"/>
            <a:chExt cx="747319" cy="833275"/>
          </a:xfrm>
        </p:grpSpPr>
        <p:pic>
          <p:nvPicPr>
            <p:cNvPr id="37" name="Picture 36" descr="A blue square with a logo&#10;&#10;Description automatically generated">
              <a:extLst>
                <a:ext uri="{FF2B5EF4-FFF2-40B4-BE49-F238E27FC236}">
                  <a16:creationId xmlns:a16="http://schemas.microsoft.com/office/drawing/2014/main" id="{5CB69ADA-E951-0432-9078-9588A6B3F3E0}"/>
                </a:ext>
              </a:extLst>
            </p:cNvPr>
            <p:cNvPicPr>
              <a:picLocks noChangeAspect="1"/>
            </p:cNvPicPr>
            <p:nvPr/>
          </p:nvPicPr>
          <p:blipFill>
            <a:blip r:embed="rId3"/>
            <a:stretch>
              <a:fillRect/>
            </a:stretch>
          </p:blipFill>
          <p:spPr>
            <a:xfrm>
              <a:off x="9167664" y="2346289"/>
              <a:ext cx="429874" cy="429874"/>
            </a:xfrm>
            <a:prstGeom prst="rect">
              <a:avLst/>
            </a:prstGeom>
          </p:spPr>
        </p:pic>
        <p:sp>
          <p:nvSpPr>
            <p:cNvPr id="38" name="TextBox 37">
              <a:extLst>
                <a:ext uri="{FF2B5EF4-FFF2-40B4-BE49-F238E27FC236}">
                  <a16:creationId xmlns:a16="http://schemas.microsoft.com/office/drawing/2014/main" id="{39BD43EB-CCD4-EC08-965D-287C7ED2349F}"/>
                </a:ext>
              </a:extLst>
            </p:cNvPr>
            <p:cNvSpPr txBox="1"/>
            <p:nvPr/>
          </p:nvSpPr>
          <p:spPr>
            <a:xfrm>
              <a:off x="9008941" y="2779454"/>
              <a:ext cx="747319" cy="400110"/>
            </a:xfrm>
            <a:prstGeom prst="rect">
              <a:avLst/>
            </a:prstGeom>
            <a:noFill/>
          </p:spPr>
          <p:txBody>
            <a:bodyPr wrap="square" rtlCol="0">
              <a:spAutoFit/>
            </a:bodyPr>
            <a:lstStyle/>
            <a:p>
              <a:pPr algn="ctr"/>
              <a:r>
                <a:rPr lang="en-US" sz="1000" noProof="0" dirty="0"/>
                <a:t>TwinCAT </a:t>
              </a:r>
            </a:p>
            <a:p>
              <a:pPr algn="ctr"/>
              <a:r>
                <a:rPr lang="en-US" sz="1000" noProof="0" dirty="0"/>
                <a:t>Analytics</a:t>
              </a:r>
            </a:p>
          </p:txBody>
        </p:sp>
      </p:grpSp>
      <p:pic>
        <p:nvPicPr>
          <p:cNvPr id="54" name="Picture 53" descr="A green box with a cloud in the middle&#10;&#10;Description automatically generated">
            <a:extLst>
              <a:ext uri="{FF2B5EF4-FFF2-40B4-BE49-F238E27FC236}">
                <a16:creationId xmlns:a16="http://schemas.microsoft.com/office/drawing/2014/main" id="{97491339-BA44-C9ED-723B-DD28476B7D51}"/>
              </a:ext>
            </a:extLst>
          </p:cNvPr>
          <p:cNvPicPr>
            <a:picLocks noChangeAspect="1"/>
          </p:cNvPicPr>
          <p:nvPr/>
        </p:nvPicPr>
        <p:blipFill>
          <a:blip r:embed="rId4"/>
          <a:stretch>
            <a:fillRect/>
          </a:stretch>
        </p:blipFill>
        <p:spPr>
          <a:xfrm>
            <a:off x="6734703" y="1417056"/>
            <a:ext cx="329184" cy="329184"/>
          </a:xfrm>
          <a:prstGeom prst="rect">
            <a:avLst/>
          </a:prstGeom>
        </p:spPr>
      </p:pic>
      <p:grpSp>
        <p:nvGrpSpPr>
          <p:cNvPr id="59" name="Group 58">
            <a:extLst>
              <a:ext uri="{FF2B5EF4-FFF2-40B4-BE49-F238E27FC236}">
                <a16:creationId xmlns:a16="http://schemas.microsoft.com/office/drawing/2014/main" id="{928D928C-AE73-788A-5643-BEC4B20DA065}"/>
              </a:ext>
            </a:extLst>
          </p:cNvPr>
          <p:cNvGrpSpPr/>
          <p:nvPr/>
        </p:nvGrpSpPr>
        <p:grpSpPr>
          <a:xfrm>
            <a:off x="6938309" y="2050701"/>
            <a:ext cx="1009139" cy="829878"/>
            <a:chOff x="5501514" y="3124200"/>
            <a:chExt cx="1009139" cy="829878"/>
          </a:xfrm>
        </p:grpSpPr>
        <p:pic>
          <p:nvPicPr>
            <p:cNvPr id="57" name="Picture 56" descr="A green logo with a clock and a gear&#10;&#10;Description automatically generated">
              <a:extLst>
                <a:ext uri="{FF2B5EF4-FFF2-40B4-BE49-F238E27FC236}">
                  <a16:creationId xmlns:a16="http://schemas.microsoft.com/office/drawing/2014/main" id="{2CB29B53-843D-A339-3456-0643BB57E94F}"/>
                </a:ext>
              </a:extLst>
            </p:cNvPr>
            <p:cNvPicPr>
              <a:picLocks noChangeAspect="1"/>
            </p:cNvPicPr>
            <p:nvPr/>
          </p:nvPicPr>
          <p:blipFill>
            <a:blip r:embed="rId5"/>
            <a:stretch>
              <a:fillRect/>
            </a:stretch>
          </p:blipFill>
          <p:spPr>
            <a:xfrm>
              <a:off x="5791200" y="3124200"/>
              <a:ext cx="429768" cy="429768"/>
            </a:xfrm>
            <a:prstGeom prst="rect">
              <a:avLst/>
            </a:prstGeom>
          </p:spPr>
        </p:pic>
        <p:sp>
          <p:nvSpPr>
            <p:cNvPr id="58" name="TextBox 57">
              <a:extLst>
                <a:ext uri="{FF2B5EF4-FFF2-40B4-BE49-F238E27FC236}">
                  <a16:creationId xmlns:a16="http://schemas.microsoft.com/office/drawing/2014/main" id="{3FCEFD0C-81A4-0C31-0A8B-F80BE9642550}"/>
                </a:ext>
              </a:extLst>
            </p:cNvPr>
            <p:cNvSpPr txBox="1"/>
            <p:nvPr/>
          </p:nvSpPr>
          <p:spPr>
            <a:xfrm>
              <a:off x="5501514" y="3553968"/>
              <a:ext cx="1009139" cy="400110"/>
            </a:xfrm>
            <a:prstGeom prst="rect">
              <a:avLst/>
            </a:prstGeom>
            <a:noFill/>
          </p:spPr>
          <p:txBody>
            <a:bodyPr wrap="square" rtlCol="0">
              <a:spAutoFit/>
            </a:bodyPr>
            <a:lstStyle/>
            <a:p>
              <a:pPr algn="ctr"/>
              <a:r>
                <a:rPr lang="en-US" sz="1000" noProof="0" dirty="0"/>
                <a:t>TwinCAT </a:t>
              </a:r>
            </a:p>
            <a:p>
              <a:pPr algn="ctr"/>
              <a:r>
                <a:rPr lang="en-US" sz="1000" noProof="0" dirty="0"/>
                <a:t>Engineering</a:t>
              </a:r>
            </a:p>
          </p:txBody>
        </p:sp>
      </p:grpSp>
      <p:grpSp>
        <p:nvGrpSpPr>
          <p:cNvPr id="63" name="Group 62">
            <a:extLst>
              <a:ext uri="{FF2B5EF4-FFF2-40B4-BE49-F238E27FC236}">
                <a16:creationId xmlns:a16="http://schemas.microsoft.com/office/drawing/2014/main" id="{B1F5BF87-3B40-9CCE-8F2F-79763E4FCF7F}"/>
              </a:ext>
            </a:extLst>
          </p:cNvPr>
          <p:cNvGrpSpPr/>
          <p:nvPr/>
        </p:nvGrpSpPr>
        <p:grpSpPr>
          <a:xfrm>
            <a:off x="7947448" y="2051043"/>
            <a:ext cx="1009139" cy="829536"/>
            <a:chOff x="7999906" y="2118771"/>
            <a:chExt cx="1009139" cy="829536"/>
          </a:xfrm>
        </p:grpSpPr>
        <p:pic>
          <p:nvPicPr>
            <p:cNvPr id="61" name="Picture 60" descr="A green square with a logo&#10;&#10;Description automatically generated">
              <a:extLst>
                <a:ext uri="{FF2B5EF4-FFF2-40B4-BE49-F238E27FC236}">
                  <a16:creationId xmlns:a16="http://schemas.microsoft.com/office/drawing/2014/main" id="{A6B8F06E-7218-A7C1-6394-D83D36226422}"/>
                </a:ext>
              </a:extLst>
            </p:cNvPr>
            <p:cNvPicPr>
              <a:picLocks noChangeAspect="1"/>
            </p:cNvPicPr>
            <p:nvPr/>
          </p:nvPicPr>
          <p:blipFill>
            <a:blip r:embed="rId6"/>
            <a:stretch>
              <a:fillRect/>
            </a:stretch>
          </p:blipFill>
          <p:spPr>
            <a:xfrm>
              <a:off x="8289592" y="2118771"/>
              <a:ext cx="429768" cy="429768"/>
            </a:xfrm>
            <a:prstGeom prst="rect">
              <a:avLst/>
            </a:prstGeom>
          </p:spPr>
        </p:pic>
        <p:sp>
          <p:nvSpPr>
            <p:cNvPr id="62" name="TextBox 61">
              <a:extLst>
                <a:ext uri="{FF2B5EF4-FFF2-40B4-BE49-F238E27FC236}">
                  <a16:creationId xmlns:a16="http://schemas.microsoft.com/office/drawing/2014/main" id="{881E3F5C-6287-1172-1424-76E2FE5E3EA6}"/>
                </a:ext>
              </a:extLst>
            </p:cNvPr>
            <p:cNvSpPr txBox="1"/>
            <p:nvPr/>
          </p:nvSpPr>
          <p:spPr>
            <a:xfrm>
              <a:off x="7999906" y="2548197"/>
              <a:ext cx="1009139" cy="400110"/>
            </a:xfrm>
            <a:prstGeom prst="rect">
              <a:avLst/>
            </a:prstGeom>
            <a:noFill/>
          </p:spPr>
          <p:txBody>
            <a:bodyPr wrap="square" rtlCol="0">
              <a:spAutoFit/>
            </a:bodyPr>
            <a:lstStyle/>
            <a:p>
              <a:pPr algn="ctr"/>
              <a:r>
                <a:rPr lang="en-US" sz="1000" noProof="0" dirty="0"/>
                <a:t>TwinCAT </a:t>
              </a:r>
            </a:p>
            <a:p>
              <a:pPr algn="ctr"/>
              <a:r>
                <a:rPr lang="en-US" sz="1000" noProof="0" dirty="0"/>
                <a:t>PLC</a:t>
              </a:r>
            </a:p>
          </p:txBody>
        </p:sp>
      </p:grpSp>
      <p:grpSp>
        <p:nvGrpSpPr>
          <p:cNvPr id="67" name="Group 66">
            <a:extLst>
              <a:ext uri="{FF2B5EF4-FFF2-40B4-BE49-F238E27FC236}">
                <a16:creationId xmlns:a16="http://schemas.microsoft.com/office/drawing/2014/main" id="{21A9B099-15A7-6455-24DB-3ACB848F24A5}"/>
              </a:ext>
            </a:extLst>
          </p:cNvPr>
          <p:cNvGrpSpPr/>
          <p:nvPr/>
        </p:nvGrpSpPr>
        <p:grpSpPr>
          <a:xfrm>
            <a:off x="7985935" y="2911700"/>
            <a:ext cx="927947" cy="836364"/>
            <a:chOff x="7985935" y="2979428"/>
            <a:chExt cx="927947" cy="836364"/>
          </a:xfrm>
        </p:grpSpPr>
        <p:pic>
          <p:nvPicPr>
            <p:cNvPr id="65" name="Picture 64" descr="A purple square with black outline&#10;&#10;Description automatically generated">
              <a:extLst>
                <a:ext uri="{FF2B5EF4-FFF2-40B4-BE49-F238E27FC236}">
                  <a16:creationId xmlns:a16="http://schemas.microsoft.com/office/drawing/2014/main" id="{07D77FEA-99AA-4C31-41E6-730C7A8CDE37}"/>
                </a:ext>
              </a:extLst>
            </p:cNvPr>
            <p:cNvPicPr>
              <a:picLocks noChangeAspect="1"/>
            </p:cNvPicPr>
            <p:nvPr/>
          </p:nvPicPr>
          <p:blipFill>
            <a:blip r:embed="rId7"/>
            <a:stretch>
              <a:fillRect/>
            </a:stretch>
          </p:blipFill>
          <p:spPr>
            <a:xfrm>
              <a:off x="8237133" y="2979428"/>
              <a:ext cx="429768" cy="429768"/>
            </a:xfrm>
            <a:prstGeom prst="rect">
              <a:avLst/>
            </a:prstGeom>
          </p:spPr>
        </p:pic>
        <p:sp>
          <p:nvSpPr>
            <p:cNvPr id="66" name="TextBox 65">
              <a:extLst>
                <a:ext uri="{FF2B5EF4-FFF2-40B4-BE49-F238E27FC236}">
                  <a16:creationId xmlns:a16="http://schemas.microsoft.com/office/drawing/2014/main" id="{5D299785-EB53-A9A6-C5A0-37620F2FE99A}"/>
                </a:ext>
              </a:extLst>
            </p:cNvPr>
            <p:cNvSpPr txBox="1"/>
            <p:nvPr/>
          </p:nvSpPr>
          <p:spPr>
            <a:xfrm>
              <a:off x="7985935" y="3415682"/>
              <a:ext cx="927947" cy="400110"/>
            </a:xfrm>
            <a:prstGeom prst="rect">
              <a:avLst/>
            </a:prstGeom>
            <a:noFill/>
          </p:spPr>
          <p:txBody>
            <a:bodyPr wrap="square" rtlCol="0">
              <a:spAutoFit/>
            </a:bodyPr>
            <a:lstStyle/>
            <a:p>
              <a:pPr algn="ctr"/>
              <a:r>
                <a:rPr lang="en-US" sz="1000" noProof="0" dirty="0"/>
                <a:t>TwinCAT </a:t>
              </a:r>
            </a:p>
            <a:p>
              <a:pPr algn="ctr"/>
              <a:r>
                <a:rPr lang="en-US" sz="1000" noProof="0" dirty="0"/>
                <a:t>Connectivity</a:t>
              </a:r>
            </a:p>
          </p:txBody>
        </p:sp>
      </p:grpSp>
      <p:sp>
        <p:nvSpPr>
          <p:cNvPr id="68" name="Rectangle: Rounded Corners 67">
            <a:extLst>
              <a:ext uri="{FF2B5EF4-FFF2-40B4-BE49-F238E27FC236}">
                <a16:creationId xmlns:a16="http://schemas.microsoft.com/office/drawing/2014/main" id="{7AB72812-BF9B-07F6-294F-1F6713440C60}"/>
              </a:ext>
            </a:extLst>
          </p:cNvPr>
          <p:cNvSpPr/>
          <p:nvPr/>
        </p:nvSpPr>
        <p:spPr>
          <a:xfrm>
            <a:off x="9199487" y="2907618"/>
            <a:ext cx="1352665" cy="433850"/>
          </a:xfrm>
          <a:prstGeom prst="roundRect">
            <a:avLst/>
          </a:prstGeom>
          <a:solidFill>
            <a:srgbClr val="CBD1D4"/>
          </a:solidFill>
          <a:ln w="6350">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234000" rIns="234000" rtlCol="0" anchor="ctr"/>
          <a:lstStyle/>
          <a:p>
            <a:pPr algn="ctr"/>
            <a:r>
              <a:rPr lang="en-US" sz="1000" noProof="0" dirty="0">
                <a:solidFill>
                  <a:schemeClr val="tx1"/>
                </a:solidFill>
                <a:latin typeface="Arial" pitchFamily="34" charset="0"/>
                <a:cs typeface="Arial" pitchFamily="34" charset="0"/>
              </a:rPr>
              <a:t>Message Broker</a:t>
            </a:r>
          </a:p>
        </p:txBody>
      </p:sp>
      <p:grpSp>
        <p:nvGrpSpPr>
          <p:cNvPr id="39" name="Group 38">
            <a:extLst>
              <a:ext uri="{FF2B5EF4-FFF2-40B4-BE49-F238E27FC236}">
                <a16:creationId xmlns:a16="http://schemas.microsoft.com/office/drawing/2014/main" id="{E865E502-2F61-A6BB-5DCF-331158421D2A}"/>
              </a:ext>
            </a:extLst>
          </p:cNvPr>
          <p:cNvGrpSpPr/>
          <p:nvPr/>
        </p:nvGrpSpPr>
        <p:grpSpPr>
          <a:xfrm>
            <a:off x="9832697" y="2046266"/>
            <a:ext cx="1009139" cy="825750"/>
            <a:chOff x="9767469" y="2118429"/>
            <a:chExt cx="1009139" cy="825750"/>
          </a:xfrm>
        </p:grpSpPr>
        <p:pic>
          <p:nvPicPr>
            <p:cNvPr id="4" name="Picture 3" descr="A blue background with circles and dots&#10;&#10;Description automatically generated">
              <a:extLst>
                <a:ext uri="{FF2B5EF4-FFF2-40B4-BE49-F238E27FC236}">
                  <a16:creationId xmlns:a16="http://schemas.microsoft.com/office/drawing/2014/main" id="{6F2CD538-94BC-6650-C55E-3C4ADA1D1870}"/>
                </a:ext>
              </a:extLst>
            </p:cNvPr>
            <p:cNvPicPr>
              <a:picLocks noChangeAspect="1"/>
            </p:cNvPicPr>
            <p:nvPr/>
          </p:nvPicPr>
          <p:blipFill>
            <a:blip r:embed="rId8"/>
            <a:stretch>
              <a:fillRect/>
            </a:stretch>
          </p:blipFill>
          <p:spPr>
            <a:xfrm>
              <a:off x="10057155" y="2118429"/>
              <a:ext cx="429768" cy="429768"/>
            </a:xfrm>
            <a:prstGeom prst="rect">
              <a:avLst/>
            </a:prstGeom>
          </p:spPr>
        </p:pic>
        <p:sp>
          <p:nvSpPr>
            <p:cNvPr id="35" name="TextBox 34">
              <a:extLst>
                <a:ext uri="{FF2B5EF4-FFF2-40B4-BE49-F238E27FC236}">
                  <a16:creationId xmlns:a16="http://schemas.microsoft.com/office/drawing/2014/main" id="{08C18355-4F99-6C02-746E-809EFD6BF1FE}"/>
                </a:ext>
              </a:extLst>
            </p:cNvPr>
            <p:cNvSpPr txBox="1"/>
            <p:nvPr/>
          </p:nvSpPr>
          <p:spPr>
            <a:xfrm>
              <a:off x="9767469" y="2544069"/>
              <a:ext cx="1009139" cy="400110"/>
            </a:xfrm>
            <a:prstGeom prst="rect">
              <a:avLst/>
            </a:prstGeom>
            <a:noFill/>
          </p:spPr>
          <p:txBody>
            <a:bodyPr wrap="square" rtlCol="0">
              <a:spAutoFit/>
            </a:bodyPr>
            <a:lstStyle/>
            <a:p>
              <a:pPr algn="ctr"/>
              <a:r>
                <a:rPr lang="en-US" sz="1000" noProof="0" dirty="0"/>
                <a:t>TwinCAT </a:t>
              </a:r>
            </a:p>
            <a:p>
              <a:pPr algn="ctr"/>
              <a:r>
                <a:rPr lang="en-US" sz="1000" noProof="0" dirty="0"/>
                <a:t>ML Runtime</a:t>
              </a:r>
            </a:p>
          </p:txBody>
        </p:sp>
      </p:grpSp>
      <p:grpSp>
        <p:nvGrpSpPr>
          <p:cNvPr id="43" name="Group 42">
            <a:extLst>
              <a:ext uri="{FF2B5EF4-FFF2-40B4-BE49-F238E27FC236}">
                <a16:creationId xmlns:a16="http://schemas.microsoft.com/office/drawing/2014/main" id="{806604B3-541E-7C80-D2D6-97A342852505}"/>
              </a:ext>
            </a:extLst>
          </p:cNvPr>
          <p:cNvGrpSpPr/>
          <p:nvPr/>
        </p:nvGrpSpPr>
        <p:grpSpPr>
          <a:xfrm>
            <a:off x="8913882" y="2050701"/>
            <a:ext cx="1009139" cy="821315"/>
            <a:chOff x="8913882" y="2118429"/>
            <a:chExt cx="1009139" cy="821315"/>
          </a:xfrm>
        </p:grpSpPr>
        <p:pic>
          <p:nvPicPr>
            <p:cNvPr id="41" name="Picture 40" descr="A blue square with a hand pointing at a button&#10;&#10;Description automatically generated">
              <a:extLst>
                <a:ext uri="{FF2B5EF4-FFF2-40B4-BE49-F238E27FC236}">
                  <a16:creationId xmlns:a16="http://schemas.microsoft.com/office/drawing/2014/main" id="{27FDDD55-EA23-4CA0-F9D5-053346AAD035}"/>
                </a:ext>
              </a:extLst>
            </p:cNvPr>
            <p:cNvPicPr>
              <a:picLocks noChangeAspect="1"/>
            </p:cNvPicPr>
            <p:nvPr/>
          </p:nvPicPr>
          <p:blipFill>
            <a:blip r:embed="rId9"/>
            <a:stretch>
              <a:fillRect/>
            </a:stretch>
          </p:blipFill>
          <p:spPr>
            <a:xfrm>
              <a:off x="9199487" y="2118429"/>
              <a:ext cx="429768" cy="429768"/>
            </a:xfrm>
            <a:prstGeom prst="rect">
              <a:avLst/>
            </a:prstGeom>
          </p:spPr>
        </p:pic>
        <p:sp>
          <p:nvSpPr>
            <p:cNvPr id="42" name="TextBox 41">
              <a:extLst>
                <a:ext uri="{FF2B5EF4-FFF2-40B4-BE49-F238E27FC236}">
                  <a16:creationId xmlns:a16="http://schemas.microsoft.com/office/drawing/2014/main" id="{8AB8E89D-0ABD-0C2E-0760-B321DAA86B55}"/>
                </a:ext>
              </a:extLst>
            </p:cNvPr>
            <p:cNvSpPr txBox="1"/>
            <p:nvPr/>
          </p:nvSpPr>
          <p:spPr>
            <a:xfrm>
              <a:off x="8913882" y="2539634"/>
              <a:ext cx="1009139" cy="400110"/>
            </a:xfrm>
            <a:prstGeom prst="rect">
              <a:avLst/>
            </a:prstGeom>
            <a:noFill/>
          </p:spPr>
          <p:txBody>
            <a:bodyPr wrap="square" rtlCol="0">
              <a:spAutoFit/>
            </a:bodyPr>
            <a:lstStyle/>
            <a:p>
              <a:pPr algn="ctr"/>
              <a:r>
                <a:rPr lang="en-US" sz="1000" noProof="0" dirty="0"/>
                <a:t>TwinCAT </a:t>
              </a:r>
            </a:p>
            <a:p>
              <a:pPr algn="ctr"/>
              <a:r>
                <a:rPr lang="en-US" sz="1000" noProof="0" dirty="0"/>
                <a:t>HMI</a:t>
              </a:r>
            </a:p>
          </p:txBody>
        </p:sp>
      </p:grpSp>
      <p:sp>
        <p:nvSpPr>
          <p:cNvPr id="44" name="TextBox 43">
            <a:extLst>
              <a:ext uri="{FF2B5EF4-FFF2-40B4-BE49-F238E27FC236}">
                <a16:creationId xmlns:a16="http://schemas.microsoft.com/office/drawing/2014/main" id="{A223F5BC-4045-EFD7-8D81-FB194C27AE71}"/>
              </a:ext>
            </a:extLst>
          </p:cNvPr>
          <p:cNvSpPr txBox="1"/>
          <p:nvPr/>
        </p:nvSpPr>
        <p:spPr>
          <a:xfrm>
            <a:off x="7718380" y="4148537"/>
            <a:ext cx="1338828" cy="276999"/>
          </a:xfrm>
          <a:prstGeom prst="rect">
            <a:avLst/>
          </a:prstGeom>
          <a:noFill/>
        </p:spPr>
        <p:txBody>
          <a:bodyPr wrap="none" rtlCol="0">
            <a:spAutoFit/>
          </a:bodyPr>
          <a:lstStyle/>
          <a:p>
            <a:r>
              <a:rPr lang="en-US" sz="1200" noProof="0" dirty="0"/>
              <a:t>ADS-over-MQTT</a:t>
            </a:r>
          </a:p>
        </p:txBody>
      </p:sp>
      <p:sp>
        <p:nvSpPr>
          <p:cNvPr id="45" name="TextBox 44">
            <a:extLst>
              <a:ext uri="{FF2B5EF4-FFF2-40B4-BE49-F238E27FC236}">
                <a16:creationId xmlns:a16="http://schemas.microsoft.com/office/drawing/2014/main" id="{47837898-1C65-31D6-9EFF-5978165F13CA}"/>
              </a:ext>
            </a:extLst>
          </p:cNvPr>
          <p:cNvSpPr txBox="1"/>
          <p:nvPr/>
        </p:nvSpPr>
        <p:spPr>
          <a:xfrm>
            <a:off x="10569608" y="4144333"/>
            <a:ext cx="689612" cy="276999"/>
          </a:xfrm>
          <a:prstGeom prst="rect">
            <a:avLst/>
          </a:prstGeom>
          <a:noFill/>
        </p:spPr>
        <p:txBody>
          <a:bodyPr wrap="none" rtlCol="0">
            <a:spAutoFit/>
          </a:bodyPr>
          <a:lstStyle/>
          <a:p>
            <a:r>
              <a:rPr lang="en-US" sz="1200" noProof="0" dirty="0"/>
              <a:t>HTTPS</a:t>
            </a:r>
          </a:p>
        </p:txBody>
      </p:sp>
      <p:grpSp>
        <p:nvGrpSpPr>
          <p:cNvPr id="46" name="Group 45">
            <a:extLst>
              <a:ext uri="{FF2B5EF4-FFF2-40B4-BE49-F238E27FC236}">
                <a16:creationId xmlns:a16="http://schemas.microsoft.com/office/drawing/2014/main" id="{BFF72ECD-A011-7E80-682F-CBDA4909980F}"/>
              </a:ext>
            </a:extLst>
          </p:cNvPr>
          <p:cNvGrpSpPr/>
          <p:nvPr/>
        </p:nvGrpSpPr>
        <p:grpSpPr>
          <a:xfrm>
            <a:off x="9995477" y="4635416"/>
            <a:ext cx="864096" cy="933381"/>
            <a:chOff x="9995477" y="4635416"/>
            <a:chExt cx="864096" cy="933381"/>
          </a:xfrm>
        </p:grpSpPr>
        <p:sp>
          <p:nvSpPr>
            <p:cNvPr id="23" name="Oval 22">
              <a:extLst>
                <a:ext uri="{FF2B5EF4-FFF2-40B4-BE49-F238E27FC236}">
                  <a16:creationId xmlns:a16="http://schemas.microsoft.com/office/drawing/2014/main" id="{F420041B-5E78-E2F2-47D2-90D9B5EFA139}"/>
                </a:ext>
              </a:extLst>
            </p:cNvPr>
            <p:cNvSpPr>
              <a:spLocks noChangeAspect="1"/>
            </p:cNvSpPr>
            <p:nvPr/>
          </p:nvSpPr>
          <p:spPr>
            <a:xfrm>
              <a:off x="9995477" y="4676257"/>
              <a:ext cx="864096" cy="864096"/>
            </a:xfrm>
            <a:prstGeom prst="ellipse">
              <a:avLst/>
            </a:prstGeom>
            <a:solidFill>
              <a:schemeClr val="bg1"/>
            </a:solidFill>
            <a:ln w="28575">
              <a:solidFill>
                <a:srgbClr val="86405C"/>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buFont typeface="Wingdings" panose="05000000000000000000" pitchFamily="2" charset="2"/>
                <a:buNone/>
              </a:pPr>
              <a:endParaRPr lang="en-US" sz="2200" noProof="0" dirty="0">
                <a:solidFill>
                  <a:schemeClr val="bg1"/>
                </a:solidFill>
                <a:latin typeface="Arial" pitchFamily="34" charset="0"/>
                <a:cs typeface="Arial" pitchFamily="34" charset="0"/>
              </a:endParaRPr>
            </a:p>
          </p:txBody>
        </p:sp>
        <p:pic>
          <p:nvPicPr>
            <p:cNvPr id="1026" name="Picture 2">
              <a:extLst>
                <a:ext uri="{FF2B5EF4-FFF2-40B4-BE49-F238E27FC236}">
                  <a16:creationId xmlns:a16="http://schemas.microsoft.com/office/drawing/2014/main" id="{0B4E4BCC-5A41-817C-9E72-0D95BF50F6F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89938" y="4635416"/>
              <a:ext cx="626348" cy="9333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041268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0D260408-D13A-4B67-B71E-0B80435FC78D"/>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_RESOURCE_PATHS_HASH_2" val="d9fee9de11718536b3c065785a54cca1c97fc"/>
  <p:tag name="ISPRING_RESOURCE_PATHS_HASH_PRESENTER" val="26a6e944beb4ff228629f3e532885d5e2ab5192"/>
</p:tagLst>
</file>

<file path=ppt/tags/tag2.xml><?xml version="1.0" encoding="utf-8"?>
<p:tagLst xmlns:a="http://schemas.openxmlformats.org/drawingml/2006/main" xmlns:r="http://schemas.openxmlformats.org/officeDocument/2006/relationships" xmlns:p="http://schemas.openxmlformats.org/presentationml/2006/main">
  <p:tag name="MIO_GUID" val="c0cc159b-75e6-4e38-8161-94ad6fe0d54f"/>
  <p:tag name="MIO_EK" val="2684"/>
  <p:tag name="MIO_UPDATE" val="True"/>
  <p:tag name="MIO_VERSION" val="07.03.2016 13:38:12"/>
  <p:tag name="MIO_DBID" val="139B19AA-1930-4175-8724-E8A5ED7A2045"/>
  <p:tag name="MIO_LASTDOWNLOADED" val="04.05.2016 08:55:22"/>
  <p:tag name="MIO_OBJECTNAME" val="Cloud"/>
  <p:tag name="MIO_LASTEDITORNAME" val="Anja Scholte"/>
</p:tagLst>
</file>

<file path=ppt/theme/theme1.xml><?xml version="1.0" encoding="utf-8"?>
<a:theme xmlns:a="http://schemas.openxmlformats.org/drawingml/2006/main" name="Beckhoff Slide Master">
  <a:themeElements>
    <a:clrScheme name="Beckhoff_Final_21.11.2013">
      <a:dk1>
        <a:srgbClr val="000000"/>
      </a:dk1>
      <a:lt1>
        <a:sysClr val="window" lastClr="FFFFFF"/>
      </a:lt1>
      <a:dk2>
        <a:srgbClr val="CCD2DA"/>
      </a:dk2>
      <a:lt2>
        <a:srgbClr val="9AA6B6"/>
      </a:lt2>
      <a:accent1>
        <a:srgbClr val="8190A4"/>
      </a:accent1>
      <a:accent2>
        <a:srgbClr val="2D76AD"/>
      </a:accent2>
      <a:accent3>
        <a:srgbClr val="4B5669"/>
      </a:accent3>
      <a:accent4>
        <a:srgbClr val="CCD2DA"/>
      </a:accent4>
      <a:accent5>
        <a:srgbClr val="000000"/>
      </a:accent5>
      <a:accent6>
        <a:srgbClr val="B5D4EC"/>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6350">
          <a:noFill/>
          <a:miter lim="800000"/>
        </a:ln>
      </a:spPr>
      <a:bodyPr lIns="234000" rIns="234000" rtlCol="0" anchor="ctr"/>
      <a:lstStyle>
        <a:defPPr marL="0" indent="0" algn="ctr">
          <a:buFont typeface="Wingdings" panose="05000000000000000000" pitchFamily="2" charset="2"/>
          <a:buNone/>
          <a:defRPr sz="2200" dirty="0" smtClean="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Beckhoff_Slide_Master_16-9_widescreen.potx" id="{EDB9DAFB-3505-4DE4-A232-9C89D76CD96D}" vid="{CFA5A39A-0228-493A-804E-685F8D17D969}"/>
    </a:ext>
  </a:extLst>
</a:theme>
</file>

<file path=ppt/theme/theme2.xml><?xml version="1.0" encoding="utf-8"?>
<a:theme xmlns:a="http://schemas.openxmlformats.org/drawingml/2006/main" name="Beckhoff Slide Master">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äsentation1" id="{3414D71D-22CF-4FF3-9B19-2D74093ED22C}" vid="{B36457BF-010A-4992-888B-A87F643354E0}"/>
    </a:ext>
  </a:extLst>
</a:theme>
</file>

<file path=ppt/theme/theme3.xml><?xml version="1.0" encoding="utf-8"?>
<a:theme xmlns:a="http://schemas.openxmlformats.org/drawingml/2006/main" name="Beckhoff Standard Slide Master">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86405C"/>
        </a:solidFill>
        <a:ln w="6350">
          <a:solidFill>
            <a:schemeClr val="tx1"/>
          </a:solidFill>
        </a:ln>
        <a:effectLst>
          <a:outerShdw blurRad="50800" dist="38100" dir="2700000" algn="tl" rotWithShape="0">
            <a:prstClr val="black">
              <a:alpha val="40000"/>
            </a:prstClr>
          </a:outerShdw>
        </a:effectLst>
      </a:spPr>
      <a:bodyPr lIns="0" tIns="0" rIns="0" bIns="432000" rtlCol="0" anchor="ctr"/>
      <a:lstStyle>
        <a:defPPr algn="ctr">
          <a:defRPr sz="800" dirty="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beckhoff_slide_master_2023.pptx" id="{3AC93D91-A4DB-4D3E-961F-6AAD29C8520D}" vid="{487408DF-F43D-496B-8707-B95EF7137EA5}"/>
    </a:ext>
  </a:extLst>
</a:theme>
</file>

<file path=ppt/theme/theme4.xml><?xml version="1.0" encoding="utf-8"?>
<a:theme xmlns:a="http://schemas.openxmlformats.org/drawingml/2006/main" name="Larissa">
  <a:themeElements>
    <a:clrScheme name="Beckhoff">
      <a:dk1>
        <a:srgbClr val="000000"/>
      </a:dk1>
      <a:lt1>
        <a:sysClr val="window" lastClr="FFFFFF"/>
      </a:lt1>
      <a:dk2>
        <a:srgbClr val="CCD2DA"/>
      </a:dk2>
      <a:lt2>
        <a:srgbClr val="9AA6B6"/>
      </a:lt2>
      <a:accent1>
        <a:srgbClr val="8190A4"/>
      </a:accent1>
      <a:accent2>
        <a:srgbClr val="2D76AD"/>
      </a:accent2>
      <a:accent3>
        <a:srgbClr val="4B5669"/>
      </a:accent3>
      <a:accent4>
        <a:srgbClr val="CCD2DA"/>
      </a:accent4>
      <a:accent5>
        <a:srgbClr val="000000"/>
      </a:accent5>
      <a:accent6>
        <a:srgbClr val="B5D4EC"/>
      </a:accent6>
      <a:hlink>
        <a:srgbClr val="2D76AD"/>
      </a:hlink>
      <a:folHlink>
        <a:srgbClr val="2D76A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8B8A8C869DAC45A3308583CE5028F7" ma:contentTypeVersion="13" ma:contentTypeDescription="Create a new document." ma:contentTypeScope="" ma:versionID="76f635c9abd56161f8dd12e2b5b22287">
  <xsd:schema xmlns:xsd="http://www.w3.org/2001/XMLSchema" xmlns:xs="http://www.w3.org/2001/XMLSchema" xmlns:p="http://schemas.microsoft.com/office/2006/metadata/properties" xmlns:ns2="50554d83-e1eb-46cf-a385-a4b2f5d60db3" xmlns:ns3="48910432-6e73-4eb6-b47b-5c01b7c529a8" targetNamespace="http://schemas.microsoft.com/office/2006/metadata/properties" ma:root="true" ma:fieldsID="fb47922a711f3c40bfe604b9db53bda5" ns2:_="" ns3:_="">
    <xsd:import namespace="50554d83-e1eb-46cf-a385-a4b2f5d60db3"/>
    <xsd:import namespace="48910432-6e73-4eb6-b47b-5c01b7c529a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554d83-e1eb-46cf-a385-a4b2f5d60d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3d50ce3-5cc2-4a5a-9430-b625d6ec44db"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8910432-6e73-4eb6-b47b-5c01b7c529a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3f5048d-e608-4158-840c-57eba13568d3}" ma:internalName="TaxCatchAll" ma:showField="CatchAllData" ma:web="48910432-6e73-4eb6-b47b-5c01b7c529a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0554d83-e1eb-46cf-a385-a4b2f5d60db3">
      <Terms xmlns="http://schemas.microsoft.com/office/infopath/2007/PartnerControls"/>
    </lcf76f155ced4ddcb4097134ff3c332f>
    <TaxCatchAll xmlns="48910432-6e73-4eb6-b47b-5c01b7c529a8" xsi:nil="true"/>
  </documentManagement>
</p:properties>
</file>

<file path=customXml/itemProps1.xml><?xml version="1.0" encoding="utf-8"?>
<ds:datastoreItem xmlns:ds="http://schemas.openxmlformats.org/officeDocument/2006/customXml" ds:itemID="{C5C5C3EA-BCF0-440A-9263-E2B5A6F26CCE}">
  <ds:schemaRefs>
    <ds:schemaRef ds:uri="48910432-6e73-4eb6-b47b-5c01b7c529a8"/>
    <ds:schemaRef ds:uri="50554d83-e1eb-46cf-a385-a4b2f5d60db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89510FD-5460-4883-A42B-0CDAFB33693F}">
  <ds:schemaRefs>
    <ds:schemaRef ds:uri="http://schemas.microsoft.com/sharepoint/v3/contenttype/forms"/>
  </ds:schemaRefs>
</ds:datastoreItem>
</file>

<file path=customXml/itemProps3.xml><?xml version="1.0" encoding="utf-8"?>
<ds:datastoreItem xmlns:ds="http://schemas.openxmlformats.org/officeDocument/2006/customXml" ds:itemID="{61F96E80-E3E3-4592-906C-959B0C62C11C}">
  <ds:schemaRefs>
    <ds:schemaRef ds:uri="48910432-6e73-4eb6-b47b-5c01b7c529a8"/>
    <ds:schemaRef ds:uri="50554d83-e1eb-46cf-a385-a4b2f5d60db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Beckhoff_Slide_Master_16x9</Template>
  <TotalTime>1447</TotalTime>
  <Words>2249</Words>
  <Application>Microsoft Office PowerPoint</Application>
  <PresentationFormat>Widescreen</PresentationFormat>
  <Paragraphs>432</Paragraphs>
  <Slides>19</Slides>
  <Notes>11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19</vt:i4>
      </vt:variant>
    </vt:vector>
  </HeadingPairs>
  <TitlesOfParts>
    <vt:vector size="29" baseType="lpstr">
      <vt:lpstr>-apple-system</vt:lpstr>
      <vt:lpstr>Arial</vt:lpstr>
      <vt:lpstr>Calibri</vt:lpstr>
      <vt:lpstr>Consolas</vt:lpstr>
      <vt:lpstr>Symbol</vt:lpstr>
      <vt:lpstr>Wingdings</vt:lpstr>
      <vt:lpstr>ヒラギノ角ゴ Pro W3</vt:lpstr>
      <vt:lpstr>Beckhoff Slide Master</vt:lpstr>
      <vt:lpstr>Beckhoff Slide Master</vt:lpstr>
      <vt:lpstr>Beckhoff Standard Slide Master</vt:lpstr>
      <vt:lpstr>Automation Communication Protocols</vt:lpstr>
      <vt:lpstr>TwinCAT Connectivity Big Picture</vt:lpstr>
      <vt:lpstr>TwinCAT IoT product overview</vt:lpstr>
      <vt:lpstr>TwinCAT Connectivity MQTT</vt:lpstr>
      <vt:lpstr>TwinCAT Connectivity Traditional MES Communication Model</vt:lpstr>
      <vt:lpstr>TwinCAT Connectivity Broker Pub/Sub Model</vt:lpstr>
      <vt:lpstr>TwinCAT Connectivity QoS and Retain</vt:lpstr>
      <vt:lpstr>TwinCAT Connectivity Broker Scalability</vt:lpstr>
      <vt:lpstr>TwinCAT Connectivity Lab 1 – MQTT</vt:lpstr>
      <vt:lpstr>TwinCAT Connectivity  TF6760 </vt:lpstr>
      <vt:lpstr>TwinCAT Connectivity HTTP/REST</vt:lpstr>
      <vt:lpstr>TwinCAT Connectivity HTTP/REST</vt:lpstr>
      <vt:lpstr>TwinCAT Connectivity HTTP/REST Query Parameters</vt:lpstr>
      <vt:lpstr>TwinCAT Connectivity  TF6760 Application Examples</vt:lpstr>
      <vt:lpstr>TwinCAT Connectivity HTTP/REST – Exercises</vt:lpstr>
      <vt:lpstr>TF6105 | TC3 OPC UA Pub/Sub</vt:lpstr>
      <vt:lpstr>Client/Server vs. Pub/Sub</vt:lpstr>
      <vt:lpstr>Should I use OPC UA Pub/Sub or MQTT?</vt:lpstr>
      <vt:lpstr>TwinCAT Cloud Engineering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TwinCAT IoT</dc:title>
  <dc:creator>Sven Goldstein</dc:creator>
  <cp:lastModifiedBy>Alyssa Dedolph</cp:lastModifiedBy>
  <cp:revision>276</cp:revision>
  <cp:lastPrinted>2016-06-28T12:26:43Z</cp:lastPrinted>
  <dcterms:created xsi:type="dcterms:W3CDTF">2019-03-04T12:28:34Z</dcterms:created>
  <dcterms:modified xsi:type="dcterms:W3CDTF">2026-06-04T17:02:46Z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0x0101002E8B8A8C869DAC45A3308583CE5028F7</vt:lpwstr>
  </property>
  <property fmtid="{D5CDD505-2E9C-101B-9397-08002B2CF9AE}" pid="3" name="MediaServiceImageTags">
    <vt:lpwstr/>
  </property>
</Properties>
</file>